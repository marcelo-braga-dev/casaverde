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Primeiro, quem assina. Lembre da estrutura do módulo 3: o cliente adere à entidade que detém a usina — consórcio, cooperativa ou associação — e a sua empresa faz a gestão. Dependendo do desenho jurídico, o cliente assina um termo de adesão à entidade e um contrato com as regras da participação, ou um único instrumento que reúne tudo. O importante é que fique claro: o cliente é participante da geração compartilhada, recebe um percentual dos créditos e contribui com os custos conforme a regra do contrato.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São dez cláusulas essenciais. Um: o objeto, identificando a unidade consumidora, ou as unidades, que vão receber os créditos. Dois: a cota, em percentual ou em quilowatt-hora de referência, e a data prevista para o início dos créditos. Três: como o valor mensal é calculado — a energia compensada na fatura da distribuidora, multiplicada por um menos o desconto. Escreva a fórmula e um exemplo numérico; isso evita muita discussão. Quatro: vencimento, meios de pagamento — Pix e boleto — e as consequências do atraso, com multa e juros dentro do que a lei permite. Cinco: prazo, renovação e cancelamento, com aviso prévio suficiente para você atualizar o rateio. Seis: o que acontece se o cliente mudar de endereço ou trocar a titularidade da conta. Sete: variação de geração — se a usina gerar menos, ele recebe menos créditos e paga proporcionalmente menos. Oito: reajuste e reequilíbrio em caso de mudança regulatória, como a do Fio B. Nove: as obrigações do cliente — manter a conta no nome dele, informar mudanças, autorizar o acesso às faturas. E dez: dados pessoais e canais de comunicação, que é o tema da próxima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assinar, colete os documentos. Pessoa física: documento de identidade, a conta de luz no nome dela e, se o contrato exigir, comprovante de endereço. Pessoa jurídica: o cartão CNPJ ou o contrato social, o documento do representante legal e a conta de luz. Use assinatura eletrônica com trilha de auditoria — é aceita juridicamente, rápida e evita papel. Guarde tudo organizado por cliente: quando a distribuidora, um auditor ou o próprio cliente pedir, você encontra em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plataforma, o contrato nasce da proposta aprovada, aproveitando os dados dela, e tem status: emitido, assinado, ativo, cancelado. No laboratório deste módulo, você vai emitir os contratos dos seus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dez cláusulas, a fórmula do valor com exemplo, cancelamento com aviso prévio, reequilíbrio regulatório e assinatura eletrônica com documentos organizados. Na próxima aula, a LGPD.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primeiro princípio é o da finalidade e da necessidade: colete só o que precisa, para uma finalidade clara. Nome e documento servem para o contrato, a cobrança e o cadastro na distribuidora. Endereço e unidade consumidora, para o rateio e para associar as faturas. Telefone e e-mail, para os avisos e o acesso ao portal. E as faturas da distribuidora, para calcular a cobrança e o relatório de economia. Não colete dados que você não usa, como renda ou profissão, a menos que haja um motivo.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 operação com dados precisa de uma base legal. Na assinatura, a principal é a execução do contrato: você precisa dos dados para cumprir o que combinou com o cliente. Algumas operações têm base em obrigação legal ou regulatória, como guardar documentos fiscais. Não dependa de "consentimento para tudo": ele pode ser revogado e não é a base adequada para o essencial do contrato. E seja transparente: tenha um aviso de privacidade simples, explicando que dados você coleta, para quê, com quem compartilha — a distribuidora, o meio de pagamento, o contador — e como o titular exerce os direitos dele.
O segundo pilar é a segurança. Cada pessoa da equipe deve acessar só o que precisa. Na plataforma, isso já acontece pelos perfis: o consultor vê só a carteira dele, o cliente vê só os próprios dados, as faturas ficam guardadas em área protegida e os documentos de proposta são entregues por link temporário. O que costuma vazar está fora do sistema: planilhas com CPF enviadas por WhatsApp, contas de luz salvas no celular do vendedor, e-mails encaminhados. Crie uma regra simples: dado de cliente vive no sistema, não em arquivo solto.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titular dos dados tem direitos: saber que dados você tem, corrigir, pedir a eliminação quando cabível. Defina um canal para isso — pode ser o próprio suporte da plataforma ou um e-mail — e um responsável, o encarregado. Defina também por quanto tempo você guarda cada tipo de dado depois que o contrato termina: alguns, como documentos fiscais, você precisa manter por prazo legal; outros podem ser eliminados. Um detalhe da plataforma: quando um cliente é excluído, o CPF ou CNPJ é apagado do cadastro, o que permite que ele volte no futuro sem conflito — mas o histórico financeiro necessário continua.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colete só o necessário, use a execução do contrato como base principal, tenha um aviso de privacidade, mantenha os dados dentro do sistema com acesso por perfil, ofereça um canal ao titular e defina prazos de retenção. Na próxima aula, a lista de rateio na distribuidora.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lista de rateio é um cadastro, feito pela entidade titular da usina junto à distribuidora, com as unidades consumidoras que recebem os créditos e o percentual de cada uma. A soma não pode passar de cem por cento. O que não for distribuído fica na própria unidade da usina, como crédito acumulado. A distribuidora usa essa lista todo mês para dividir os créditos. Cada distribuidora tem o seu canal e o seu formulário para isso — portal, e-mail, agência —, e prazos para que uma alteração passe a valer. Descubra o procedimento exato da sua distribuidora antes do primeiro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prática, a atualização do rateio é um ciclo. Uma vez por ciclo de faturamento, você consolida as mudanças: clientes novos que assinaram, clientes que saíram, ajustes de cota. Monta a nova lista completa, com os percentuais recalculados. Envia à distribuidora pelo canal oficial e guarda o protocolo. Acompanha até a confirmação. E, no ciclo seguinte, confere nas faturas dos clientes se os créditos vieram como esperado. Concentrar as mudanças num dia fixo do mês, em vez de mandar uma alteração a cada cliente, reduz erros e retrabalho.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 vez que um cliente sai, abre-se um buraco: o percentual dele fica sem dono. Esses créditos ficam acumulados na unidade da usina e podem ser destinados depois, dentro do prazo de validade, mas, enquanto isso, ninguém paga por eles, e o produtor e você deixam de receber. Por isso, toda saída deve disparar duas ações: vender a cota liberada para um cliente novo, de preferência já na fila, e, enquanto isso, avaliar redistribuir para clientes atuais que tenham consumo descoberto. Uma operação madura mantém uma lista de espera de clientes justamente para preencher esses buracos.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Alguns cuidados. Só inclua unidades da área da mesma distribuidora e de titulares com contrato e adesão ativos. Atenção às casas decimais: um percentual digitado errado pode dar a um cliente dez vezes mais créditos do que deveria. Em usinas acima de quinhentos quilowatts, lembre do GD três: nenhum participante com vinte e cinco por cento ou mais. E guarde todos os protocolos: se a distribuidora errar a aplicação do rateio, é com eles que você pede a correção.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a lista de rateio é o elo com a distribuidora; atualize uma vez por ciclo, consolidando entradas e saídas; trate cada saída como um buraco a preencher; e guarde os protocolos. A plataforma ajuda a calcular os percentuais a partir das cotas — é o que vamos ver na próxima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números controlam a alocação. A energia disponível, que você define a partir da geração média, de forma conservadora. A energia alocada, que é a soma das cotas de todos os clientes vinculados. E o saldo, que é a diferença, ou seja, o que ainda pode ser vendido. A meta de ocupação saudável fica entre noventa e noventa e oito por cento da energia disponível. Abaixo disso, você deixa dinheiro na mesa. Acima, qualquer mês fraco deixa os clientes com menos créditos do que o contratado.
O segundo cuidado é a concentração. Em usinas acima de quinhentos quilowatts, um participante com vinte e cinco por cento ou mais dos créditos pode levar a usina para o GD três, como vimos no módulo 2. Mas, mesmo abaixo dessa linha, concentração é risco: se o seu maior cliente tem vinte por cento da usina e cancela ou para de pagar, um quinto da receita some de uma vez. Prefira uma carteira diversificada, combinando empresas, que trazem volume, com residências, que diluem o risco.
E quando a geração cai? Depende da causa. Uma queda pontual, num mês nublado, não exige nada: o rateio é percentual, todos recebem proporcionalmente menos, e a cobrança acompanha, porque é calculada sobre o que foi compensado. Uma queda por falha — um inversor parado, sujeira, furto de cabos — exige acionar a manutenção imediatamente e avisar os clientes com transparência. E uma queda estrutural — a usina simplesmente gera menos do que o projetado, mês após mês — exige reduzir a energia disponível, rebalancear as cotas e, se for o caso, mover clientes para outra usina. É aqui que ter mais de uma usina dá segurança à operação.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planejar, comece da meta: sessenta mil quilowatts-hora disponíveis, com ocupação de noventa e cinco por cento, dão cinquenta e sete mil alocáveis. Um desenho possível: seis empresas somando uns vinte mil, setenta residências somando uns vinte e oito mil e o restante como reserva para clientes na fila e para ajustes de cota. Cada usina deve ter esse plano de ocupação, e o time comercial deve vender olhando para 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plataforma tem duas travas. A primeira é na hora de vincular um cliente: se a energia pedida for maior que o saldo da usina, o vínculo é recusado. Dois vendedores não conseguem vender a mesma energia, porque o segundo vínculo esbarra no saldo. A segunda trava é para quando a realidade muda depois: se você registra uma geração menor e a energia disponível cai abaixo da alocada, a varredura de alertas da usina acusa um alerta crítico, de energia alocada maior que a disponível. Além dele, existem alertas de usina sem registro de geração no mês, de usina sem energia disponível, de saldo baixo e de cliente consumindo mais do que a cota alocada.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Resumindo: ocupe entre noventa e noventa e oito por cento da energia disponível, confie nas travas da plataforma, evite concentração e responda às quedas de geração conforme a causa. Nos dois laboratórios a seguir, você vai emitir contratos, vincular clientes e encher a sua usina.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Abra a proposta da academia e marque como aprovada: o cliente aceitou. A partir dela, gere o contrato. Repare que os dados da proposta já vêm preenchidos — cliente, unidade consumidora, média de consumo, taxa de redução, prazo. Complete os dados cadastrais do cliente que o contrato exige, como o representante legal e o endereço da unidade consumidora. Informe a data de emissão e salve. O contrato aparece em Cliente Consumidor, Contratos, com um código. Quando o cliente assinar — na vida real, pela ferramenta de assinatura eletrônica —, volte e registre a data de assinatura e o status de assinado.
Agora, o vínculo, que é o coração da alocação. Abra Cliente Consumidor, Unidades Consumidoras, e entre na UC da academia. Crie um vínculo com a usina. Escolha a usina da sua empresa. Em energia alocada, informe a cota que você calculou no módulo 5: cerca de cinco mil, setecentos e noventa e cinco quilowatts-hora por mês. A plataforma mostra quanto isso representa do consumo previsto da UC. Informe a data de início do vínculo — a data em que você espera que os créditos comecem, depois do rateio — e salve. Repare que a tela da UC passa a mostrar quanto do consumo previsto está alocado e quanto ainda está disponível para uma nova alocação, por exemplo em outra usina. E, se você abrir Usinas Solar, Gestão de Energia, a energia alocada da usina já subiu e o saldo caiu. Uma observação: uma mesma unidade consumidora pode ter vínculos com usinas diferentes ao mesmo tempo, o que é útil quando o cliente é grande e nenhuma usina sozinha comporta a cota dele.
Para montar a lista de rateio da distribuidora, abra a usina e veja os clientes vinculados, com a energia alocada de cada um. Leve esses números para a planilha de rateio do curso, que calcula o percentual de cada unidade consumidora. Esse é o arquivo que a entidade envia à distribuidora, como você aprendeu na aula 3.
Por fim, o convite ao portal. Na ficha do cliente, abra a aba Acesso e gere o convite. A plataforma envia um e-mail de ativação para o cliente e mostra o link, que você também pode compartilhar pelo WhatsApp com um clique — o convite tem validade, por segurança. No laboratório, o e-mail não sai de verdade: ele aparece na caixa de e-mails do laboratório. Abra o convite e veja a tela de ativação, em que o cliente cria a própria senha. A partir daí, ele acessa o portal com as faturas, as cobranças e o relatório de economia. Uma dica: envie o convite junto com uma mensagem de boas-vindas explicando as duas contas — reforçar isso no primeiro dia evita sustos no primeiro mês.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vincular, abra a planilha de plano de ocupação. Liste os quinze clientes — os cinco do módulo 5 e os dez do checkpoint — com a cota de cada um. Some e compare com a energia disponível da usina. O objetivo é ficar entre noventa e noventa e oito por cento. Confira também a maior participação: nenhum cliente deve passar de vinte e cinco por cento, e, idealmente, nem de quinze.
Agora vincule os clientes, um por um, pela unidade consumidora de cada um, como na aula anterior. A cada vínculo, o saldo da usina diminui. Ao terminar, abra a Gestão de Energia: a sua usina deve estar perto de noventa e cinco por cento de ocupação, com um pequeno saldo. Anote esse saldo.
Agora, o primeiro teste. Imagine que um vendedor fechou um cliente grande e tenta vinculá-lo com uma cota maior do que o saldo. Tente. A plataforma recusa: a energia solicitada excede o saldo disponível da usina. É a trava que impede dois vendedores de venderem a mesma energia. O que fazer na vida real? Oferecer ao cliente a cota que cabe agora, alocar o restante em outra usina ou colocá-lo na fila. Faça o teste com a energia igual ao saldo e veja que funciona. Depois, encerre esse vínculo de teste para voltar ao plano.
Agora, o segundo teste. Imagine que a usina teve um problema e você decidiu, de forma conservadora, reduzir a energia disponível. Registre um novo mês de geração com a energia disponível uns quinze por cento abaixo da energia já alocada. Salve. Agora abra Relatórios, Alertas Operacionais, e clique em Escanear Agora — a varredura que a operação roda para checar a saúde das usinas. Aparece um alerta crítico: a energia alocada excede a disponível. Abra o alerta e veja os detalhes: a usina, quanto está alocado, quanto está disponível. Repare também no sino do cabeçalho, que passa a mostrar o alerta.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resolver? Depende da causa, como vimos na aula 4. Se a usina voltou a gerar normalmente, registre a disponibilidade correta. Se a queda é estrutural, reduza cotas ou mova clientes para outra usina. Para o laboratório, registre de novo a energia disponível original e clique em Escanear Agora. O alerta se resolve sozinho, porque a condição deixou de existir. Esse é um princípio dos alertas da plataforma: eles não são uma lista que só cresce; eles refletem a situação atual da operação.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jp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jp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jp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F7A23B"/>
          </a:solidFill>
          <a:ln/>
        </p:spPr>
      </p:sp>
      <p:pic>
        <p:nvPicPr>
          <p:cNvPr id="3" name="Image 0" descr="/www/wwwroot/rexar/gdsolar/docs/curso/slides/assets/logo-gdsolar.png">    </p:cNvPr>
          <p:cNvPicPr>
            <a:picLocks noChangeAspect="1"/>
          </p:cNvPicPr>
          <p:nvPr/>
        </p:nvPicPr>
        <p:blipFill>
          <a:blip r:embed="rId1"/>
          <a:stretch>
            <a:fillRect/>
          </a:stretch>
        </p:blipFill>
        <p:spPr>
          <a:xfrm>
            <a:off x="640080" y="594360"/>
            <a:ext cx="822960" cy="822960"/>
          </a:xfrm>
          <a:prstGeom prst="rect">
            <a:avLst/>
          </a:prstGeom>
        </p:spPr>
      </p:pic>
      <p:sp>
        <p:nvSpPr>
          <p:cNvPr id="4" name="Text 1"/>
          <p:cNvSpPr/>
          <p:nvPr/>
        </p:nvSpPr>
        <p:spPr>
          <a:xfrm>
            <a:off x="1600200" y="566928"/>
            <a:ext cx="7315200" cy="8686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GD Solar
</a:t>
            </a:r>
            <a:pPr indent="0" marL="0">
              <a:buNone/>
            </a:pPr>
            <a:r>
              <a:rPr lang="en-US" sz="1300" dirty="0">
                <a:solidFill>
                  <a:srgbClr val="C7D2E3"/>
                </a:solidFill>
                <a:latin typeface="Arial" pitchFamily="34" charset="0"/>
                <a:ea typeface="Arial" pitchFamily="34" charset="-122"/>
                <a:cs typeface="Arial" pitchFamily="34" charset="-120"/>
              </a:rPr>
              <a:t>Formação em Energia por Assinatura</a:t>
            </a:r>
            <a:endParaRPr lang="en-US" sz="1800" dirty="0"/>
          </a:p>
        </p:txBody>
      </p:sp>
      <p:sp>
        <p:nvSpPr>
          <p:cNvPr id="5" name="Text 2"/>
          <p:cNvSpPr/>
          <p:nvPr/>
        </p:nvSpPr>
        <p:spPr>
          <a:xfrm>
            <a:off x="640080" y="1920240"/>
            <a:ext cx="10972800" cy="411480"/>
          </a:xfrm>
          <a:prstGeom prst="rect">
            <a:avLst/>
          </a:prstGeom>
          <a:noFill/>
          <a:ln/>
        </p:spPr>
        <p:txBody>
          <a:bodyPr wrap="square" rtlCol="0" anchor="ctr"/>
          <a:lstStyle/>
          <a:p>
            <a:pPr indent="0" marL="0">
              <a:buNone/>
            </a:pPr>
            <a:r>
              <a:rPr lang="en-US" sz="1400" b="1" spc="100" kern="0" dirty="0">
                <a:solidFill>
                  <a:srgbClr val="F7A23B"/>
                </a:solidFill>
                <a:latin typeface="Arial" pitchFamily="34" charset="0"/>
                <a:ea typeface="Arial" pitchFamily="34" charset="-122"/>
                <a:cs typeface="Arial" pitchFamily="34" charset="-120"/>
              </a:rPr>
              <a:t>M6  ·  ETAPA 3 · OPERAÇÃO PONTA A PONTA</a:t>
            </a:r>
            <a:endParaRPr lang="en-US" sz="1400" dirty="0"/>
          </a:p>
        </p:txBody>
      </p:sp>
      <p:sp>
        <p:nvSpPr>
          <p:cNvPr id="6" name="Text 3"/>
          <p:cNvSpPr/>
          <p:nvPr/>
        </p:nvSpPr>
        <p:spPr>
          <a:xfrm>
            <a:off x="640080" y="2331720"/>
            <a:ext cx="10972800" cy="118872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Contratos, rateio e alocação de energia</a:t>
            </a:r>
            <a:endParaRPr lang="en-US" sz="4000" dirty="0"/>
          </a:p>
        </p:txBody>
      </p:sp>
      <p:sp>
        <p:nvSpPr>
          <p:cNvPr id="7" name="Text 4"/>
          <p:cNvSpPr/>
          <p:nvPr/>
        </p:nvSpPr>
        <p:spPr>
          <a:xfrm>
            <a:off x="640080" y="3657600"/>
            <a:ext cx="6583680" cy="2743200"/>
          </a:xfrm>
          <a:prstGeom prst="rect">
            <a:avLst/>
          </a:prstGeom>
          <a:noFill/>
          <a:ln/>
        </p:spPr>
        <p:txBody>
          <a:bodyPr wrap="square" rtlCol="0" anchor="t">
            <a:normAutofit/>
          </a:bodyPr>
          <a:lstStyle/>
          <a:p>
            <a:pPr indent="0" marL="0">
              <a:spcAft>
                <a:spcPts val="400"/>
              </a:spcAft>
              <a:buNone/>
            </a:pPr>
            <a:r>
              <a:rPr lang="en-US" sz="1400" dirty="0">
                <a:solidFill>
                  <a:srgbClr val="C7D2E3"/>
                </a:solidFill>
                <a:latin typeface="Arial" pitchFamily="34" charset="0"/>
                <a:ea typeface="Arial" pitchFamily="34" charset="-122"/>
                <a:cs typeface="Arial" pitchFamily="34" charset="-120"/>
              </a:rPr>
              <a:t>1. O contrato do cliente</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2. LGPD na operação de GD</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3. O rateio na distribuidora</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4. Alocação de energia sem vender o que não existe</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5. contrato, vínculo cliente-usina e convite ao portal</a:t>
            </a:r>
            <a:endParaRPr lang="en-US" sz="1400" dirty="0"/>
          </a:p>
          <a:p>
            <a:pPr indent="0" marL="0">
              <a:spcAft>
                <a:spcPts val="400"/>
              </a:spcAft>
              <a:buNone/>
            </a:pPr>
            <a:r>
              <a:rPr lang="en-US" sz="1400" dirty="0">
                <a:solidFill>
                  <a:srgbClr val="C7D2E3"/>
                </a:solidFill>
                <a:latin typeface="Arial" pitchFamily="34" charset="0"/>
                <a:ea typeface="Arial" pitchFamily="34" charset="-122"/>
                <a:cs typeface="Arial" pitchFamily="34" charset="-120"/>
              </a:rPr>
              <a:t>6. alocando uma usina entre quinze clientes</a:t>
            </a:r>
            <a:endParaRPr lang="en-US" sz="1400" dirty="0"/>
          </a:p>
        </p:txBody>
      </p:sp>
      <p:sp>
        <p:nvSpPr>
          <p:cNvPr id="8" name="Shape 5"/>
          <p:cNvSpPr/>
          <p:nvPr/>
        </p:nvSpPr>
        <p:spPr>
          <a:xfrm>
            <a:off x="7589520" y="3657600"/>
            <a:ext cx="3977640" cy="2743200"/>
          </a:xfrm>
          <a:prstGeom prst="roundRect">
            <a:avLst>
              <a:gd name="adj" fmla="val 3333"/>
            </a:avLst>
          </a:prstGeom>
          <a:solidFill>
            <a:srgbClr val="11396F"/>
          </a:solidFill>
          <a:ln/>
        </p:spPr>
      </p:sp>
      <p:sp>
        <p:nvSpPr>
          <p:cNvPr id="9" name="Text 6"/>
          <p:cNvSpPr/>
          <p:nvPr/>
        </p:nvSpPr>
        <p:spPr>
          <a:xfrm>
            <a:off x="7772400" y="3749040"/>
            <a:ext cx="3611880" cy="2560320"/>
          </a:xfrm>
          <a:prstGeom prst="rect">
            <a:avLst/>
          </a:prstGeom>
          <a:noFill/>
          <a:ln/>
        </p:spPr>
        <p:txBody>
          <a:bodyPr wrap="square" rtlCol="0" anchor="t">
            <a:normAutofit/>
          </a:bodyPr>
          <a:lstStyle/>
          <a:p>
            <a:pPr indent="0" marL="0">
              <a:buNone/>
            </a:pPr>
            <a:r>
              <a:rPr lang="en-US" sz="1300" b="1" dirty="0">
                <a:solidFill>
                  <a:srgbClr val="F7A23B"/>
                </a:solidFill>
                <a:latin typeface="Arial" pitchFamily="34" charset="0"/>
                <a:ea typeface="Arial" pitchFamily="34" charset="-122"/>
                <a:cs typeface="Arial" pitchFamily="34" charset="-120"/>
              </a:rPr>
              <a:t>Ao final do módulo
</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Conhecer as cláusulas essenciais do contrato do cliente e o fluxo de assinatura.</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Aplicar a LGPD à operação (bases legais, dados coletados, acesso, retenção, portal).</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Manter a lista de rateio na distribuidora (inclusão, saída, alteração de percentuais).</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Alocar a energia da usina entre clientes sem exceder a disponível e sem concentração (GD III).</a:t>
            </a:r>
            <a:endParaRPr lang="en-US" sz="1300" dirty="0"/>
          </a:p>
          <a:p>
            <a:pPr marL="342900" indent="-342900">
              <a:buSzPct val="100000"/>
              <a:buChar char="✔"/>
            </a:pPr>
            <a:r>
              <a:rPr lang="en-US" sz="1100" dirty="0">
                <a:solidFill>
                  <a:srgbClr val="FFFFFF"/>
                </a:solidFill>
                <a:latin typeface="Arial" pitchFamily="34" charset="0"/>
                <a:ea typeface="Arial" pitchFamily="34" charset="-122"/>
                <a:cs typeface="Arial" pitchFamily="34" charset="-120"/>
              </a:rPr>
              <a:t>Emitir contrato a partir da proposta, criar o vínculo cliente-usina e enviar o convite ao portal.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1</a:t>
            </a:r>
            <a:endParaRPr lang="en-US" sz="1800" dirty="0"/>
          </a:p>
        </p:txBody>
      </p:sp>
      <p:sp>
        <p:nvSpPr>
          <p:cNvPr id="4" name="Text 2"/>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5"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6" name="Text 3"/>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O contrato do cliente</a:t>
            </a:r>
            <a:endParaRPr lang="en-US" sz="3200" dirty="0"/>
          </a:p>
        </p:txBody>
      </p:sp>
      <p:sp>
        <p:nvSpPr>
          <p:cNvPr id="7" name="Text 4"/>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Conhecer as cláusulas essenciais e o fluxo de assinatura do contrato do cliente</a:t>
            </a:r>
            <a:endParaRPr lang="en-US" sz="1500" dirty="0"/>
          </a:p>
        </p:txBody>
      </p:sp>
      <p:sp>
        <p:nvSpPr>
          <p:cNvPr id="8" name="Text 5"/>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As partes e a estrutura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As cláusulas essenciais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Assinatura e documentos</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1</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O CONTRATO DO CLIENTE</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As partes e a estrutura</a:t>
            </a:r>
            <a:endParaRPr lang="en-US" sz="2600" dirty="0"/>
          </a:p>
        </p:txBody>
      </p:sp>
      <p:sp>
        <p:nvSpPr>
          <p:cNvPr id="9" name="Shape 6"/>
          <p:cNvSpPr/>
          <p:nvPr/>
        </p:nvSpPr>
        <p:spPr>
          <a:xfrm>
            <a:off x="411480" y="1325880"/>
            <a:ext cx="11384280" cy="4892040"/>
          </a:xfrm>
          <a:prstGeom prst="roundRect">
            <a:avLst>
              <a:gd name="adj" fmla="val 149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94360" y="1508760"/>
            <a:ext cx="457200" cy="457200"/>
          </a:xfrm>
          <a:prstGeom prst="ellipse">
            <a:avLst/>
          </a:prstGeom>
          <a:solidFill>
            <a:srgbClr val="1B3A6B"/>
          </a:solidFill>
          <a:ln/>
        </p:spPr>
      </p:sp>
      <p:sp>
        <p:nvSpPr>
          <p:cNvPr id="11" name="Text 8"/>
          <p:cNvSpPr/>
          <p:nvPr/>
        </p:nvSpPr>
        <p:spPr>
          <a:xfrm>
            <a:off x="59436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188720" y="1435608"/>
            <a:ext cx="10469880"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Contrato do cliente = adesão à entidade + regras da participação + gestão</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1</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O CONTRATO DO CLIENTE</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As cláusulas essenciais</a:t>
            </a:r>
            <a:endParaRPr lang="en-US" sz="2600" dirty="0"/>
          </a:p>
        </p:txBody>
      </p:sp>
      <p:sp>
        <p:nvSpPr>
          <p:cNvPr id="9" name="Text 6"/>
          <p:cNvSpPr/>
          <p:nvPr/>
        </p:nvSpPr>
        <p:spPr>
          <a:xfrm>
            <a:off x="548640" y="1325880"/>
            <a:ext cx="11155680" cy="4937760"/>
          </a:xfrm>
          <a:prstGeom prst="rect">
            <a:avLst/>
          </a:prstGeom>
          <a:noFill/>
          <a:ln/>
        </p:spPr>
        <p:txBody>
          <a:bodyPr wrap="square" rtlCol="0" anchor="t">
            <a:normAutofit/>
          </a:bodyPr>
          <a:lstStyle/>
          <a:p>
            <a:pPr indent="0" marL="0">
              <a:spcAft>
                <a:spcPts val="600"/>
              </a:spcAft>
              <a:buNone/>
            </a:pPr>
            <a:r>
              <a:rPr lang="en-US" sz="1200" dirty="0">
                <a:solidFill>
                  <a:srgbClr val="1F2937"/>
                </a:solidFill>
                <a:latin typeface="Arial" pitchFamily="34" charset="0"/>
                <a:ea typeface="Arial" pitchFamily="34" charset="-122"/>
                <a:cs typeface="Arial" pitchFamily="34" charset="-120"/>
              </a:rPr>
              <a:t>1. Objeto e unidade(s) consumidora(s)</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2. Cota/percentual e início previsto dos créditos</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3. Cálculo mensal do valor (energia compensada × (1 − desconto))</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4. Vencimento, meios de pagamento, atraso (multa e juros legais)</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5. Prazo, renovação e cancelamento (aviso prévio)</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6. Mudança de endereço/titularidade</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7. Variação de geração (nunca paga o que não recebeu)</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8. Reajuste e reequilíbrio regulatório</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9. Obrigações do cliente (manter titularidade, informar mudanças, enviar faturas se preciso)</a:t>
            </a:r>
            <a:endParaRPr lang="en-US" sz="1200" dirty="0"/>
          </a:p>
          <a:p>
            <a:pPr indent="0" marL="0">
              <a:spcAft>
                <a:spcPts val="600"/>
              </a:spcAft>
              <a:buNone/>
            </a:pPr>
            <a:r>
              <a:rPr lang="en-US" sz="1200" dirty="0">
                <a:solidFill>
                  <a:srgbClr val="1F2937"/>
                </a:solidFill>
                <a:latin typeface="Arial" pitchFamily="34" charset="0"/>
                <a:ea typeface="Arial" pitchFamily="34" charset="-122"/>
                <a:cs typeface="Arial" pitchFamily="34" charset="-120"/>
              </a:rPr>
              <a:t>10. Dados pessoais (LGPD) e comunicação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1</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O CONTRATO DO CLIENTE</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Assinatura e documentos</a:t>
            </a:r>
            <a:endParaRPr lang="en-US" sz="2600" dirty="0"/>
          </a:p>
        </p:txBody>
      </p:sp>
      <p:sp>
        <p:nvSpPr>
          <p:cNvPr id="9" name="Shape 6"/>
          <p:cNvSpPr/>
          <p:nvPr/>
        </p:nvSpPr>
        <p:spPr>
          <a:xfrm>
            <a:off x="411480" y="1325880"/>
            <a:ext cx="3642360" cy="4892040"/>
          </a:xfrm>
          <a:prstGeom prst="roundRect">
            <a:avLst>
              <a:gd name="adj" fmla="val 2008"/>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94360" y="1508760"/>
            <a:ext cx="457200" cy="457200"/>
          </a:xfrm>
          <a:prstGeom prst="ellipse">
            <a:avLst/>
          </a:prstGeom>
          <a:solidFill>
            <a:srgbClr val="1B3A6B"/>
          </a:solidFill>
          <a:ln/>
        </p:spPr>
      </p:sp>
      <p:sp>
        <p:nvSpPr>
          <p:cNvPr id="11" name="Text 8"/>
          <p:cNvSpPr/>
          <p:nvPr/>
        </p:nvSpPr>
        <p:spPr>
          <a:xfrm>
            <a:off x="59436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188720" y="1435608"/>
            <a:ext cx="2727960"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PF: documento, conta de luz no nome do titular, comprovante de endereço</a:t>
            </a:r>
            <a:endParaRPr lang="en-US" sz="1800" dirty="0"/>
          </a:p>
        </p:txBody>
      </p:sp>
      <p:sp>
        <p:nvSpPr>
          <p:cNvPr id="13" name="Shape 10"/>
          <p:cNvSpPr/>
          <p:nvPr/>
        </p:nvSpPr>
        <p:spPr>
          <a:xfrm>
            <a:off x="4282440" y="1325880"/>
            <a:ext cx="3642360" cy="4892040"/>
          </a:xfrm>
          <a:prstGeom prst="roundRect">
            <a:avLst>
              <a:gd name="adj" fmla="val 2008"/>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465320" y="1508760"/>
            <a:ext cx="457200" cy="457200"/>
          </a:xfrm>
          <a:prstGeom prst="ellipse">
            <a:avLst/>
          </a:prstGeom>
          <a:solidFill>
            <a:srgbClr val="F7A23B"/>
          </a:solidFill>
          <a:ln/>
        </p:spPr>
      </p:sp>
      <p:sp>
        <p:nvSpPr>
          <p:cNvPr id="15" name="Text 12"/>
          <p:cNvSpPr/>
          <p:nvPr/>
        </p:nvSpPr>
        <p:spPr>
          <a:xfrm>
            <a:off x="44653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59680" y="1435608"/>
            <a:ext cx="2727960"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PJ: contrato social/CNPJ, documento do representante, conta de luz</a:t>
            </a:r>
            <a:endParaRPr lang="en-US" sz="1800" dirty="0"/>
          </a:p>
        </p:txBody>
      </p:sp>
      <p:sp>
        <p:nvSpPr>
          <p:cNvPr id="17" name="Shape 14"/>
          <p:cNvSpPr/>
          <p:nvPr/>
        </p:nvSpPr>
        <p:spPr>
          <a:xfrm>
            <a:off x="8153400" y="1325880"/>
            <a:ext cx="3642360" cy="4892040"/>
          </a:xfrm>
          <a:prstGeom prst="roundRect">
            <a:avLst>
              <a:gd name="adj" fmla="val 2008"/>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336280" y="1508760"/>
            <a:ext cx="457200" cy="457200"/>
          </a:xfrm>
          <a:prstGeom prst="ellipse">
            <a:avLst/>
          </a:prstGeom>
          <a:solidFill>
            <a:srgbClr val="1B3A6B"/>
          </a:solidFill>
          <a:ln/>
        </p:spPr>
      </p:sp>
      <p:sp>
        <p:nvSpPr>
          <p:cNvPr id="19" name="Text 16"/>
          <p:cNvSpPr/>
          <p:nvPr/>
        </p:nvSpPr>
        <p:spPr>
          <a:xfrm>
            <a:off x="833628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930640" y="1435608"/>
            <a:ext cx="2727960" cy="467258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Assinatura eletrônica com trilha de auditoria</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1</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O CONTRATO DO CLIENTE</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na plataforma</a:t>
            </a:r>
            <a:endParaRPr lang="en-US" sz="2600" dirty="0"/>
          </a:p>
        </p:txBody>
      </p:sp>
      <p:sp>
        <p:nvSpPr>
          <p:cNvPr id="9" name="Shape 6"/>
          <p:cNvSpPr/>
          <p:nvPr/>
        </p:nvSpPr>
        <p:spPr>
          <a:xfrm>
            <a:off x="411480" y="1325880"/>
            <a:ext cx="11384280" cy="4937760"/>
          </a:xfrm>
          <a:prstGeom prst="roundRect">
            <a:avLst>
              <a:gd name="adj" fmla="val 1481"/>
            </a:avLst>
          </a:prstGeom>
          <a:solidFill>
            <a:srgbClr val="FFFFFF"/>
          </a:solidFill>
          <a:ln w="9525">
            <a:solidFill>
              <a:srgbClr val="D8E0EC"/>
            </a:solidFill>
            <a:prstDash val="solid"/>
          </a:ln>
        </p:spPr>
      </p:sp>
      <p:sp>
        <p:nvSpPr>
          <p:cNvPr id="10" name="Shape 7"/>
          <p:cNvSpPr/>
          <p:nvPr/>
        </p:nvSpPr>
        <p:spPr>
          <a:xfrm>
            <a:off x="594360" y="1508760"/>
            <a:ext cx="822960" cy="384048"/>
          </a:xfrm>
          <a:prstGeom prst="roundRect">
            <a:avLst>
              <a:gd name="adj" fmla="val 47619"/>
            </a:avLst>
          </a:prstGeom>
          <a:solidFill>
            <a:srgbClr val="F7A23B"/>
          </a:solidFill>
          <a:ln/>
        </p:spPr>
      </p:sp>
      <p:sp>
        <p:nvSpPr>
          <p:cNvPr id="11" name="Text 8"/>
          <p:cNvSpPr/>
          <p:nvPr/>
        </p:nvSpPr>
        <p:spPr>
          <a:xfrm>
            <a:off x="594360" y="1508760"/>
            <a:ext cx="822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PASSO 1</a:t>
            </a:r>
            <a:endParaRPr lang="en-US" sz="1000" dirty="0"/>
          </a:p>
        </p:txBody>
      </p:sp>
      <p:sp>
        <p:nvSpPr>
          <p:cNvPr id="12" name="Text 9"/>
          <p:cNvSpPr/>
          <p:nvPr/>
        </p:nvSpPr>
        <p:spPr>
          <a:xfrm>
            <a:off x="1508760" y="1463040"/>
            <a:ext cx="10149840" cy="502920"/>
          </a:xfrm>
          <a:prstGeom prst="rect">
            <a:avLst/>
          </a:prstGeom>
          <a:noFill/>
          <a:ln/>
        </p:spPr>
        <p:txBody>
          <a:bodyPr wrap="square" rtlCol="0" anchor="ctr">
            <a:normAutofit/>
          </a:bodyPr>
          <a:lstStyle/>
          <a:p>
            <a:pPr indent="0" marL="0">
              <a:buNone/>
            </a:pPr>
            <a:r>
              <a:rPr lang="en-US" sz="1400" b="1" dirty="0">
                <a:solidFill>
                  <a:srgbClr val="1B3A6B"/>
                </a:solidFill>
                <a:latin typeface="Arial" pitchFamily="34" charset="0"/>
                <a:ea typeface="Arial" pitchFamily="34" charset="-122"/>
                <a:cs typeface="Arial" pitchFamily="34" charset="-120"/>
              </a:rPr>
              <a:t>O contrato na plataforma</a:t>
            </a:r>
            <a:endParaRPr lang="en-US" sz="1400" dirty="0"/>
          </a:p>
        </p:txBody>
      </p:sp>
      <p:sp>
        <p:nvSpPr>
          <p:cNvPr id="13" name="Text 10"/>
          <p:cNvSpPr/>
          <p:nvPr/>
        </p:nvSpPr>
        <p:spPr>
          <a:xfrm>
            <a:off x="640080" y="2057400"/>
            <a:ext cx="10927080" cy="4069080"/>
          </a:xfrm>
          <a:prstGeom prst="rect">
            <a:avLst/>
          </a:prstGeom>
          <a:noFill/>
          <a:ln/>
        </p:spPr>
        <p:txBody>
          <a:bodyPr wrap="square"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Contrato nasce da proposta aprovada</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status: emitido → assinado → ativo</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1</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1 · RESUMO</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41148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94360" y="1508760"/>
            <a:ext cx="457200" cy="457200"/>
          </a:xfrm>
          <a:prstGeom prst="ellipse">
            <a:avLst/>
          </a:prstGeom>
          <a:solidFill>
            <a:srgbClr val="1B3A6B"/>
          </a:solidFill>
          <a:ln/>
        </p:spPr>
      </p:sp>
      <p:sp>
        <p:nvSpPr>
          <p:cNvPr id="11" name="Text 8"/>
          <p:cNvSpPr/>
          <p:nvPr/>
        </p:nvSpPr>
        <p:spPr>
          <a:xfrm>
            <a:off x="59436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18872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10 cláusulas</a:t>
            </a:r>
            <a:endParaRPr lang="en-US" sz="1800" dirty="0"/>
          </a:p>
        </p:txBody>
      </p:sp>
      <p:sp>
        <p:nvSpPr>
          <p:cNvPr id="13" name="Shape 10"/>
          <p:cNvSpPr/>
          <p:nvPr/>
        </p:nvSpPr>
        <p:spPr>
          <a:xfrm>
            <a:off x="428244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465320" y="1508760"/>
            <a:ext cx="457200" cy="457200"/>
          </a:xfrm>
          <a:prstGeom prst="ellipse">
            <a:avLst/>
          </a:prstGeom>
          <a:solidFill>
            <a:srgbClr val="F7A23B"/>
          </a:solidFill>
          <a:ln/>
        </p:spPr>
      </p:sp>
      <p:sp>
        <p:nvSpPr>
          <p:cNvPr id="15" name="Text 12"/>
          <p:cNvSpPr/>
          <p:nvPr/>
        </p:nvSpPr>
        <p:spPr>
          <a:xfrm>
            <a:off x="44653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5968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fórmula com exemplo</a:t>
            </a:r>
            <a:endParaRPr lang="en-US" sz="1800" dirty="0"/>
          </a:p>
        </p:txBody>
      </p:sp>
      <p:sp>
        <p:nvSpPr>
          <p:cNvPr id="17" name="Shape 14"/>
          <p:cNvSpPr/>
          <p:nvPr/>
        </p:nvSpPr>
        <p:spPr>
          <a:xfrm>
            <a:off x="815340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336280" y="1508760"/>
            <a:ext cx="457200" cy="457200"/>
          </a:xfrm>
          <a:prstGeom prst="ellipse">
            <a:avLst/>
          </a:prstGeom>
          <a:solidFill>
            <a:srgbClr val="1B3A6B"/>
          </a:solidFill>
          <a:ln/>
        </p:spPr>
      </p:sp>
      <p:sp>
        <p:nvSpPr>
          <p:cNvPr id="19" name="Text 16"/>
          <p:cNvSpPr/>
          <p:nvPr/>
        </p:nvSpPr>
        <p:spPr>
          <a:xfrm>
            <a:off x="833628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93064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cancelamento com aviso prévio</a:t>
            </a:r>
            <a:endParaRPr lang="en-US" sz="1800" dirty="0"/>
          </a:p>
        </p:txBody>
      </p:sp>
      <p:sp>
        <p:nvSpPr>
          <p:cNvPr id="21" name="Shape 18"/>
          <p:cNvSpPr/>
          <p:nvPr/>
        </p:nvSpPr>
        <p:spPr>
          <a:xfrm>
            <a:off x="411480" y="388620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594360" y="4069080"/>
            <a:ext cx="457200" cy="457200"/>
          </a:xfrm>
          <a:prstGeom prst="ellipse">
            <a:avLst/>
          </a:prstGeom>
          <a:solidFill>
            <a:srgbClr val="F7A23B"/>
          </a:solidFill>
          <a:ln/>
        </p:spPr>
      </p:sp>
      <p:sp>
        <p:nvSpPr>
          <p:cNvPr id="23" name="Text 20"/>
          <p:cNvSpPr/>
          <p:nvPr/>
        </p:nvSpPr>
        <p:spPr>
          <a:xfrm>
            <a:off x="59436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188720" y="399592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reequilíbrio regulatório</a:t>
            </a:r>
            <a:endParaRPr lang="en-US" sz="1800" dirty="0"/>
          </a:p>
        </p:txBody>
      </p:sp>
      <p:sp>
        <p:nvSpPr>
          <p:cNvPr id="25" name="Shape 22"/>
          <p:cNvSpPr/>
          <p:nvPr/>
        </p:nvSpPr>
        <p:spPr>
          <a:xfrm>
            <a:off x="4282440" y="388620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465320" y="4069080"/>
            <a:ext cx="457200" cy="457200"/>
          </a:xfrm>
          <a:prstGeom prst="ellipse">
            <a:avLst/>
          </a:prstGeom>
          <a:solidFill>
            <a:srgbClr val="1B3A6B"/>
          </a:solidFill>
          <a:ln/>
        </p:spPr>
      </p:sp>
      <p:sp>
        <p:nvSpPr>
          <p:cNvPr id="27" name="Text 24"/>
          <p:cNvSpPr/>
          <p:nvPr/>
        </p:nvSpPr>
        <p:spPr>
          <a:xfrm>
            <a:off x="44653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59680" y="399592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assinatura eletrônica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2</a:t>
            </a:r>
            <a:endParaRPr lang="en-US" sz="1800" dirty="0"/>
          </a:p>
        </p:txBody>
      </p:sp>
      <p:sp>
        <p:nvSpPr>
          <p:cNvPr id="4" name="Text 2"/>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5"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6" name="Text 3"/>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LGPD na operação de GD</a:t>
            </a:r>
            <a:endParaRPr lang="en-US" sz="3200" dirty="0"/>
          </a:p>
        </p:txBody>
      </p:sp>
      <p:sp>
        <p:nvSpPr>
          <p:cNvPr id="7" name="Text 4"/>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Aplicar os princípios da LGPD aos dados de clientes, produtores e faturas</a:t>
            </a:r>
            <a:endParaRPr lang="en-US" sz="1500" dirty="0"/>
          </a:p>
        </p:txBody>
      </p:sp>
      <p:sp>
        <p:nvSpPr>
          <p:cNvPr id="8" name="Text 5"/>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Que dados e para quê</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Bases legais e transparência</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Segurança e acesso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Direitos do titular e retenção</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2</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LGPD NA OPERAÇÃO DE GD</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Que dados e para quê</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417320"/>
          <a:ext cx="11384280" cy="914400"/>
        </p:xfrm>
        <a:graphic>
          <a:graphicData uri="http://schemas.openxmlformats.org/drawingml/2006/table">
            <a:tbl>
              <a:tblPr/>
              <a:tblGrid>
                <a:gridCol w="5692140"/>
                <a:gridCol w="5692140"/>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Dado</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1B3A6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Finalidade</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1B3A6B"/>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Nome, CPF/CNPJ</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Contrato, cobrança, cadastro na distribuidora</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Endereço, UC</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Rateio de créditos, faturas</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Telefone, e-mail</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Avisos de cobrança, portal</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F2937"/>
                          </a:solidFill>
                          <a:latin typeface="Arial" pitchFamily="34" charset="0"/>
                          <a:ea typeface="Arial" pitchFamily="34" charset="-122"/>
                          <a:cs typeface="Arial" pitchFamily="34" charset="-120"/>
                        </a:rPr>
                        <a:t>Faturas da distribuidora</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Cálculo da cobrança, relatório de economia</a:t>
                      </a:r>
                      <a:endParaRPr lang="en-US" sz="1400" dirty="0">
                        <a:latin typeface="Arial" charset="0"/>
                        <a:ea typeface="Arial" charset="0"/>
                        <a:cs typeface="Arial"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EEF3FA"/>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2</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LGPD na operação de GD</a:t>
            </a:r>
            <a:endParaRPr lang="en-US" sz="2600" dirty="0"/>
          </a:p>
        </p:txBody>
      </p:sp>
      <p:sp>
        <p:nvSpPr>
          <p:cNvPr id="9" name="Shape 6"/>
          <p:cNvSpPr/>
          <p:nvPr/>
        </p:nvSpPr>
        <p:spPr>
          <a:xfrm>
            <a:off x="411480" y="1325880"/>
            <a:ext cx="5554980" cy="4937760"/>
          </a:xfrm>
          <a:prstGeom prst="roundRect">
            <a:avLst>
              <a:gd name="adj" fmla="val 1481"/>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411480" y="1325880"/>
            <a:ext cx="5554980" cy="109728"/>
          </a:xfrm>
          <a:prstGeom prst="rect">
            <a:avLst/>
          </a:prstGeom>
          <a:solidFill>
            <a:srgbClr val="1B3A6B"/>
          </a:solidFill>
          <a:ln/>
        </p:spPr>
      </p:sp>
      <p:sp>
        <p:nvSpPr>
          <p:cNvPr id="11" name="Text 8"/>
          <p:cNvSpPr/>
          <p:nvPr/>
        </p:nvSpPr>
        <p:spPr>
          <a:xfrm>
            <a:off x="685800" y="1554480"/>
            <a:ext cx="5006340"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Bases legais e transparência</a:t>
            </a:r>
            <a:endParaRPr lang="en-US" sz="1600" dirty="0"/>
          </a:p>
        </p:txBody>
      </p:sp>
      <p:sp>
        <p:nvSpPr>
          <p:cNvPr id="12" name="Text 9"/>
          <p:cNvSpPr/>
          <p:nvPr/>
        </p:nvSpPr>
        <p:spPr>
          <a:xfrm>
            <a:off x="685800" y="2286000"/>
            <a:ext cx="5006340"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Base legal principal: execução de contrato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cumprimento de obrigação legal</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aviso de privacidade claro</a:t>
            </a:r>
            <a:endParaRPr lang="en-US" sz="1700" dirty="0"/>
          </a:p>
        </p:txBody>
      </p:sp>
      <p:sp>
        <p:nvSpPr>
          <p:cNvPr id="13" name="Shape 10"/>
          <p:cNvSpPr/>
          <p:nvPr/>
        </p:nvSpPr>
        <p:spPr>
          <a:xfrm>
            <a:off x="6240780" y="1325880"/>
            <a:ext cx="5554980" cy="4937760"/>
          </a:xfrm>
          <a:prstGeom prst="roundRect">
            <a:avLst>
              <a:gd name="adj" fmla="val 1481"/>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240780" y="1325880"/>
            <a:ext cx="5554980" cy="109728"/>
          </a:xfrm>
          <a:prstGeom prst="rect">
            <a:avLst/>
          </a:prstGeom>
          <a:solidFill>
            <a:srgbClr val="F7A23B"/>
          </a:solidFill>
          <a:ln/>
        </p:spPr>
      </p:sp>
      <p:sp>
        <p:nvSpPr>
          <p:cNvPr id="15" name="Text 12"/>
          <p:cNvSpPr/>
          <p:nvPr/>
        </p:nvSpPr>
        <p:spPr>
          <a:xfrm>
            <a:off x="6515100" y="1554480"/>
            <a:ext cx="5006340"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Segurança e acesso</a:t>
            </a:r>
            <a:endParaRPr lang="en-US" sz="1600" dirty="0"/>
          </a:p>
        </p:txBody>
      </p:sp>
      <p:sp>
        <p:nvSpPr>
          <p:cNvPr id="16" name="Text 13"/>
          <p:cNvSpPr/>
          <p:nvPr/>
        </p:nvSpPr>
        <p:spPr>
          <a:xfrm>
            <a:off x="6515100" y="2286000"/>
            <a:ext cx="5006340" cy="3749040"/>
          </a:xfrm>
          <a:prstGeom prst="rect">
            <a:avLst/>
          </a:prstGeom>
          <a:noFill/>
          <a:ln/>
        </p:spPr>
        <p:txBody>
          <a:bodyPr wrap="square" rtlCol="0" anchor="t">
            <a:normAutofit/>
          </a:bodyPr>
          <a:lstStyle/>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Acesso por perfil (carteira)</a:t>
            </a:r>
            <a:endParaRPr lang="en-US" sz="1600" dirty="0"/>
          </a:p>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senhas fortes</a:t>
            </a:r>
            <a:endParaRPr lang="en-US" sz="1600" dirty="0"/>
          </a:p>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faturas fora de pastas públicas</a:t>
            </a:r>
            <a:endParaRPr lang="en-US" sz="1600" dirty="0"/>
          </a:p>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nada de planilha no WhatsApp</a:t>
            </a:r>
            <a:endParaRPr lang="en-US" sz="1600" dirty="0"/>
          </a:p>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registro de quem acessou</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2</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LGPD NA OPERAÇÃO DE GD</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Direitos do titular e retenção</a:t>
            </a:r>
            <a:endParaRPr lang="en-US" sz="2600" dirty="0"/>
          </a:p>
        </p:txBody>
      </p:sp>
      <p:sp>
        <p:nvSpPr>
          <p:cNvPr id="9" name="Shape 6"/>
          <p:cNvSpPr/>
          <p:nvPr/>
        </p:nvSpPr>
        <p:spPr>
          <a:xfrm>
            <a:off x="41148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94360" y="1508760"/>
            <a:ext cx="457200" cy="457200"/>
          </a:xfrm>
          <a:prstGeom prst="ellipse">
            <a:avLst/>
          </a:prstGeom>
          <a:solidFill>
            <a:srgbClr val="1B3A6B"/>
          </a:solidFill>
          <a:ln/>
        </p:spPr>
      </p:sp>
      <p:sp>
        <p:nvSpPr>
          <p:cNvPr id="11" name="Text 8"/>
          <p:cNvSpPr/>
          <p:nvPr/>
        </p:nvSpPr>
        <p:spPr>
          <a:xfrm>
            <a:off x="59436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18872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Acesso</a:t>
            </a:r>
            <a:endParaRPr lang="en-US" sz="1800" dirty="0"/>
          </a:p>
        </p:txBody>
      </p:sp>
      <p:sp>
        <p:nvSpPr>
          <p:cNvPr id="13" name="Shape 10"/>
          <p:cNvSpPr/>
          <p:nvPr/>
        </p:nvSpPr>
        <p:spPr>
          <a:xfrm>
            <a:off x="428244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465320" y="1508760"/>
            <a:ext cx="457200" cy="457200"/>
          </a:xfrm>
          <a:prstGeom prst="ellipse">
            <a:avLst/>
          </a:prstGeom>
          <a:solidFill>
            <a:srgbClr val="F7A23B"/>
          </a:solidFill>
          <a:ln/>
        </p:spPr>
      </p:sp>
      <p:sp>
        <p:nvSpPr>
          <p:cNvPr id="15" name="Text 12"/>
          <p:cNvSpPr/>
          <p:nvPr/>
        </p:nvSpPr>
        <p:spPr>
          <a:xfrm>
            <a:off x="44653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5968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correção</a:t>
            </a:r>
            <a:endParaRPr lang="en-US" sz="1800" dirty="0"/>
          </a:p>
        </p:txBody>
      </p:sp>
      <p:sp>
        <p:nvSpPr>
          <p:cNvPr id="17" name="Shape 14"/>
          <p:cNvSpPr/>
          <p:nvPr/>
        </p:nvSpPr>
        <p:spPr>
          <a:xfrm>
            <a:off x="815340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336280" y="1508760"/>
            <a:ext cx="457200" cy="457200"/>
          </a:xfrm>
          <a:prstGeom prst="ellipse">
            <a:avLst/>
          </a:prstGeom>
          <a:solidFill>
            <a:srgbClr val="1B3A6B"/>
          </a:solidFill>
          <a:ln/>
        </p:spPr>
      </p:sp>
      <p:sp>
        <p:nvSpPr>
          <p:cNvPr id="19" name="Text 16"/>
          <p:cNvSpPr/>
          <p:nvPr/>
        </p:nvSpPr>
        <p:spPr>
          <a:xfrm>
            <a:off x="833628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93064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eliminação (quando cabível)</a:t>
            </a:r>
            <a:endParaRPr lang="en-US" sz="1800" dirty="0"/>
          </a:p>
        </p:txBody>
      </p:sp>
      <p:sp>
        <p:nvSpPr>
          <p:cNvPr id="21" name="Shape 18"/>
          <p:cNvSpPr/>
          <p:nvPr/>
        </p:nvSpPr>
        <p:spPr>
          <a:xfrm>
            <a:off x="411480" y="388620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594360" y="4069080"/>
            <a:ext cx="457200" cy="457200"/>
          </a:xfrm>
          <a:prstGeom prst="ellipse">
            <a:avLst/>
          </a:prstGeom>
          <a:solidFill>
            <a:srgbClr val="F7A23B"/>
          </a:solidFill>
          <a:ln/>
        </p:spPr>
      </p:sp>
      <p:sp>
        <p:nvSpPr>
          <p:cNvPr id="23" name="Text 20"/>
          <p:cNvSpPr/>
          <p:nvPr/>
        </p:nvSpPr>
        <p:spPr>
          <a:xfrm>
            <a:off x="59436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188720" y="399592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canal de atendimento</a:t>
            </a:r>
            <a:endParaRPr lang="en-US" sz="1800" dirty="0"/>
          </a:p>
        </p:txBody>
      </p:sp>
      <p:sp>
        <p:nvSpPr>
          <p:cNvPr id="25" name="Shape 22"/>
          <p:cNvSpPr/>
          <p:nvPr/>
        </p:nvSpPr>
        <p:spPr>
          <a:xfrm>
            <a:off x="4282440" y="388620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465320" y="4069080"/>
            <a:ext cx="457200" cy="457200"/>
          </a:xfrm>
          <a:prstGeom prst="ellipse">
            <a:avLst/>
          </a:prstGeom>
          <a:solidFill>
            <a:srgbClr val="1B3A6B"/>
          </a:solidFill>
          <a:ln/>
        </p:spPr>
      </p:sp>
      <p:sp>
        <p:nvSpPr>
          <p:cNvPr id="27" name="Text 24"/>
          <p:cNvSpPr/>
          <p:nvPr/>
        </p:nvSpPr>
        <p:spPr>
          <a:xfrm>
            <a:off x="44653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59680" y="399592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encarregado (DPO)</a:t>
            </a:r>
            <a:endParaRPr lang="en-US" sz="1800" dirty="0"/>
          </a:p>
        </p:txBody>
      </p:sp>
      <p:sp>
        <p:nvSpPr>
          <p:cNvPr id="29" name="Shape 26"/>
          <p:cNvSpPr/>
          <p:nvPr/>
        </p:nvSpPr>
        <p:spPr>
          <a:xfrm>
            <a:off x="8153400" y="388620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30" name="Shape 27"/>
          <p:cNvSpPr/>
          <p:nvPr/>
        </p:nvSpPr>
        <p:spPr>
          <a:xfrm>
            <a:off x="8336280" y="4069080"/>
            <a:ext cx="457200" cy="457200"/>
          </a:xfrm>
          <a:prstGeom prst="ellipse">
            <a:avLst/>
          </a:prstGeom>
          <a:solidFill>
            <a:srgbClr val="F7A23B"/>
          </a:solidFill>
          <a:ln/>
        </p:spPr>
      </p:sp>
      <p:sp>
        <p:nvSpPr>
          <p:cNvPr id="31" name="Text 28"/>
          <p:cNvSpPr/>
          <p:nvPr/>
        </p:nvSpPr>
        <p:spPr>
          <a:xfrm>
            <a:off x="833628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29"/>
          <p:cNvSpPr/>
          <p:nvPr/>
        </p:nvSpPr>
        <p:spPr>
          <a:xfrm>
            <a:off x="8930640" y="399592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prazo de retenção definido</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2</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2 · RESUMO</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41148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94360" y="1508760"/>
            <a:ext cx="457200" cy="457200"/>
          </a:xfrm>
          <a:prstGeom prst="ellipse">
            <a:avLst/>
          </a:prstGeom>
          <a:solidFill>
            <a:srgbClr val="1B3A6B"/>
          </a:solidFill>
          <a:ln/>
        </p:spPr>
      </p:sp>
      <p:sp>
        <p:nvSpPr>
          <p:cNvPr id="11" name="Text 8"/>
          <p:cNvSpPr/>
          <p:nvPr/>
        </p:nvSpPr>
        <p:spPr>
          <a:xfrm>
            <a:off x="59436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18872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Só o necessário</a:t>
            </a:r>
            <a:endParaRPr lang="en-US" sz="1800" dirty="0"/>
          </a:p>
        </p:txBody>
      </p:sp>
      <p:sp>
        <p:nvSpPr>
          <p:cNvPr id="13" name="Shape 10"/>
          <p:cNvSpPr/>
          <p:nvPr/>
        </p:nvSpPr>
        <p:spPr>
          <a:xfrm>
            <a:off x="428244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465320" y="1508760"/>
            <a:ext cx="457200" cy="457200"/>
          </a:xfrm>
          <a:prstGeom prst="ellipse">
            <a:avLst/>
          </a:prstGeom>
          <a:solidFill>
            <a:srgbClr val="F7A23B"/>
          </a:solidFill>
          <a:ln/>
        </p:spPr>
      </p:sp>
      <p:sp>
        <p:nvSpPr>
          <p:cNvPr id="15" name="Text 12"/>
          <p:cNvSpPr/>
          <p:nvPr/>
        </p:nvSpPr>
        <p:spPr>
          <a:xfrm>
            <a:off x="44653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5968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base legal: contrato</a:t>
            </a:r>
            <a:endParaRPr lang="en-US" sz="1800" dirty="0"/>
          </a:p>
        </p:txBody>
      </p:sp>
      <p:sp>
        <p:nvSpPr>
          <p:cNvPr id="17" name="Shape 14"/>
          <p:cNvSpPr/>
          <p:nvPr/>
        </p:nvSpPr>
        <p:spPr>
          <a:xfrm>
            <a:off x="815340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336280" y="1508760"/>
            <a:ext cx="457200" cy="457200"/>
          </a:xfrm>
          <a:prstGeom prst="ellipse">
            <a:avLst/>
          </a:prstGeom>
          <a:solidFill>
            <a:srgbClr val="1B3A6B"/>
          </a:solidFill>
          <a:ln/>
        </p:spPr>
      </p:sp>
      <p:sp>
        <p:nvSpPr>
          <p:cNvPr id="19" name="Text 16"/>
          <p:cNvSpPr/>
          <p:nvPr/>
        </p:nvSpPr>
        <p:spPr>
          <a:xfrm>
            <a:off x="833628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93064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aviso de privacidade</a:t>
            </a:r>
            <a:endParaRPr lang="en-US" sz="1800" dirty="0"/>
          </a:p>
        </p:txBody>
      </p:sp>
      <p:sp>
        <p:nvSpPr>
          <p:cNvPr id="21" name="Shape 18"/>
          <p:cNvSpPr/>
          <p:nvPr/>
        </p:nvSpPr>
        <p:spPr>
          <a:xfrm>
            <a:off x="411480" y="388620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594360" y="4069080"/>
            <a:ext cx="457200" cy="457200"/>
          </a:xfrm>
          <a:prstGeom prst="ellipse">
            <a:avLst/>
          </a:prstGeom>
          <a:solidFill>
            <a:srgbClr val="F7A23B"/>
          </a:solidFill>
          <a:ln/>
        </p:spPr>
      </p:sp>
      <p:sp>
        <p:nvSpPr>
          <p:cNvPr id="23" name="Text 20"/>
          <p:cNvSpPr/>
          <p:nvPr/>
        </p:nvSpPr>
        <p:spPr>
          <a:xfrm>
            <a:off x="59436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188720" y="399592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acesso por perfil</a:t>
            </a:r>
            <a:endParaRPr lang="en-US" sz="1800" dirty="0"/>
          </a:p>
        </p:txBody>
      </p:sp>
      <p:sp>
        <p:nvSpPr>
          <p:cNvPr id="25" name="Shape 22"/>
          <p:cNvSpPr/>
          <p:nvPr/>
        </p:nvSpPr>
        <p:spPr>
          <a:xfrm>
            <a:off x="4282440" y="388620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465320" y="4069080"/>
            <a:ext cx="457200" cy="457200"/>
          </a:xfrm>
          <a:prstGeom prst="ellipse">
            <a:avLst/>
          </a:prstGeom>
          <a:solidFill>
            <a:srgbClr val="1B3A6B"/>
          </a:solidFill>
          <a:ln/>
        </p:spPr>
      </p:sp>
      <p:sp>
        <p:nvSpPr>
          <p:cNvPr id="27" name="Text 24"/>
          <p:cNvSpPr/>
          <p:nvPr/>
        </p:nvSpPr>
        <p:spPr>
          <a:xfrm>
            <a:off x="44653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59680" y="399592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canal do titular</a:t>
            </a:r>
            <a:endParaRPr lang="en-US" sz="1800" dirty="0"/>
          </a:p>
        </p:txBody>
      </p:sp>
      <p:sp>
        <p:nvSpPr>
          <p:cNvPr id="29" name="Shape 26"/>
          <p:cNvSpPr/>
          <p:nvPr/>
        </p:nvSpPr>
        <p:spPr>
          <a:xfrm>
            <a:off x="8153400" y="388620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30" name="Shape 27"/>
          <p:cNvSpPr/>
          <p:nvPr/>
        </p:nvSpPr>
        <p:spPr>
          <a:xfrm>
            <a:off x="8336280" y="4069080"/>
            <a:ext cx="457200" cy="457200"/>
          </a:xfrm>
          <a:prstGeom prst="ellipse">
            <a:avLst/>
          </a:prstGeom>
          <a:solidFill>
            <a:srgbClr val="F7A23B"/>
          </a:solidFill>
          <a:ln/>
        </p:spPr>
      </p:sp>
      <p:sp>
        <p:nvSpPr>
          <p:cNvPr id="31" name="Text 28"/>
          <p:cNvSpPr/>
          <p:nvPr/>
        </p:nvSpPr>
        <p:spPr>
          <a:xfrm>
            <a:off x="833628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29"/>
          <p:cNvSpPr/>
          <p:nvPr/>
        </p:nvSpPr>
        <p:spPr>
          <a:xfrm>
            <a:off x="8930640" y="399592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retenção definida</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3</a:t>
            </a:r>
            <a:endParaRPr lang="en-US" sz="1800" dirty="0"/>
          </a:p>
        </p:txBody>
      </p:sp>
      <p:sp>
        <p:nvSpPr>
          <p:cNvPr id="4" name="Text 2"/>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5"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6" name="Text 3"/>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O rateio na distribuidora</a:t>
            </a:r>
            <a:endParaRPr lang="en-US" sz="3200" dirty="0"/>
          </a:p>
        </p:txBody>
      </p:sp>
      <p:sp>
        <p:nvSpPr>
          <p:cNvPr id="7" name="Text 4"/>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Montar e manter a lista de rateio e planejar entradas e saídas de clientes</a:t>
            </a:r>
            <a:endParaRPr lang="en-US" sz="1500" dirty="0"/>
          </a:p>
        </p:txBody>
      </p:sp>
      <p:sp>
        <p:nvSpPr>
          <p:cNvPr id="8" name="Text 5"/>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que é a lista de rateio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O ciclo de atualização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Entradas, saídas e o "buraco"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Cuidados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3</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O RATEIO NA DISTRIBUIDORA</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 que é a lista de rateio</a:t>
            </a:r>
            <a:endParaRPr lang="en-US" sz="2600" dirty="0"/>
          </a:p>
        </p:txBody>
      </p:sp>
      <p:sp>
        <p:nvSpPr>
          <p:cNvPr id="9" name="Shape 6"/>
          <p:cNvSpPr/>
          <p:nvPr/>
        </p:nvSpPr>
        <p:spPr>
          <a:xfrm>
            <a:off x="411480" y="132588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94360" y="1508760"/>
            <a:ext cx="457200" cy="457200"/>
          </a:xfrm>
          <a:prstGeom prst="ellipse">
            <a:avLst/>
          </a:prstGeom>
          <a:solidFill>
            <a:srgbClr val="1B3A6B"/>
          </a:solidFill>
          <a:ln/>
        </p:spPr>
      </p:sp>
      <p:sp>
        <p:nvSpPr>
          <p:cNvPr id="11" name="Text 8"/>
          <p:cNvSpPr/>
          <p:nvPr/>
        </p:nvSpPr>
        <p:spPr>
          <a:xfrm>
            <a:off x="59436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188720" y="143560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UC 1234567 · Padaria · 4,00%</a:t>
            </a:r>
            <a:endParaRPr lang="en-US" sz="1800" dirty="0"/>
          </a:p>
        </p:txBody>
      </p:sp>
      <p:sp>
        <p:nvSpPr>
          <p:cNvPr id="13" name="Shape 10"/>
          <p:cNvSpPr/>
          <p:nvPr/>
        </p:nvSpPr>
        <p:spPr>
          <a:xfrm>
            <a:off x="6217920" y="132588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400800" y="1508760"/>
            <a:ext cx="457200" cy="457200"/>
          </a:xfrm>
          <a:prstGeom prst="ellipse">
            <a:avLst/>
          </a:prstGeom>
          <a:solidFill>
            <a:srgbClr val="F7A23B"/>
          </a:solidFill>
          <a:ln/>
        </p:spPr>
      </p:sp>
      <p:sp>
        <p:nvSpPr>
          <p:cNvPr id="15" name="Text 12"/>
          <p:cNvSpPr/>
          <p:nvPr/>
        </p:nvSpPr>
        <p:spPr>
          <a:xfrm>
            <a:off x="640080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95160" y="143560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UC 2345678 · Clínica · 6,18%</a:t>
            </a:r>
            <a:endParaRPr lang="en-US" sz="1800" dirty="0"/>
          </a:p>
        </p:txBody>
      </p:sp>
      <p:sp>
        <p:nvSpPr>
          <p:cNvPr id="17" name="Shape 14"/>
          <p:cNvSpPr/>
          <p:nvPr/>
        </p:nvSpPr>
        <p:spPr>
          <a:xfrm>
            <a:off x="411480" y="388620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594360" y="4069080"/>
            <a:ext cx="457200" cy="457200"/>
          </a:xfrm>
          <a:prstGeom prst="ellipse">
            <a:avLst/>
          </a:prstGeom>
          <a:solidFill>
            <a:srgbClr val="1B3A6B"/>
          </a:solidFill>
          <a:ln/>
        </p:spPr>
      </p:sp>
      <p:sp>
        <p:nvSpPr>
          <p:cNvPr id="19" name="Text 16"/>
          <p:cNvSpPr/>
          <p:nvPr/>
        </p:nvSpPr>
        <p:spPr>
          <a:xfrm>
            <a:off x="59436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188720" y="399592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UC 3456789 · Residência · 0,67%</a:t>
            </a:r>
            <a:endParaRPr lang="en-US" sz="1800" dirty="0"/>
          </a:p>
        </p:txBody>
      </p:sp>
      <p:sp>
        <p:nvSpPr>
          <p:cNvPr id="21" name="Shape 18"/>
          <p:cNvSpPr/>
          <p:nvPr/>
        </p:nvSpPr>
        <p:spPr>
          <a:xfrm>
            <a:off x="6217920" y="388620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400800" y="4069080"/>
            <a:ext cx="457200" cy="457200"/>
          </a:xfrm>
          <a:prstGeom prst="ellipse">
            <a:avLst/>
          </a:prstGeom>
          <a:solidFill>
            <a:srgbClr val="F7A23B"/>
          </a:solidFill>
          <a:ln/>
        </p:spPr>
      </p:sp>
      <p:sp>
        <p:nvSpPr>
          <p:cNvPr id="23" name="Text 20"/>
          <p:cNvSpPr/>
          <p:nvPr/>
        </p:nvSpPr>
        <p:spPr>
          <a:xfrm>
            <a:off x="640080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95160" y="399592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 soma ≤ 100%</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3</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O RATEIO NA DISTRIBUIDORA</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O ciclo de atualização</a:t>
            </a:r>
            <a:endParaRPr lang="en-US" sz="2600" dirty="0"/>
          </a:p>
        </p:txBody>
      </p:sp>
      <p:sp>
        <p:nvSpPr>
          <p:cNvPr id="9" name="Shape 6"/>
          <p:cNvSpPr/>
          <p:nvPr/>
        </p:nvSpPr>
        <p:spPr>
          <a:xfrm>
            <a:off x="411480" y="2651760"/>
            <a:ext cx="2944368" cy="1463040"/>
          </a:xfrm>
          <a:prstGeom prst="chevron">
            <a:avLst/>
          </a:prstGeom>
          <a:solidFill>
            <a:srgbClr val="1B3A6B"/>
          </a:solidFill>
          <a:ln w="25400">
            <a:solidFill>
              <a:srgbClr val="FFFFFF"/>
            </a:solidFill>
            <a:prstDash val="solid"/>
          </a:ln>
        </p:spPr>
      </p:sp>
      <p:sp>
        <p:nvSpPr>
          <p:cNvPr id="10" name="Text 7"/>
          <p:cNvSpPr/>
          <p:nvPr/>
        </p:nvSpPr>
        <p:spPr>
          <a:xfrm>
            <a:off x="731520" y="2651760"/>
            <a:ext cx="242316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1 vez por ciclo: consolidar entradas, saídas e ajustes</a:t>
            </a:r>
            <a:endParaRPr lang="en-US" sz="1500" dirty="0"/>
          </a:p>
        </p:txBody>
      </p:sp>
      <p:sp>
        <p:nvSpPr>
          <p:cNvPr id="11" name="Shape 8"/>
          <p:cNvSpPr/>
          <p:nvPr/>
        </p:nvSpPr>
        <p:spPr>
          <a:xfrm>
            <a:off x="3246120" y="2651760"/>
            <a:ext cx="2944368" cy="1463040"/>
          </a:xfrm>
          <a:prstGeom prst="chevron">
            <a:avLst/>
          </a:prstGeom>
          <a:solidFill>
            <a:srgbClr val="11396F"/>
          </a:solidFill>
          <a:ln w="25400">
            <a:solidFill>
              <a:srgbClr val="FFFFFF"/>
            </a:solidFill>
            <a:prstDash val="solid"/>
          </a:ln>
        </p:spPr>
      </p:sp>
      <p:sp>
        <p:nvSpPr>
          <p:cNvPr id="12" name="Text 9"/>
          <p:cNvSpPr/>
          <p:nvPr/>
        </p:nvSpPr>
        <p:spPr>
          <a:xfrm>
            <a:off x="3566160" y="2651760"/>
            <a:ext cx="242316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enviar</a:t>
            </a:r>
            <a:endParaRPr lang="en-US" sz="1500" dirty="0"/>
          </a:p>
        </p:txBody>
      </p:sp>
      <p:sp>
        <p:nvSpPr>
          <p:cNvPr id="13" name="Shape 10"/>
          <p:cNvSpPr/>
          <p:nvPr/>
        </p:nvSpPr>
        <p:spPr>
          <a:xfrm>
            <a:off x="6080760" y="2651760"/>
            <a:ext cx="2944368" cy="1463040"/>
          </a:xfrm>
          <a:prstGeom prst="chevron">
            <a:avLst/>
          </a:prstGeom>
          <a:solidFill>
            <a:srgbClr val="1B3A6B"/>
          </a:solidFill>
          <a:ln w="25400">
            <a:solidFill>
              <a:srgbClr val="FFFFFF"/>
            </a:solidFill>
            <a:prstDash val="solid"/>
          </a:ln>
        </p:spPr>
      </p:sp>
      <p:sp>
        <p:nvSpPr>
          <p:cNvPr id="14" name="Text 11"/>
          <p:cNvSpPr/>
          <p:nvPr/>
        </p:nvSpPr>
        <p:spPr>
          <a:xfrm>
            <a:off x="6400800" y="2651760"/>
            <a:ext cx="242316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acompanhar protocolo</a:t>
            </a:r>
            <a:endParaRPr lang="en-US" sz="1500" dirty="0"/>
          </a:p>
        </p:txBody>
      </p:sp>
      <p:sp>
        <p:nvSpPr>
          <p:cNvPr id="15" name="Shape 12"/>
          <p:cNvSpPr/>
          <p:nvPr/>
        </p:nvSpPr>
        <p:spPr>
          <a:xfrm>
            <a:off x="8915400" y="2651760"/>
            <a:ext cx="2944368" cy="1463040"/>
          </a:xfrm>
          <a:prstGeom prst="chevron">
            <a:avLst/>
          </a:prstGeom>
          <a:solidFill>
            <a:srgbClr val="11396F"/>
          </a:solidFill>
          <a:ln w="25400">
            <a:solidFill>
              <a:srgbClr val="FFFFFF"/>
            </a:solidFill>
            <a:prstDash val="solid"/>
          </a:ln>
        </p:spPr>
      </p:sp>
      <p:sp>
        <p:nvSpPr>
          <p:cNvPr id="16" name="Text 13"/>
          <p:cNvSpPr/>
          <p:nvPr/>
        </p:nvSpPr>
        <p:spPr>
          <a:xfrm>
            <a:off x="9235440" y="2651760"/>
            <a:ext cx="2423160" cy="1463040"/>
          </a:xfrm>
          <a:prstGeom prst="rect">
            <a:avLst/>
          </a:prstGeom>
          <a:noFill/>
          <a:ln/>
        </p:spPr>
        <p:txBody>
          <a:bodyPr wrap="square"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confirmar na fatura</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3</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O RATEIO NA DISTRIBUIDORA</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Entradas, saídas e o "buraco"</a:t>
            </a:r>
            <a:endParaRPr lang="en-US" sz="2600" dirty="0"/>
          </a:p>
        </p:txBody>
      </p:sp>
      <p:sp>
        <p:nvSpPr>
          <p:cNvPr id="9" name="Shape 6"/>
          <p:cNvSpPr/>
          <p:nvPr/>
        </p:nvSpPr>
        <p:spPr>
          <a:xfrm>
            <a:off x="411480" y="1325880"/>
            <a:ext cx="11384280" cy="4937760"/>
          </a:xfrm>
          <a:prstGeom prst="roundRect">
            <a:avLst>
              <a:gd name="adj" fmla="val 1852"/>
            </a:avLst>
          </a:prstGeom>
          <a:solidFill>
            <a:srgbClr val="0B1F3A"/>
          </a:solidFill>
          <a:ln/>
        </p:spPr>
      </p:sp>
      <p:sp>
        <p:nvSpPr>
          <p:cNvPr id="10" name="Text 7"/>
          <p:cNvSpPr/>
          <p:nvPr/>
        </p:nvSpPr>
        <p:spPr>
          <a:xfrm>
            <a:off x="777240" y="1554480"/>
            <a:ext cx="10652760" cy="4480560"/>
          </a:xfrm>
          <a:prstGeom prst="rect">
            <a:avLst/>
          </a:prstGeom>
          <a:noFill/>
          <a:ln/>
        </p:spPr>
        <p:txBody>
          <a:bodyPr wrap="square" rtlCol="0" anchor="ctr">
            <a:normAutofit/>
          </a:bodyPr>
          <a:lstStyle/>
          <a:p>
            <a:pPr indent="0" marL="0">
              <a:spcAft>
                <a:spcPts val="1000"/>
              </a:spcAft>
              <a:buNone/>
            </a:pPr>
            <a:r>
              <a:rPr lang="en-US" sz="1800" b="1" dirty="0">
                <a:solidFill>
                  <a:srgbClr val="FFFFFF"/>
                </a:solidFill>
                <a:latin typeface="Consolas" pitchFamily="34" charset="0"/>
                <a:ea typeface="Consolas" pitchFamily="34" charset="-122"/>
                <a:cs typeface="Consolas" pitchFamily="34" charset="-120"/>
              </a:rPr>
              <a:t>Saiu um cliente de 4% → 4% sem dono → crédito fica acumulado na usina</a:t>
            </a:r>
            <a:endParaRPr lang="en-US" sz="1800" dirty="0"/>
          </a:p>
          <a:p>
            <a:pPr indent="0" marL="0">
              <a:spcAft>
                <a:spcPts val="1000"/>
              </a:spcAft>
              <a:buNone/>
            </a:pPr>
            <a:r>
              <a:rPr lang="en-US" sz="1800" b="1" dirty="0">
                <a:solidFill>
                  <a:srgbClr val="F7A23B"/>
                </a:solidFill>
                <a:latin typeface="Consolas" pitchFamily="34" charset="0"/>
                <a:ea typeface="Consolas" pitchFamily="34" charset="-122"/>
                <a:cs typeface="Consolas" pitchFamily="34" charset="-120"/>
              </a:rPr>
              <a:t>Ação: vender a cota liberada rápido ou redistribuir aos clientes com espaço</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3</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O RATEIO NA DISTRIBUIDORA</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Cuidados</a:t>
            </a:r>
            <a:endParaRPr lang="en-US" sz="2600" dirty="0"/>
          </a:p>
        </p:txBody>
      </p:sp>
      <p:sp>
        <p:nvSpPr>
          <p:cNvPr id="9" name="Shape 6"/>
          <p:cNvSpPr/>
          <p:nvPr/>
        </p:nvSpPr>
        <p:spPr>
          <a:xfrm>
            <a:off x="41148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94360" y="1508760"/>
            <a:ext cx="457200" cy="457200"/>
          </a:xfrm>
          <a:prstGeom prst="ellipse">
            <a:avLst/>
          </a:prstGeom>
          <a:solidFill>
            <a:srgbClr val="1B3A6B"/>
          </a:solidFill>
          <a:ln/>
        </p:spPr>
      </p:sp>
      <p:sp>
        <p:nvSpPr>
          <p:cNvPr id="11" name="Text 8"/>
          <p:cNvSpPr/>
          <p:nvPr/>
        </p:nvSpPr>
        <p:spPr>
          <a:xfrm>
            <a:off x="59436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18872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UC na mesma distribuidora</a:t>
            </a:r>
            <a:endParaRPr lang="en-US" sz="1800" dirty="0"/>
          </a:p>
        </p:txBody>
      </p:sp>
      <p:sp>
        <p:nvSpPr>
          <p:cNvPr id="13" name="Shape 10"/>
          <p:cNvSpPr/>
          <p:nvPr/>
        </p:nvSpPr>
        <p:spPr>
          <a:xfrm>
            <a:off x="428244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465320" y="1508760"/>
            <a:ext cx="457200" cy="457200"/>
          </a:xfrm>
          <a:prstGeom prst="ellipse">
            <a:avLst/>
          </a:prstGeom>
          <a:solidFill>
            <a:srgbClr val="F7A23B"/>
          </a:solidFill>
          <a:ln/>
        </p:spPr>
      </p:sp>
      <p:sp>
        <p:nvSpPr>
          <p:cNvPr id="15" name="Text 12"/>
          <p:cNvSpPr/>
          <p:nvPr/>
        </p:nvSpPr>
        <p:spPr>
          <a:xfrm>
            <a:off x="446532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505968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titular com contrato ativo</a:t>
            </a:r>
            <a:endParaRPr lang="en-US" sz="1800" dirty="0"/>
          </a:p>
        </p:txBody>
      </p:sp>
      <p:sp>
        <p:nvSpPr>
          <p:cNvPr id="17" name="Shape 14"/>
          <p:cNvSpPr/>
          <p:nvPr/>
        </p:nvSpPr>
        <p:spPr>
          <a:xfrm>
            <a:off x="8153400" y="132588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336280" y="1508760"/>
            <a:ext cx="457200" cy="457200"/>
          </a:xfrm>
          <a:prstGeom prst="ellipse">
            <a:avLst/>
          </a:prstGeom>
          <a:solidFill>
            <a:srgbClr val="1B3A6B"/>
          </a:solidFill>
          <a:ln/>
        </p:spPr>
      </p:sp>
      <p:sp>
        <p:nvSpPr>
          <p:cNvPr id="19" name="Text 16"/>
          <p:cNvSpPr/>
          <p:nvPr/>
        </p:nvSpPr>
        <p:spPr>
          <a:xfrm>
            <a:off x="833628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8930640" y="143560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percentual com casas decimais corretas</a:t>
            </a:r>
            <a:endParaRPr lang="en-US" sz="1800" dirty="0"/>
          </a:p>
        </p:txBody>
      </p:sp>
      <p:sp>
        <p:nvSpPr>
          <p:cNvPr id="21" name="Shape 18"/>
          <p:cNvSpPr/>
          <p:nvPr/>
        </p:nvSpPr>
        <p:spPr>
          <a:xfrm>
            <a:off x="411480" y="388620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594360" y="4069080"/>
            <a:ext cx="457200" cy="457200"/>
          </a:xfrm>
          <a:prstGeom prst="ellipse">
            <a:avLst/>
          </a:prstGeom>
          <a:solidFill>
            <a:srgbClr val="F7A23B"/>
          </a:solidFill>
          <a:ln/>
        </p:spPr>
      </p:sp>
      <p:sp>
        <p:nvSpPr>
          <p:cNvPr id="23" name="Text 20"/>
          <p:cNvSpPr/>
          <p:nvPr/>
        </p:nvSpPr>
        <p:spPr>
          <a:xfrm>
            <a:off x="59436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1188720" y="399592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nenhum participante ≥ 25% em usina &gt; 500 kW</a:t>
            </a:r>
            <a:endParaRPr lang="en-US" sz="1800" dirty="0"/>
          </a:p>
        </p:txBody>
      </p:sp>
      <p:sp>
        <p:nvSpPr>
          <p:cNvPr id="25" name="Shape 22"/>
          <p:cNvSpPr/>
          <p:nvPr/>
        </p:nvSpPr>
        <p:spPr>
          <a:xfrm>
            <a:off x="4282440" y="3886200"/>
            <a:ext cx="364236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6" name="Shape 23"/>
          <p:cNvSpPr/>
          <p:nvPr/>
        </p:nvSpPr>
        <p:spPr>
          <a:xfrm>
            <a:off x="4465320" y="4069080"/>
            <a:ext cx="457200" cy="457200"/>
          </a:xfrm>
          <a:prstGeom prst="ellipse">
            <a:avLst/>
          </a:prstGeom>
          <a:solidFill>
            <a:srgbClr val="1B3A6B"/>
          </a:solidFill>
          <a:ln/>
        </p:spPr>
      </p:sp>
      <p:sp>
        <p:nvSpPr>
          <p:cNvPr id="27" name="Text 24"/>
          <p:cNvSpPr/>
          <p:nvPr/>
        </p:nvSpPr>
        <p:spPr>
          <a:xfrm>
            <a:off x="446532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5"/>
          <p:cNvSpPr/>
          <p:nvPr/>
        </p:nvSpPr>
        <p:spPr>
          <a:xfrm>
            <a:off x="5059680" y="3995928"/>
            <a:ext cx="272796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guardar protocolos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3</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3 · RESUMO</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411480" y="132588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94360" y="1508760"/>
            <a:ext cx="457200" cy="457200"/>
          </a:xfrm>
          <a:prstGeom prst="ellipse">
            <a:avLst/>
          </a:prstGeom>
          <a:solidFill>
            <a:srgbClr val="1B3A6B"/>
          </a:solidFill>
          <a:ln/>
        </p:spPr>
      </p:sp>
      <p:sp>
        <p:nvSpPr>
          <p:cNvPr id="11" name="Text 8"/>
          <p:cNvSpPr/>
          <p:nvPr/>
        </p:nvSpPr>
        <p:spPr>
          <a:xfrm>
            <a:off x="59436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188720" y="143560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Lista de rateio = elo com a distribuidora</a:t>
            </a:r>
            <a:endParaRPr lang="en-US" sz="1800" dirty="0"/>
          </a:p>
        </p:txBody>
      </p:sp>
      <p:sp>
        <p:nvSpPr>
          <p:cNvPr id="13" name="Shape 10"/>
          <p:cNvSpPr/>
          <p:nvPr/>
        </p:nvSpPr>
        <p:spPr>
          <a:xfrm>
            <a:off x="6217920" y="132588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400800" y="1508760"/>
            <a:ext cx="457200" cy="457200"/>
          </a:xfrm>
          <a:prstGeom prst="ellipse">
            <a:avLst/>
          </a:prstGeom>
          <a:solidFill>
            <a:srgbClr val="F7A23B"/>
          </a:solidFill>
          <a:ln/>
        </p:spPr>
      </p:sp>
      <p:sp>
        <p:nvSpPr>
          <p:cNvPr id="15" name="Text 12"/>
          <p:cNvSpPr/>
          <p:nvPr/>
        </p:nvSpPr>
        <p:spPr>
          <a:xfrm>
            <a:off x="640080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95160" y="143560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1 atualização por ciclo</a:t>
            </a:r>
            <a:endParaRPr lang="en-US" sz="1800" dirty="0"/>
          </a:p>
        </p:txBody>
      </p:sp>
      <p:sp>
        <p:nvSpPr>
          <p:cNvPr id="17" name="Shape 14"/>
          <p:cNvSpPr/>
          <p:nvPr/>
        </p:nvSpPr>
        <p:spPr>
          <a:xfrm>
            <a:off x="411480" y="388620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594360" y="4069080"/>
            <a:ext cx="457200" cy="457200"/>
          </a:xfrm>
          <a:prstGeom prst="ellipse">
            <a:avLst/>
          </a:prstGeom>
          <a:solidFill>
            <a:srgbClr val="1B3A6B"/>
          </a:solidFill>
          <a:ln/>
        </p:spPr>
      </p:sp>
      <p:sp>
        <p:nvSpPr>
          <p:cNvPr id="19" name="Text 16"/>
          <p:cNvSpPr/>
          <p:nvPr/>
        </p:nvSpPr>
        <p:spPr>
          <a:xfrm>
            <a:off x="59436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188720" y="399592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saída = buraco a preencher</a:t>
            </a:r>
            <a:endParaRPr lang="en-US" sz="1800" dirty="0"/>
          </a:p>
        </p:txBody>
      </p:sp>
      <p:sp>
        <p:nvSpPr>
          <p:cNvPr id="21" name="Shape 18"/>
          <p:cNvSpPr/>
          <p:nvPr/>
        </p:nvSpPr>
        <p:spPr>
          <a:xfrm>
            <a:off x="6217920" y="388620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400800" y="4069080"/>
            <a:ext cx="457200" cy="457200"/>
          </a:xfrm>
          <a:prstGeom prst="ellipse">
            <a:avLst/>
          </a:prstGeom>
          <a:solidFill>
            <a:srgbClr val="F7A23B"/>
          </a:solidFill>
          <a:ln/>
        </p:spPr>
      </p:sp>
      <p:sp>
        <p:nvSpPr>
          <p:cNvPr id="23" name="Text 20"/>
          <p:cNvSpPr/>
          <p:nvPr/>
        </p:nvSpPr>
        <p:spPr>
          <a:xfrm>
            <a:off x="640080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95160" y="399592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protocolos guardados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4</a:t>
            </a:r>
            <a:endParaRPr lang="en-US" sz="1800" dirty="0"/>
          </a:p>
        </p:txBody>
      </p:sp>
      <p:sp>
        <p:nvSpPr>
          <p:cNvPr id="4" name="Text 2"/>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Aula</a:t>
            </a:r>
            <a:endParaRPr lang="en-US" sz="1400" dirty="0"/>
          </a:p>
        </p:txBody>
      </p:sp>
      <p:pic>
        <p:nvPicPr>
          <p:cNvPr id="5"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6" name="Text 3"/>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Alocação de energia sem vender o que não existe</a:t>
            </a:r>
            <a:endParaRPr lang="en-US" sz="3200" dirty="0"/>
          </a:p>
        </p:txBody>
      </p:sp>
      <p:sp>
        <p:nvSpPr>
          <p:cNvPr id="7" name="Text 4"/>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Planejar a ocupação da usina, evitar oversell e concentração, e reagir a quedas de geração</a:t>
            </a:r>
            <a:endParaRPr lang="en-US" sz="1500" dirty="0"/>
          </a:p>
        </p:txBody>
      </p:sp>
      <p:sp>
        <p:nvSpPr>
          <p:cNvPr id="8" name="Text 5"/>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Disponível, alocado e saldo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Concentração e GD III</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Quando a geração cai</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Planejando a ocupação</a:t>
            </a:r>
            <a:endParaRPr lang="en-US" sz="1500" dirty="0"/>
          </a:p>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4</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Alocação de energia sem vender o que não existe</a:t>
            </a:r>
            <a:endParaRPr lang="en-US" sz="2600" dirty="0"/>
          </a:p>
        </p:txBody>
      </p:sp>
      <p:sp>
        <p:nvSpPr>
          <p:cNvPr id="9" name="Shape 6"/>
          <p:cNvSpPr/>
          <p:nvPr/>
        </p:nvSpPr>
        <p:spPr>
          <a:xfrm>
            <a:off x="411480" y="1325880"/>
            <a:ext cx="3611880" cy="4937760"/>
          </a:xfrm>
          <a:prstGeom prst="roundRect">
            <a:avLst>
              <a:gd name="adj" fmla="val 202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411480" y="1325880"/>
            <a:ext cx="3611880" cy="109728"/>
          </a:xfrm>
          <a:prstGeom prst="rect">
            <a:avLst/>
          </a:prstGeom>
          <a:solidFill>
            <a:srgbClr val="1B3A6B"/>
          </a:solidFill>
          <a:ln/>
        </p:spPr>
      </p:sp>
      <p:sp>
        <p:nvSpPr>
          <p:cNvPr id="11" name="Text 8"/>
          <p:cNvSpPr/>
          <p:nvPr/>
        </p:nvSpPr>
        <p:spPr>
          <a:xfrm>
            <a:off x="685800" y="1554480"/>
            <a:ext cx="3063240"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Disponível, alocado e saldo</a:t>
            </a:r>
            <a:endParaRPr lang="en-US" sz="1600" dirty="0"/>
          </a:p>
        </p:txBody>
      </p:sp>
      <p:sp>
        <p:nvSpPr>
          <p:cNvPr id="12" name="Text 9"/>
          <p:cNvSpPr/>
          <p:nvPr/>
        </p:nvSpPr>
        <p:spPr>
          <a:xfrm>
            <a:off x="685800" y="2286000"/>
            <a:ext cx="3063240" cy="3749040"/>
          </a:xfrm>
          <a:prstGeom prst="rect">
            <a:avLst/>
          </a:prstGeom>
          <a:noFill/>
          <a:ln/>
        </p:spPr>
        <p:txBody>
          <a:bodyPr wrap="square" rtlCol="0" anchor="t">
            <a:normAutofit/>
          </a:bodyPr>
          <a:lstStyle/>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Disponível (conservador) = alocado + saldo</a:t>
            </a:r>
            <a:endParaRPr lang="en-US" sz="1700" dirty="0"/>
          </a:p>
          <a:p>
            <a:pPr marL="342900" indent="-342900">
              <a:spcAft>
                <a:spcPts val="600"/>
              </a:spcAft>
              <a:buSzPct val="100000"/>
              <a:buChar char="●"/>
            </a:pPr>
            <a:r>
              <a:rPr lang="en-US" sz="1700" dirty="0">
                <a:solidFill>
                  <a:srgbClr val="1F2937"/>
                </a:solidFill>
                <a:latin typeface="Arial" pitchFamily="34" charset="0"/>
                <a:ea typeface="Arial" pitchFamily="34" charset="-122"/>
                <a:cs typeface="Arial" pitchFamily="34" charset="-120"/>
              </a:rPr>
              <a:t>ocupação-alvo: 90–98% da disponível</a:t>
            </a:r>
            <a:endParaRPr lang="en-US" sz="1700" dirty="0"/>
          </a:p>
        </p:txBody>
      </p:sp>
      <p:sp>
        <p:nvSpPr>
          <p:cNvPr id="13" name="Shape 10"/>
          <p:cNvSpPr/>
          <p:nvPr/>
        </p:nvSpPr>
        <p:spPr>
          <a:xfrm>
            <a:off x="4297680" y="1325880"/>
            <a:ext cx="3611880" cy="4937760"/>
          </a:xfrm>
          <a:prstGeom prst="roundRect">
            <a:avLst>
              <a:gd name="adj" fmla="val 202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4297680" y="1325880"/>
            <a:ext cx="3611880" cy="109728"/>
          </a:xfrm>
          <a:prstGeom prst="rect">
            <a:avLst/>
          </a:prstGeom>
          <a:solidFill>
            <a:srgbClr val="F7A23B"/>
          </a:solidFill>
          <a:ln/>
        </p:spPr>
      </p:sp>
      <p:sp>
        <p:nvSpPr>
          <p:cNvPr id="15" name="Text 12"/>
          <p:cNvSpPr/>
          <p:nvPr/>
        </p:nvSpPr>
        <p:spPr>
          <a:xfrm>
            <a:off x="4572000" y="1554480"/>
            <a:ext cx="3063240"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Concentração e GD III</a:t>
            </a:r>
            <a:endParaRPr lang="en-US" sz="1600" dirty="0"/>
          </a:p>
        </p:txBody>
      </p:sp>
      <p:sp>
        <p:nvSpPr>
          <p:cNvPr id="16" name="Text 13"/>
          <p:cNvSpPr/>
          <p:nvPr/>
        </p:nvSpPr>
        <p:spPr>
          <a:xfrm>
            <a:off x="4572000" y="2286000"/>
            <a:ext cx="3063240" cy="3749040"/>
          </a:xfrm>
          <a:prstGeom prst="rect">
            <a:avLst/>
          </a:prstGeom>
          <a:noFill/>
          <a:ln/>
        </p:spPr>
        <p:txBody>
          <a:bodyPr wrap="square" rtlCol="0" anchor="t">
            <a:normAutofit/>
          </a:bodyPr>
          <a:lstStyle/>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Usina &gt; 500 kW: nenhum participante ≥ 25%</a:t>
            </a:r>
            <a:endParaRPr lang="en-US" sz="1600" dirty="0"/>
          </a:p>
          <a:p>
            <a:pPr marL="342900" indent="-342900">
              <a:spcAft>
                <a:spcPts val="600"/>
              </a:spcAft>
              <a:buSzPct val="100000"/>
              <a:buChar char="●"/>
            </a:pPr>
            <a:r>
              <a:rPr lang="en-US" sz="1600" dirty="0">
                <a:solidFill>
                  <a:srgbClr val="1F2937"/>
                </a:solidFill>
                <a:latin typeface="Arial" pitchFamily="34" charset="0"/>
                <a:ea typeface="Arial" pitchFamily="34" charset="-122"/>
                <a:cs typeface="Arial" pitchFamily="34" charset="-120"/>
              </a:rPr>
              <a:t>diversifique: risco de inadimplência e de saída também</a:t>
            </a:r>
            <a:endParaRPr lang="en-US" sz="1600" dirty="0"/>
          </a:p>
        </p:txBody>
      </p:sp>
      <p:sp>
        <p:nvSpPr>
          <p:cNvPr id="17" name="Shape 14"/>
          <p:cNvSpPr/>
          <p:nvPr/>
        </p:nvSpPr>
        <p:spPr>
          <a:xfrm>
            <a:off x="8183880" y="1325880"/>
            <a:ext cx="3611880" cy="4937760"/>
          </a:xfrm>
          <a:prstGeom prst="roundRect">
            <a:avLst>
              <a:gd name="adj" fmla="val 2025"/>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8183880" y="1325880"/>
            <a:ext cx="3611880" cy="109728"/>
          </a:xfrm>
          <a:prstGeom prst="rect">
            <a:avLst/>
          </a:prstGeom>
          <a:solidFill>
            <a:srgbClr val="1B3A6B"/>
          </a:solidFill>
          <a:ln/>
        </p:spPr>
      </p:sp>
      <p:sp>
        <p:nvSpPr>
          <p:cNvPr id="19" name="Text 16"/>
          <p:cNvSpPr/>
          <p:nvPr/>
        </p:nvSpPr>
        <p:spPr>
          <a:xfrm>
            <a:off x="8458200" y="1554480"/>
            <a:ext cx="3063240" cy="685800"/>
          </a:xfrm>
          <a:prstGeom prst="rect">
            <a:avLst/>
          </a:prstGeom>
          <a:noFill/>
          <a:ln/>
        </p:spPr>
        <p:txBody>
          <a:bodyPr wrap="square" rtlCol="0" anchor="t">
            <a:normAutofit/>
          </a:bodyPr>
          <a:lstStyle/>
          <a:p>
            <a:pPr indent="0" marL="0">
              <a:buNone/>
            </a:pPr>
            <a:r>
              <a:rPr lang="en-US" sz="1600" b="1" dirty="0">
                <a:solidFill>
                  <a:srgbClr val="1B3A6B"/>
                </a:solidFill>
                <a:latin typeface="Arial" pitchFamily="34" charset="0"/>
                <a:ea typeface="Arial" pitchFamily="34" charset="-122"/>
                <a:cs typeface="Arial" pitchFamily="34" charset="-120"/>
              </a:rPr>
              <a:t>Quando a geração cai</a:t>
            </a:r>
            <a:endParaRPr lang="en-US" sz="1600" dirty="0"/>
          </a:p>
        </p:txBody>
      </p:sp>
      <p:sp>
        <p:nvSpPr>
          <p:cNvPr id="20" name="Text 17"/>
          <p:cNvSpPr/>
          <p:nvPr/>
        </p:nvSpPr>
        <p:spPr>
          <a:xfrm>
            <a:off x="8458200" y="2286000"/>
            <a:ext cx="3063240" cy="3749040"/>
          </a:xfrm>
          <a:prstGeom prst="rect">
            <a:avLst/>
          </a:prstGeom>
          <a:noFill/>
          <a:ln/>
        </p:spPr>
        <p:txBody>
          <a:bodyPr wrap="square" rtlCol="0" anchor="t">
            <a:normAutofit/>
          </a:bodyPr>
          <a:lstStyle/>
          <a:p>
            <a:pPr marL="342900" indent="-342900">
              <a:spcAft>
                <a:spcPts val="600"/>
              </a:spcAft>
              <a:buSzPct val="100000"/>
              <a:buChar char="●"/>
            </a:pPr>
            <a:r>
              <a:rPr lang="en-US" sz="1200" dirty="0">
                <a:solidFill>
                  <a:srgbClr val="1F2937"/>
                </a:solidFill>
                <a:latin typeface="Arial" pitchFamily="34" charset="0"/>
                <a:ea typeface="Arial" pitchFamily="34" charset="-122"/>
                <a:cs typeface="Arial" pitchFamily="34" charset="-120"/>
              </a:rPr>
              <a:t>Queda pontual (1 mês) → nada a fazer: rateio é %, todos recebem proporcionalmente menos</a:t>
            </a:r>
            <a:endParaRPr lang="en-US" sz="1200" dirty="0"/>
          </a:p>
          <a:p>
            <a:pPr marL="342900" indent="-342900">
              <a:spcAft>
                <a:spcPts val="600"/>
              </a:spcAft>
              <a:buSzPct val="100000"/>
              <a:buChar char="●"/>
            </a:pPr>
            <a:r>
              <a:rPr lang="en-US" sz="1200" dirty="0">
                <a:solidFill>
                  <a:srgbClr val="1F2937"/>
                </a:solidFill>
                <a:latin typeface="Arial" pitchFamily="34" charset="0"/>
                <a:ea typeface="Arial" pitchFamily="34" charset="-122"/>
                <a:cs typeface="Arial" pitchFamily="34" charset="-120"/>
              </a:rPr>
              <a:t>Queda por falha → acionar O&amp;M, comunicar clientes</a:t>
            </a:r>
            <a:endParaRPr lang="en-US" sz="1200" dirty="0"/>
          </a:p>
          <a:p>
            <a:pPr marL="342900" indent="-342900">
              <a:spcAft>
                <a:spcPts val="600"/>
              </a:spcAft>
              <a:buSzPct val="100000"/>
              <a:buChar char="●"/>
            </a:pPr>
            <a:r>
              <a:rPr lang="en-US" sz="1200" dirty="0">
                <a:solidFill>
                  <a:srgbClr val="1F2937"/>
                </a:solidFill>
                <a:latin typeface="Arial" pitchFamily="34" charset="0"/>
                <a:ea typeface="Arial" pitchFamily="34" charset="-122"/>
                <a:cs typeface="Arial" pitchFamily="34" charset="-120"/>
              </a:rPr>
              <a:t>Queda estrutural → reduzir disponível, rebalancear cotas, mover clientes para outra usina</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4</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ALOCAÇÃO DE ENERGIA SEM VENDER O QUE NÃO EXISTE</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Planejando a ocupação</a:t>
            </a:r>
            <a:endParaRPr lang="en-US" sz="2600" dirty="0"/>
          </a:p>
        </p:txBody>
      </p:sp>
      <p:sp>
        <p:nvSpPr>
          <p:cNvPr id="9" name="Shape 6"/>
          <p:cNvSpPr/>
          <p:nvPr/>
        </p:nvSpPr>
        <p:spPr>
          <a:xfrm>
            <a:off x="411480" y="1325880"/>
            <a:ext cx="11384280" cy="4937760"/>
          </a:xfrm>
          <a:prstGeom prst="roundRect">
            <a:avLst>
              <a:gd name="adj" fmla="val 1852"/>
            </a:avLst>
          </a:prstGeom>
          <a:solidFill>
            <a:srgbClr val="0B1F3A"/>
          </a:solidFill>
          <a:ln/>
        </p:spPr>
      </p:sp>
      <p:sp>
        <p:nvSpPr>
          <p:cNvPr id="10" name="Text 7"/>
          <p:cNvSpPr/>
          <p:nvPr/>
        </p:nvSpPr>
        <p:spPr>
          <a:xfrm>
            <a:off x="777240" y="1554480"/>
            <a:ext cx="10652760" cy="4480560"/>
          </a:xfrm>
          <a:prstGeom prst="rect">
            <a:avLst/>
          </a:prstGeom>
          <a:noFill/>
          <a:ln/>
        </p:spPr>
        <p:txBody>
          <a:bodyPr wrap="square" rtlCol="0" anchor="ctr">
            <a:normAutofit/>
          </a:bodyPr>
          <a:lstStyle/>
          <a:p>
            <a:pPr indent="0" marL="0">
              <a:spcAft>
                <a:spcPts val="1000"/>
              </a:spcAft>
              <a:buNone/>
            </a:pPr>
            <a:r>
              <a:rPr lang="en-US" sz="1800" b="1" dirty="0">
                <a:solidFill>
                  <a:srgbClr val="FFFFFF"/>
                </a:solidFill>
                <a:latin typeface="Consolas" pitchFamily="34" charset="0"/>
                <a:ea typeface="Consolas" pitchFamily="34" charset="-122"/>
                <a:cs typeface="Consolas" pitchFamily="34" charset="-120"/>
              </a:rPr>
              <a:t>60.000 kWh disponíveis × 95% = 57.000 kWh alocáveis</a:t>
            </a:r>
            <a:endParaRPr lang="en-US" sz="1800" dirty="0"/>
          </a:p>
          <a:p>
            <a:pPr indent="0" marL="0">
              <a:spcAft>
                <a:spcPts val="1000"/>
              </a:spcAft>
              <a:buNone/>
            </a:pPr>
            <a:r>
              <a:rPr lang="en-US" sz="1800" b="1" dirty="0">
                <a:solidFill>
                  <a:srgbClr val="F7A23B"/>
                </a:solidFill>
                <a:latin typeface="Consolas" pitchFamily="34" charset="0"/>
                <a:ea typeface="Consolas" pitchFamily="34" charset="-122"/>
                <a:cs typeface="Consolas" pitchFamily="34" charset="-120"/>
              </a:rPr>
              <a:t>ex.: 6 empresas (~20.000) + 70 residências (~28.000) + saldo para fila</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4</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ALOCAÇÃO DE ENERGIA SEM VENDER O QUE NÃO EXISTE</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na plataforma</a:t>
            </a:r>
            <a:endParaRPr lang="en-US" sz="2600" dirty="0"/>
          </a:p>
        </p:txBody>
      </p:sp>
      <p:sp>
        <p:nvSpPr>
          <p:cNvPr id="9" name="Shape 6"/>
          <p:cNvSpPr/>
          <p:nvPr/>
        </p:nvSpPr>
        <p:spPr>
          <a:xfrm>
            <a:off x="411480" y="1325880"/>
            <a:ext cx="11384280" cy="4937760"/>
          </a:xfrm>
          <a:prstGeom prst="roundRect">
            <a:avLst>
              <a:gd name="adj" fmla="val 1481"/>
            </a:avLst>
          </a:prstGeom>
          <a:solidFill>
            <a:srgbClr val="FFFFFF"/>
          </a:solidFill>
          <a:ln w="9525">
            <a:solidFill>
              <a:srgbClr val="D8E0EC"/>
            </a:solidFill>
            <a:prstDash val="solid"/>
          </a:ln>
        </p:spPr>
      </p:sp>
      <p:sp>
        <p:nvSpPr>
          <p:cNvPr id="10" name="Shape 7"/>
          <p:cNvSpPr/>
          <p:nvPr/>
        </p:nvSpPr>
        <p:spPr>
          <a:xfrm>
            <a:off x="594360" y="1508760"/>
            <a:ext cx="822960" cy="384048"/>
          </a:xfrm>
          <a:prstGeom prst="roundRect">
            <a:avLst>
              <a:gd name="adj" fmla="val 47619"/>
            </a:avLst>
          </a:prstGeom>
          <a:solidFill>
            <a:srgbClr val="F7A23B"/>
          </a:solidFill>
          <a:ln/>
        </p:spPr>
      </p:sp>
      <p:sp>
        <p:nvSpPr>
          <p:cNvPr id="11" name="Text 8"/>
          <p:cNvSpPr/>
          <p:nvPr/>
        </p:nvSpPr>
        <p:spPr>
          <a:xfrm>
            <a:off x="594360" y="1508760"/>
            <a:ext cx="8229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PASSO 1</a:t>
            </a:r>
            <a:endParaRPr lang="en-US" sz="1000" dirty="0"/>
          </a:p>
        </p:txBody>
      </p:sp>
      <p:sp>
        <p:nvSpPr>
          <p:cNvPr id="12" name="Text 9"/>
          <p:cNvSpPr/>
          <p:nvPr/>
        </p:nvSpPr>
        <p:spPr>
          <a:xfrm>
            <a:off x="1508760" y="1463040"/>
            <a:ext cx="10149840" cy="502920"/>
          </a:xfrm>
          <a:prstGeom prst="rect">
            <a:avLst/>
          </a:prstGeom>
          <a:noFill/>
          <a:ln/>
        </p:spPr>
        <p:txBody>
          <a:bodyPr wrap="square" rtlCol="0" anchor="ctr">
            <a:normAutofit/>
          </a:bodyPr>
          <a:lstStyle/>
          <a:p>
            <a:pPr indent="0" marL="0">
              <a:buNone/>
            </a:pPr>
            <a:r>
              <a:rPr lang="en-US" sz="1400" b="1" dirty="0">
                <a:solidFill>
                  <a:srgbClr val="1B3A6B"/>
                </a:solidFill>
                <a:latin typeface="Arial" pitchFamily="34" charset="0"/>
                <a:ea typeface="Arial" pitchFamily="34" charset="-122"/>
                <a:cs typeface="Arial" pitchFamily="34" charset="-120"/>
              </a:rPr>
              <a:t>As travas da plataforma</a:t>
            </a:r>
            <a:endParaRPr lang="en-US" sz="1400" dirty="0"/>
          </a:p>
        </p:txBody>
      </p:sp>
      <p:sp>
        <p:nvSpPr>
          <p:cNvPr id="13" name="Text 10"/>
          <p:cNvSpPr/>
          <p:nvPr/>
        </p:nvSpPr>
        <p:spPr>
          <a:xfrm>
            <a:off x="640080" y="2057400"/>
            <a:ext cx="10927080" cy="4069080"/>
          </a:xfrm>
          <a:prstGeom prst="rect">
            <a:avLst/>
          </a:prstGeom>
          <a:noFill/>
          <a:ln/>
        </p:spPr>
        <p:txBody>
          <a:bodyPr wrap="square" rtlCol="0" anchor="t">
            <a:normAutofit/>
          </a:bodyPr>
          <a:lstStyle/>
          <a:p>
            <a:pPr indent="0" marL="0">
              <a:buNone/>
            </a:pPr>
            <a:r>
              <a:rPr lang="en-US" sz="1500" dirty="0">
                <a:solidFill>
                  <a:srgbClr val="1F2937"/>
                </a:solidFill>
                <a:latin typeface="Arial" pitchFamily="34" charset="0"/>
                <a:ea typeface="Arial" pitchFamily="34" charset="-122"/>
                <a:cs typeface="Arial" pitchFamily="34" charset="-120"/>
              </a:rPr>
              <a:t>Trava 1: não vincula acima do saldo</a:t>
            </a:r>
            <a:endParaRPr lang="en-US" sz="1500" dirty="0"/>
          </a:p>
          <a:p>
            <a:pPr indent="0" marL="0">
              <a:buNone/>
            </a:pPr>
            <a:r>
              <a:rPr lang="en-US" sz="1500" dirty="0">
                <a:solidFill>
                  <a:srgbClr val="1F2937"/>
                </a:solidFill>
                <a:latin typeface="Arial" pitchFamily="34" charset="0"/>
                <a:ea typeface="Arial" pitchFamily="34" charset="-122"/>
                <a:cs typeface="Arial" pitchFamily="34" charset="-120"/>
              </a:rPr>
              <a:t>Trava 2: alerta crítico se o alocado passar do disponível</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F3FA"/>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4</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4 · RESUMO</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Para levar desta aula</a:t>
            </a:r>
            <a:endParaRPr lang="en-US" sz="2600" dirty="0"/>
          </a:p>
        </p:txBody>
      </p:sp>
      <p:sp>
        <p:nvSpPr>
          <p:cNvPr id="9" name="Shape 6"/>
          <p:cNvSpPr/>
          <p:nvPr/>
        </p:nvSpPr>
        <p:spPr>
          <a:xfrm>
            <a:off x="411480" y="132588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0" name="Shape 7"/>
          <p:cNvSpPr/>
          <p:nvPr/>
        </p:nvSpPr>
        <p:spPr>
          <a:xfrm>
            <a:off x="594360" y="1508760"/>
            <a:ext cx="457200" cy="457200"/>
          </a:xfrm>
          <a:prstGeom prst="ellipse">
            <a:avLst/>
          </a:prstGeom>
          <a:solidFill>
            <a:srgbClr val="1B3A6B"/>
          </a:solidFill>
          <a:ln/>
        </p:spPr>
      </p:sp>
      <p:sp>
        <p:nvSpPr>
          <p:cNvPr id="11" name="Text 8"/>
          <p:cNvSpPr/>
          <p:nvPr/>
        </p:nvSpPr>
        <p:spPr>
          <a:xfrm>
            <a:off x="59436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p:nvPr/>
        </p:nvSpPr>
        <p:spPr>
          <a:xfrm>
            <a:off x="1188720" y="143560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Ocupação 90–98%</a:t>
            </a:r>
            <a:endParaRPr lang="en-US" sz="1800" dirty="0"/>
          </a:p>
        </p:txBody>
      </p:sp>
      <p:sp>
        <p:nvSpPr>
          <p:cNvPr id="13" name="Shape 10"/>
          <p:cNvSpPr/>
          <p:nvPr/>
        </p:nvSpPr>
        <p:spPr>
          <a:xfrm>
            <a:off x="6217920" y="132588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4" name="Shape 11"/>
          <p:cNvSpPr/>
          <p:nvPr/>
        </p:nvSpPr>
        <p:spPr>
          <a:xfrm>
            <a:off x="6400800" y="1508760"/>
            <a:ext cx="457200" cy="457200"/>
          </a:xfrm>
          <a:prstGeom prst="ellipse">
            <a:avLst/>
          </a:prstGeom>
          <a:solidFill>
            <a:srgbClr val="F7A23B"/>
          </a:solidFill>
          <a:ln/>
        </p:spPr>
      </p:sp>
      <p:sp>
        <p:nvSpPr>
          <p:cNvPr id="15" name="Text 12"/>
          <p:cNvSpPr/>
          <p:nvPr/>
        </p:nvSpPr>
        <p:spPr>
          <a:xfrm>
            <a:off x="6400800" y="150876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p:nvPr/>
        </p:nvSpPr>
        <p:spPr>
          <a:xfrm>
            <a:off x="6995160" y="143560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travas da plataforma</a:t>
            </a:r>
            <a:endParaRPr lang="en-US" sz="1800" dirty="0"/>
          </a:p>
        </p:txBody>
      </p:sp>
      <p:sp>
        <p:nvSpPr>
          <p:cNvPr id="17" name="Shape 14"/>
          <p:cNvSpPr/>
          <p:nvPr/>
        </p:nvSpPr>
        <p:spPr>
          <a:xfrm>
            <a:off x="411480" y="388620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18" name="Shape 15"/>
          <p:cNvSpPr/>
          <p:nvPr/>
        </p:nvSpPr>
        <p:spPr>
          <a:xfrm>
            <a:off x="594360" y="4069080"/>
            <a:ext cx="457200" cy="457200"/>
          </a:xfrm>
          <a:prstGeom prst="ellipse">
            <a:avLst/>
          </a:prstGeom>
          <a:solidFill>
            <a:srgbClr val="1B3A6B"/>
          </a:solidFill>
          <a:ln/>
        </p:spPr>
      </p:sp>
      <p:sp>
        <p:nvSpPr>
          <p:cNvPr id="19" name="Text 16"/>
          <p:cNvSpPr/>
          <p:nvPr/>
        </p:nvSpPr>
        <p:spPr>
          <a:xfrm>
            <a:off x="59436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7"/>
          <p:cNvSpPr/>
          <p:nvPr/>
        </p:nvSpPr>
        <p:spPr>
          <a:xfrm>
            <a:off x="1188720" y="399592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sem concentração</a:t>
            </a:r>
            <a:endParaRPr lang="en-US" sz="1800" dirty="0"/>
          </a:p>
        </p:txBody>
      </p:sp>
      <p:sp>
        <p:nvSpPr>
          <p:cNvPr id="21" name="Shape 18"/>
          <p:cNvSpPr/>
          <p:nvPr/>
        </p:nvSpPr>
        <p:spPr>
          <a:xfrm>
            <a:off x="6217920" y="3886200"/>
            <a:ext cx="5577840" cy="2331720"/>
          </a:xfrm>
          <a:prstGeom prst="roundRect">
            <a:avLst>
              <a:gd name="adj" fmla="val 3137"/>
            </a:avLst>
          </a:prstGeom>
          <a:solidFill>
            <a:srgbClr val="FFFFFF"/>
          </a:solidFill>
          <a:ln w="9525">
            <a:solidFill>
              <a:srgbClr val="D8E0EC"/>
            </a:solidFill>
            <a:prstDash val="solid"/>
          </a:ln>
          <a:effectLst>
            <a:outerShdw sx="100000" sy="100000" kx="0" ky="0" algn="bl" rotWithShape="0" blurRad="38100" dist="12700" dir="5400000">
              <a:srgbClr val="000000">
                <a:alpha val="8000"/>
              </a:srgbClr>
            </a:outerShdw>
          </a:effectLst>
        </p:spPr>
      </p:sp>
      <p:sp>
        <p:nvSpPr>
          <p:cNvPr id="22" name="Shape 19"/>
          <p:cNvSpPr/>
          <p:nvPr/>
        </p:nvSpPr>
        <p:spPr>
          <a:xfrm>
            <a:off x="6400800" y="4069080"/>
            <a:ext cx="457200" cy="457200"/>
          </a:xfrm>
          <a:prstGeom prst="ellipse">
            <a:avLst/>
          </a:prstGeom>
          <a:solidFill>
            <a:srgbClr val="F7A23B"/>
          </a:solidFill>
          <a:ln/>
        </p:spPr>
      </p:sp>
      <p:sp>
        <p:nvSpPr>
          <p:cNvPr id="23" name="Text 20"/>
          <p:cNvSpPr/>
          <p:nvPr/>
        </p:nvSpPr>
        <p:spPr>
          <a:xfrm>
            <a:off x="6400800" y="4069080"/>
            <a:ext cx="457200" cy="4572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1"/>
          <p:cNvSpPr/>
          <p:nvPr/>
        </p:nvSpPr>
        <p:spPr>
          <a:xfrm>
            <a:off x="6995160" y="3995928"/>
            <a:ext cx="4663440" cy="2112264"/>
          </a:xfrm>
          <a:prstGeom prst="rect">
            <a:avLst/>
          </a:prstGeom>
          <a:noFill/>
          <a:ln/>
        </p:spPr>
        <p:txBody>
          <a:bodyPr wrap="square" rtlCol="0" anchor="ctr">
            <a:normAutofit/>
          </a:bodyPr>
          <a:lstStyle/>
          <a:p>
            <a:pPr indent="0" marL="0">
              <a:buNone/>
            </a:pPr>
            <a:r>
              <a:rPr lang="en-US" sz="1800" dirty="0">
                <a:solidFill>
                  <a:srgbClr val="1F2937"/>
                </a:solidFill>
                <a:latin typeface="Arial" pitchFamily="34" charset="0"/>
                <a:ea typeface="Arial" pitchFamily="34" charset="-122"/>
                <a:cs typeface="Arial" pitchFamily="34" charset="-120"/>
              </a:rPr>
              <a:t>reagir à causa da queda</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5</a:t>
            </a:r>
            <a:endParaRPr lang="en-US" sz="1800" dirty="0"/>
          </a:p>
        </p:txBody>
      </p:sp>
      <p:sp>
        <p:nvSpPr>
          <p:cNvPr id="4" name="Text 2"/>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Prática na plataforma</a:t>
            </a:r>
            <a:endParaRPr lang="en-US" sz="1400" dirty="0"/>
          </a:p>
        </p:txBody>
      </p:sp>
      <p:pic>
        <p:nvPicPr>
          <p:cNvPr id="5"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6" name="Text 3"/>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contrato, vínculo cliente-usina e convite ao portal</a:t>
            </a:r>
            <a:endParaRPr lang="en-US" sz="3200" dirty="0"/>
          </a:p>
        </p:txBody>
      </p:sp>
      <p:sp>
        <p:nvSpPr>
          <p:cNvPr id="7" name="Text 4"/>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Emitir o contrato a partir da proposta, vincular a UC à usina e enviar o convite de acesso ao portal</a:t>
            </a:r>
            <a:endParaRPr lang="en-US" sz="1500" dirty="0"/>
          </a:p>
        </p:txBody>
      </p:sp>
      <p:sp>
        <p:nvSpPr>
          <p:cNvPr id="8" name="Text 5"/>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5</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5 · CONTRATO, VÍNCULO CLIENTE-USINA E CONVITE AO PORTAL</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na plataforma</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uc.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Unidade consumidora e vínculo com a usina</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1  </a:t>
            </a:r>
            <a:pPr indent="0" marL="0">
              <a:buNone/>
            </a:pPr>
            <a:r>
              <a:rPr lang="en-US" sz="1400" b="1" dirty="0">
                <a:solidFill>
                  <a:srgbClr val="1B3A6B"/>
                </a:solidFill>
                <a:latin typeface="Arial" pitchFamily="34" charset="0"/>
                <a:ea typeface="Arial" pitchFamily="34" charset="-122"/>
                <a:cs typeface="Arial" pitchFamily="34" charset="-120"/>
              </a:rPr>
              <a:t>Aprovando a proposta e emitindo o contrato</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Proposta aprovada → Contrato (dados vêm da proposta) → status Emitido/Assinado</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2  </a:t>
            </a:r>
            <a:pPr indent="0" marL="0">
              <a:buNone/>
            </a:pPr>
            <a:r>
              <a:rPr lang="en-US" sz="1400" b="1" dirty="0">
                <a:solidFill>
                  <a:srgbClr val="1B3A6B"/>
                </a:solidFill>
                <a:latin typeface="Arial" pitchFamily="34" charset="0"/>
                <a:ea typeface="Arial" pitchFamily="34" charset="-122"/>
                <a:cs typeface="Arial" pitchFamily="34" charset="-120"/>
              </a:rPr>
              <a:t>Vinculando a UC à usina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Vínculo = UC + usina + energia alocada (kWh) · atualiza a alocação da usina na hora</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3  </a:t>
            </a:r>
            <a:pPr indent="0" marL="0">
              <a:buNone/>
            </a:pPr>
            <a:r>
              <a:rPr lang="en-US" sz="1400" b="1" dirty="0">
                <a:solidFill>
                  <a:srgbClr val="1B3A6B"/>
                </a:solidFill>
                <a:latin typeface="Arial" pitchFamily="34" charset="0"/>
                <a:ea typeface="Arial" pitchFamily="34" charset="-122"/>
                <a:cs typeface="Arial" pitchFamily="34" charset="-120"/>
              </a:rPr>
              <a:t>O percentual para o rateio</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 de rateio = energia alocada ÷ geração média considerada</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4  </a:t>
            </a:r>
            <a:pPr indent="0" marL="0">
              <a:buNone/>
            </a:pPr>
            <a:r>
              <a:rPr lang="en-US" sz="1400" b="1" dirty="0">
                <a:solidFill>
                  <a:srgbClr val="1B3A6B"/>
                </a:solidFill>
                <a:latin typeface="Arial" pitchFamily="34" charset="0"/>
                <a:ea typeface="Arial" pitchFamily="34" charset="-122"/>
                <a:cs typeface="Arial" pitchFamily="34" charset="-120"/>
              </a:rPr>
              <a:t>O convite ao portal</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Aba Acesso → convite por e-mail + link para WhatsApp → cliente cria a senha</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5</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5 · NA PLATAFORMA</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Contratos</a:t>
            </a:r>
            <a:endParaRPr lang="en-US" sz="2600" dirty="0"/>
          </a:p>
        </p:txBody>
      </p:sp>
      <p:sp>
        <p:nvSpPr>
          <p:cNvPr id="9" name="Shape 6"/>
          <p:cNvSpPr/>
          <p:nvPr/>
        </p:nvSpPr>
        <p:spPr>
          <a:xfrm>
            <a:off x="1380744" y="1225296"/>
            <a:ext cx="9400032" cy="5319522"/>
          </a:xfrm>
          <a:prstGeom prst="roundRect">
            <a:avLst>
              <a:gd name="adj" fmla="val 1031"/>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contratos.jpg">    </p:cNvPr>
          <p:cNvPicPr>
            <a:picLocks noChangeAspect="1"/>
          </p:cNvPicPr>
          <p:nvPr/>
        </p:nvPicPr>
        <p:blipFill>
          <a:blip r:embed="rId2"/>
          <a:stretch>
            <a:fillRect/>
          </a:stretch>
        </p:blipFill>
        <p:spPr>
          <a:xfrm>
            <a:off x="1417320" y="1261872"/>
            <a:ext cx="9326880" cy="524637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3A6B"/>
          </a:solidFill>
          <a:ln/>
        </p:spPr>
      </p:sp>
      <p:sp>
        <p:nvSpPr>
          <p:cNvPr id="3" name="Text 1"/>
          <p:cNvSpPr/>
          <p:nvPr/>
        </p:nvSpPr>
        <p:spPr>
          <a:xfrm>
            <a:off x="548640" y="2194560"/>
            <a:ext cx="3291840" cy="548640"/>
          </a:xfrm>
          <a:prstGeom prst="rect">
            <a:avLst/>
          </a:prstGeom>
          <a:noFill/>
          <a:ln/>
        </p:spPr>
        <p:txBody>
          <a:bodyPr wrap="square" rtlCol="0" anchor="ctr"/>
          <a:lstStyle/>
          <a:p>
            <a:pPr indent="0" marL="0">
              <a:buNone/>
            </a:pPr>
            <a:r>
              <a:rPr lang="en-US" sz="1800" b="1" spc="200" kern="0" dirty="0">
                <a:solidFill>
                  <a:srgbClr val="F7A23B"/>
                </a:solidFill>
                <a:latin typeface="Arial" pitchFamily="34" charset="0"/>
                <a:ea typeface="Arial" pitchFamily="34" charset="-122"/>
                <a:cs typeface="Arial" pitchFamily="34" charset="-120"/>
              </a:rPr>
              <a:t>AULA 6</a:t>
            </a:r>
            <a:endParaRPr lang="en-US" sz="1800" dirty="0"/>
          </a:p>
        </p:txBody>
      </p:sp>
      <p:sp>
        <p:nvSpPr>
          <p:cNvPr id="4" name="Text 2"/>
          <p:cNvSpPr/>
          <p:nvPr/>
        </p:nvSpPr>
        <p:spPr>
          <a:xfrm>
            <a:off x="548640" y="2743200"/>
            <a:ext cx="3291840" cy="457200"/>
          </a:xfrm>
          <a:prstGeom prst="rect">
            <a:avLst/>
          </a:prstGeom>
          <a:noFill/>
          <a:ln/>
        </p:spPr>
        <p:txBody>
          <a:bodyPr wrap="square" rtlCol="0" anchor="ctr"/>
          <a:lstStyle/>
          <a:p>
            <a:pPr indent="0" marL="0">
              <a:buNone/>
            </a:pPr>
            <a:r>
              <a:rPr lang="en-US" sz="1400" dirty="0">
                <a:solidFill>
                  <a:srgbClr val="C7D2E3"/>
                </a:solidFill>
                <a:latin typeface="Arial" pitchFamily="34" charset="0"/>
                <a:ea typeface="Arial" pitchFamily="34" charset="-122"/>
                <a:cs typeface="Arial" pitchFamily="34" charset="-120"/>
              </a:rPr>
              <a:t>Prática na plataforma</a:t>
            </a:r>
            <a:endParaRPr lang="en-US" sz="1400" dirty="0"/>
          </a:p>
        </p:txBody>
      </p:sp>
      <p:pic>
        <p:nvPicPr>
          <p:cNvPr id="5" name="Image 0" descr="/www/wwwroot/rexar/gdsolar/docs/curso/slides/assets/logo-gdsolar.png">    </p:cNvPr>
          <p:cNvPicPr>
            <a:picLocks noChangeAspect="1"/>
          </p:cNvPicPr>
          <p:nvPr/>
        </p:nvPicPr>
        <p:blipFill>
          <a:blip r:embed="rId1"/>
          <a:stretch>
            <a:fillRect/>
          </a:stretch>
        </p:blipFill>
        <p:spPr>
          <a:xfrm>
            <a:off x="548640" y="5669280"/>
            <a:ext cx="640080" cy="640080"/>
          </a:xfrm>
          <a:prstGeom prst="rect">
            <a:avLst/>
          </a:prstGeom>
        </p:spPr>
      </p:pic>
      <p:sp>
        <p:nvSpPr>
          <p:cNvPr id="6" name="Text 3"/>
          <p:cNvSpPr/>
          <p:nvPr/>
        </p:nvSpPr>
        <p:spPr>
          <a:xfrm>
            <a:off x="4663440" y="822960"/>
            <a:ext cx="7132320" cy="1463040"/>
          </a:xfrm>
          <a:prstGeom prst="rect">
            <a:avLst/>
          </a:prstGeom>
          <a:noFill/>
          <a:ln/>
        </p:spPr>
        <p:txBody>
          <a:bodyPr wrap="square" rtlCol="0" anchor="b">
            <a:normAutofit/>
          </a:bodyPr>
          <a:lstStyle/>
          <a:p>
            <a:pPr indent="0" marL="0">
              <a:buNone/>
            </a:pPr>
            <a:r>
              <a:rPr lang="en-US" sz="3200" b="1" dirty="0">
                <a:solidFill>
                  <a:srgbClr val="FFFFFF"/>
                </a:solidFill>
                <a:latin typeface="Arial" pitchFamily="34" charset="0"/>
                <a:ea typeface="Arial" pitchFamily="34" charset="-122"/>
                <a:cs typeface="Arial" pitchFamily="34" charset="-120"/>
              </a:rPr>
              <a:t>alocando uma usina entre quinze clientes</a:t>
            </a:r>
            <a:endParaRPr lang="en-US" sz="3200" dirty="0"/>
          </a:p>
        </p:txBody>
      </p:sp>
      <p:sp>
        <p:nvSpPr>
          <p:cNvPr id="7" name="Text 4"/>
          <p:cNvSpPr/>
          <p:nvPr/>
        </p:nvSpPr>
        <p:spPr>
          <a:xfrm>
            <a:off x="4663440" y="2377440"/>
            <a:ext cx="7132320" cy="822960"/>
          </a:xfrm>
          <a:prstGeom prst="rect">
            <a:avLst/>
          </a:prstGeom>
          <a:noFill/>
          <a:ln/>
        </p:spPr>
        <p:txBody>
          <a:bodyPr wrap="square" rtlCol="0" anchor="t">
            <a:normAutofit/>
          </a:bodyPr>
          <a:lstStyle/>
          <a:p>
            <a:pPr indent="0" marL="0">
              <a:buNone/>
            </a:pPr>
            <a:r>
              <a:rPr lang="en-US" sz="1500" dirty="0">
                <a:solidFill>
                  <a:srgbClr val="C7D2E3"/>
                </a:solidFill>
                <a:latin typeface="Arial" pitchFamily="34" charset="0"/>
                <a:ea typeface="Arial" pitchFamily="34" charset="-122"/>
                <a:cs typeface="Arial" pitchFamily="34" charset="-120"/>
              </a:rPr>
              <a:t>Ocupar a usina entre 90% e 98%, provocar e entender as duas travas de alocação e resolver o alerta crítico</a:t>
            </a:r>
            <a:endParaRPr lang="en-US" sz="1500" dirty="0"/>
          </a:p>
        </p:txBody>
      </p:sp>
      <p:sp>
        <p:nvSpPr>
          <p:cNvPr id="8" name="Text 5"/>
          <p:cNvSpPr/>
          <p:nvPr/>
        </p:nvSpPr>
        <p:spPr>
          <a:xfrm>
            <a:off x="4663440" y="3383280"/>
            <a:ext cx="7132320" cy="2926080"/>
          </a:xfrm>
          <a:prstGeom prst="rect">
            <a:avLst/>
          </a:prstGeom>
          <a:noFill/>
          <a:ln/>
        </p:spPr>
        <p:txBody>
          <a:bodyPr wrap="square" rtlCol="0" anchor="t">
            <a:normAutofit/>
          </a:bodyPr>
          <a:lstStyle/>
          <a:p>
            <a:pPr marL="342900" indent="-342900">
              <a:spcAft>
                <a:spcPts val="600"/>
              </a:spcAft>
              <a:buSzPct val="100000"/>
              <a:buChar char="▸"/>
            </a:pPr>
            <a:r>
              <a:rPr lang="en-US" sz="1500" dirty="0">
                <a:solidFill>
                  <a:srgbClr val="FFFFFF"/>
                </a:solidFill>
                <a:latin typeface="Arial" pitchFamily="34" charset="0"/>
                <a:ea typeface="Arial" pitchFamily="34" charset="-122"/>
                <a:cs typeface="Arial" pitchFamily="34" charset="-120"/>
              </a:rPr>
              <a:t>Passo a passo na plataforma</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6</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6 · ALOCANDO UMA USINA ENTRE QUINZE CLIENTES</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(1/2)</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gestao_energia.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Gestão de energia</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1  </a:t>
            </a:r>
            <a:pPr indent="0" marL="0">
              <a:buNone/>
            </a:pPr>
            <a:r>
              <a:rPr lang="en-US" sz="1400" b="1" dirty="0">
                <a:solidFill>
                  <a:srgbClr val="1B3A6B"/>
                </a:solidFill>
                <a:latin typeface="Arial" pitchFamily="34" charset="0"/>
                <a:ea typeface="Arial" pitchFamily="34" charset="-122"/>
                <a:cs typeface="Arial" pitchFamily="34" charset="-120"/>
              </a:rPr>
              <a:t>O plano de ocupação</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Meta: 90–98% · maior cliente &lt; 25% (idealmente &lt; 15%)</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2  </a:t>
            </a:r>
            <a:pPr indent="0" marL="0">
              <a:buNone/>
            </a:pPr>
            <a:r>
              <a:rPr lang="en-US" sz="1400" b="1" dirty="0">
                <a:solidFill>
                  <a:srgbClr val="1B3A6B"/>
                </a:solidFill>
                <a:latin typeface="Arial" pitchFamily="34" charset="0"/>
                <a:ea typeface="Arial" pitchFamily="34" charset="-122"/>
                <a:cs typeface="Arial" pitchFamily="34" charset="-120"/>
              </a:rPr>
              <a:t>Vinculando os clientes</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Vincule e acompanhe o saldo na Gestão de Energia</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3  </a:t>
            </a:r>
            <a:pPr indent="0" marL="0">
              <a:buNone/>
            </a:pPr>
            <a:r>
              <a:rPr lang="en-US" sz="1400" b="1" dirty="0">
                <a:solidFill>
                  <a:srgbClr val="1B3A6B"/>
                </a:solidFill>
                <a:latin typeface="Arial" pitchFamily="34" charset="0"/>
                <a:ea typeface="Arial" pitchFamily="34" charset="-122"/>
                <a:cs typeface="Arial" pitchFamily="34" charset="-120"/>
              </a:rPr>
              <a:t>Trava 1: tentando vender o que não existe</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Trava 1: vínculo recusado acima do saldo</a:t>
            </a:r>
            <a:endParaRPr lang="en-US" sz="1500" dirty="0"/>
          </a:p>
          <a:p>
            <a:pPr indent="0" marL="0">
              <a:buNone/>
            </a:pPr>
            <a:r>
              <a:rPr lang="en-US" sz="1500" b="1" dirty="0">
                <a:solidFill>
                  <a:srgbClr val="F7A23B"/>
                </a:solidFill>
                <a:latin typeface="Arial" pitchFamily="34" charset="0"/>
                <a:ea typeface="Arial" pitchFamily="34" charset="-122"/>
                <a:cs typeface="Arial" pitchFamily="34" charset="-120"/>
              </a:rPr>
              <a:t>4  </a:t>
            </a:r>
            <a:pPr indent="0" marL="0">
              <a:buNone/>
            </a:pPr>
            <a:r>
              <a:rPr lang="en-US" sz="1400" b="1" dirty="0">
                <a:solidFill>
                  <a:srgbClr val="1B3A6B"/>
                </a:solidFill>
                <a:latin typeface="Arial" pitchFamily="34" charset="0"/>
                <a:ea typeface="Arial" pitchFamily="34" charset="-122"/>
                <a:cs typeface="Arial" pitchFamily="34" charset="-120"/>
              </a:rPr>
              <a:t>Trava 2: a geração caiu</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Trava 2: disponível &lt; alocada → alerta crítico (Escanear Agora)</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Aula 6</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AULA 6 · ALOCANDO UMA USINA ENTRE QUINZE CLIENTES</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Passo a passo (2/2)</a:t>
            </a:r>
            <a:endParaRPr lang="en-US" sz="2600" dirty="0"/>
          </a:p>
        </p:txBody>
      </p:sp>
      <p:sp>
        <p:nvSpPr>
          <p:cNvPr id="9" name="Shape 6"/>
          <p:cNvSpPr/>
          <p:nvPr/>
        </p:nvSpPr>
        <p:spPr>
          <a:xfrm>
            <a:off x="420624" y="1289304"/>
            <a:ext cx="7114032" cy="4033647"/>
          </a:xfrm>
          <a:prstGeom prst="roundRect">
            <a:avLst>
              <a:gd name="adj" fmla="val 1360"/>
            </a:avLst>
          </a:prstGeom>
          <a:solidFill>
            <a:srgbClr val="FFFFFF"/>
          </a:solidFill>
          <a:ln w="12700">
            <a:solidFill>
              <a:srgbClr val="D8E0EC"/>
            </a:solidFill>
            <a:prstDash val="solid"/>
          </a:ln>
          <a:effectLst>
            <a:outerShdw sx="100000" sy="100000" kx="0" ky="0" algn="bl" rotWithShape="0" blurRad="76200" dist="25400" dir="5400000">
              <a:srgbClr val="000000">
                <a:alpha val="15000"/>
              </a:srgbClr>
            </a:outerShdw>
          </a:effectLst>
        </p:spPr>
      </p:sp>
      <p:pic>
        <p:nvPicPr>
          <p:cNvPr id="10" name="Image 1" descr="/www/wwwroot/rexar/gdsolar/docs/curso/slides/telas/alertas.jpg">    </p:cNvPr>
          <p:cNvPicPr>
            <a:picLocks noChangeAspect="1"/>
          </p:cNvPicPr>
          <p:nvPr/>
        </p:nvPicPr>
        <p:blipFill>
          <a:blip r:embed="rId2"/>
          <a:stretch>
            <a:fillRect/>
          </a:stretch>
        </p:blipFill>
        <p:spPr>
          <a:xfrm>
            <a:off x="457200" y="1325880"/>
            <a:ext cx="7040880" cy="3960495"/>
          </a:xfrm>
          <a:prstGeom prst="rect">
            <a:avLst/>
          </a:prstGeom>
        </p:spPr>
      </p:pic>
      <p:sp>
        <p:nvSpPr>
          <p:cNvPr id="11" name="Text 7"/>
          <p:cNvSpPr/>
          <p:nvPr/>
        </p:nvSpPr>
        <p:spPr>
          <a:xfrm>
            <a:off x="457200" y="5332095"/>
            <a:ext cx="7040880" cy="32004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Alertas operacionais</a:t>
            </a:r>
            <a:endParaRPr lang="en-US" sz="1100" dirty="0"/>
          </a:p>
        </p:txBody>
      </p:sp>
      <p:sp>
        <p:nvSpPr>
          <p:cNvPr id="12" name="Text 8"/>
          <p:cNvSpPr/>
          <p:nvPr/>
        </p:nvSpPr>
        <p:spPr>
          <a:xfrm>
            <a:off x="7818120" y="1325880"/>
            <a:ext cx="3977640" cy="4937760"/>
          </a:xfrm>
          <a:prstGeom prst="rect">
            <a:avLst/>
          </a:prstGeom>
          <a:noFill/>
          <a:ln/>
        </p:spPr>
        <p:txBody>
          <a:bodyPr wrap="square" rtlCol="0" anchor="t">
            <a:normAutofit/>
          </a:bodyPr>
          <a:lstStyle/>
          <a:p>
            <a:pPr indent="0" marL="0">
              <a:buNone/>
            </a:pPr>
            <a:r>
              <a:rPr lang="en-US" sz="1500" b="1" dirty="0">
                <a:solidFill>
                  <a:srgbClr val="F7A23B"/>
                </a:solidFill>
                <a:latin typeface="Arial" pitchFamily="34" charset="0"/>
                <a:ea typeface="Arial" pitchFamily="34" charset="-122"/>
                <a:cs typeface="Arial" pitchFamily="34" charset="-120"/>
              </a:rPr>
              <a:t>5  </a:t>
            </a:r>
            <a:pPr indent="0" marL="0">
              <a:buNone/>
            </a:pPr>
            <a:r>
              <a:rPr lang="en-US" sz="1400" b="1" dirty="0">
                <a:solidFill>
                  <a:srgbClr val="1B3A6B"/>
                </a:solidFill>
                <a:latin typeface="Arial" pitchFamily="34" charset="0"/>
                <a:ea typeface="Arial" pitchFamily="34" charset="-122"/>
                <a:cs typeface="Arial" pitchFamily="34" charset="-120"/>
              </a:rPr>
              <a:t>Resolvendo o alerta</a:t>
            </a:r>
            <a:endParaRPr lang="en-US" sz="1500" dirty="0"/>
          </a:p>
          <a:p>
            <a:pPr indent="0" marL="0">
              <a:spcAft>
                <a:spcPts val="800"/>
              </a:spcAft>
              <a:buNone/>
            </a:pPr>
            <a:r>
              <a:rPr lang="en-US" sz="1100" dirty="0">
                <a:solidFill>
                  <a:srgbClr val="1F2937"/>
                </a:solidFill>
                <a:latin typeface="Arial" pitchFamily="34" charset="0"/>
                <a:ea typeface="Arial" pitchFamily="34" charset="-122"/>
                <a:cs typeface="Arial" pitchFamily="34" charset="-120"/>
              </a:rPr>
              <a:t>Resolva a causa → nova varredura → o alerta se resolve sozinho</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6510528"/>
            <a:ext cx="12191695" cy="347472"/>
          </a:xfrm>
          <a:prstGeom prst="rect">
            <a:avLst/>
          </a:prstGeom>
          <a:solidFill>
            <a:srgbClr val="FFFFFF"/>
          </a:solidFill>
          <a:ln w="6350">
            <a:solidFill>
              <a:srgbClr val="D8E0EC"/>
            </a:solidFill>
            <a:prstDash val="solid"/>
          </a:ln>
        </p:spPr>
      </p:sp>
      <p:pic>
        <p:nvPicPr>
          <p:cNvPr id="3" name="Image 0" descr="/www/wwwroot/rexar/gdsolar/docs/curso/slides/assets/logo-gdsolar.png">    </p:cNvPr>
          <p:cNvPicPr>
            <a:picLocks noChangeAspect="1"/>
          </p:cNvPicPr>
          <p:nvPr/>
        </p:nvPicPr>
        <p:blipFill>
          <a:blip r:embed="rId1"/>
          <a:stretch>
            <a:fillRect/>
          </a:stretch>
        </p:blipFill>
        <p:spPr>
          <a:xfrm>
            <a:off x="411480" y="6547104"/>
            <a:ext cx="274320" cy="274320"/>
          </a:xfrm>
          <a:prstGeom prst="rect">
            <a:avLst/>
          </a:prstGeom>
        </p:spPr>
      </p:pic>
      <p:sp>
        <p:nvSpPr>
          <p:cNvPr id="4" name="Text 1"/>
          <p:cNvSpPr/>
          <p:nvPr/>
        </p:nvSpPr>
        <p:spPr>
          <a:xfrm>
            <a:off x="749808" y="6528816"/>
            <a:ext cx="6400800" cy="310896"/>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GD Solar  ·  Formação em Energia por Assinatura</a:t>
            </a:r>
            <a:endParaRPr lang="en-US" sz="900" dirty="0"/>
          </a:p>
        </p:txBody>
      </p:sp>
      <p:sp>
        <p:nvSpPr>
          <p:cNvPr id="5" name="Text 2"/>
          <p:cNvSpPr/>
          <p:nvPr/>
        </p:nvSpPr>
        <p:spPr>
          <a:xfrm>
            <a:off x="7132320" y="6528816"/>
            <a:ext cx="4663440" cy="310896"/>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M6 · Fechamento</a:t>
            </a:r>
            <a:endParaRPr lang="en-US" sz="900" dirty="0"/>
          </a:p>
        </p:txBody>
      </p:sp>
      <p:sp>
        <p:nvSpPr>
          <p:cNvPr id="6" name="Shape 3"/>
          <p:cNvSpPr/>
          <p:nvPr/>
        </p:nvSpPr>
        <p:spPr>
          <a:xfrm>
            <a:off x="411480" y="384048"/>
            <a:ext cx="82296" cy="658368"/>
          </a:xfrm>
          <a:prstGeom prst="rect">
            <a:avLst/>
          </a:prstGeom>
          <a:solidFill>
            <a:srgbClr val="F7A23B"/>
          </a:solidFill>
          <a:ln/>
        </p:spPr>
      </p:sp>
      <p:sp>
        <p:nvSpPr>
          <p:cNvPr id="7" name="Text 4"/>
          <p:cNvSpPr/>
          <p:nvPr/>
        </p:nvSpPr>
        <p:spPr>
          <a:xfrm>
            <a:off x="640080" y="292608"/>
            <a:ext cx="10972800" cy="274320"/>
          </a:xfrm>
          <a:prstGeom prst="rect">
            <a:avLst/>
          </a:prstGeom>
          <a:noFill/>
          <a:ln/>
        </p:spPr>
        <p:txBody>
          <a:bodyPr wrap="square" rtlCol="0" anchor="ctr"/>
          <a:lstStyle/>
          <a:p>
            <a:pPr indent="0" marL="0">
              <a:buNone/>
            </a:pPr>
            <a:r>
              <a:rPr lang="en-US" sz="1000" b="1" spc="100" kern="0" dirty="0">
                <a:solidFill>
                  <a:srgbClr val="F7A23B"/>
                </a:solidFill>
                <a:latin typeface="Arial" pitchFamily="34" charset="0"/>
                <a:ea typeface="Arial" pitchFamily="34" charset="-122"/>
                <a:cs typeface="Arial" pitchFamily="34" charset="-120"/>
              </a:rPr>
              <a:t>FECHAMENTO DO MÓDULO</a:t>
            </a:r>
            <a:endParaRPr lang="en-US" sz="1000" dirty="0"/>
          </a:p>
        </p:txBody>
      </p:sp>
      <p:sp>
        <p:nvSpPr>
          <p:cNvPr id="8" name="Text 5"/>
          <p:cNvSpPr/>
          <p:nvPr/>
        </p:nvSpPr>
        <p:spPr>
          <a:xfrm>
            <a:off x="640080" y="530352"/>
            <a:ext cx="11155680" cy="566928"/>
          </a:xfrm>
          <a:prstGeom prst="rect">
            <a:avLst/>
          </a:prstGeom>
          <a:noFill/>
          <a:ln/>
        </p:spPr>
        <p:txBody>
          <a:bodyPr wrap="square" rtlCol="0" anchor="ctr">
            <a:normAutofit/>
          </a:bodyPr>
          <a:lstStyle/>
          <a:p>
            <a:pPr indent="0" marL="0">
              <a:buNone/>
            </a:pPr>
            <a:r>
              <a:rPr lang="en-US" sz="2600" b="1" dirty="0">
                <a:solidFill>
                  <a:srgbClr val="1B3A6B"/>
                </a:solidFill>
                <a:latin typeface="Arial" pitchFamily="34" charset="0"/>
                <a:ea typeface="Arial" pitchFamily="34" charset="-122"/>
                <a:cs typeface="Arial" pitchFamily="34" charset="-120"/>
              </a:rPr>
              <a:t>Pratique e entregue</a:t>
            </a:r>
            <a:endParaRPr lang="en-US" sz="2600" dirty="0"/>
          </a:p>
        </p:txBody>
      </p:sp>
      <p:sp>
        <p:nvSpPr>
          <p:cNvPr id="9" name="Text 6"/>
          <p:cNvSpPr/>
          <p:nvPr/>
        </p:nvSpPr>
        <p:spPr>
          <a:xfrm>
            <a:off x="411480" y="1325880"/>
            <a:ext cx="5577840" cy="411480"/>
          </a:xfrm>
          <a:prstGeom prst="rect">
            <a:avLst/>
          </a:prstGeom>
          <a:noFill/>
          <a:ln/>
        </p:spPr>
        <p:txBody>
          <a:bodyPr wrap="square" rtlCol="0" anchor="ctr"/>
          <a:lstStyle/>
          <a:p>
            <a:pPr indent="0" marL="0">
              <a:buNone/>
            </a:pPr>
            <a:r>
              <a:rPr lang="en-US" sz="1600" b="1" dirty="0">
                <a:solidFill>
                  <a:srgbClr val="1B3A6B"/>
                </a:solidFill>
                <a:latin typeface="Arial" pitchFamily="34" charset="0"/>
                <a:ea typeface="Arial" pitchFamily="34" charset="-122"/>
                <a:cs typeface="Arial" pitchFamily="34" charset="-120"/>
              </a:rPr>
              <a:t>Exercícios</a:t>
            </a:r>
            <a:endParaRPr lang="en-US" sz="1600" dirty="0"/>
          </a:p>
        </p:txBody>
      </p:sp>
      <p:sp>
        <p:nvSpPr>
          <p:cNvPr id="10" name="Text 7"/>
          <p:cNvSpPr/>
          <p:nvPr/>
        </p:nvSpPr>
        <p:spPr>
          <a:xfrm>
            <a:off x="411480" y="1783080"/>
            <a:ext cx="5577840" cy="4480560"/>
          </a:xfrm>
          <a:prstGeom prst="rect">
            <a:avLst/>
          </a:prstGeom>
          <a:noFill/>
          <a:ln/>
        </p:spPr>
        <p:txBody>
          <a:bodyPr wrap="square" rtlCol="0" anchor="t">
            <a:normAutofit/>
          </a:bodyPr>
          <a:lstStyle/>
          <a:p>
            <a:pPr indent="0" marL="0">
              <a:spcAft>
                <a:spcPts val="800"/>
              </a:spcAft>
              <a:buNone/>
            </a:pPr>
            <a:r>
              <a:rPr lang="en-US" sz="1600" dirty="0">
                <a:solidFill>
                  <a:srgbClr val="1F2937"/>
                </a:solidFill>
                <a:latin typeface="Arial" pitchFamily="34" charset="0"/>
                <a:ea typeface="Arial" pitchFamily="34" charset="-122"/>
                <a:cs typeface="Arial" pitchFamily="34" charset="-120"/>
              </a:rPr>
              <a:t>1. Usina com 60.000 kWh disponíveis; já alocados 55.300 kWh. Um cliente pede 5.000 kWh. O que acontece na plataforma e o que você faz?</a:t>
            </a:r>
            <a:endParaRPr lang="en-US" sz="1600" dirty="0"/>
          </a:p>
          <a:p>
            <a:pPr indent="0" marL="0">
              <a:spcAft>
                <a:spcPts val="800"/>
              </a:spcAft>
              <a:buNone/>
            </a:pPr>
            <a:r>
              <a:rPr lang="en-US" sz="1600" dirty="0">
                <a:solidFill>
                  <a:srgbClr val="1F2937"/>
                </a:solidFill>
                <a:latin typeface="Arial" pitchFamily="34" charset="0"/>
                <a:ea typeface="Arial" pitchFamily="34" charset="-122"/>
                <a:cs typeface="Arial" pitchFamily="34" charset="-120"/>
              </a:rPr>
              <a:t>2. Cliente sai em março. Quais são os três passos operacionais?</a:t>
            </a:r>
            <a:endParaRPr lang="en-US" sz="1600" dirty="0"/>
          </a:p>
          <a:p>
            <a:pPr indent="0" marL="0">
              <a:spcAft>
                <a:spcPts val="800"/>
              </a:spcAft>
              <a:buNone/>
            </a:pPr>
            <a:r>
              <a:rPr lang="en-US" sz="1600" dirty="0">
                <a:solidFill>
                  <a:srgbClr val="1F2937"/>
                </a:solidFill>
                <a:latin typeface="Arial" pitchFamily="34" charset="0"/>
                <a:ea typeface="Arial" pitchFamily="34" charset="-122"/>
                <a:cs typeface="Arial" pitchFamily="34" charset="-120"/>
              </a:rPr>
              <a:t>3. Liste os dados pessoais que a sua operação coleta e a finalidade de cada um.</a:t>
            </a:r>
            <a:endParaRPr lang="en-US" sz="1600" dirty="0"/>
          </a:p>
        </p:txBody>
      </p:sp>
      <p:sp>
        <p:nvSpPr>
          <p:cNvPr id="11" name="Shape 8"/>
          <p:cNvSpPr/>
          <p:nvPr/>
        </p:nvSpPr>
        <p:spPr>
          <a:xfrm>
            <a:off x="6309360" y="1325880"/>
            <a:ext cx="5486400" cy="4937760"/>
          </a:xfrm>
          <a:prstGeom prst="roundRect">
            <a:avLst>
              <a:gd name="adj" fmla="val 1852"/>
            </a:avLst>
          </a:prstGeom>
          <a:solidFill>
            <a:srgbClr val="1B3A6B"/>
          </a:solidFill>
          <a:ln/>
        </p:spPr>
      </p:sp>
      <p:sp>
        <p:nvSpPr>
          <p:cNvPr id="12" name="Text 9"/>
          <p:cNvSpPr/>
          <p:nvPr/>
        </p:nvSpPr>
        <p:spPr>
          <a:xfrm>
            <a:off x="6629400" y="1554480"/>
            <a:ext cx="4846320" cy="4480560"/>
          </a:xfrm>
          <a:prstGeom prst="rect">
            <a:avLst/>
          </a:prstGeom>
          <a:noFill/>
          <a:ln/>
        </p:spPr>
        <p:txBody>
          <a:bodyPr wrap="square" rtlCol="0" anchor="t">
            <a:normAutofit/>
          </a:bodyPr>
          <a:lstStyle/>
          <a:p>
            <a:pPr indent="0" marL="0">
              <a:buNone/>
            </a:pPr>
            <a:r>
              <a:rPr lang="en-US" sz="1300" b="1" spc="100" kern="0" dirty="0">
                <a:solidFill>
                  <a:srgbClr val="F7A23B"/>
                </a:solidFill>
                <a:latin typeface="Arial" pitchFamily="34" charset="0"/>
                <a:ea typeface="Arial" pitchFamily="34" charset="-122"/>
                <a:cs typeface="Arial" pitchFamily="34" charset="-120"/>
              </a:rPr>
              <a:t>ENTREGÁVEL DO MÓDULO
</a:t>
            </a:r>
            <a:pPr indent="0" marL="0">
              <a:buNone/>
            </a:pPr>
            <a:r>
              <a:rPr lang="en-US" sz="1600" dirty="0">
                <a:solidFill>
                  <a:srgbClr val="FFFFFF"/>
                </a:solidFill>
                <a:latin typeface="Arial" pitchFamily="34" charset="0"/>
                <a:ea typeface="Arial" pitchFamily="34" charset="-122"/>
                <a:cs typeface="Arial" pitchFamily="34" charset="-120"/>
              </a:rPr>
              <a:t>Usina alocada: os 5 clientes do M5 com contrato emitido, vínculo com a usina e convite enviado, mais 10 clientes adicionais (carregados pelo "checkpoint do M6" do laboratório ou cadastrados manualmente) até ocupar 90–98% da energia disponível, com nenhum cliente acima de 25% e a planilha de rateio pronta para a distribuidora.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GD Solar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M6 — Contratos, rateio e alocação de energia</dc:title>
  <dc:subject>PptxGenJS Presentation</dc:subject>
  <dc:creator>PptxGenJS</dc:creator>
  <cp:lastModifiedBy>PptxGenJS</cp:lastModifiedBy>
  <cp:revision>1</cp:revision>
  <dcterms:created xsi:type="dcterms:W3CDTF">2026-10-30T11:18:51Z</dcterms:created>
  <dcterms:modified xsi:type="dcterms:W3CDTF">2026-10-30T11:18:51Z</dcterms:modified>
</cp:coreProperties>
</file>