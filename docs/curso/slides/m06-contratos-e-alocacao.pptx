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notesMasterIdLst>
    <p:notesMasterId r:id="rId3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notesMaster" Target="notesMasters/notesMaster1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cliente adere à entidade que detém a usina e a sua empresa faz a gestão. Isso precisa ficar claro no documento.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Das dez cláusulas da tela, três evitam a maioria dos conflitos: a fórmula do valor mensal com um exemplo, o cancelamento com aviso prévio e o reequilíbrio em caso de mudança regulatória.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assinatura eletrônica e guarde os documentos organizados por cliente.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Contrato nasce da proposta aprovada status: emitido → assinado → ativo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Colete só o necessário, com finalidade clara, como mostra a tabela.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base legal principal é a execução do contrato. Tenha um aviso de privacidade simples.
O que vaza costuma estar fora do sistema: planilhas no WhatsApp e contas no celular do vendedor. Regra simples: dado de cliente vive no sistema.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Ofereça um canal para o titular e defina por quanto tempo guarda cada dado.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lista traz as unidades e o percentual de cada uma, somando no máximo cem por cento. Descubra o procedimento exato da sua distribuidora antes do primeiro cliente.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Atualize uma vez por ciclo, num dia fixo: consolide entradas e saídas, envie, acompanhe o protocolo e confira na fatura seguinte.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Toda saída abre um buraco no rateio. Tenha uma fila de clientes para preenchê-lo rápido.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Cuidado com as casas decimais, com a concentração acima de vinte e cinco por cento e guarde todos os protocolos.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Mantenha a ocupação entre noventa e noventa e oito por cento da energia disponível. A plataforma ajuda com duas travas: não deixa vincular acima do saldo e acusa alerta crítico se a alocação passar da energia disponível.
Evite concentração: além do risco de GD três, um cliente grande que sai leva uma fatia da receita de uma vez.
Quando a geração cai, a ação depende da causa: uma queda pontual não exige nada, uma falha exige manutenção e uma queda estrutural exige rebalancear as cotas.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usina deve ter um plano de ocupação, e o time comercial vende olhando para ele.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Trava 1: não vincula acima do saldo Trava 2: alerta crítico se o alocado passar do disponível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Marque a proposta como aprovada e gere o contrato. Os dados vêm da proposta; complete o cadastro e registre a assinatura.
Na unidade consumidora, crie o vínculo com a usina e informe a energia alocada. O saldo da usina cai na hora.
Abra a usina, veja os clientes vinculados e calcule na planilha o percentual de rateio de cada um.
Na aba Acesso do cliente, gere o convite: ele recebe o e-mail de ativação e cria a própria senha.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 planilha de ocupação, some as cotas: a meta é entre noventa e noventa e oito por cento, sem cliente acima de vinte e cinco.
Vincule os clientes e acompanhe o saldo em Gestão de Energia.
Tente vincular uma cota maior que o saldo: o vínculo é recusado.
Registre uma geração menor que a energia alocada e clique em Escanear Agora, em Alertas Operacionais: aparece o alerta crítico.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Corrija a causa e escaneie de novo: o alerta se resolve sozinho.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F7A23B"/>
          </a:solidFill>
          <a:ln/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94360"/>
            <a:ext cx="822960" cy="8229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00200" y="566928"/>
            <a:ext cx="7315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
</a:t>
            </a:r>
            <a:pPr indent="0" marL="0">
              <a:buNone/>
            </a:pPr>
            <a:r>
              <a:rPr lang="en-US" sz="13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Formação em Energia por Assinatura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640080" y="192024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M6  ·  ETAPA 3 · OPERAÇÃO PONTA A PONTA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640080" y="2331720"/>
            <a:ext cx="10972800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Contratos, rateio e alocação de energia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640080" y="3657600"/>
            <a:ext cx="658368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O contrato do cliente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LGPD na operação de GD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O rateio na distribuidora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Alocação de energia sem vender o que não existe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contrato, vínculo cliente-usina e convite ao portal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alocando uma usina entre quinze clientes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7589520" y="3657600"/>
            <a:ext cx="3977640" cy="2743200"/>
          </a:xfrm>
          <a:prstGeom prst="roundRect">
            <a:avLst>
              <a:gd name="adj" fmla="val 3333"/>
            </a:avLst>
          </a:prstGeom>
          <a:solidFill>
            <a:srgbClr val="11396F"/>
          </a:solidFill>
          <a:ln/>
        </p:spPr>
      </p:sp>
      <p:sp>
        <p:nvSpPr>
          <p:cNvPr id="9" name="Text 6"/>
          <p:cNvSpPr/>
          <p:nvPr/>
        </p:nvSpPr>
        <p:spPr>
          <a:xfrm>
            <a:off x="7772400" y="3749040"/>
            <a:ext cx="3611880" cy="25603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Ao final do módulo
</a:t>
            </a:r>
            <a:endParaRPr lang="en-US" sz="1300" dirty="0"/>
          </a:p>
          <a:p>
            <a:pPr marL="342900" indent="-342900">
              <a:buSzPct val="100000"/>
              <a:buChar char="✔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Conhecer as cláusulas essenciais do contrato do cliente e o fluxo de assinatura.</a:t>
            </a:r>
            <a:endParaRPr lang="en-US" sz="1300" dirty="0"/>
          </a:p>
          <a:p>
            <a:pPr marL="342900" indent="-342900">
              <a:buSzPct val="100000"/>
              <a:buChar char="✔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Aplicar a LGPD à operação (bases legais, dados coletados, acesso, retenção, portal).</a:t>
            </a:r>
            <a:endParaRPr lang="en-US" sz="1300" dirty="0"/>
          </a:p>
          <a:p>
            <a:pPr marL="342900" indent="-342900">
              <a:buSzPct val="100000"/>
              <a:buChar char="✔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Manter a lista de rateio na distribuidora (inclusão, saída, alteração de percentuais).</a:t>
            </a:r>
            <a:endParaRPr lang="en-US" sz="1300" dirty="0"/>
          </a:p>
          <a:p>
            <a:pPr marL="342900" indent="-342900">
              <a:buSzPct val="100000"/>
              <a:buChar char="✔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Alocar a energia da usina entre clientes sem exceder a disponível e sem concentração (GD III).</a:t>
            </a:r>
            <a:endParaRPr lang="en-US" sz="1300" dirty="0"/>
          </a:p>
          <a:p>
            <a:pPr marL="342900" indent="-342900">
              <a:buSzPct val="100000"/>
              <a:buChar char="✔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Emitir contrato a partir da proposta, criar o vínculo cliente-usina e enviar o convite ao portal.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48640"/>
            <a:ext cx="3474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1139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M6 · Etapa 3 · Operação ponta a ponta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</a:t>
            </a:r>
            <a:endParaRPr lang="en-US" sz="1400" dirty="0"/>
          </a:p>
        </p:txBody>
      </p:sp>
      <p:pic>
        <p:nvPicPr>
          <p:cNvPr id="7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contrato do cliente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Conhecer as cláusulas essenciais e o fluxo de assinatura do contrato do cliente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partes e a estrutura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cláusulas essenciais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Assinatura e documentos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a passo na plataforma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M6 · Aula 1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 · O CONTRATO DO CLIENTE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partes e a estrutura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11091672" cy="3977640"/>
          </a:xfrm>
          <a:prstGeom prst="roundRect">
            <a:avLst>
              <a:gd name="adj" fmla="val 1839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10177272" cy="3758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Contrato do cliente = adesão à entidade + regras da participação + gestão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cliente adere à entidade que detém a usina e a sua empresa faz a gestão. Isso precisa ficar claro no documento.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M6 · Aula 1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 · O CONTRATO DO CLIENTE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cláusulas essenciais</a:t>
            </a:r>
            <a:endParaRPr lang="en-US" sz="2600" dirty="0"/>
          </a:p>
        </p:txBody>
      </p:sp>
      <p:sp>
        <p:nvSpPr>
          <p:cNvPr id="9" name="Text 6"/>
          <p:cNvSpPr/>
          <p:nvPr/>
        </p:nvSpPr>
        <p:spPr>
          <a:xfrm>
            <a:off x="548640" y="1325880"/>
            <a:ext cx="5486400" cy="3977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Objeto e unidade(s) consumidora(s)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Cota/percentual e início previsto dos créditos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Cálculo mensal do valor (energia compensada × (1 − desconto))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Vencimento, meios de pagamento, atraso (multa e juros legais)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Prazo, renovação e cancelamento (aviso prévio)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6263640" y="1325880"/>
            <a:ext cx="5486400" cy="3977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Mudança de endereço/titularidade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 Variação de geração (nunca paga o que não recebeu)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 Reajuste e reequilíbrio regulatório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 Obrigações do cliente (manter titularidade, informar mudanças, enviar faturas se preciso)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 Dados pessoais (LGPD) e comunicação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3" name="Text 10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dez cláusulas da tela, três evitam a maioria dos conflitos: a fórmula do valor mensal com um exemplo, o cancelamento com aviso prévio e o reequilíbrio em caso de mudança regulatória.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M6 · Aula 1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 · O CONTRATO DO CLIENTE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Assinatura e documentos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44824" cy="39776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2630424" cy="3758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PF: documento, conta de luz no nome do titular, comprovante de endereço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322064" y="1325880"/>
            <a:ext cx="3544824" cy="39776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04944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504944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099304" y="1435608"/>
            <a:ext cx="2630424" cy="3758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PJ: contrato social/CNPJ, documento do representante, conta de luz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095488" y="1325880"/>
            <a:ext cx="3544824" cy="39776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278368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278368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872728" y="1435608"/>
            <a:ext cx="2630424" cy="3758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Assinatura eletrônica com trilha de auditoria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assinatura eletrônica e guarde os documentos organizados por cliente.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M6 · Aula 1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 · O CONTRATO DO CLIENTE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a passo na plataforma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11091672" cy="4937760"/>
          </a:xfrm>
          <a:prstGeom prst="roundRect">
            <a:avLst>
              <a:gd name="adj" fmla="val 1481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" y="1508760"/>
            <a:ext cx="822960" cy="384048"/>
          </a:xfrm>
          <a:prstGeom prst="roundRect">
            <a:avLst>
              <a:gd name="adj" fmla="val 47619"/>
            </a:avLst>
          </a:prstGeom>
          <a:solidFill>
            <a:srgbClr val="F7A23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822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1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1645920" y="1463040"/>
            <a:ext cx="9857232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contrato na plataforma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777240" y="2057400"/>
            <a:ext cx="10634472" cy="4069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Contrato nasce da proposta aprovada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status: emitido → assinado → ativo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EF3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M6 · Aula 1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 · RESUMO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levar desta aula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cláusulas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322064" y="132588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04944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504944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099304" y="143560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fórmula com exemplo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095488" y="132588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278368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278368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872728" y="143560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cancelamento com aviso prévio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548640" y="388620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731520" y="40690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731520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1325880" y="399592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reequilíbrio regulatório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4322064" y="388620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4504944" y="406908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27" name="Text 24"/>
          <p:cNvSpPr/>
          <p:nvPr/>
        </p:nvSpPr>
        <p:spPr>
          <a:xfrm>
            <a:off x="4504944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5099304" y="399592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assinatura eletrônica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48640"/>
            <a:ext cx="3474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1139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M6 · Etapa 3 · Operação ponta a ponta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</a:t>
            </a:r>
            <a:endParaRPr lang="en-US" sz="1400" dirty="0"/>
          </a:p>
        </p:txBody>
      </p:sp>
      <p:pic>
        <p:nvPicPr>
          <p:cNvPr id="7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LGPD na operação de GD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Aplicar os princípios da LGPD aos dados de clientes, produtores e faturas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 dados e para quê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Bases legais e transparência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Segurança e acesso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Direitos do titular e retenção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M6 · Aula 2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 · LGPD NA OPERAÇÃO DE GD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 dados e para quê</a:t>
            </a:r>
            <a:endParaRPr lang="en-US" sz="2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1672" cy="914400"/>
        </p:xfrm>
        <a:graphic>
          <a:graphicData uri="http://schemas.openxmlformats.org/drawingml/2006/table">
            <a:tbl>
              <a:tblPr/>
              <a:tblGrid>
                <a:gridCol w="5545836"/>
                <a:gridCol w="5545836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Dado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Finalidade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Nome, CPF/CNPJ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Contrato, cobrança, cadastro na distribuidora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Endereço, UC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Rateio de créditos, faturas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Telefone, e-mail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Avisos de cobrança, portal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Faturas da distribuidora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Cálculo da cobrança, relatório de economia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2" name="Text 8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Colete só o necessário, com finalidade clara, como mostra a tabela.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M6 · Aula 2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LGPD na operação de GD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408676" cy="4937760"/>
          </a:xfrm>
          <a:prstGeom prst="roundRect">
            <a:avLst>
              <a:gd name="adj" fmla="val 1481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48640" y="1325880"/>
            <a:ext cx="5408676" cy="109728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822960" y="1554480"/>
            <a:ext cx="4860036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Bases legais e transparência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822960" y="2286000"/>
            <a:ext cx="4860036" cy="2286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 legal principal: execução de contrato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cumprimento de obrigação legal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aviso de privacidade claro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822960" y="4663440"/>
            <a:ext cx="4860036" cy="18288"/>
          </a:xfrm>
          <a:prstGeom prst="rect">
            <a:avLst/>
          </a:prstGeom>
          <a:solidFill>
            <a:srgbClr val="D8E0EC"/>
          </a:solidFill>
          <a:ln/>
        </p:spPr>
      </p:sp>
      <p:sp>
        <p:nvSpPr>
          <p:cNvPr id="14" name="Text 11"/>
          <p:cNvSpPr/>
          <p:nvPr/>
        </p:nvSpPr>
        <p:spPr>
          <a:xfrm>
            <a:off x="822960" y="4754880"/>
            <a:ext cx="4860036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base legal principal é a execução do contrato. Tenha um aviso de privacidade simples.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6231636" y="1325880"/>
            <a:ext cx="5408676" cy="4937760"/>
          </a:xfrm>
          <a:prstGeom prst="roundRect">
            <a:avLst>
              <a:gd name="adj" fmla="val 1481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231636" y="1325880"/>
            <a:ext cx="5408676" cy="10972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7" name="Text 14"/>
          <p:cNvSpPr/>
          <p:nvPr/>
        </p:nvSpPr>
        <p:spPr>
          <a:xfrm>
            <a:off x="6505956" y="1554480"/>
            <a:ext cx="4860036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Segurança e acesso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6505956" y="2286000"/>
            <a:ext cx="4860036" cy="2286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Acesso por perfil (carteira)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senhas fortes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faturas fora de pastas públicas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nada de planilha no WhatsApp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registro de quem acessou</a:t>
            </a:r>
            <a:endParaRPr lang="en-US" sz="1700" dirty="0"/>
          </a:p>
        </p:txBody>
      </p:sp>
      <p:sp>
        <p:nvSpPr>
          <p:cNvPr id="19" name="Shape 16"/>
          <p:cNvSpPr/>
          <p:nvPr/>
        </p:nvSpPr>
        <p:spPr>
          <a:xfrm>
            <a:off x="6505956" y="4663440"/>
            <a:ext cx="4860036" cy="18288"/>
          </a:xfrm>
          <a:prstGeom prst="rect">
            <a:avLst/>
          </a:prstGeom>
          <a:solidFill>
            <a:srgbClr val="D8E0EC"/>
          </a:solidFill>
          <a:ln/>
        </p:spPr>
      </p:sp>
      <p:sp>
        <p:nvSpPr>
          <p:cNvPr id="20" name="Text 17"/>
          <p:cNvSpPr/>
          <p:nvPr/>
        </p:nvSpPr>
        <p:spPr>
          <a:xfrm>
            <a:off x="6505956" y="4754880"/>
            <a:ext cx="4860036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vaza costuma estar fora do sistema: planilhas no WhatsApp e contas no celular do vendedor. Regra simples: dado de cliente vive no sistema.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M6 · Aula 2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 · LGPD NA OPERAÇÃO DE GD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Direitos do titular e retenção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Acesso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322064" y="132588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04944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504944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099304" y="143560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correção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095488" y="132588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278368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278368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872728" y="143560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eliminação (quando cabível)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548640" y="342900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731520" y="36118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731520" y="3611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1325880" y="353872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canal de atendimento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4322064" y="342900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4504944" y="361188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27" name="Text 24"/>
          <p:cNvSpPr/>
          <p:nvPr/>
        </p:nvSpPr>
        <p:spPr>
          <a:xfrm>
            <a:off x="4504944" y="3611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5099304" y="353872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encarregado (DPO)</a:t>
            </a:r>
            <a:endParaRPr lang="en-US" sz="1800" dirty="0"/>
          </a:p>
        </p:txBody>
      </p:sp>
      <p:sp>
        <p:nvSpPr>
          <p:cNvPr id="29" name="Shape 26"/>
          <p:cNvSpPr/>
          <p:nvPr/>
        </p:nvSpPr>
        <p:spPr>
          <a:xfrm>
            <a:off x="8095488" y="342900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8278368" y="36118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31" name="Text 28"/>
          <p:cNvSpPr/>
          <p:nvPr/>
        </p:nvSpPr>
        <p:spPr>
          <a:xfrm>
            <a:off x="8278368" y="3611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8872728" y="353872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prazo de retenção definido</a:t>
            </a:r>
            <a:endParaRPr lang="en-US" sz="1800" dirty="0"/>
          </a:p>
        </p:txBody>
      </p:sp>
      <p:sp>
        <p:nvSpPr>
          <p:cNvPr id="33" name="Shape 30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35" name="Text 32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Ofereça um canal para o titular e defina por quanto tempo guarda cada dado.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EF3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M6 · Aula 2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 · RESUMO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levar desta aula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Só o necessário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322064" y="132588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04944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504944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099304" y="143560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 legal: contrato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095488" y="132588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278368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278368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872728" y="143560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aviso de privacidade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548640" y="388620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731520" y="40690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731520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1325880" y="399592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acesso por perfil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4322064" y="388620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4504944" y="406908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27" name="Text 24"/>
          <p:cNvSpPr/>
          <p:nvPr/>
        </p:nvSpPr>
        <p:spPr>
          <a:xfrm>
            <a:off x="4504944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5099304" y="399592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canal do titular</a:t>
            </a:r>
            <a:endParaRPr lang="en-US" sz="1800" dirty="0"/>
          </a:p>
        </p:txBody>
      </p:sp>
      <p:sp>
        <p:nvSpPr>
          <p:cNvPr id="29" name="Shape 26"/>
          <p:cNvSpPr/>
          <p:nvPr/>
        </p:nvSpPr>
        <p:spPr>
          <a:xfrm>
            <a:off x="8095488" y="388620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8278368" y="40690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31" name="Text 28"/>
          <p:cNvSpPr/>
          <p:nvPr/>
        </p:nvSpPr>
        <p:spPr>
          <a:xfrm>
            <a:off x="8278368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8872728" y="399592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retenção definida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48640"/>
            <a:ext cx="3474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1139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10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3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M6 · Etapa 3 · Operação ponta a ponta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</a:t>
            </a:r>
            <a:endParaRPr lang="en-US" sz="1400" dirty="0"/>
          </a:p>
        </p:txBody>
      </p:sp>
      <p:pic>
        <p:nvPicPr>
          <p:cNvPr id="7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rateio na distribuidora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Montar e manter a lista de rateio e planejar entradas e saídas de clientes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é a lista de rateio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ciclo de atualização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Entradas, saídas e o "buraco"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Cuidados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M6 · Aula 3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3 · O RATEIO NA DISTRIBUIDORA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é a lista de rateio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431536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4517136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UC 1234567 · Padaria · 4,00%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6208776" y="1325880"/>
            <a:ext cx="5431536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391656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6391656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6986016" y="1435608"/>
            <a:ext cx="4517136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UC 2345678 · Clínica · 6,18%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548640" y="3429000"/>
            <a:ext cx="5431536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731520" y="361188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731520" y="3611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325880" y="3538728"/>
            <a:ext cx="4517136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UC 3456789 · Residência · 0,67%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6208776" y="3429000"/>
            <a:ext cx="5431536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6391656" y="36118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6391656" y="3611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6986016" y="3538728"/>
            <a:ext cx="4517136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… soma ≤ 100%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27" name="Text 24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lista traz as unidades e o percentual de cada uma, somando no máximo cem por cento. Descubra o procedimento exato da sua distribuidora antes do primeiro cliente.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M6 · Aula 3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3 · O RATEIO NA DISTRIBUIDORA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ciclo de atualização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2583180"/>
            <a:ext cx="2852928" cy="1463040"/>
          </a:xfrm>
          <a:prstGeom prst="chevron">
            <a:avLst/>
          </a:prstGeom>
          <a:solidFill>
            <a:srgbClr val="1B3A6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68680" y="2583180"/>
            <a:ext cx="2331720" cy="1463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vez por ciclo: consolidar entradas, saídas e ajustes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3291840" y="2583180"/>
            <a:ext cx="2852928" cy="1463040"/>
          </a:xfrm>
          <a:prstGeom prst="chevron">
            <a:avLst/>
          </a:prstGeom>
          <a:solidFill>
            <a:srgbClr val="11396F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611880" y="2583180"/>
            <a:ext cx="2331720" cy="1463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enviar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6035040" y="2583180"/>
            <a:ext cx="2852928" cy="1463040"/>
          </a:xfrm>
          <a:prstGeom prst="chevron">
            <a:avLst/>
          </a:prstGeom>
          <a:solidFill>
            <a:srgbClr val="1B3A6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355080" y="2583180"/>
            <a:ext cx="2331720" cy="1463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acompanhar protocolo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8778240" y="2583180"/>
            <a:ext cx="2852928" cy="1463040"/>
          </a:xfrm>
          <a:prstGeom prst="chevron">
            <a:avLst/>
          </a:prstGeom>
          <a:solidFill>
            <a:srgbClr val="11396F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098280" y="2583180"/>
            <a:ext cx="2331720" cy="1463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confirmar na fatura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9" name="Text 16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Atualize uma vez por ciclo, num dia fixo: consolide entradas e saídas, envie, acompanhe o protocolo e confira na fatura seguinte.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M6 · Aula 3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3 · O RATEIO NA DISTRIBUIDORA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Entradas, saídas e o "buraco"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11091672" cy="3977640"/>
          </a:xfrm>
          <a:prstGeom prst="roundRect">
            <a:avLst>
              <a:gd name="adj" fmla="val 2299"/>
            </a:avLst>
          </a:prstGeom>
          <a:solidFill>
            <a:srgbClr val="0B1F3A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554480"/>
            <a:ext cx="10360152" cy="35204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Saiu um cliente de 4% → 4% sem dono → crédito fica acumulado na usina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F7A2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Ação: vender a cota liberada rápido ou redistribuir aos clientes com espaço</a:t>
            </a:r>
            <a:endParaRPr lang="en-US" sz="2400" dirty="0"/>
          </a:p>
        </p:txBody>
      </p:sp>
      <p:sp>
        <p:nvSpPr>
          <p:cNvPr id="11" name="Shape 8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3" name="Text 10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 saída abre um buraco no rateio. Tenha uma fila de clientes para preenchê-lo rápido.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M6 · Aula 3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3 · O RATEIO NA DISTRIBUIDORA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Cuidados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UC na mesma distribuidora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322064" y="132588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04944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504944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099304" y="143560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titular com contrato ativo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095488" y="132588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278368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278368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872728" y="143560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percentual com casas decimais corretas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548640" y="342900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731520" y="36118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731520" y="3611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1325880" y="353872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nenhum participante ≥ 25% em usina &gt; 500 kW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4322064" y="342900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4504944" y="361188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27" name="Text 24"/>
          <p:cNvSpPr/>
          <p:nvPr/>
        </p:nvSpPr>
        <p:spPr>
          <a:xfrm>
            <a:off x="4504944" y="3611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5099304" y="353872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guardar protocolos</a:t>
            </a:r>
            <a:endParaRPr lang="en-US" sz="1800" dirty="0"/>
          </a:p>
        </p:txBody>
      </p:sp>
      <p:sp>
        <p:nvSpPr>
          <p:cNvPr id="29" name="Shape 26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31" name="Text 28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Cuidado com as casas decimais, com a concentração acima de vinte e cinco por cento e guarde todos os protocolos.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EF3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M6 · Aula 3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3 · RESUMO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levar desta aula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43153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4517136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Lista de rateio = elo com a distribuidora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6208776" y="1325880"/>
            <a:ext cx="543153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391656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6391656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6986016" y="1435608"/>
            <a:ext cx="4517136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atualização por ciclo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548640" y="3886200"/>
            <a:ext cx="543153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731520" y="406908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731520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325880" y="3995928"/>
            <a:ext cx="4517136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saída = buraco a preencher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6208776" y="3886200"/>
            <a:ext cx="543153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6391656" y="40690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6391656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6986016" y="3995928"/>
            <a:ext cx="4517136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protocolos guardados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48640"/>
            <a:ext cx="3474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1139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10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4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M6 · Etapa 3 · Operação ponta a ponta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</a:t>
            </a:r>
            <a:endParaRPr lang="en-US" sz="1400" dirty="0"/>
          </a:p>
        </p:txBody>
      </p:sp>
      <p:pic>
        <p:nvPicPr>
          <p:cNvPr id="7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Alocação de energia sem vender o que não existe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Planejar a ocupação da usina, evitar oversell e concentração, e reagir a quedas de geração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Disponível, alocado e saldo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Concentração e GD III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 geração cai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Planejando a ocupação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a passo na plataforma</a:t>
            </a:r>
            <a:endParaRPr lang="en-US" sz="15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M6 · Aula 4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4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Alocação de energia sem vender o que não existe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14344" cy="4937760"/>
          </a:xfrm>
          <a:prstGeom prst="roundRect">
            <a:avLst>
              <a:gd name="adj" fmla="val 208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48640" y="1325880"/>
            <a:ext cx="3514344" cy="109728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822960" y="1554480"/>
            <a:ext cx="2965704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Disponível, alocado e saldo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822960" y="2286000"/>
            <a:ext cx="2965704" cy="2286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Disponível (conservador) = alocado + saldo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ocupação-alvo: 90–98% da disponível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822960" y="4663440"/>
            <a:ext cx="2965704" cy="18288"/>
          </a:xfrm>
          <a:prstGeom prst="rect">
            <a:avLst/>
          </a:prstGeom>
          <a:solidFill>
            <a:srgbClr val="D8E0EC"/>
          </a:solidFill>
          <a:ln/>
        </p:spPr>
      </p:sp>
      <p:sp>
        <p:nvSpPr>
          <p:cNvPr id="14" name="Text 11"/>
          <p:cNvSpPr/>
          <p:nvPr/>
        </p:nvSpPr>
        <p:spPr>
          <a:xfrm>
            <a:off x="822960" y="4754880"/>
            <a:ext cx="2965704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Mantenha a ocupação entre noventa e noventa e oito por cento da energia disponível. A plataforma ajuda com duas travas: não deixa vincular acima do saldo e acusa alerta crítico se a alocação passar da energia disponível.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4337304" y="1325880"/>
            <a:ext cx="3514344" cy="4937760"/>
          </a:xfrm>
          <a:prstGeom prst="roundRect">
            <a:avLst>
              <a:gd name="adj" fmla="val 208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4337304" y="1325880"/>
            <a:ext cx="3514344" cy="10972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7" name="Text 14"/>
          <p:cNvSpPr/>
          <p:nvPr/>
        </p:nvSpPr>
        <p:spPr>
          <a:xfrm>
            <a:off x="4611624" y="1554480"/>
            <a:ext cx="2965704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Concentração e GD III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4611624" y="2286000"/>
            <a:ext cx="2965704" cy="2286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Usina &gt; 500 kW: nenhum participante ≥ 25%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diversifique: risco de inadimplência e de saída também</a:t>
            </a:r>
            <a:endParaRPr lang="en-US" sz="1700" dirty="0"/>
          </a:p>
        </p:txBody>
      </p:sp>
      <p:sp>
        <p:nvSpPr>
          <p:cNvPr id="19" name="Shape 16"/>
          <p:cNvSpPr/>
          <p:nvPr/>
        </p:nvSpPr>
        <p:spPr>
          <a:xfrm>
            <a:off x="4611624" y="4663440"/>
            <a:ext cx="2965704" cy="18288"/>
          </a:xfrm>
          <a:prstGeom prst="rect">
            <a:avLst/>
          </a:prstGeom>
          <a:solidFill>
            <a:srgbClr val="D8E0EC"/>
          </a:solidFill>
          <a:ln/>
        </p:spPr>
      </p:sp>
      <p:sp>
        <p:nvSpPr>
          <p:cNvPr id="20" name="Text 17"/>
          <p:cNvSpPr/>
          <p:nvPr/>
        </p:nvSpPr>
        <p:spPr>
          <a:xfrm>
            <a:off x="4611624" y="4754880"/>
            <a:ext cx="2965704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Evite concentração: além do risco de GD três, um cliente grande que sai leva uma fatia da receita de uma vez.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8125968" y="1325880"/>
            <a:ext cx="3514344" cy="4937760"/>
          </a:xfrm>
          <a:prstGeom prst="roundRect">
            <a:avLst>
              <a:gd name="adj" fmla="val 208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8125968" y="1325880"/>
            <a:ext cx="3514344" cy="109728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23" name="Text 20"/>
          <p:cNvSpPr/>
          <p:nvPr/>
        </p:nvSpPr>
        <p:spPr>
          <a:xfrm>
            <a:off x="8400288" y="1554480"/>
            <a:ext cx="2965704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 geração cai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8400288" y="2286000"/>
            <a:ext cx="2965704" cy="2286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Queda pontual (1 mês) → nada a fazer: rateio é %, todos recebem proporcionalmente menos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Queda por falha → acionar O&amp;M, comunicar clientes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Queda estrutural → reduzir disponível, rebalancear cotas, mover clientes para outra usina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8400288" y="4663440"/>
            <a:ext cx="2965704" cy="18288"/>
          </a:xfrm>
          <a:prstGeom prst="rect">
            <a:avLst/>
          </a:prstGeom>
          <a:solidFill>
            <a:srgbClr val="D8E0EC"/>
          </a:solidFill>
          <a:ln/>
        </p:spPr>
      </p:sp>
      <p:sp>
        <p:nvSpPr>
          <p:cNvPr id="26" name="Text 23"/>
          <p:cNvSpPr/>
          <p:nvPr/>
        </p:nvSpPr>
        <p:spPr>
          <a:xfrm>
            <a:off x="8400288" y="4754880"/>
            <a:ext cx="2965704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 geração cai, a ação depende da causa: uma queda pontual não exige nada, uma falha exige manutenção e uma queda estrutural exige rebalancear as cotas.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M6 · Aula 4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4 · ALOCAÇÃO DE ENERGIA SEM VENDER O QUE NÃO EXISTE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Planejando a ocupação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11091672" cy="3977640"/>
          </a:xfrm>
          <a:prstGeom prst="roundRect">
            <a:avLst>
              <a:gd name="adj" fmla="val 2299"/>
            </a:avLst>
          </a:prstGeom>
          <a:solidFill>
            <a:srgbClr val="0B1F3A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554480"/>
            <a:ext cx="10360152" cy="35204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60.000 kWh disponíveis × 95% = 57.000 kWh alocáveis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F7A2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ex.: 6 empresas (~20.000) + 70 residências (~28.000) + saldo para fila</a:t>
            </a:r>
            <a:endParaRPr lang="en-US" sz="2400" dirty="0"/>
          </a:p>
        </p:txBody>
      </p:sp>
      <p:sp>
        <p:nvSpPr>
          <p:cNvPr id="11" name="Shape 8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3" name="Text 10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usina deve ter um plano de ocupação, e o time comercial vende olhando para ele.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M6 · Aula 4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4 · ALOCAÇÃO DE ENERGIA SEM VENDER O QUE NÃO EXISTE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a passo na plataforma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11091672" cy="4937760"/>
          </a:xfrm>
          <a:prstGeom prst="roundRect">
            <a:avLst>
              <a:gd name="adj" fmla="val 1481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" y="1508760"/>
            <a:ext cx="822960" cy="384048"/>
          </a:xfrm>
          <a:prstGeom prst="roundRect">
            <a:avLst>
              <a:gd name="adj" fmla="val 47619"/>
            </a:avLst>
          </a:prstGeom>
          <a:solidFill>
            <a:srgbClr val="F7A23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822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1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1645920" y="1463040"/>
            <a:ext cx="9857232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travas da plataforma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777240" y="2057400"/>
            <a:ext cx="10634472" cy="4069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Trava 1: não vincula acima do saldo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Trava 2: alerta crítico se o alocado passar do disponível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EEF3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M6 · Aula 4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4 · RESUMO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levar desta aula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43153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4517136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Ocupação 90–98%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6208776" y="1325880"/>
            <a:ext cx="543153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391656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6391656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6986016" y="1435608"/>
            <a:ext cx="4517136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travas da plataforma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548640" y="3886200"/>
            <a:ext cx="543153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731520" y="406908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731520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325880" y="3995928"/>
            <a:ext cx="4517136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concentração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6208776" y="3886200"/>
            <a:ext cx="543153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6391656" y="40690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6391656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6986016" y="3995928"/>
            <a:ext cx="4517136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reagir à causa da queda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48640"/>
            <a:ext cx="3474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1139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10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5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M6 · Etapa 3 · Operação ponta a ponta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Prática na plataforma</a:t>
            </a:r>
            <a:endParaRPr lang="en-US" sz="1400" dirty="0"/>
          </a:p>
        </p:txBody>
      </p:sp>
      <p:pic>
        <p:nvPicPr>
          <p:cNvPr id="7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contrato, vínculo cliente-usina e convite ao portal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Emitir o contrato a partir da proposta, vincular a UC à usina e enviar o convite de acesso ao portal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a passo na plataforma</a:t>
            </a:r>
            <a:endParaRPr lang="en-US" sz="15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M6 · Aula 5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5 · CONTRATO, VÍNCULO CLIENTE-USINA E CONVITE AO PORTAL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a passo na plataforma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420624" y="1289304"/>
            <a:ext cx="7114032" cy="4033647"/>
          </a:xfrm>
          <a:prstGeom prst="roundRect">
            <a:avLst>
              <a:gd name="adj" fmla="val 1360"/>
            </a:avLst>
          </a:prstGeom>
          <a:solidFill>
            <a:srgbClr val="FFFFFF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pic>
        <p:nvPicPr>
          <p:cNvPr id="10" name="Image 1" descr="/www/wwwroot/rexar/gdsolar/docs/curso/slides/telas/uc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25880"/>
            <a:ext cx="7040880" cy="3960495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57200" y="5332095"/>
            <a:ext cx="7040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Unidade consumidora e vínculo com a usina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7818120" y="1325880"/>
            <a:ext cx="3977640" cy="49377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 </a:t>
            </a:r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Aprovando a proposta e emitindo o contrato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Marque a proposta como aprovada e gere o contrato. Os dados vêm da proposta; complete o cadastro e registre a assinatura.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 </a:t>
            </a:r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Vinculando a UC à usina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unidade consumidora, crie o vínculo com a usina e informe a energia alocada. O saldo da usina cai na hora.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 </a:t>
            </a:r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percentual para o rateio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Abra a usina, veja os clientes vinculados e calcule na planilha o percentual de rateio de cada um.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 </a:t>
            </a:r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convite ao portal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aba Acesso do cliente, gere o convite: ele recebe o e-mail de ativação e cria a própria senha.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M6 · Aula 5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5 · NA PLATAFORMA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Contratos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1380744" y="1225296"/>
            <a:ext cx="9400032" cy="5319522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pic>
        <p:nvPicPr>
          <p:cNvPr id="10" name="Image 1" descr="/www/wwwroot/rexar/gdsolar/docs/curso/slides/telas/contrato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20" y="1261872"/>
            <a:ext cx="9326880" cy="524637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48640"/>
            <a:ext cx="3474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1139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10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6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M6 · Etapa 3 · Operação ponta a ponta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Prática na plataforma</a:t>
            </a:r>
            <a:endParaRPr lang="en-US" sz="1400" dirty="0"/>
          </a:p>
        </p:txBody>
      </p:sp>
      <p:pic>
        <p:nvPicPr>
          <p:cNvPr id="7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alocando uma usina entre quinze clientes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Ocupar a usina entre 90% e 98%, provocar e entender as duas travas de alocação e resolver o alerta crítico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a passo na plataforma</a:t>
            </a:r>
            <a:endParaRPr lang="en-US" sz="15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M6 · Aula 6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6 · ALOCANDO UMA USINA ENTRE QUINZE CLIENTES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a passo (1/2)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420624" y="1289304"/>
            <a:ext cx="7114032" cy="4033647"/>
          </a:xfrm>
          <a:prstGeom prst="roundRect">
            <a:avLst>
              <a:gd name="adj" fmla="val 1360"/>
            </a:avLst>
          </a:prstGeom>
          <a:solidFill>
            <a:srgbClr val="FFFFFF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pic>
        <p:nvPicPr>
          <p:cNvPr id="10" name="Image 1" descr="/www/wwwroot/rexar/gdsolar/docs/curso/slides/telas/gestao_energia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25880"/>
            <a:ext cx="7040880" cy="3960495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57200" y="5332095"/>
            <a:ext cx="7040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Gestão de energia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7818120" y="1325880"/>
            <a:ext cx="3977640" cy="49377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 </a:t>
            </a:r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plano de ocupação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planilha de ocupação, some as cotas: a meta é entre noventa e noventa e oito por cento, sem cliente acima de vinte e cinco.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 </a:t>
            </a:r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Vinculando os clientes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Vincule os clientes e acompanhe o saldo em Gestão de Energia.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 </a:t>
            </a:r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Trava 1: tentando vender o que não existe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Tente vincular uma cota maior que o saldo: o vínculo é recusado.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 </a:t>
            </a:r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Trava 2: a geração caiu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Registre uma geração menor que a energia alocada e clique em Escanear Agora, em Alertas Operacionais: aparece o alerta crítico.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M6 · Aula 6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6 · ALOCANDO UMA USINA ENTRE QUINZE CLIENTES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a passo (2/2)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420624" y="1289304"/>
            <a:ext cx="7114032" cy="4033647"/>
          </a:xfrm>
          <a:prstGeom prst="roundRect">
            <a:avLst>
              <a:gd name="adj" fmla="val 1360"/>
            </a:avLst>
          </a:prstGeom>
          <a:solidFill>
            <a:srgbClr val="FFFFFF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pic>
        <p:nvPicPr>
          <p:cNvPr id="10" name="Image 1" descr="/www/wwwroot/rexar/gdsolar/docs/curso/slides/telas/alerta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25880"/>
            <a:ext cx="7040880" cy="3960495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57200" y="5332095"/>
            <a:ext cx="7040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Alertas operacionais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7818120" y="1325880"/>
            <a:ext cx="3977640" cy="49377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 </a:t>
            </a:r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Resolvendo o alerta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Corrija a causa e escaneie de novo: o alerta se resolve sozinho.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M6 · Teste rápido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QUESTÕES 1–2 DE 6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rápido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02920" cy="50292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0" name="Text 7"/>
          <p:cNvSpPr/>
          <p:nvPr/>
        </p:nvSpPr>
        <p:spPr>
          <a:xfrm>
            <a:off x="548640" y="13258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1234440" y="128016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 cláusula evita surpresas quando a regra do Fio B muda?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548640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85800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85800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Reequilíbrio/ajuste regulatório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3378708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515868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3515868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foro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6208776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345936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6345936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multa fixa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9038844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176004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9176004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confidencialidade</a:t>
            </a:r>
            <a:endParaRPr lang="en-US" sz="1500" dirty="0"/>
          </a:p>
        </p:txBody>
      </p:sp>
      <p:sp>
        <p:nvSpPr>
          <p:cNvPr id="24" name="Shape 21"/>
          <p:cNvSpPr/>
          <p:nvPr/>
        </p:nvSpPr>
        <p:spPr>
          <a:xfrm>
            <a:off x="548640" y="3840480"/>
            <a:ext cx="502920" cy="50292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25" name="Text 22"/>
          <p:cNvSpPr/>
          <p:nvPr/>
        </p:nvSpPr>
        <p:spPr>
          <a:xfrm>
            <a:off x="548640" y="38404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1234440" y="379476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base legal mais comum para tratar os dados do cliente na assinatura é:</a:t>
            </a:r>
            <a:endParaRPr lang="en-US" sz="1800" dirty="0"/>
          </a:p>
        </p:txBody>
      </p:sp>
      <p:sp>
        <p:nvSpPr>
          <p:cNvPr id="27" name="Shape 24"/>
          <p:cNvSpPr/>
          <p:nvPr/>
        </p:nvSpPr>
        <p:spPr>
          <a:xfrm>
            <a:off x="548640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8580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685800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execução de contrato</a:t>
            </a:r>
            <a:endParaRPr lang="en-US" sz="1500" dirty="0"/>
          </a:p>
        </p:txBody>
      </p:sp>
      <p:sp>
        <p:nvSpPr>
          <p:cNvPr id="30" name="Shape 27"/>
          <p:cNvSpPr/>
          <p:nvPr/>
        </p:nvSpPr>
        <p:spPr>
          <a:xfrm>
            <a:off x="3378708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3515868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3515868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consentimento para tudo</a:t>
            </a:r>
            <a:endParaRPr lang="en-US" sz="1500" dirty="0"/>
          </a:p>
        </p:txBody>
      </p:sp>
      <p:sp>
        <p:nvSpPr>
          <p:cNvPr id="33" name="Shape 30"/>
          <p:cNvSpPr/>
          <p:nvPr/>
        </p:nvSpPr>
        <p:spPr>
          <a:xfrm>
            <a:off x="6208776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6345936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400" dirty="0"/>
          </a:p>
        </p:txBody>
      </p:sp>
      <p:sp>
        <p:nvSpPr>
          <p:cNvPr id="35" name="Text 32"/>
          <p:cNvSpPr/>
          <p:nvPr/>
        </p:nvSpPr>
        <p:spPr>
          <a:xfrm>
            <a:off x="6345936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interesse público</a:t>
            </a:r>
            <a:endParaRPr lang="en-US" sz="1500" dirty="0"/>
          </a:p>
        </p:txBody>
      </p:sp>
      <p:sp>
        <p:nvSpPr>
          <p:cNvPr id="36" name="Shape 33"/>
          <p:cNvSpPr/>
          <p:nvPr/>
        </p:nvSpPr>
        <p:spPr>
          <a:xfrm>
            <a:off x="9038844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9176004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400" dirty="0"/>
          </a:p>
        </p:txBody>
      </p:sp>
      <p:sp>
        <p:nvSpPr>
          <p:cNvPr id="38" name="Text 35"/>
          <p:cNvSpPr/>
          <p:nvPr/>
        </p:nvSpPr>
        <p:spPr>
          <a:xfrm>
            <a:off x="9176004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nenhuma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M6 · Teste rápido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QUESTÕES 3–4 DE 6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rápido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02920" cy="50292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0" name="Text 7"/>
          <p:cNvSpPr/>
          <p:nvPr/>
        </p:nvSpPr>
        <p:spPr>
          <a:xfrm>
            <a:off x="548640" y="13258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1234440" y="128016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um cliente sai, a lista de rateio: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548640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85800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85800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precisa ser atualizada na distribuidora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3378708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515868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3515868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atualiza sozinha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6208776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345936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6345936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muda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9038844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176004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9176004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 cancelada inteira</a:t>
            </a:r>
            <a:endParaRPr lang="en-US" sz="1500" dirty="0"/>
          </a:p>
        </p:txBody>
      </p:sp>
      <p:sp>
        <p:nvSpPr>
          <p:cNvPr id="24" name="Shape 21"/>
          <p:cNvSpPr/>
          <p:nvPr/>
        </p:nvSpPr>
        <p:spPr>
          <a:xfrm>
            <a:off x="548640" y="3840480"/>
            <a:ext cx="502920" cy="50292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25" name="Text 22"/>
          <p:cNvSpPr/>
          <p:nvPr/>
        </p:nvSpPr>
        <p:spPr>
          <a:xfrm>
            <a:off x="548640" y="38404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1234440" y="379476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plataforma permite vincular mais energia do que o saldo da usina?</a:t>
            </a:r>
            <a:endParaRPr lang="en-US" sz="1800" dirty="0"/>
          </a:p>
        </p:txBody>
      </p:sp>
      <p:sp>
        <p:nvSpPr>
          <p:cNvPr id="27" name="Shape 24"/>
          <p:cNvSpPr/>
          <p:nvPr/>
        </p:nvSpPr>
        <p:spPr>
          <a:xfrm>
            <a:off x="548640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8580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685800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</a:t>
            </a:r>
            <a:endParaRPr lang="en-US" sz="1500" dirty="0"/>
          </a:p>
        </p:txBody>
      </p:sp>
      <p:sp>
        <p:nvSpPr>
          <p:cNvPr id="30" name="Shape 27"/>
          <p:cNvSpPr/>
          <p:nvPr/>
        </p:nvSpPr>
        <p:spPr>
          <a:xfrm>
            <a:off x="3378708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3515868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3515868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Só para admin</a:t>
            </a:r>
            <a:endParaRPr lang="en-US" sz="1500" dirty="0"/>
          </a:p>
        </p:txBody>
      </p:sp>
      <p:sp>
        <p:nvSpPr>
          <p:cNvPr id="33" name="Shape 30"/>
          <p:cNvSpPr/>
          <p:nvPr/>
        </p:nvSpPr>
        <p:spPr>
          <a:xfrm>
            <a:off x="6208776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6345936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400" dirty="0"/>
          </a:p>
        </p:txBody>
      </p:sp>
      <p:sp>
        <p:nvSpPr>
          <p:cNvPr id="35" name="Text 32"/>
          <p:cNvSpPr/>
          <p:nvPr/>
        </p:nvSpPr>
        <p:spPr>
          <a:xfrm>
            <a:off x="6345936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Não, recusa o vínculo</a:t>
            </a:r>
            <a:endParaRPr lang="en-US" sz="1500" dirty="0"/>
          </a:p>
        </p:txBody>
      </p:sp>
      <p:sp>
        <p:nvSpPr>
          <p:cNvPr id="36" name="Shape 33"/>
          <p:cNvSpPr/>
          <p:nvPr/>
        </p:nvSpPr>
        <p:spPr>
          <a:xfrm>
            <a:off x="9038844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9176004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400" dirty="0"/>
          </a:p>
        </p:txBody>
      </p:sp>
      <p:sp>
        <p:nvSpPr>
          <p:cNvPr id="38" name="Text 35"/>
          <p:cNvSpPr/>
          <p:nvPr/>
        </p:nvSpPr>
        <p:spPr>
          <a:xfrm>
            <a:off x="9176004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Só com senha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M6 · Teste rápido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QUESTÕES 5–6 DE 6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rápido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02920" cy="50292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0" name="Text 7"/>
          <p:cNvSpPr/>
          <p:nvPr/>
        </p:nvSpPr>
        <p:spPr>
          <a:xfrm>
            <a:off x="548640" y="13258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1234440" y="128016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a geração registrada cair abaixo do que já está alocado, a varredura de alertas indica: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548640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85800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85800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nada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3378708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515868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3515868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cobrança vencida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6208776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345936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6345936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fatura ilegível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548640" y="3840480"/>
            <a:ext cx="502920" cy="50292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22" name="Text 19"/>
          <p:cNvSpPr/>
          <p:nvPr/>
        </p:nvSpPr>
        <p:spPr>
          <a:xfrm>
            <a:off x="548640" y="38404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1234440" y="379476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usina acima de 500 kW em geração compartilhada, deve-se evitar:</a:t>
            </a:r>
            <a:endParaRPr lang="en-US" sz="1800" dirty="0"/>
          </a:p>
        </p:txBody>
      </p:sp>
      <p:sp>
        <p:nvSpPr>
          <p:cNvPr id="24" name="Shape 21"/>
          <p:cNvSpPr/>
          <p:nvPr/>
        </p:nvSpPr>
        <p:spPr>
          <a:xfrm>
            <a:off x="548640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8580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400" dirty="0"/>
          </a:p>
        </p:txBody>
      </p:sp>
      <p:sp>
        <p:nvSpPr>
          <p:cNvPr id="26" name="Text 23"/>
          <p:cNvSpPr/>
          <p:nvPr/>
        </p:nvSpPr>
        <p:spPr>
          <a:xfrm>
            <a:off x="685800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participante com 25% ou mais dos créditos</a:t>
            </a:r>
            <a:endParaRPr lang="en-US" sz="1500" dirty="0"/>
          </a:p>
        </p:txBody>
      </p:sp>
      <p:sp>
        <p:nvSpPr>
          <p:cNvPr id="27" name="Shape 24"/>
          <p:cNvSpPr/>
          <p:nvPr/>
        </p:nvSpPr>
        <p:spPr>
          <a:xfrm>
            <a:off x="3378708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3515868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3515868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mais de 10 clientes</a:t>
            </a:r>
            <a:endParaRPr lang="en-US" sz="1500" dirty="0"/>
          </a:p>
        </p:txBody>
      </p:sp>
      <p:sp>
        <p:nvSpPr>
          <p:cNvPr id="30" name="Shape 27"/>
          <p:cNvSpPr/>
          <p:nvPr/>
        </p:nvSpPr>
        <p:spPr>
          <a:xfrm>
            <a:off x="6208776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6345936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6345936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clientes residenciais</a:t>
            </a:r>
            <a:endParaRPr lang="en-US" sz="1500" dirty="0"/>
          </a:p>
        </p:txBody>
      </p:sp>
      <p:sp>
        <p:nvSpPr>
          <p:cNvPr id="33" name="Shape 30"/>
          <p:cNvSpPr/>
          <p:nvPr/>
        </p:nvSpPr>
        <p:spPr>
          <a:xfrm>
            <a:off x="9038844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9176004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400" dirty="0"/>
          </a:p>
        </p:txBody>
      </p:sp>
      <p:sp>
        <p:nvSpPr>
          <p:cNvPr id="35" name="Text 32"/>
          <p:cNvSpPr/>
          <p:nvPr/>
        </p:nvSpPr>
        <p:spPr>
          <a:xfrm>
            <a:off x="9176004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contratos de 12 meses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EEF3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M6 · Teste rápido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CONFIRA SUAS RESPOSTAS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Gabarito do teste rápido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A) Reequilíbrio/ajuste regulatório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322064" y="132588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04944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504944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099304" y="143560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A) execução de contrato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095488" y="132588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278368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278368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872728" y="143560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A) precisa ser atualizada na distribuidora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548640" y="388620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731520" y="40690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731520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1325880" y="399592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C) Não, recusa o vínculo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4322064" y="388620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4504944" y="406908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27" name="Text 24"/>
          <p:cNvSpPr/>
          <p:nvPr/>
        </p:nvSpPr>
        <p:spPr>
          <a:xfrm>
            <a:off x="4504944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5099304" y="399592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-) </a:t>
            </a:r>
            <a:endParaRPr lang="en-US" sz="1800" dirty="0"/>
          </a:p>
        </p:txBody>
      </p:sp>
      <p:sp>
        <p:nvSpPr>
          <p:cNvPr id="29" name="Shape 26"/>
          <p:cNvSpPr/>
          <p:nvPr/>
        </p:nvSpPr>
        <p:spPr>
          <a:xfrm>
            <a:off x="8095488" y="388620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8278368" y="40690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31" name="Text 28"/>
          <p:cNvSpPr/>
          <p:nvPr/>
        </p:nvSpPr>
        <p:spPr>
          <a:xfrm>
            <a:off x="8278368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8872728" y="399592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A) um participante com 25% ou mais dos créditos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M6 · Fechamento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FECHAMENTO DO MÓDULO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Pratique e entregue</a:t>
            </a:r>
            <a:endParaRPr lang="en-US" sz="2600" dirty="0"/>
          </a:p>
        </p:txBody>
      </p:sp>
      <p:sp>
        <p:nvSpPr>
          <p:cNvPr id="9" name="Text 6"/>
          <p:cNvSpPr/>
          <p:nvPr/>
        </p:nvSpPr>
        <p:spPr>
          <a:xfrm>
            <a:off x="548640" y="1325880"/>
            <a:ext cx="5394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Exercícios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548640" y="1783080"/>
            <a:ext cx="5394960" cy="44805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Usina com 60.000 kWh disponíveis; já alocados 55.300 kWh. Um cliente pede 5.000 kWh. O que acontece na plataforma e o que você faz?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Cliente sai em março. Quais são os três passos operacionais?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Liste os dados pessoais que a sua operação coleta e a finalidade de cada um.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6172200" y="1325880"/>
            <a:ext cx="5468112" cy="4937760"/>
          </a:xfrm>
          <a:prstGeom prst="roundRect">
            <a:avLst>
              <a:gd name="adj" fmla="val 1852"/>
            </a:avLst>
          </a:prstGeom>
          <a:solidFill>
            <a:srgbClr val="1B3A6B"/>
          </a:solidFill>
          <a:ln/>
        </p:spPr>
      </p:sp>
      <p:sp>
        <p:nvSpPr>
          <p:cNvPr id="12" name="Text 9"/>
          <p:cNvSpPr/>
          <p:nvPr/>
        </p:nvSpPr>
        <p:spPr>
          <a:xfrm>
            <a:off x="6492240" y="1554480"/>
            <a:ext cx="4828032" cy="44805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ENTREGÁVEL DO MÓDULO
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Usina alocada: os 5 clientes do M5 com contrato emitido, vínculo com a usina e convite enviado, mais 10 clientes adicionais (carregados pelo "checkpoint do M6" do laboratório ou cadastrados manualmente) até ocupar 90–98% da energia disponível, com nenhum cliente acima de 25% e a planilha de rateio pronta para a distribuidora.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</vt:vector>
  </TitlesOfParts>
  <Company>GD Solar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M6 — Contratos, rateio e alocação de energia</dc:title>
  <dc:subject>PptxGenJS Presentation</dc:subject>
  <dc:creator>PptxGenJS</dc:creator>
  <cp:lastModifiedBy>PptxGenJS</cp:lastModifiedBy>
  <cp:revision>1</cp:revision>
  <dcterms:created xsi:type="dcterms:W3CDTF">2026-10-30T13:18:27Z</dcterms:created>
  <dcterms:modified xsi:type="dcterms:W3CDTF">2026-10-30T13:18:27Z</dcterms:modified>
</cp:coreProperties>
</file>