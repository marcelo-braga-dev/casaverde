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primeiro grupo é a energia, porque é o seu estoque. Um: a taxa de ocupação, energia alocada dividida pela disponível, com meta entre noventa e noventa e oito por cento. Abaixo disso, você tem estoque parado; acima, risco. Dois: o desempenho de geração, a geração real dividida pela esperada para aquele mês, com meta de pelo menos noventa e cinco por cento. E três: a energia efetivamente compensada nas faturas dividida pela alocada, que diz se os créditos estão chegando aos clientes como deveriam. Um número baixo aqui indica problema de rateio, de distribuidora ou de cota mal dimensionada.
O segundo grupo é o comercial. Quatro: novos clientes no mês — e, mais importante, os quilowatts-hora vendidos, porque dez residências e uma padaria podem valer o mesmo. Cinco: a conversão de proposta em cliente pagante. E seis: o custo de aquisição, o CAC, que é tudo o que você gastou para vender — comissões, anúncios, parte do salário comercial — dividido pelos novos clientes. Compare o CAC com a margem que o cliente traz por mês: se o CAC é de quatrocentos reais e o cliente deixa quarenta reais de margem por mês, você leva dez meses para recuperar o investimento nele.
O terceiro grupo é o financeiro. Sete: a receita da gestora, a sua taxa de administração no mês. Oito: a taxa de recebimento, quanto do que foi faturado no mês foi recebido, com meta acima de noventa e cinco por cento. Nove: a inadimplência acima de trinta dias, em percentual do faturado, com meta de no máximo três por cento — aquela reserva que usamos na conta do módulo 3. E dez: a margem de contribuição por quilowatt-hora e o resultado do mês comparado com o ponto de equilíbrio. Esse último responde à pergunta mais importante do empresário: estamos ganhando ou perdendo dinheiro, e quanto falta para virar?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quarto grupo é o cliente. Onze: o churn, os cancelamentos do mês divididos pela base de clientes. Parece pequeno, mas dois por cento ao mês significam perder quase um quarto da base em um ano. A meta é ficar perto ou abaixo de um por cento ao mês. E doze: a economia média por cliente, em reais por mês, que é o valor que você entrega, junto com uma pesquisa de satisfação, como o NPS, feita a cada trimestre. Economia média caindo — por causa do Fio B, por exemplo — é um sinal antecipado de churn.
Coloque os doze indicadores numa página só, com a meta, o resultado e um semáforo: verde, amarelo, vermelho. Revise todo mês, no fechamento, e acompanhe semanalmente os mais sensíveis: ocupação, recebimento e inadimplência. Nas próximas aulas, você vai ver de onde tirar esses números na plataforma e como transformar alguns deles em relatórios para clientes e produtores.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 relatório em cinco momentos. A cada trimestre, uma mensagem curta: "você já economizou tantos reais com a gente". No aniversário de um ano, um relatório anual, com um agradecimento. No pedido de cancelamento, como vimos no módulo 9: muitos clientes desistem de cancelar quando veem o número. Quando houver um reajuste ou a próxima etapa do Fio B, para explicar com transparência por que a economia mudou. E na renovação do contrato.
O relatório também vende. Com a autorização dos clientes, você pode usar números agregados como prova social: "padarias da nossa carteira economizam em média tantos reais por mês". E um programa de indicação fica muito mais forte quando o cliente pode mostrar o próprio relatório para o vizinho ou para o colega de setor.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portal, logo na visão geral, o cliente vê o total economizado desde que entrou e a economia média por mês, além do histórico de consumo. No relatório de economia, ele vê o detalhamento mês a mês: o valor original da energia compensada, o que pagou com o desconto e a diferença. E pode exportar em PDF ou Excel — útil para empresas, que levam o número para o contador ou para a diretoria. A economia é calculada como o valor original menos o valor final de cada cobrança.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o relatório de economia é a sua principal ferramenta de retenção. Mostre o número antes de o cliente esquecer — a cada trimestre, no aniversário, no pedido de cancelamento, no reajuste e na renovação — e use os números agregados como prova social. Na próxima aula, os relatórios para quem financia as usinas.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relatório mensal do produtor cabe em uma página. Geração do mês, comparada com a esperada e com o mesmo mês do ano anterior. Ocupação da usina e número de clientes. Energia compensada nos clientes. O valor do crédito no mês, a receita da usina, a taxa de administração e o repasse que ele vai receber. E as ocorrências — limpeza, falhas, manutenção — com os próximos passos. Os números de geração e de usina vêm da plataforma: do registro de geração mensal e do relatório por usina. O produtor também vê a geração diretamente no portal dele. Hoje, o extrato do repasse é montado por você a partir desses relatórios, com a regra do contrato; deixe esse cálculo numa planilha padronizada, conferida todo mês.
Para investidores — quem financia ou pode financiar a próxima usina —, o relatório é trimestral e mostra o portfólio: quantas usinas, quantos megawatts-pico, quantos megawatts-hora por mês, a ocupação média. Mostra a receita de cada usina e a rentabilidade anualizada, que é o repasse anual dividido pelo investimento. O histórico de geração real contra a projetada, a inadimplência e o churn — porque o investidor sabe que a receita depende de clientes que pagam e ficam. E uma seção honesta de riscos, incluindo a regulação. Investidor sério desconfia de relatório só com boas notícias.
Quatro regras de credibilidade. Envie na mesma data todo mês. Use sempre o mesmo formato, para que dê para comparar. Garanta que os números batem com o dinheiro que caiu na conta do produtor. E, quando houver má notícia — uma queda de geração, um cliente grande que saiu —, conte primeiro, com o plano de ação. É isso que faz o produtor renovar e o investidor voltar.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uma página por mês para o produtor, um relatório trimestral de portfólio para investidores, sempre na mesma data, no mesmo formato e com números que batem. Nos laboratórios a seguir, você vai tirar esses números da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o exercício. Olhando para o dashboard e o cockpit da sua empresa do laboratório, escreva três decisões para a próxima semana, cada uma com o quê, quem e até quando. Por exemplo: "vincular os dois clientes sem usina à usina dois, operador, até quarta". Ou: "o consultor B tem a maior inadimplência; revisar com ele as vendas do mês, gestor, sexta". Decisão concreta é o que transforma um painel bonito em gestão.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Comece pelo dashboard do administrador. Ele é o painel do dia a dia: clientes ativos e em prospecção, propostas, faturas esperando revisão, cobranças em aberto e vencidas, quanto há a receber, a receita do mês e, importante, os pagamentos e os avisos do Mercado Pago com falha. Ele responde: o que está travado hoje?
Agora, o cockpit executivo, no menu Relatórios, Relatório Geral. Ele é o painel do dono. No topo, a energia da frota inteira: disponível, alocada e o saldo. Abaixo, as usinas críticas, sem saldo, e as com saldo baixo. E um número que vale dinheiro: clientes sem usina — gente que assinou e ainda não está recebendo créditos. Cada cliente nessa lista é receita atrasada e um risco de cancelamento. Na sua empresa do laboratório, quantos clientes estão sem usina? Por quê?
Continuando no cockpit: o funil de revisão das faturas, mostrando onde elas estão paradas; os alertas abertos; o ranking dos consultores; o crescimento mês a mês de clientes, usinas e vínculos; e uma lista de ações pendentes, cada uma com um link direto para resolver. É a lista de prioridades da semana, pronta.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Abra Relatórios, Executivo, e filtre o período do mês dois. Você vê a situação da carteira, das propostas, dos contratos, das faturas e das usinas, e a evolução financeira: cobrado, recebido e vencido por mês. Daqui saem a taxa de recebimento e a inadimplência. Abra também o relatório financeiro e o de cobranças, para o detalhe por cliente e por status. Exporte o executivo em PDF: é o anexo do seu relatório mensal.
Agora, Relatórios, Usinas. Para cada usina, o valor cobrado e recebido, a energia e a geração, lado a lado com a potência. É a base do relatório para o produtor e da rentabilidade por usina. Em Relatórios, Clientes, veja os clientes com maior valor e a economia gerada. Exporte em Excel para montar os seus cálculos de margem.
Agora, preencha o painel: a ocupação, da gestão de energia; o desempenho de geração, do registro mensal; recebimento e inadimplência, dos relatórios financeiros; novos clientes e churn, da carteira; e a economia média, do relatório de clientes. O semáforo mostra onde você está bem e onde precisa agir. Escreva, embaixo, um comentário de cinco linhas sobre o mês: o que foi bem, o que foi mal e o que você vai fazer.
Por fim, os relatórios para fora. Exporte o relatório de economia de três clientes, como se fosse enviar a mensagem trimestral. E preencha o relatório mensal do produtor com os números do relatório por usina.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M10  ·  ETAPA 4 · GESTÃO E ESTRATÉGIA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Indicadores e relatórios</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400" dirty="0">
                <a:solidFill>
                  <a:srgbClr val="C7D2E3"/>
                </a:solidFill>
                <a:latin typeface="Arial" pitchFamily="34" charset="0"/>
                <a:ea typeface="Arial" pitchFamily="34" charset="-122"/>
                <a:cs typeface="Arial" pitchFamily="34" charset="-120"/>
              </a:rPr>
              <a:t>1. Os indicadores de uma operação de GD</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2. O relatório de economia como ferramenta de retenção</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3. Relatórios para produtor e investidor</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4. o cockpit executivo</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5. o relatório mensal da sua operação</a:t>
            </a:r>
            <a:endParaRPr lang="en-US" sz="14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Definir os indicadores de uma empresa de assinatura (energia, comercial, financeiro, cliente) e as metas de cada um.</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Usar o relatório de economia como ferramenta de retenção e de venda.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Produzir relatórios para produtor e investidor.</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Ler o cockpit executivo e os relatórios da plataforma e exportar em PDF/Excel.</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Montar o relatório mensal da própria operação.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Os indicadores de uma operação de GD</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Definir os 12 indicadores essenciais, como calcular e qual meta usar</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Energia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Comercial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Financeiro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Cliente</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painel e a rotina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Os indicadores de uma operação de GD</a:t>
            </a:r>
            <a:endParaRPr lang="en-US" sz="2600" dirty="0"/>
          </a:p>
        </p:txBody>
      </p:sp>
      <p:sp>
        <p:nvSpPr>
          <p:cNvPr id="9" name="Shape 6"/>
          <p:cNvSpPr/>
          <p:nvPr/>
        </p:nvSpPr>
        <p:spPr>
          <a:xfrm>
            <a:off x="4114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3611880" cy="109728"/>
          </a:xfrm>
          <a:prstGeom prst="rect">
            <a:avLst/>
          </a:prstGeom>
          <a:solidFill>
            <a:srgbClr val="1B3A6B"/>
          </a:solidFill>
          <a:ln/>
        </p:spPr>
      </p:sp>
      <p:sp>
        <p:nvSpPr>
          <p:cNvPr id="11" name="Text 8"/>
          <p:cNvSpPr/>
          <p:nvPr/>
        </p:nvSpPr>
        <p:spPr>
          <a:xfrm>
            <a:off x="6858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Energia</a:t>
            </a:r>
            <a:endParaRPr lang="en-US" sz="1600" dirty="0"/>
          </a:p>
        </p:txBody>
      </p:sp>
      <p:sp>
        <p:nvSpPr>
          <p:cNvPr id="12" name="Text 9"/>
          <p:cNvSpPr/>
          <p:nvPr/>
        </p:nvSpPr>
        <p:spPr>
          <a:xfrm>
            <a:off x="685800" y="2286000"/>
            <a:ext cx="3063240" cy="3749040"/>
          </a:xfrm>
          <a:prstGeom prst="rect">
            <a:avLst/>
          </a:prstGeom>
          <a:noFill/>
          <a:ln/>
        </p:spPr>
        <p:txBody>
          <a:bodyPr wrap="square" rtlCol="0" anchor="t">
            <a:normAutofit/>
          </a:bodyPr>
          <a:lstStyle/>
          <a:p>
            <a:pPr indent="0" marL="0">
              <a:spcAft>
                <a:spcPts val="600"/>
              </a:spcAft>
              <a:buNone/>
            </a:pPr>
            <a:r>
              <a:rPr lang="en-US" sz="1300" dirty="0">
                <a:solidFill>
                  <a:srgbClr val="1F2937"/>
                </a:solidFill>
                <a:latin typeface="Arial" pitchFamily="34" charset="0"/>
                <a:ea typeface="Arial" pitchFamily="34" charset="-122"/>
                <a:cs typeface="Arial" pitchFamily="34" charset="-120"/>
              </a:rPr>
              <a:t>1. Taxa de ocupação = alocada ÷ disponível · meta 90–98%</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2. Desempenho de geração = gerada ÷ esperada no mês · meta ≥ 95%</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3. Energia compensada ÷ alocada · meta ≥ 95% (créditos chegando)</a:t>
            </a:r>
            <a:endParaRPr lang="en-US" sz="1300" dirty="0"/>
          </a:p>
        </p:txBody>
      </p:sp>
      <p:sp>
        <p:nvSpPr>
          <p:cNvPr id="13" name="Shape 10"/>
          <p:cNvSpPr/>
          <p:nvPr/>
        </p:nvSpPr>
        <p:spPr>
          <a:xfrm>
            <a:off x="42976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297680" y="1325880"/>
            <a:ext cx="3611880" cy="109728"/>
          </a:xfrm>
          <a:prstGeom prst="rect">
            <a:avLst/>
          </a:prstGeom>
          <a:solidFill>
            <a:srgbClr val="F7A23B"/>
          </a:solidFill>
          <a:ln/>
        </p:spPr>
      </p:sp>
      <p:sp>
        <p:nvSpPr>
          <p:cNvPr id="15" name="Text 12"/>
          <p:cNvSpPr/>
          <p:nvPr/>
        </p:nvSpPr>
        <p:spPr>
          <a:xfrm>
            <a:off x="45720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Comercial</a:t>
            </a:r>
            <a:endParaRPr lang="en-US" sz="1600" dirty="0"/>
          </a:p>
        </p:txBody>
      </p:sp>
      <p:sp>
        <p:nvSpPr>
          <p:cNvPr id="16" name="Text 13"/>
          <p:cNvSpPr/>
          <p:nvPr/>
        </p:nvSpPr>
        <p:spPr>
          <a:xfrm>
            <a:off x="4572000" y="2286000"/>
            <a:ext cx="3063240" cy="3749040"/>
          </a:xfrm>
          <a:prstGeom prst="rect">
            <a:avLst/>
          </a:prstGeom>
          <a:noFill/>
          <a:ln/>
        </p:spPr>
        <p:txBody>
          <a:bodyPr wrap="square" rtlCol="0" anchor="t">
            <a:normAutofit/>
          </a:bodyPr>
          <a:lstStyle/>
          <a:p>
            <a:pPr indent="0" marL="0">
              <a:spcAft>
                <a:spcPts val="600"/>
              </a:spcAft>
              <a:buNone/>
            </a:pPr>
            <a:r>
              <a:rPr lang="en-US" sz="1300" dirty="0">
                <a:solidFill>
                  <a:srgbClr val="1F2937"/>
                </a:solidFill>
                <a:latin typeface="Arial" pitchFamily="34" charset="0"/>
                <a:ea typeface="Arial" pitchFamily="34" charset="-122"/>
                <a:cs typeface="Arial" pitchFamily="34" charset="-120"/>
              </a:rPr>
              <a:t>4. Novos clientes (e kWh vendidos) no mês · meta do plano</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5. Conversão: proposta → cliente pagante · referência 25–40%</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6. Custo de aquisição (CAC) = gasto comercial ÷ novos clientes</a:t>
            </a:r>
            <a:endParaRPr lang="en-US" sz="1300" dirty="0"/>
          </a:p>
        </p:txBody>
      </p:sp>
      <p:sp>
        <p:nvSpPr>
          <p:cNvPr id="17" name="Shape 14"/>
          <p:cNvSpPr/>
          <p:nvPr/>
        </p:nvSpPr>
        <p:spPr>
          <a:xfrm>
            <a:off x="81838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83880" y="1325880"/>
            <a:ext cx="3611880" cy="109728"/>
          </a:xfrm>
          <a:prstGeom prst="rect">
            <a:avLst/>
          </a:prstGeom>
          <a:solidFill>
            <a:srgbClr val="1B3A6B"/>
          </a:solidFill>
          <a:ln/>
        </p:spPr>
      </p:sp>
      <p:sp>
        <p:nvSpPr>
          <p:cNvPr id="19" name="Text 16"/>
          <p:cNvSpPr/>
          <p:nvPr/>
        </p:nvSpPr>
        <p:spPr>
          <a:xfrm>
            <a:off x="84582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Financeiro</a:t>
            </a:r>
            <a:endParaRPr lang="en-US" sz="1600" dirty="0"/>
          </a:p>
        </p:txBody>
      </p:sp>
      <p:sp>
        <p:nvSpPr>
          <p:cNvPr id="20" name="Text 17"/>
          <p:cNvSpPr/>
          <p:nvPr/>
        </p:nvSpPr>
        <p:spPr>
          <a:xfrm>
            <a:off x="8458200" y="2286000"/>
            <a:ext cx="3063240" cy="3749040"/>
          </a:xfrm>
          <a:prstGeom prst="rect">
            <a:avLst/>
          </a:prstGeom>
          <a:noFill/>
          <a:ln/>
        </p:spPr>
        <p:txBody>
          <a:bodyPr wrap="square" rtlCol="0" anchor="t">
            <a:normAutofit/>
          </a:bodyPr>
          <a:lstStyle/>
          <a:p>
            <a:pPr indent="0" marL="0">
              <a:spcAft>
                <a:spcPts val="600"/>
              </a:spcAft>
              <a:buNone/>
            </a:pPr>
            <a:r>
              <a:rPr lang="en-US" sz="1200" dirty="0">
                <a:solidFill>
                  <a:srgbClr val="1F2937"/>
                </a:solidFill>
                <a:latin typeface="Arial" pitchFamily="34" charset="0"/>
                <a:ea typeface="Arial" pitchFamily="34" charset="-122"/>
                <a:cs typeface="Arial" pitchFamily="34" charset="-120"/>
              </a:rPr>
              <a:t>7. Receita da gestora (taxa de administração) no mês</a:t>
            </a:r>
            <a:endParaRPr lang="en-US" sz="1200" dirty="0"/>
          </a:p>
          <a:p>
            <a:pPr indent="0" marL="0">
              <a:spcAft>
                <a:spcPts val="600"/>
              </a:spcAft>
              <a:buNone/>
            </a:pPr>
            <a:r>
              <a:rPr lang="en-US" sz="1200" dirty="0">
                <a:solidFill>
                  <a:srgbClr val="1F2937"/>
                </a:solidFill>
                <a:latin typeface="Arial" pitchFamily="34" charset="0"/>
                <a:ea typeface="Arial" pitchFamily="34" charset="-122"/>
                <a:cs typeface="Arial" pitchFamily="34" charset="-120"/>
              </a:rPr>
              <a:t>8. Taxa de recebimento = recebido ÷ faturado no mês · meta ≥ 95%</a:t>
            </a:r>
            <a:endParaRPr lang="en-US" sz="1200" dirty="0"/>
          </a:p>
          <a:p>
            <a:pPr indent="0" marL="0">
              <a:spcAft>
                <a:spcPts val="600"/>
              </a:spcAft>
              <a:buNone/>
            </a:pPr>
            <a:r>
              <a:rPr lang="en-US" sz="1200" dirty="0">
                <a:solidFill>
                  <a:srgbClr val="1F2937"/>
                </a:solidFill>
                <a:latin typeface="Arial" pitchFamily="34" charset="0"/>
                <a:ea typeface="Arial" pitchFamily="34" charset="-122"/>
                <a:cs typeface="Arial" pitchFamily="34" charset="-120"/>
              </a:rPr>
              <a:t>9. Inadimplência &gt; 30 dias (% do faturado) · meta ≤ 3%</a:t>
            </a:r>
            <a:endParaRPr lang="en-US" sz="1200" dirty="0"/>
          </a:p>
          <a:p>
            <a:pPr indent="0" marL="0">
              <a:spcAft>
                <a:spcPts val="600"/>
              </a:spcAft>
              <a:buNone/>
            </a:pPr>
            <a:r>
              <a:rPr lang="en-US" sz="1200" dirty="0">
                <a:solidFill>
                  <a:srgbClr val="1F2937"/>
                </a:solidFill>
                <a:latin typeface="Arial" pitchFamily="34" charset="0"/>
                <a:ea typeface="Arial" pitchFamily="34" charset="-122"/>
                <a:cs typeface="Arial" pitchFamily="34" charset="-120"/>
              </a:rPr>
              <a:t>10. Margem de contribuição por kWh e resultado vs. ponto de equilíbrio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Os indicadores de uma operação de GD</a:t>
            </a:r>
            <a:endParaRPr lang="en-US" sz="2600" dirty="0"/>
          </a:p>
        </p:txBody>
      </p:sp>
      <p:sp>
        <p:nvSpPr>
          <p:cNvPr id="9" name="Shape 6"/>
          <p:cNvSpPr/>
          <p:nvPr/>
        </p:nvSpPr>
        <p:spPr>
          <a:xfrm>
            <a:off x="4114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5554980" cy="109728"/>
          </a:xfrm>
          <a:prstGeom prst="rect">
            <a:avLst/>
          </a:prstGeom>
          <a:solidFill>
            <a:srgbClr val="1B3A6B"/>
          </a:solidFill>
          <a:ln/>
        </p:spPr>
      </p:sp>
      <p:sp>
        <p:nvSpPr>
          <p:cNvPr id="11" name="Text 8"/>
          <p:cNvSpPr/>
          <p:nvPr/>
        </p:nvSpPr>
        <p:spPr>
          <a:xfrm>
            <a:off x="6858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Cliente</a:t>
            </a:r>
            <a:endParaRPr lang="en-US" sz="1600" dirty="0"/>
          </a:p>
        </p:txBody>
      </p:sp>
      <p:sp>
        <p:nvSpPr>
          <p:cNvPr id="12" name="Text 9"/>
          <p:cNvSpPr/>
          <p:nvPr/>
        </p:nvSpPr>
        <p:spPr>
          <a:xfrm>
            <a:off x="685800" y="2286000"/>
            <a:ext cx="5006340" cy="3749040"/>
          </a:xfrm>
          <a:prstGeom prst="rect">
            <a:avLst/>
          </a:prstGeom>
          <a:noFill/>
          <a:ln/>
        </p:spPr>
        <p:txBody>
          <a:bodyPr wrap="square" rtlCol="0" anchor="t">
            <a:normAutofit/>
          </a:bodyPr>
          <a:lstStyle/>
          <a:p>
            <a:pPr indent="0" marL="0">
              <a:spcAft>
                <a:spcPts val="600"/>
              </a:spcAft>
              <a:buNone/>
            </a:pPr>
            <a:r>
              <a:rPr lang="en-US" sz="1700" dirty="0">
                <a:solidFill>
                  <a:srgbClr val="1F2937"/>
                </a:solidFill>
                <a:latin typeface="Arial" pitchFamily="34" charset="0"/>
                <a:ea typeface="Arial" pitchFamily="34" charset="-122"/>
                <a:cs typeface="Arial" pitchFamily="34" charset="-120"/>
              </a:rPr>
              <a:t>11. Churn mensal = cancelamentos ÷ base · meta ≤ 1%/mês</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12. Economia média por cliente (R$/mês) e satisfação (NPS)</a:t>
            </a:r>
            <a:endParaRPr lang="en-US" sz="1700" dirty="0"/>
          </a:p>
        </p:txBody>
      </p:sp>
      <p:sp>
        <p:nvSpPr>
          <p:cNvPr id="13" name="Shape 10"/>
          <p:cNvSpPr/>
          <p:nvPr/>
        </p:nvSpPr>
        <p:spPr>
          <a:xfrm>
            <a:off x="62407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40780" y="1325880"/>
            <a:ext cx="5554980" cy="109728"/>
          </a:xfrm>
          <a:prstGeom prst="rect">
            <a:avLst/>
          </a:prstGeom>
          <a:solidFill>
            <a:srgbClr val="F7A23B"/>
          </a:solidFill>
          <a:ln/>
        </p:spPr>
      </p:sp>
      <p:sp>
        <p:nvSpPr>
          <p:cNvPr id="15" name="Text 12"/>
          <p:cNvSpPr/>
          <p:nvPr/>
        </p:nvSpPr>
        <p:spPr>
          <a:xfrm>
            <a:off x="65151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painel e a rotina</a:t>
            </a:r>
            <a:endParaRPr lang="en-US" sz="1600" dirty="0"/>
          </a:p>
        </p:txBody>
      </p:sp>
      <p:sp>
        <p:nvSpPr>
          <p:cNvPr id="16" name="Text 13"/>
          <p:cNvSpPr/>
          <p:nvPr/>
        </p:nvSpPr>
        <p:spPr>
          <a:xfrm>
            <a:off x="65151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1 página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meta × resultado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semáforo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revisão mensal (e semanal para ocupação, recebimento e inadimplência)</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 relatório de economia como ferramenta de retenção</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Usar o relatório de economia do cliente para reter, renovar e gerar indicação</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Como usar na retenção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Como usar na venda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relatório de economia como ferramenta de retenção</a:t>
            </a:r>
            <a:endParaRPr lang="en-US" sz="2600" dirty="0"/>
          </a:p>
        </p:txBody>
      </p:sp>
      <p:sp>
        <p:nvSpPr>
          <p:cNvPr id="9" name="Shape 6"/>
          <p:cNvSpPr/>
          <p:nvPr/>
        </p:nvSpPr>
        <p:spPr>
          <a:xfrm>
            <a:off x="4114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5554980" cy="109728"/>
          </a:xfrm>
          <a:prstGeom prst="rect">
            <a:avLst/>
          </a:prstGeom>
          <a:solidFill>
            <a:srgbClr val="1B3A6B"/>
          </a:solidFill>
          <a:ln/>
        </p:spPr>
      </p:sp>
      <p:sp>
        <p:nvSpPr>
          <p:cNvPr id="11" name="Text 8"/>
          <p:cNvSpPr/>
          <p:nvPr/>
        </p:nvSpPr>
        <p:spPr>
          <a:xfrm>
            <a:off x="6858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Como usar na retenção</a:t>
            </a:r>
            <a:endParaRPr lang="en-US" sz="1600" dirty="0"/>
          </a:p>
        </p:txBody>
      </p:sp>
      <p:sp>
        <p:nvSpPr>
          <p:cNvPr id="12" name="Text 9"/>
          <p:cNvSpPr/>
          <p:nvPr/>
        </p:nvSpPr>
        <p:spPr>
          <a:xfrm>
            <a:off x="6858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Trimestral: 'Você já economizou R$ X'</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Aniversário de 1 ano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Pedido de cancelamento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Reajuste/Fio B</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Renovação de contrato</a:t>
            </a:r>
            <a:endParaRPr lang="en-US" sz="1700" dirty="0"/>
          </a:p>
        </p:txBody>
      </p:sp>
      <p:sp>
        <p:nvSpPr>
          <p:cNvPr id="13" name="Shape 10"/>
          <p:cNvSpPr/>
          <p:nvPr/>
        </p:nvSpPr>
        <p:spPr>
          <a:xfrm>
            <a:off x="62407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40780" y="1325880"/>
            <a:ext cx="5554980" cy="109728"/>
          </a:xfrm>
          <a:prstGeom prst="rect">
            <a:avLst/>
          </a:prstGeom>
          <a:solidFill>
            <a:srgbClr val="F7A23B"/>
          </a:solidFill>
          <a:ln/>
        </p:spPr>
      </p:sp>
      <p:sp>
        <p:nvSpPr>
          <p:cNvPr id="15" name="Text 12"/>
          <p:cNvSpPr/>
          <p:nvPr/>
        </p:nvSpPr>
        <p:spPr>
          <a:xfrm>
            <a:off x="65151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Como usar na venda</a:t>
            </a:r>
            <a:endParaRPr lang="en-US" sz="1600" dirty="0"/>
          </a:p>
        </p:txBody>
      </p:sp>
      <p:sp>
        <p:nvSpPr>
          <p:cNvPr id="16" name="Text 13"/>
          <p:cNvSpPr/>
          <p:nvPr/>
        </p:nvSpPr>
        <p:spPr>
          <a:xfrm>
            <a:off x="65151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Prova social com números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'clientes do seu setor economizam em média R$ X/mês'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indicação: 'mostre seu relatório para um amigo'</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O RELATÓRIO DE ECONOMIA COMO FERRAMENTA DE RETENÇÃO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liente_economi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Relatório de economia do cliente</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O que o relatório mostra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Total economizado · economia média/mês · mês a mês · PDF e Excel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Mostre a economia antes que o cliente esqueça</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trimestral, anual, cancelamento, reajuste, renovação</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prova social</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Relatórios para produtor e investidor</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Montar o relatório mensal para o produtor e o relatório de desempenho para investidores</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relatório mensal do produtor</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relatório para investidores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Credibilidade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Relatórios para produtor e investidor</a:t>
            </a:r>
            <a:endParaRPr lang="en-US" sz="2600" dirty="0"/>
          </a:p>
        </p:txBody>
      </p:sp>
      <p:sp>
        <p:nvSpPr>
          <p:cNvPr id="9" name="Shape 6"/>
          <p:cNvSpPr/>
          <p:nvPr/>
        </p:nvSpPr>
        <p:spPr>
          <a:xfrm>
            <a:off x="4114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3611880" cy="109728"/>
          </a:xfrm>
          <a:prstGeom prst="rect">
            <a:avLst/>
          </a:prstGeom>
          <a:solidFill>
            <a:srgbClr val="1B3A6B"/>
          </a:solidFill>
          <a:ln/>
        </p:spPr>
      </p:sp>
      <p:sp>
        <p:nvSpPr>
          <p:cNvPr id="11" name="Text 8"/>
          <p:cNvSpPr/>
          <p:nvPr/>
        </p:nvSpPr>
        <p:spPr>
          <a:xfrm>
            <a:off x="6858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relatório mensal do produtor</a:t>
            </a:r>
            <a:endParaRPr lang="en-US" sz="1600" dirty="0"/>
          </a:p>
        </p:txBody>
      </p:sp>
      <p:sp>
        <p:nvSpPr>
          <p:cNvPr id="12" name="Text 9"/>
          <p:cNvSpPr/>
          <p:nvPr/>
        </p:nvSpPr>
        <p:spPr>
          <a:xfrm>
            <a:off x="6858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Geração do mês × esperada × mesmo mês do ano anterior</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Ocupação da usina e nº de clientes</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Energia compensada nos clientes</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Valor do crédito no mês · receita da usina · taxa de administração · repasse</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Ocorrências (O&amp;M, paradas) e próximos passos</a:t>
            </a:r>
            <a:endParaRPr lang="en-US" sz="1200" dirty="0"/>
          </a:p>
        </p:txBody>
      </p:sp>
      <p:sp>
        <p:nvSpPr>
          <p:cNvPr id="13" name="Shape 10"/>
          <p:cNvSpPr/>
          <p:nvPr/>
        </p:nvSpPr>
        <p:spPr>
          <a:xfrm>
            <a:off x="42976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297680" y="1325880"/>
            <a:ext cx="3611880" cy="109728"/>
          </a:xfrm>
          <a:prstGeom prst="rect">
            <a:avLst/>
          </a:prstGeom>
          <a:solidFill>
            <a:srgbClr val="F7A23B"/>
          </a:solidFill>
          <a:ln/>
        </p:spPr>
      </p:sp>
      <p:sp>
        <p:nvSpPr>
          <p:cNvPr id="15" name="Text 12"/>
          <p:cNvSpPr/>
          <p:nvPr/>
        </p:nvSpPr>
        <p:spPr>
          <a:xfrm>
            <a:off x="45720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relatório para investidores</a:t>
            </a:r>
            <a:endParaRPr lang="en-US" sz="1600" dirty="0"/>
          </a:p>
        </p:txBody>
      </p:sp>
      <p:sp>
        <p:nvSpPr>
          <p:cNvPr id="16" name="Text 13"/>
          <p:cNvSpPr/>
          <p:nvPr/>
        </p:nvSpPr>
        <p:spPr>
          <a:xfrm>
            <a:off x="45720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Portfólio: usinas, MWp, MWh/mês, ocupação média</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Receita por usina e rentabilidade anualizada (repasse ÷ investimento)</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Histórico: geração real × projetada; inadimplência; churn</a:t>
            </a:r>
            <a:endParaRPr lang="en-US" sz="1300" dirty="0"/>
          </a:p>
          <a:p>
            <a:pPr marL="342900" indent="-342900">
              <a:spcAft>
                <a:spcPts val="600"/>
              </a:spcAft>
              <a:buSzPct val="100000"/>
              <a:buChar char="●"/>
            </a:pPr>
            <a:r>
              <a:rPr lang="en-US" sz="1300" dirty="0">
                <a:solidFill>
                  <a:srgbClr val="1F2937"/>
                </a:solidFill>
                <a:latin typeface="Arial" pitchFamily="34" charset="0"/>
                <a:ea typeface="Arial" pitchFamily="34" charset="-122"/>
                <a:cs typeface="Arial" pitchFamily="34" charset="-120"/>
              </a:rPr>
              <a:t>Riscos e regulação (Fio B, 2029)</a:t>
            </a:r>
            <a:endParaRPr lang="en-US" sz="1300" dirty="0"/>
          </a:p>
        </p:txBody>
      </p:sp>
      <p:sp>
        <p:nvSpPr>
          <p:cNvPr id="17" name="Shape 14"/>
          <p:cNvSpPr/>
          <p:nvPr/>
        </p:nvSpPr>
        <p:spPr>
          <a:xfrm>
            <a:off x="81838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83880" y="1325880"/>
            <a:ext cx="3611880" cy="109728"/>
          </a:xfrm>
          <a:prstGeom prst="rect">
            <a:avLst/>
          </a:prstGeom>
          <a:solidFill>
            <a:srgbClr val="1B3A6B"/>
          </a:solidFill>
          <a:ln/>
        </p:spPr>
      </p:sp>
      <p:sp>
        <p:nvSpPr>
          <p:cNvPr id="19" name="Text 16"/>
          <p:cNvSpPr/>
          <p:nvPr/>
        </p:nvSpPr>
        <p:spPr>
          <a:xfrm>
            <a:off x="84582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Credibilidade</a:t>
            </a:r>
            <a:endParaRPr lang="en-US" sz="1600" dirty="0"/>
          </a:p>
        </p:txBody>
      </p:sp>
      <p:sp>
        <p:nvSpPr>
          <p:cNvPr id="20" name="Text 17"/>
          <p:cNvSpPr/>
          <p:nvPr/>
        </p:nvSpPr>
        <p:spPr>
          <a:xfrm>
            <a:off x="84582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Mesma data todo mês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mesmo formato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números que batem com o extrato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más notícias primeiro</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Produtor: 1 página/mês</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Investidor: portfólio trimestral</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mesma data, mesmo formato, números que batem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 cockpit executivo</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Ler o dashboard do administrador e o cockpit executivo e decidir a partir deles</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Exercício: três decisões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LABORATÓRIO: O COCKPIT EXECUTIVO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Exercício: três decisões</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600" dirty="0">
                <a:solidFill>
                  <a:srgbClr val="1F2937"/>
                </a:solidFill>
                <a:latin typeface="Arial" pitchFamily="34" charset="0"/>
                <a:ea typeface="Arial" pitchFamily="34" charset="-122"/>
                <a:cs typeface="Arial" pitchFamily="34" charset="-120"/>
              </a:rPr>
              <a:t>Com base no dashboard e no cockpit, escreva 3 decisões para a próxima semana (o quê</a:t>
            </a:r>
            <a:endParaRPr lang="en-US" sz="16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600" dirty="0">
                <a:solidFill>
                  <a:srgbClr val="1F2937"/>
                </a:solidFill>
                <a:latin typeface="Arial" pitchFamily="34" charset="0"/>
                <a:ea typeface="Arial" pitchFamily="34" charset="-122"/>
                <a:cs typeface="Arial" pitchFamily="34" charset="-120"/>
              </a:rPr>
              <a:t>quem</a:t>
            </a:r>
            <a:endParaRPr lang="en-US" sz="16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600" dirty="0">
                <a:solidFill>
                  <a:srgbClr val="1F2937"/>
                </a:solidFill>
                <a:latin typeface="Arial" pitchFamily="34" charset="0"/>
                <a:ea typeface="Arial" pitchFamily="34" charset="-122"/>
                <a:cs typeface="Arial" pitchFamily="34" charset="-120"/>
              </a:rPr>
              <a:t>até quando)</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 COCKPIT EXECUTIVO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ckpit.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Cockpit executivo</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O dashboard do administrador</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Dashboard = o dia a dia: filas, a receber, falhas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O cockpit executivo: energia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Cockpit: energia disponível × alocada × saldo · usinas críticas · clientes sem usina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O cockpit executivo: operação e pessoas</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Funil de faturas · alertas abertos · ranking de consultores · ações pendentes com link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NA PLATAFORMA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Dashboard do administrador</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dashboard.jpg">    </p:cNvPr>
          <p:cNvPicPr>
            <a:picLocks noChangeAspect="1"/>
          </p:cNvPicPr>
          <p:nvPr/>
        </p:nvPicPr>
        <p:blipFill>
          <a:blip r:embed="rId2"/>
          <a:stretch>
            <a:fillRect/>
          </a:stretch>
        </p:blipFill>
        <p:spPr>
          <a:xfrm>
            <a:off x="1417320" y="1261872"/>
            <a:ext cx="9326880" cy="524637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 relatório mensal da sua operação</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Extrair os indicadores dos relatórios da plataforma, montar o painel do mês e exportar relatórios</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O RELATÓRIO MENSAL DA SUA OPERAÇÃO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relatorio_executivo.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Relatório executivo</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Relatório executivo e financeiro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Executivo e Financeiro: valor faturado · recebido · vencido · por status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Usinas e clientes</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Usinas: receita e energia por usina · Clientes: top clientes e economia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Preenchendo o painel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12 indicadores · meta × resultado · semáforo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Relatórios para fora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Para os clientes: relatório de economia · Para o produtor: relatório mensal de 1 página</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NA PLATAFORMA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Relatório por usina</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relatorio_usinas.jpg">    </p:cNvPr>
          <p:cNvPicPr>
            <a:picLocks noChangeAspect="1"/>
          </p:cNvPicPr>
          <p:nvPr/>
        </p:nvPicPr>
        <p:blipFill>
          <a:blip r:embed="rId2"/>
          <a:stretch>
            <a:fillRect/>
          </a:stretch>
        </p:blipFill>
        <p:spPr>
          <a:xfrm>
            <a:off x="1417320" y="1261872"/>
            <a:ext cx="9326880" cy="524637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M10 · Fechamento</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411480" y="1325880"/>
            <a:ext cx="557784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411480" y="1783080"/>
            <a:ext cx="557784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Usina com 60.000 kWh disponíveis e 54.600 kWh alocados: taxa de ocupação?</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Faturado R$ 30.000, recebido no mês R$ 27.300 de cobranças do mês: taxa de recebimento?</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300 clientes, 6 cancelamentos no mês: churn mensal? E anual aproximado?</a:t>
            </a:r>
            <a:endParaRPr lang="en-US" sz="1600" dirty="0"/>
          </a:p>
        </p:txBody>
      </p:sp>
      <p:sp>
        <p:nvSpPr>
          <p:cNvPr id="11" name="Shape 8"/>
          <p:cNvSpPr/>
          <p:nvPr/>
        </p:nvSpPr>
        <p:spPr>
          <a:xfrm>
            <a:off x="6309360" y="1325880"/>
            <a:ext cx="5486400" cy="4937760"/>
          </a:xfrm>
          <a:prstGeom prst="roundRect">
            <a:avLst>
              <a:gd name="adj" fmla="val 1852"/>
            </a:avLst>
          </a:prstGeom>
          <a:solidFill>
            <a:srgbClr val="1B3A6B"/>
          </a:solidFill>
          <a:ln/>
        </p:spPr>
      </p:sp>
      <p:sp>
        <p:nvSpPr>
          <p:cNvPr id="12" name="Text 9"/>
          <p:cNvSpPr/>
          <p:nvPr/>
        </p:nvSpPr>
        <p:spPr>
          <a:xfrm>
            <a:off x="6629400" y="1554480"/>
            <a:ext cx="4846320"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Relatório mensal da minha operação (meses 1 e 2 do laboratório): painel de 12 indicadores com meta e resultado, comentário de 5 linhas sobre o mês, relatório da usina para o produtor e o relatório de economia de 3 clientes exportados.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M10 — Indicadores e relatórios</dc:title>
  <dc:subject>PptxGenJS Presentation</dc:subject>
  <dc:creator>PptxGenJS</dc:creator>
  <cp:lastModifiedBy>PptxGenJS</cp:lastModifiedBy>
  <cp:revision>1</cp:revision>
  <dcterms:created xsi:type="dcterms:W3CDTF">2026-10-30T11:18:51Z</dcterms:created>
  <dcterms:modified xsi:type="dcterms:W3CDTF">2026-10-30T11:18:51Z</dcterms:modified>
</cp:coreProperties>
</file>