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(0:00–0:40)
Visual: APRESENTADOR.
Narração:
O contrato está assinado, mas o cliente só recebe créditos quando a unidade consumidora dele entra na lista de rateio da usina, na distribuidora. Essa lista é o elo entre a sua operação e a distribuidora, e mantê-la correta é uma das tarefas mais importantes do mês. Vamos ver como.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que é a lista de rateio (0:40–3:00)
Visual: SLIDE com uma tabela exemplo: UC · titular · percentual.
Narração:
A lista de rateio é um cadastro, feito pela entidade titular da usina junto à distribuidora, com as unidades consumidoras que recebem os créditos e o percentual de cada uma. A soma não pode passar de cem por cento. O que não for distribuído fica na própria unidade da usina, como crédito acumulado. A distribuidora usa essa lista todo mês para dividir os créditos. Cada distribuidora tem o seu canal e o seu formulário para isso — portal, e-mail, agência —, e prazos para que uma alteração passe a valer. Descubra o procedimento exato da sua distribuidora antes do primeiro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[ANIMAÇÃO] O ciclo de atualização (3:00–6:20)
Visual: ANIMAÇÃO de um ciclo mensal: contratos novos + saídas + ajustes → nova lista → protocolo → confirmação → vale a partir do ciclo X.
Narração:
Na prática, a atualização do rateio é um ciclo. Uma vez por ciclo de faturamento, você consolida as mudanças: clientes novos que assinaram, clientes que saíram, ajustes de cota. Monta a nova lista completa, com os percentuais recalculados. Envia à distribuidora pelo canal oficial e guarda o protocolo. Acompanha até a confirmação. E, no ciclo seguinte, confere nas faturas dos clientes se os créditos vieram como esperado. Concentrar as mudanças num dia fixo do mês, em vez de mandar uma alteração a cada cliente, reduz erros e retrabalho.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[QUADRO] Entradas, saídas e o "buraco" (6:20–9:00)
Visual: QUADRO.
Narração:
Toda vez que um cliente sai, abre-se um buraco: o percentual dele fica sem dono. Esses créditos ficam acumulados na unidade da usina e podem ser destinados depois, dentro do prazo de validade, mas, enquanto isso, ninguém paga por eles, e o produtor e você deixam de receber. Por isso, toda saída deve disparar duas ações: vender a cota liberada para um cliente novo, de preferência já na fila, e, enquanto isso, avaliar redistribuir para clientes atuais que tenham consumo descoberto. Uma operação madura mantém uma lista de espera de clientes justamente para preencher esses buracos.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Cuidados (9:00–11:20)
Visual: SLIDE com alertas.
Narração:
Alguns cuidados. Só inclua unidades da área da mesma distribuidora e de titulares com contrato e adesão ativos. Atenção às casas decimais: um percentual digitado errado pode dar a um cliente dez vezes mais créditos do que deveria. Em usinas acima de quinhentos quilowatts, lembre do GD três: nenhum participante com vinte e cinco por cento ou mais. E guarde todos os protocolos: se a distribuidora errar a aplicação do rateio, é com eles que você pede a correção.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Resumo (11:20–12:00)
Visual: APRESENTADOR.
Narração:
Resumindo: a lista de rateio é o elo com a distribuidora; atualize uma vez por ciclo, consolidando entradas e saídas; trate cada saída como um buraco a preencher; e guarde os protocolos. A plataforma ajuda a calcular os percentuais a partir das cotas — é o que vamos ver na próxima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M6 · Aula 3</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O rateio na distribuidora</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Montar e manter a lista de rateio e planejar entradas e saídas de clientes</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M6 · Aula 3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Sem rateio atualizado, o crédito vai para o lugar errado</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M6 · Aula 3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que é a lista de rateio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UC 1234567 · Padaria · 4,00%</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UC 2345678 · Clínica · 6,18%</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UC 3456789 · Residência · 0,67%</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 soma ≤ 100%</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M6 · Aula 3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ciclo de atualização</a:t>
            </a:r>
            <a:endParaRPr lang="en-US" sz="2800" dirty="0"/>
          </a:p>
        </p:txBody>
      </p:sp>
      <p:sp>
        <p:nvSpPr>
          <p:cNvPr id="7" name="Shape 4"/>
          <p:cNvSpPr/>
          <p:nvPr/>
        </p:nvSpPr>
        <p:spPr>
          <a:xfrm>
            <a:off x="548640" y="2377440"/>
            <a:ext cx="2457450" cy="1554480"/>
          </a:xfrm>
          <a:prstGeom prst="roundRect">
            <a:avLst>
              <a:gd name="adj" fmla="val 7059"/>
            </a:avLst>
          </a:prstGeom>
          <a:solidFill>
            <a:srgbClr val="FFFFFF"/>
          </a:solidFill>
          <a:ln w="19050">
            <a:solidFill>
              <a:srgbClr val="1F7A4D"/>
            </a:solidFill>
            <a:prstDash val="solid"/>
          </a:ln>
        </p:spPr>
      </p:sp>
      <p:sp>
        <p:nvSpPr>
          <p:cNvPr id="8" name="Text 5"/>
          <p:cNvSpPr/>
          <p:nvPr/>
        </p:nvSpPr>
        <p:spPr>
          <a:xfrm>
            <a:off x="64008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1 vez por ciclo: consolidar entradas, saídas e ajustes</a:t>
            </a:r>
            <a:endParaRPr lang="en-US" sz="1600" dirty="0"/>
          </a:p>
        </p:txBody>
      </p:sp>
      <p:sp>
        <p:nvSpPr>
          <p:cNvPr id="9" name="Text 6"/>
          <p:cNvSpPr/>
          <p:nvPr/>
        </p:nvSpPr>
        <p:spPr>
          <a:xfrm>
            <a:off x="300609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3417570" y="2377440"/>
            <a:ext cx="2457450" cy="1554480"/>
          </a:xfrm>
          <a:prstGeom prst="roundRect">
            <a:avLst>
              <a:gd name="adj" fmla="val 7059"/>
            </a:avLst>
          </a:prstGeom>
          <a:solidFill>
            <a:srgbClr val="FFFFFF"/>
          </a:solidFill>
          <a:ln w="19050">
            <a:solidFill>
              <a:srgbClr val="1F7A4D"/>
            </a:solidFill>
            <a:prstDash val="solid"/>
          </a:ln>
        </p:spPr>
      </p:sp>
      <p:sp>
        <p:nvSpPr>
          <p:cNvPr id="11" name="Text 8"/>
          <p:cNvSpPr/>
          <p:nvPr/>
        </p:nvSpPr>
        <p:spPr>
          <a:xfrm>
            <a:off x="350901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enviar</a:t>
            </a:r>
            <a:endParaRPr lang="en-US" sz="1600" dirty="0"/>
          </a:p>
        </p:txBody>
      </p:sp>
      <p:sp>
        <p:nvSpPr>
          <p:cNvPr id="12" name="Text 9"/>
          <p:cNvSpPr/>
          <p:nvPr/>
        </p:nvSpPr>
        <p:spPr>
          <a:xfrm>
            <a:off x="587502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6286500" y="2377440"/>
            <a:ext cx="2457450" cy="1554480"/>
          </a:xfrm>
          <a:prstGeom prst="roundRect">
            <a:avLst>
              <a:gd name="adj" fmla="val 7059"/>
            </a:avLst>
          </a:prstGeom>
          <a:solidFill>
            <a:srgbClr val="FFFFFF"/>
          </a:solidFill>
          <a:ln w="19050">
            <a:solidFill>
              <a:srgbClr val="1F7A4D"/>
            </a:solidFill>
            <a:prstDash val="solid"/>
          </a:ln>
        </p:spPr>
      </p:sp>
      <p:sp>
        <p:nvSpPr>
          <p:cNvPr id="14" name="Text 11"/>
          <p:cNvSpPr/>
          <p:nvPr/>
        </p:nvSpPr>
        <p:spPr>
          <a:xfrm>
            <a:off x="637794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acompanhar protocolo</a:t>
            </a:r>
            <a:endParaRPr lang="en-US" sz="1600" dirty="0"/>
          </a:p>
        </p:txBody>
      </p:sp>
      <p:sp>
        <p:nvSpPr>
          <p:cNvPr id="15" name="Text 12"/>
          <p:cNvSpPr/>
          <p:nvPr/>
        </p:nvSpPr>
        <p:spPr>
          <a:xfrm>
            <a:off x="874395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6" name="Shape 13"/>
          <p:cNvSpPr/>
          <p:nvPr/>
        </p:nvSpPr>
        <p:spPr>
          <a:xfrm>
            <a:off x="9155430" y="2377440"/>
            <a:ext cx="2457450" cy="1554480"/>
          </a:xfrm>
          <a:prstGeom prst="roundRect">
            <a:avLst>
              <a:gd name="adj" fmla="val 7059"/>
            </a:avLst>
          </a:prstGeom>
          <a:solidFill>
            <a:srgbClr val="1F7A4D"/>
          </a:solidFill>
          <a:ln w="19050">
            <a:solidFill>
              <a:srgbClr val="1F7A4D"/>
            </a:solidFill>
            <a:prstDash val="solid"/>
          </a:ln>
        </p:spPr>
      </p:sp>
      <p:sp>
        <p:nvSpPr>
          <p:cNvPr id="17" name="Text 14"/>
          <p:cNvSpPr/>
          <p:nvPr/>
        </p:nvSpPr>
        <p:spPr>
          <a:xfrm>
            <a:off x="9246870" y="2377440"/>
            <a:ext cx="2274570" cy="1554480"/>
          </a:xfrm>
          <a:prstGeom prst="rect">
            <a:avLst/>
          </a:prstGeom>
          <a:noFill/>
          <a:ln/>
        </p:spPr>
        <p:txBody>
          <a:bodyPr wrap="square"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confirmar na fatura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C9CDD2"/>
                </a:solidFill>
                <a:latin typeface="Arial" pitchFamily="34" charset="0"/>
                <a:ea typeface="Arial" pitchFamily="34" charset="-122"/>
                <a:cs typeface="Arial" pitchFamily="34" charset="-120"/>
              </a:rPr>
              <a:t>Formação em Energia por Assinatura  ·  M6 · Aula 3 · Cena 4</a:t>
            </a:r>
            <a:endParaRPr lang="en-US" sz="1000" dirty="0"/>
          </a:p>
        </p:txBody>
      </p:sp>
      <p:sp>
        <p:nvSpPr>
          <p:cNvPr id="5"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Entradas, saídas e o "buraco"</a:t>
            </a:r>
            <a:endParaRPr lang="en-US" sz="2800" dirty="0"/>
          </a:p>
        </p:txBody>
      </p:sp>
      <p:sp>
        <p:nvSpPr>
          <p:cNvPr id="6" name="Text 4"/>
          <p:cNvSpPr/>
          <p:nvPr/>
        </p:nvSpPr>
        <p:spPr>
          <a:xfrm>
            <a:off x="731520" y="1371600"/>
            <a:ext cx="10789920" cy="4754880"/>
          </a:xfrm>
          <a:prstGeom prst="rect">
            <a:avLst/>
          </a:prstGeom>
          <a:noFill/>
          <a:ln/>
        </p:spPr>
        <p:txBody>
          <a:bodyPr wrap="square" rtlCol="0" anchor="ctr">
            <a:normAutofit/>
          </a:bodyPr>
          <a:lstStyle/>
          <a:p>
            <a:pPr indent="0" marL="0">
              <a:spcAft>
                <a:spcPts val="1000"/>
              </a:spcAft>
              <a:buNone/>
            </a:pPr>
            <a:r>
              <a:rPr lang="en-US" sz="2200" dirty="0">
                <a:solidFill>
                  <a:srgbClr val="FFFFFF"/>
                </a:solidFill>
                <a:latin typeface="Consolas" pitchFamily="34" charset="0"/>
                <a:ea typeface="Consolas" pitchFamily="34" charset="-122"/>
                <a:cs typeface="Consolas" pitchFamily="34" charset="-120"/>
              </a:rPr>
              <a:t>Saiu um cliente de 4% → 4% sem dono → crédito fica acumulado na usina</a:t>
            </a:r>
            <a:endParaRPr lang="en-US" sz="2200" dirty="0"/>
          </a:p>
          <a:p>
            <a:pPr indent="0" marL="0">
              <a:spcAft>
                <a:spcPts val="1000"/>
              </a:spcAft>
              <a:buNone/>
            </a:pPr>
            <a:r>
              <a:rPr lang="en-US" sz="2200" b="1" dirty="0">
                <a:solidFill>
                  <a:srgbClr val="F5B700"/>
                </a:solidFill>
                <a:latin typeface="Consolas" pitchFamily="34" charset="0"/>
                <a:ea typeface="Consolas" pitchFamily="34" charset="-122"/>
                <a:cs typeface="Consolas" pitchFamily="34" charset="-120"/>
              </a:rPr>
              <a:t>Ação: vender a cota liberada rápido ou redistribuir aos clientes com espaço</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M6 · Aula 3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Cuidados</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UC na mesma distribuidora</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titular com contrato ativo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percentual com casas decimais corretas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nenhum participante ≥ 25% em usina &gt; 500 kW</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guardar protocolos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M6 · Aula 3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Lista de rateio = elo com a distribuidora  ·  1 atualização por ciclo  ·  saída = buraco a preencher  ·  protocolos guardados</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M6 · Aula 3 — O rateio na distribuidora</dc:title>
  <dc:subject>PptxGenJS Presentation</dc:subject>
  <dc:creator>PptxGenJS</dc:creator>
  <cp:lastModifiedBy>PptxGenJS</cp:lastModifiedBy>
  <cp:revision>1</cp:revision>
  <dcterms:created xsi:type="dcterms:W3CDTF">2026-10-30T10:46:06Z</dcterms:created>
  <dcterms:modified xsi:type="dcterms:W3CDTF">2026-10-30T10:46:06Z</dcterms:modified>
</cp:coreProperties>
</file>