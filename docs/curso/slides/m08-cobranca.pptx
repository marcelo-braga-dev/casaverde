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cobrança parte do consumo injetado da fatura, aplica o desconto do cliente e soma os ajustes. O vencimento acompanha o da fatura, para o cliente ter as duas contas na mesma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 é gerada sozinha, de hora em hora, ou com um clique. Nunca há duas cobranças ativas para a mesma fatura.
Toda cobrança nasce em rascunho, a sua chance de conferir antes de o cliente ver. Depois ela é aberta, aguarda o pagamento e termina paga, vencida ou cancelada.
O Pix ou boleto é sempre emitido por uma pessoa, por segurança. Para não virar esquecimento, a plataforma alerta sobre cobranças perto do vencimento sem pagamento gerado.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desconto manual para cortesias e correções, e acréscimo para diferenças de meses anteriores. Sempre com descrição clara e combinado com o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a fatura ou o desconto mudou, recalcule antes de emitir o pagamento.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Mudou o vencimento ou o valor, o boleto ativo é cancelado e reemitido automaticamente.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alteração fica registrada: quem, quando, o quê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Pix é o padrão: confirma em minutos. O boleto exige endereço completo e leva até três dias úteis. Cada emissão é um método só.
O vencimento real é o lido do código de barras, porque o banco joga datas de fim de semana para o dia útil seguinte.
A baixa chega por dois caminhos: o aviso do Mercado Pago, conferido pela plataforma, e uma sincronização a cada cinco minutos. Ninguém precisa conferir extrato.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Boleto vencido tem o PDF bloqueado e gera alerta para reemitir, mas continua monitorado por dez dias, porque um pagamento do último dia pode compensar depois. Estornos ficam registrados para revisão.
As tarifas do meio de pagamento entram no custo variável da sua conta.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régua combina automação e contato humano: lembrete três dias antes, marcação de vencida, alertas ao consultor a cada cinco dias, contato pessoal e, depois de trinta dias, as medidas do contrato.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tom muda com o atraso. No atraso leve, pergunte em vez de acusar: muitas vezes o cliente não entendeu as duas contas.
Multa e juros só dentro da lei e do contrato. Acordos sempre registrados, nunca de boca.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melhor cobrança é a que não precisa acontecer. As práticas da tela reduzem muito a inadimplência.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Meça por faixa de atraso e por consultor.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fatura aprovada, gere a cobrança, ou aguarde a rotina. Ela aparece em Cobranças de Faturas como rascunho.
Confira referência, vencimento, consumo injetado, desconto e valor total.
Em Ações Disponíveis, clique em Abrir esta cobrança para pagamento.
Gere o pagamento por Pix: o código aparece em Pagamentos Gerados e o cliente recebe o e-mail automaticamente.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Envie pelo WhatsApp com um clique. Para boleto, o cliente precisa ter endereço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Cliente, abra Minhas Cobranças: Pix copia e cola e boleto em PDF prontos para pagar.
Como Administrador, simule o pagamento: a cobrança fica paga sozinha, com o histórico registrado.
Em Financeiro, Pagamentos, acompanhe todos os Pix e boletos e sincronize sob demanda.
Recebeu por fora? Use Confirmar Pagamento com data e observação: o boleto ativo é cancelado.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dias antes: e-mail ao cliente e alerta ao consultor com a mensagem de WhatsApp pronta.
No dia seguinte ao vencimento, a cobrança é marcada como vencida sozinha.
Boleto vencido: PDF bloqueado e alerta para reemitir. Gere o novo boleto e envie.
Use Editar vencimento: o pagamento anterior é cancelado, um novo é emitido e tudo fica no histórico.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contatos humanos, use Cobrar via WhatsApp e Enviar Lembrete.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jp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jp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jp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F7A23B"/>
          </a:solidFill>
          <a:ln/>
        </p:spPr>
      </p:sp>
      <p:pic>
        <p:nvPicPr>
          <p:cNvPr id="3" name="Image 0" descr="/www/wwwroot/rexar/gdsolar/docs/curso/slides/assets/logo-gdsolar.png">    </p:cNvPr>
          <p:cNvPicPr>
            <a:picLocks noChangeAspect="1"/>
          </p:cNvPicPr>
          <p:nvPr/>
        </p:nvPicPr>
        <p:blipFill>
          <a:blip r:embed="rId1"/>
          <a:stretch>
            <a:fillRect/>
          </a:stretch>
        </p:blipFill>
        <p:spPr>
          <a:xfrm>
            <a:off x="640080" y="594360"/>
            <a:ext cx="822960" cy="822960"/>
          </a:xfrm>
          <a:prstGeom prst="rect">
            <a:avLst/>
          </a:prstGeom>
        </p:spPr>
      </p:pic>
      <p:sp>
        <p:nvSpPr>
          <p:cNvPr id="4" name="Text 1"/>
          <p:cNvSpPr/>
          <p:nvPr/>
        </p:nvSpPr>
        <p:spPr>
          <a:xfrm>
            <a:off x="1600200" y="566928"/>
            <a:ext cx="7315200" cy="8686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GD Solar
</a:t>
            </a:r>
            <a:pPr indent="0" marL="0">
              <a:buNone/>
            </a:pPr>
            <a:r>
              <a:rPr lang="en-US" sz="1300" dirty="0">
                <a:solidFill>
                  <a:srgbClr val="C7D2E3"/>
                </a:solidFill>
                <a:latin typeface="Arial" pitchFamily="34" charset="0"/>
                <a:ea typeface="Arial" pitchFamily="34" charset="-122"/>
                <a:cs typeface="Arial" pitchFamily="34" charset="-120"/>
              </a:rPr>
              <a:t>Formação em Energia por Assinatura</a:t>
            </a:r>
            <a:endParaRPr lang="en-US" sz="1800" dirty="0"/>
          </a:p>
        </p:txBody>
      </p:sp>
      <p:sp>
        <p:nvSpPr>
          <p:cNvPr id="5" name="Text 2"/>
          <p:cNvSpPr/>
          <p:nvPr/>
        </p:nvSpPr>
        <p:spPr>
          <a:xfrm>
            <a:off x="640080" y="1920240"/>
            <a:ext cx="10972800" cy="411480"/>
          </a:xfrm>
          <a:prstGeom prst="rect">
            <a:avLst/>
          </a:prstGeom>
          <a:noFill/>
          <a:ln/>
        </p:spPr>
        <p:txBody>
          <a:bodyPr wrap="square" rtlCol="0" anchor="ctr"/>
          <a:lstStyle/>
          <a:p>
            <a:pPr indent="0" marL="0">
              <a:buNone/>
            </a:pPr>
            <a:r>
              <a:rPr lang="en-US" sz="1400" b="1" spc="100" kern="0" dirty="0">
                <a:solidFill>
                  <a:srgbClr val="F7A23B"/>
                </a:solidFill>
                <a:latin typeface="Arial" pitchFamily="34" charset="0"/>
                <a:ea typeface="Arial" pitchFamily="34" charset="-122"/>
                <a:cs typeface="Arial" pitchFamily="34" charset="-120"/>
              </a:rPr>
              <a:t>M8  ·  ETAPA 3 · OPERAÇÃO PONTA A PONTA</a:t>
            </a:r>
            <a:endParaRPr lang="en-US" sz="1400" dirty="0"/>
          </a:p>
        </p:txBody>
      </p:sp>
      <p:sp>
        <p:nvSpPr>
          <p:cNvPr id="6" name="Text 3"/>
          <p:cNvSpPr/>
          <p:nvPr/>
        </p:nvSpPr>
        <p:spPr>
          <a:xfrm>
            <a:off x="640080" y="2331720"/>
            <a:ext cx="10972800" cy="118872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Cobrança e recebimento</a:t>
            </a:r>
            <a:endParaRPr lang="en-US" sz="4000" dirty="0"/>
          </a:p>
        </p:txBody>
      </p:sp>
      <p:sp>
        <p:nvSpPr>
          <p:cNvPr id="7" name="Text 4"/>
          <p:cNvSpPr/>
          <p:nvPr/>
        </p:nvSpPr>
        <p:spPr>
          <a:xfrm>
            <a:off x="640080" y="3657600"/>
            <a:ext cx="6583680" cy="2743200"/>
          </a:xfrm>
          <a:prstGeom prst="rect">
            <a:avLst/>
          </a:prstGeom>
          <a:noFill/>
          <a:ln/>
        </p:spPr>
        <p:txBody>
          <a:bodyPr wrap="square" rtlCol="0" anchor="t">
            <a:normAutofit/>
          </a:bodyPr>
          <a:lstStyle/>
          <a:p>
            <a:pPr indent="0" marL="0">
              <a:spcAft>
                <a:spcPts val="400"/>
              </a:spcAft>
              <a:buNone/>
            </a:pPr>
            <a:r>
              <a:rPr lang="en-US" sz="1200" dirty="0">
                <a:solidFill>
                  <a:srgbClr val="C7D2E3"/>
                </a:solidFill>
                <a:latin typeface="Arial" pitchFamily="34" charset="0"/>
                <a:ea typeface="Arial" pitchFamily="34" charset="-122"/>
                <a:cs typeface="Arial" pitchFamily="34" charset="-120"/>
              </a:rPr>
              <a:t>1. Como nasce a cobrança</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2. Ajustes, descontos e recálculo</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3. Pix e boleto: como funcionam os meios de pagamento</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4. Régua de cobrança e inadimplência</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5. gerando a cobrança e emitindo o Pix</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6. pagamento, baixa automática e o portal do cliente</a:t>
            </a:r>
            <a:endParaRPr lang="en-US" sz="1200" dirty="0"/>
          </a:p>
          <a:p>
            <a:pPr indent="0" marL="0">
              <a:spcAft>
                <a:spcPts val="400"/>
              </a:spcAft>
              <a:buNone/>
            </a:pPr>
            <a:r>
              <a:rPr lang="en-US" sz="1200" dirty="0">
                <a:solidFill>
                  <a:srgbClr val="C7D2E3"/>
                </a:solidFill>
                <a:latin typeface="Arial" pitchFamily="34" charset="0"/>
                <a:ea typeface="Arial" pitchFamily="34" charset="-122"/>
                <a:cs typeface="Arial" pitchFamily="34" charset="-120"/>
              </a:rPr>
              <a:t>7. vencimento, boleto vencido e reemissão</a:t>
            </a:r>
            <a:endParaRPr lang="en-US" sz="1200" dirty="0"/>
          </a:p>
        </p:txBody>
      </p:sp>
      <p:sp>
        <p:nvSpPr>
          <p:cNvPr id="8" name="Shape 5"/>
          <p:cNvSpPr/>
          <p:nvPr/>
        </p:nvSpPr>
        <p:spPr>
          <a:xfrm>
            <a:off x="7589520" y="3657600"/>
            <a:ext cx="3977640" cy="2743200"/>
          </a:xfrm>
          <a:prstGeom prst="roundRect">
            <a:avLst>
              <a:gd name="adj" fmla="val 3333"/>
            </a:avLst>
          </a:prstGeom>
          <a:solidFill>
            <a:srgbClr val="11396F"/>
          </a:solidFill>
          <a:ln/>
        </p:spPr>
      </p:sp>
      <p:sp>
        <p:nvSpPr>
          <p:cNvPr id="9" name="Text 6"/>
          <p:cNvSpPr/>
          <p:nvPr/>
        </p:nvSpPr>
        <p:spPr>
          <a:xfrm>
            <a:off x="7772400" y="3749040"/>
            <a:ext cx="3611880" cy="2560320"/>
          </a:xfrm>
          <a:prstGeom prst="rect">
            <a:avLst/>
          </a:prstGeom>
          <a:noFill/>
          <a:ln/>
        </p:spPr>
        <p:txBody>
          <a:bodyPr wrap="square" rtlCol="0" anchor="t">
            <a:normAutofit/>
          </a:bodyPr>
          <a:lstStyle/>
          <a:p>
            <a:pPr indent="0" marL="0">
              <a:buNone/>
            </a:pPr>
            <a:r>
              <a:rPr lang="en-US" sz="1300" b="1" dirty="0">
                <a:solidFill>
                  <a:srgbClr val="F7A23B"/>
                </a:solidFill>
                <a:latin typeface="Arial" pitchFamily="34" charset="0"/>
                <a:ea typeface="Arial" pitchFamily="34" charset="-122"/>
                <a:cs typeface="Arial" pitchFamily="34" charset="-120"/>
              </a:rPr>
              <a:t>Ao final do módulo
</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Explicar o ciclo de vida da cobrança (rascunho → aberta → aguardando pagamento → paga / vencida / cancelada).</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Lançar ajustes, recalcular e alterar vencimento com histórico.</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Entender Pix e boleto pelo Mercado Pago: emissão, baixa por webhook/sincronização, vencimento e reemissão.</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Montar a régua de cobrança e gerir inadimplência.</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Gerar cobranças a partir de faturas, emitir Pix/boleto, acompanhar a baixa e o portal do cliente.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01</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1</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M8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Como nasce a cobrança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Entender a fórmula, o momento e o ciclo de status da cobrança</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 fórmula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Quando a cobrança é gerada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ciclo de status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Por que o pagamento não é gerado sozinho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COMO NASCE A COBRANÇA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 fórmula</a:t>
            </a:r>
            <a:endParaRPr lang="en-US" sz="2600" dirty="0"/>
          </a:p>
        </p:txBody>
      </p:sp>
      <p:sp>
        <p:nvSpPr>
          <p:cNvPr id="9" name="Shape 6"/>
          <p:cNvSpPr/>
          <p:nvPr/>
        </p:nvSpPr>
        <p:spPr>
          <a:xfrm>
            <a:off x="548640" y="1325880"/>
            <a:ext cx="11091672" cy="3977640"/>
          </a:xfrm>
          <a:prstGeom prst="roundRect">
            <a:avLst>
              <a:gd name="adj" fmla="val 2299"/>
            </a:avLst>
          </a:prstGeom>
          <a:solidFill>
            <a:srgbClr val="0B1F3A"/>
          </a:solidFill>
          <a:ln/>
        </p:spPr>
      </p:sp>
      <p:sp>
        <p:nvSpPr>
          <p:cNvPr id="10" name="Text 7"/>
          <p:cNvSpPr/>
          <p:nvPr/>
        </p:nvSpPr>
        <p:spPr>
          <a:xfrm>
            <a:off x="914400" y="1554480"/>
            <a:ext cx="10360152" cy="3520440"/>
          </a:xfrm>
          <a:prstGeom prst="rect">
            <a:avLst/>
          </a:prstGeom>
          <a:noFill/>
          <a:ln/>
        </p:spPr>
        <p:txBody>
          <a:bodyPr wrap="square" rtlCol="0" anchor="ctr">
            <a:normAutofit/>
          </a:bodyPr>
          <a:lstStyle/>
          <a:p>
            <a:pPr indent="0" marL="0">
              <a:spcAft>
                <a:spcPts val="1000"/>
              </a:spcAft>
              <a:buNone/>
            </a:pPr>
            <a:r>
              <a:rPr lang="en-US" sz="2400" b="1" dirty="0">
                <a:solidFill>
                  <a:srgbClr val="FFFFFF"/>
                </a:solidFill>
                <a:latin typeface="Consolas" pitchFamily="34" charset="0"/>
                <a:ea typeface="Consolas" pitchFamily="34" charset="-122"/>
                <a:cs typeface="Consolas" pitchFamily="34" charset="-120"/>
              </a:rPr>
              <a:t>Valor original = consumo injetado da fatura (R$)</a:t>
            </a:r>
            <a:endParaRPr lang="en-US" sz="2400" dirty="0"/>
          </a:p>
          <a:p>
            <a:pPr indent="0" marL="0">
              <a:spcAft>
                <a:spcPts val="1000"/>
              </a:spcAft>
              <a:buNone/>
            </a:pPr>
            <a:r>
              <a:rPr lang="en-US" sz="2400" dirty="0">
                <a:solidFill>
                  <a:srgbClr val="FFFFFF"/>
                </a:solidFill>
                <a:latin typeface="Consolas" pitchFamily="34" charset="0"/>
                <a:ea typeface="Consolas" pitchFamily="34" charset="-122"/>
                <a:cs typeface="Consolas" pitchFamily="34" charset="-120"/>
              </a:rPr>
              <a:t>Desconto = valor original × margem de desconto (%)</a:t>
            </a:r>
            <a:endParaRPr lang="en-US" sz="2400" dirty="0"/>
          </a:p>
          <a:p>
            <a:pPr indent="0" marL="0">
              <a:spcAft>
                <a:spcPts val="1000"/>
              </a:spcAft>
              <a:buNone/>
            </a:pPr>
            <a:r>
              <a:rPr lang="en-US" sz="2400" dirty="0">
                <a:solidFill>
                  <a:srgbClr val="FFFFFF"/>
                </a:solidFill>
                <a:latin typeface="Consolas" pitchFamily="34" charset="0"/>
                <a:ea typeface="Consolas" pitchFamily="34" charset="-122"/>
                <a:cs typeface="Consolas" pitchFamily="34" charset="-120"/>
              </a:rPr>
              <a:t>Valor final = valor original − desconto − desconto manual + acréscimo manual</a:t>
            </a:r>
            <a:endParaRPr lang="en-US" sz="2400" dirty="0"/>
          </a:p>
          <a:p>
            <a:pPr indent="0" marL="0">
              <a:spcAft>
                <a:spcPts val="1000"/>
              </a:spcAft>
              <a:buNone/>
            </a:pPr>
            <a:r>
              <a:rPr lang="en-US" sz="2400" b="1" dirty="0">
                <a:solidFill>
                  <a:srgbClr val="F7A23B"/>
                </a:solidFill>
                <a:latin typeface="Consolas" pitchFamily="34" charset="0"/>
                <a:ea typeface="Consolas" pitchFamily="34" charset="-122"/>
                <a:cs typeface="Consolas" pitchFamily="34" charset="-120"/>
              </a:rPr>
              <a:t>Padaria: 2.119,00 − 423,80 = R$ 1.695,20</a:t>
            </a:r>
            <a:endParaRPr lang="en-US" sz="2400" dirty="0"/>
          </a:p>
        </p:txBody>
      </p:sp>
      <p:sp>
        <p:nvSpPr>
          <p:cNvPr id="11" name="Shape 8"/>
          <p:cNvSpPr/>
          <p:nvPr/>
        </p:nvSpPr>
        <p:spPr>
          <a:xfrm>
            <a:off x="548640" y="5413248"/>
            <a:ext cx="11091672" cy="868680"/>
          </a:xfrm>
          <a:prstGeom prst="roundRect">
            <a:avLst>
              <a:gd name="adj" fmla="val 8421"/>
            </a:avLst>
          </a:prstGeom>
          <a:solidFill>
            <a:srgbClr val="EEF3FA"/>
          </a:solidFill>
          <a:ln w="6350">
            <a:solidFill>
              <a:srgbClr val="D8E0EC"/>
            </a:solidFill>
            <a:prstDash val="solid"/>
          </a:ln>
        </p:spPr>
      </p:sp>
      <p:sp>
        <p:nvSpPr>
          <p:cNvPr id="12" name="Shape 9"/>
          <p:cNvSpPr/>
          <p:nvPr/>
        </p:nvSpPr>
        <p:spPr>
          <a:xfrm>
            <a:off x="548640" y="5413248"/>
            <a:ext cx="91440" cy="868680"/>
          </a:xfrm>
          <a:prstGeom prst="rect">
            <a:avLst/>
          </a:prstGeom>
          <a:solidFill>
            <a:srgbClr val="F7A23B"/>
          </a:solidFill>
          <a:ln/>
        </p:spPr>
      </p:sp>
      <p:sp>
        <p:nvSpPr>
          <p:cNvPr id="13" name="Text 10"/>
          <p:cNvSpPr/>
          <p:nvPr/>
        </p:nvSpPr>
        <p:spPr>
          <a:xfrm>
            <a:off x="777240" y="5458968"/>
            <a:ext cx="10744200" cy="77724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A cobrança parte do consumo injetado da fatura, aplica o desconto do cliente e soma os ajustes. O vencimento acompanha o da fatura, para o cliente ter as duas contas na mesma data.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Como nasce a cobrança</a:t>
            </a:r>
            <a:endParaRPr lang="en-US" sz="2600" dirty="0"/>
          </a:p>
        </p:txBody>
      </p:sp>
      <p:sp>
        <p:nvSpPr>
          <p:cNvPr id="9" name="Shape 6"/>
          <p:cNvSpPr/>
          <p:nvPr/>
        </p:nvSpPr>
        <p:spPr>
          <a:xfrm>
            <a:off x="548640"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3514344" cy="109728"/>
          </a:xfrm>
          <a:prstGeom prst="rect">
            <a:avLst/>
          </a:prstGeom>
          <a:solidFill>
            <a:srgbClr val="1B3A6B"/>
          </a:solidFill>
          <a:ln/>
        </p:spPr>
      </p:sp>
      <p:sp>
        <p:nvSpPr>
          <p:cNvPr id="11" name="Text 8"/>
          <p:cNvSpPr/>
          <p:nvPr/>
        </p:nvSpPr>
        <p:spPr>
          <a:xfrm>
            <a:off x="822960"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Quando a cobrança é gerada</a:t>
            </a:r>
            <a:endParaRPr lang="en-US" sz="1600" dirty="0"/>
          </a:p>
        </p:txBody>
      </p:sp>
      <p:sp>
        <p:nvSpPr>
          <p:cNvPr id="12" name="Text 9"/>
          <p:cNvSpPr/>
          <p:nvPr/>
        </p:nvSpPr>
        <p:spPr>
          <a:xfrm>
            <a:off x="822960" y="2286000"/>
            <a:ext cx="2965704" cy="228600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Automática: rotina de hora em hora para faturas aprovadas</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Manual: botão na fatura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1 fatura ativa = 1 cobrança</a:t>
            </a:r>
            <a:endParaRPr lang="en-US" sz="1700" dirty="0"/>
          </a:p>
        </p:txBody>
      </p:sp>
      <p:sp>
        <p:nvSpPr>
          <p:cNvPr id="13" name="Shape 10"/>
          <p:cNvSpPr/>
          <p:nvPr/>
        </p:nvSpPr>
        <p:spPr>
          <a:xfrm>
            <a:off x="822960" y="4663440"/>
            <a:ext cx="2965704" cy="18288"/>
          </a:xfrm>
          <a:prstGeom prst="rect">
            <a:avLst/>
          </a:prstGeom>
          <a:solidFill>
            <a:srgbClr val="D8E0EC"/>
          </a:solidFill>
          <a:ln/>
        </p:spPr>
      </p:sp>
      <p:sp>
        <p:nvSpPr>
          <p:cNvPr id="14" name="Text 11"/>
          <p:cNvSpPr/>
          <p:nvPr/>
        </p:nvSpPr>
        <p:spPr>
          <a:xfrm>
            <a:off x="822960" y="4754880"/>
            <a:ext cx="2965704" cy="137160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Ela é gerada sozinha, de hora em hora, ou com um clique. Nunca há duas cobranças ativas para a mesma fatura.</a:t>
            </a:r>
            <a:endParaRPr lang="en-US" sz="1300" dirty="0"/>
          </a:p>
        </p:txBody>
      </p:sp>
      <p:sp>
        <p:nvSpPr>
          <p:cNvPr id="15" name="Shape 12"/>
          <p:cNvSpPr/>
          <p:nvPr/>
        </p:nvSpPr>
        <p:spPr>
          <a:xfrm>
            <a:off x="4337304"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6" name="Shape 13"/>
          <p:cNvSpPr/>
          <p:nvPr/>
        </p:nvSpPr>
        <p:spPr>
          <a:xfrm>
            <a:off x="4337304" y="1325880"/>
            <a:ext cx="3514344" cy="109728"/>
          </a:xfrm>
          <a:prstGeom prst="rect">
            <a:avLst/>
          </a:prstGeom>
          <a:solidFill>
            <a:srgbClr val="F7A23B"/>
          </a:solidFill>
          <a:ln/>
        </p:spPr>
      </p:sp>
      <p:sp>
        <p:nvSpPr>
          <p:cNvPr id="17" name="Text 14"/>
          <p:cNvSpPr/>
          <p:nvPr/>
        </p:nvSpPr>
        <p:spPr>
          <a:xfrm>
            <a:off x="4611624"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O ciclo de status</a:t>
            </a:r>
            <a:endParaRPr lang="en-US" sz="1600" dirty="0"/>
          </a:p>
        </p:txBody>
      </p:sp>
      <p:sp>
        <p:nvSpPr>
          <p:cNvPr id="18" name="Text 15"/>
          <p:cNvSpPr/>
          <p:nvPr/>
        </p:nvSpPr>
        <p:spPr>
          <a:xfrm>
            <a:off x="4611624" y="2286000"/>
            <a:ext cx="2965704" cy="228600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Rascunho → Aberta → Aguardando pagamento → Paga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Vencida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Cancelada</a:t>
            </a:r>
            <a:endParaRPr lang="en-US" sz="1700" dirty="0"/>
          </a:p>
        </p:txBody>
      </p:sp>
      <p:sp>
        <p:nvSpPr>
          <p:cNvPr id="19" name="Shape 16"/>
          <p:cNvSpPr/>
          <p:nvPr/>
        </p:nvSpPr>
        <p:spPr>
          <a:xfrm>
            <a:off x="4611624" y="4663440"/>
            <a:ext cx="2965704" cy="18288"/>
          </a:xfrm>
          <a:prstGeom prst="rect">
            <a:avLst/>
          </a:prstGeom>
          <a:solidFill>
            <a:srgbClr val="D8E0EC"/>
          </a:solidFill>
          <a:ln/>
        </p:spPr>
      </p:sp>
      <p:sp>
        <p:nvSpPr>
          <p:cNvPr id="20" name="Text 17"/>
          <p:cNvSpPr/>
          <p:nvPr/>
        </p:nvSpPr>
        <p:spPr>
          <a:xfrm>
            <a:off x="4611624" y="4754880"/>
            <a:ext cx="2965704" cy="137160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Toda cobrança nasce em rascunho, a sua chance de conferir antes de o cliente ver. Depois ela é aberta, aguarda o pagamento e termina paga, vencida ou cancelada.</a:t>
            </a:r>
            <a:endParaRPr lang="en-US" sz="1300" dirty="0"/>
          </a:p>
        </p:txBody>
      </p:sp>
      <p:sp>
        <p:nvSpPr>
          <p:cNvPr id="21" name="Shape 18"/>
          <p:cNvSpPr/>
          <p:nvPr/>
        </p:nvSpPr>
        <p:spPr>
          <a:xfrm>
            <a:off x="8125968"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8125968" y="1325880"/>
            <a:ext cx="3514344" cy="109728"/>
          </a:xfrm>
          <a:prstGeom prst="rect">
            <a:avLst/>
          </a:prstGeom>
          <a:solidFill>
            <a:srgbClr val="1B3A6B"/>
          </a:solidFill>
          <a:ln/>
        </p:spPr>
      </p:sp>
      <p:sp>
        <p:nvSpPr>
          <p:cNvPr id="23" name="Text 20"/>
          <p:cNvSpPr/>
          <p:nvPr/>
        </p:nvSpPr>
        <p:spPr>
          <a:xfrm>
            <a:off x="8400288"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Por que o pagamento não é gerado sozinho</a:t>
            </a:r>
            <a:endParaRPr lang="en-US" sz="1600" dirty="0"/>
          </a:p>
        </p:txBody>
      </p:sp>
      <p:sp>
        <p:nvSpPr>
          <p:cNvPr id="24" name="Text 21"/>
          <p:cNvSpPr/>
          <p:nvPr/>
        </p:nvSpPr>
        <p:spPr>
          <a:xfrm>
            <a:off x="8400288" y="2286000"/>
            <a:ext cx="2965704" cy="228600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Decisão de negócio: Pix/boleto é emitido por uma pessoa</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alerta: cobrança vencendo em 5 dias sem pagamento gerado</a:t>
            </a:r>
            <a:endParaRPr lang="en-US" sz="1700" dirty="0"/>
          </a:p>
        </p:txBody>
      </p:sp>
      <p:sp>
        <p:nvSpPr>
          <p:cNvPr id="25" name="Shape 22"/>
          <p:cNvSpPr/>
          <p:nvPr/>
        </p:nvSpPr>
        <p:spPr>
          <a:xfrm>
            <a:off x="8400288" y="4663440"/>
            <a:ext cx="2965704" cy="18288"/>
          </a:xfrm>
          <a:prstGeom prst="rect">
            <a:avLst/>
          </a:prstGeom>
          <a:solidFill>
            <a:srgbClr val="D8E0EC"/>
          </a:solidFill>
          <a:ln/>
        </p:spPr>
      </p:sp>
      <p:sp>
        <p:nvSpPr>
          <p:cNvPr id="26" name="Text 23"/>
          <p:cNvSpPr/>
          <p:nvPr/>
        </p:nvSpPr>
        <p:spPr>
          <a:xfrm>
            <a:off x="8400288" y="4754880"/>
            <a:ext cx="2965704" cy="137160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O Pix ou boleto é sempre emitido por uma pessoa, por segurança. Para não virar esquecimento, a plataforma alerta sobre cobranças perto do vencimento sem pagamento gerado.</a:t>
            </a:r>
            <a:endParaRPr lang="en-US" sz="13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1</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Consumo injetado × (1 − desconto) ± ajustes</a:t>
            </a:r>
            <a:endParaRPr lang="en-US" sz="1800" dirty="0"/>
          </a:p>
        </p:txBody>
      </p:sp>
      <p:sp>
        <p:nvSpPr>
          <p:cNvPr id="13" name="Shape 10"/>
          <p:cNvSpPr/>
          <p:nvPr/>
        </p:nvSpPr>
        <p:spPr>
          <a:xfrm>
            <a:off x="4322064"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rascunho → aberta → aguardando → paga</a:t>
            </a:r>
            <a:endParaRPr lang="en-US" sz="1800" dirty="0"/>
          </a:p>
        </p:txBody>
      </p:sp>
      <p:sp>
        <p:nvSpPr>
          <p:cNvPr id="17" name="Shape 14"/>
          <p:cNvSpPr/>
          <p:nvPr/>
        </p:nvSpPr>
        <p:spPr>
          <a:xfrm>
            <a:off x="8095488" y="1325880"/>
            <a:ext cx="3544824" cy="48920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Pix/boleto por clique humano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02</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2</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M8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Ajustes, descontos e recálculo</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Saber quando e como ajustar uma cobrança, alterar o vencimento e manter a trilha de auditoria</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Desconto e acréscimo manual</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Recálculo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Alterar o vencimento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AJUSTES, DESCONTOS E RECÁLCULO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Desconto e acréscimo manual</a:t>
            </a:r>
            <a:endParaRPr lang="en-US" sz="2600" dirty="0"/>
          </a:p>
        </p:txBody>
      </p:sp>
      <p:sp>
        <p:nvSpPr>
          <p:cNvPr id="9" name="Shape 6"/>
          <p:cNvSpPr/>
          <p:nvPr/>
        </p:nvSpPr>
        <p:spPr>
          <a:xfrm>
            <a:off x="548640" y="1325880"/>
            <a:ext cx="3544824" cy="39776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37581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Desconto manual: cortesia, compensação de erro, negociação</a:t>
            </a:r>
            <a:endParaRPr lang="en-US" sz="1800" dirty="0"/>
          </a:p>
        </p:txBody>
      </p:sp>
      <p:sp>
        <p:nvSpPr>
          <p:cNvPr id="13" name="Shape 10"/>
          <p:cNvSpPr/>
          <p:nvPr/>
        </p:nvSpPr>
        <p:spPr>
          <a:xfrm>
            <a:off x="4322064" y="1325880"/>
            <a:ext cx="3544824" cy="39776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37581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Acréscimo manual: diferença de mês anterior cobrada a menos</a:t>
            </a:r>
            <a:endParaRPr lang="en-US" sz="1800" dirty="0"/>
          </a:p>
        </p:txBody>
      </p:sp>
      <p:sp>
        <p:nvSpPr>
          <p:cNvPr id="17" name="Shape 14"/>
          <p:cNvSpPr/>
          <p:nvPr/>
        </p:nvSpPr>
        <p:spPr>
          <a:xfrm>
            <a:off x="8095488" y="1325880"/>
            <a:ext cx="3544824" cy="3977640"/>
          </a:xfrm>
          <a:prstGeom prst="roundRect">
            <a:avLst>
              <a:gd name="adj" fmla="val 2064"/>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37581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Sempre: tipo + valor + descrição</a:t>
            </a:r>
            <a:endParaRPr lang="en-US" sz="1800" dirty="0"/>
          </a:p>
        </p:txBody>
      </p:sp>
      <p:sp>
        <p:nvSpPr>
          <p:cNvPr id="21" name="Shape 18"/>
          <p:cNvSpPr/>
          <p:nvPr/>
        </p:nvSpPr>
        <p:spPr>
          <a:xfrm>
            <a:off x="548640" y="5413248"/>
            <a:ext cx="11091672" cy="868680"/>
          </a:xfrm>
          <a:prstGeom prst="roundRect">
            <a:avLst>
              <a:gd name="adj" fmla="val 8421"/>
            </a:avLst>
          </a:prstGeom>
          <a:solidFill>
            <a:srgbClr val="EEF3FA"/>
          </a:solidFill>
          <a:ln w="6350">
            <a:solidFill>
              <a:srgbClr val="D8E0EC"/>
            </a:solidFill>
            <a:prstDash val="solid"/>
          </a:ln>
        </p:spPr>
      </p:sp>
      <p:sp>
        <p:nvSpPr>
          <p:cNvPr id="22" name="Shape 19"/>
          <p:cNvSpPr/>
          <p:nvPr/>
        </p:nvSpPr>
        <p:spPr>
          <a:xfrm>
            <a:off x="548640" y="5413248"/>
            <a:ext cx="91440" cy="868680"/>
          </a:xfrm>
          <a:prstGeom prst="rect">
            <a:avLst/>
          </a:prstGeom>
          <a:solidFill>
            <a:srgbClr val="F7A23B"/>
          </a:solidFill>
          <a:ln/>
        </p:spPr>
      </p:sp>
      <p:sp>
        <p:nvSpPr>
          <p:cNvPr id="23" name="Text 20"/>
          <p:cNvSpPr/>
          <p:nvPr/>
        </p:nvSpPr>
        <p:spPr>
          <a:xfrm>
            <a:off x="777240" y="5458968"/>
            <a:ext cx="10744200" cy="77724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Use desconto manual para cortesias e correções, e acréscimo para diferenças de meses anteriores. Sempre com descrição clara e combinado com o cliente.</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AJUSTES, DESCONTOS E RECÁLCULO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Recálculo</a:t>
            </a:r>
            <a:endParaRPr lang="en-US" sz="2600" dirty="0"/>
          </a:p>
        </p:txBody>
      </p:sp>
      <p:sp>
        <p:nvSpPr>
          <p:cNvPr id="9" name="Shape 6"/>
          <p:cNvSpPr/>
          <p:nvPr/>
        </p:nvSpPr>
        <p:spPr>
          <a:xfrm>
            <a:off x="548640" y="2583180"/>
            <a:ext cx="5596128" cy="1463040"/>
          </a:xfrm>
          <a:prstGeom prst="chevron">
            <a:avLst/>
          </a:prstGeom>
          <a:solidFill>
            <a:srgbClr val="1B3A6B"/>
          </a:solidFill>
          <a:ln w="25400">
            <a:solidFill>
              <a:srgbClr val="FFFFFF"/>
            </a:solidFill>
            <a:prstDash val="solid"/>
          </a:ln>
        </p:spPr>
      </p:sp>
      <p:sp>
        <p:nvSpPr>
          <p:cNvPr id="10" name="Text 7"/>
          <p:cNvSpPr/>
          <p:nvPr/>
        </p:nvSpPr>
        <p:spPr>
          <a:xfrm>
            <a:off x="868680" y="2583180"/>
            <a:ext cx="50749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Fatura corrigida ou desconto do cliente alterado</a:t>
            </a:r>
            <a:endParaRPr lang="en-US" sz="1500" dirty="0"/>
          </a:p>
        </p:txBody>
      </p:sp>
      <p:sp>
        <p:nvSpPr>
          <p:cNvPr id="11" name="Shape 8"/>
          <p:cNvSpPr/>
          <p:nvPr/>
        </p:nvSpPr>
        <p:spPr>
          <a:xfrm>
            <a:off x="6035040" y="2583180"/>
            <a:ext cx="5596128" cy="1463040"/>
          </a:xfrm>
          <a:prstGeom prst="chevron">
            <a:avLst/>
          </a:prstGeom>
          <a:solidFill>
            <a:srgbClr val="11396F"/>
          </a:solidFill>
          <a:ln w="25400">
            <a:solidFill>
              <a:srgbClr val="FFFFFF"/>
            </a:solidFill>
            <a:prstDash val="solid"/>
          </a:ln>
        </p:spPr>
      </p:sp>
      <p:sp>
        <p:nvSpPr>
          <p:cNvPr id="12" name="Text 9"/>
          <p:cNvSpPr/>
          <p:nvPr/>
        </p:nvSpPr>
        <p:spPr>
          <a:xfrm>
            <a:off x="6355080" y="2583180"/>
            <a:ext cx="507492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recalcular a cobrança (enquanto não paga)</a:t>
            </a:r>
            <a:endParaRPr lang="en-US" sz="1500" dirty="0"/>
          </a:p>
        </p:txBody>
      </p:sp>
      <p:sp>
        <p:nvSpPr>
          <p:cNvPr id="13" name="Shape 10"/>
          <p:cNvSpPr/>
          <p:nvPr/>
        </p:nvSpPr>
        <p:spPr>
          <a:xfrm>
            <a:off x="548640" y="5413248"/>
            <a:ext cx="11091672" cy="868680"/>
          </a:xfrm>
          <a:prstGeom prst="roundRect">
            <a:avLst>
              <a:gd name="adj" fmla="val 8421"/>
            </a:avLst>
          </a:prstGeom>
          <a:solidFill>
            <a:srgbClr val="EEF3FA"/>
          </a:solidFill>
          <a:ln w="6350">
            <a:solidFill>
              <a:srgbClr val="D8E0EC"/>
            </a:solidFill>
            <a:prstDash val="solid"/>
          </a:ln>
        </p:spPr>
      </p:sp>
      <p:sp>
        <p:nvSpPr>
          <p:cNvPr id="14" name="Shape 11"/>
          <p:cNvSpPr/>
          <p:nvPr/>
        </p:nvSpPr>
        <p:spPr>
          <a:xfrm>
            <a:off x="548640" y="5413248"/>
            <a:ext cx="91440" cy="868680"/>
          </a:xfrm>
          <a:prstGeom prst="rect">
            <a:avLst/>
          </a:prstGeom>
          <a:solidFill>
            <a:srgbClr val="F7A23B"/>
          </a:solidFill>
          <a:ln/>
        </p:spPr>
      </p:sp>
      <p:sp>
        <p:nvSpPr>
          <p:cNvPr id="15" name="Text 12"/>
          <p:cNvSpPr/>
          <p:nvPr/>
        </p:nvSpPr>
        <p:spPr>
          <a:xfrm>
            <a:off x="777240" y="5458968"/>
            <a:ext cx="10744200" cy="77724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Se a fatura ou o desconto mudou, recalcule antes de emitir o pagamento.</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AJUSTES, DESCONTOS E RECÁLCULO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Alterar o vencimento</a:t>
            </a:r>
            <a:endParaRPr lang="en-US" sz="2600" dirty="0"/>
          </a:p>
        </p:txBody>
      </p:sp>
      <p:sp>
        <p:nvSpPr>
          <p:cNvPr id="9" name="Shape 6"/>
          <p:cNvSpPr/>
          <p:nvPr/>
        </p:nvSpPr>
        <p:spPr>
          <a:xfrm>
            <a:off x="548640" y="1325880"/>
            <a:ext cx="11091672" cy="3977640"/>
          </a:xfrm>
          <a:prstGeom prst="roundRect">
            <a:avLst>
              <a:gd name="adj" fmla="val 1839"/>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10177272" cy="37581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Mudou o vencimento ou o valor? O boleto ativo é cancelado e reemitido</a:t>
            </a:r>
            <a:endParaRPr lang="en-US" sz="1800" dirty="0"/>
          </a:p>
        </p:txBody>
      </p:sp>
      <p:sp>
        <p:nvSpPr>
          <p:cNvPr id="13" name="Shape 10"/>
          <p:cNvSpPr/>
          <p:nvPr/>
        </p:nvSpPr>
        <p:spPr>
          <a:xfrm>
            <a:off x="548640" y="5413248"/>
            <a:ext cx="11091672" cy="868680"/>
          </a:xfrm>
          <a:prstGeom prst="roundRect">
            <a:avLst>
              <a:gd name="adj" fmla="val 8421"/>
            </a:avLst>
          </a:prstGeom>
          <a:solidFill>
            <a:srgbClr val="EEF3FA"/>
          </a:solidFill>
          <a:ln w="6350">
            <a:solidFill>
              <a:srgbClr val="D8E0EC"/>
            </a:solidFill>
            <a:prstDash val="solid"/>
          </a:ln>
        </p:spPr>
      </p:sp>
      <p:sp>
        <p:nvSpPr>
          <p:cNvPr id="14" name="Shape 11"/>
          <p:cNvSpPr/>
          <p:nvPr/>
        </p:nvSpPr>
        <p:spPr>
          <a:xfrm>
            <a:off x="548640" y="5413248"/>
            <a:ext cx="91440" cy="868680"/>
          </a:xfrm>
          <a:prstGeom prst="rect">
            <a:avLst/>
          </a:prstGeom>
          <a:solidFill>
            <a:srgbClr val="F7A23B"/>
          </a:solidFill>
          <a:ln/>
        </p:spPr>
      </p:sp>
      <p:sp>
        <p:nvSpPr>
          <p:cNvPr id="15" name="Text 12"/>
          <p:cNvSpPr/>
          <p:nvPr/>
        </p:nvSpPr>
        <p:spPr>
          <a:xfrm>
            <a:off x="777240" y="5458968"/>
            <a:ext cx="10744200" cy="77724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Mudou o vencimento ou o valor, o boleto ativo é cancelado e reemitido automaticamente.</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AJUSTES, DESCONTOS E RECÁLCULO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na plataforma</a:t>
            </a:r>
            <a:endParaRPr lang="en-US" sz="2600" dirty="0"/>
          </a:p>
        </p:txBody>
      </p:sp>
      <p:sp>
        <p:nvSpPr>
          <p:cNvPr id="9" name="Shape 6"/>
          <p:cNvSpPr/>
          <p:nvPr/>
        </p:nvSpPr>
        <p:spPr>
          <a:xfrm>
            <a:off x="548640" y="1325880"/>
            <a:ext cx="11091672" cy="4937760"/>
          </a:xfrm>
          <a:prstGeom prst="roundRect">
            <a:avLst>
              <a:gd name="adj" fmla="val 1481"/>
            </a:avLst>
          </a:prstGeom>
          <a:solidFill>
            <a:srgbClr val="FFFFFF"/>
          </a:solidFill>
          <a:ln w="9525">
            <a:solidFill>
              <a:srgbClr val="D8E0EC"/>
            </a:solidFill>
            <a:prstDash val="solid"/>
          </a:ln>
        </p:spPr>
      </p:sp>
      <p:sp>
        <p:nvSpPr>
          <p:cNvPr id="10" name="Shape 7"/>
          <p:cNvSpPr/>
          <p:nvPr/>
        </p:nvSpPr>
        <p:spPr>
          <a:xfrm>
            <a:off x="731520" y="1508760"/>
            <a:ext cx="822960" cy="384048"/>
          </a:xfrm>
          <a:prstGeom prst="roundRect">
            <a:avLst>
              <a:gd name="adj" fmla="val 47619"/>
            </a:avLst>
          </a:prstGeom>
          <a:solidFill>
            <a:srgbClr val="F7A23B"/>
          </a:solidFill>
          <a:ln/>
        </p:spPr>
      </p:sp>
      <p:sp>
        <p:nvSpPr>
          <p:cNvPr id="11" name="Text 8"/>
          <p:cNvSpPr/>
          <p:nvPr/>
        </p:nvSpPr>
        <p:spPr>
          <a:xfrm>
            <a:off x="731520" y="1508760"/>
            <a:ext cx="822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PASSO 1</a:t>
            </a:r>
            <a:endParaRPr lang="en-US" sz="1000" dirty="0"/>
          </a:p>
        </p:txBody>
      </p:sp>
      <p:sp>
        <p:nvSpPr>
          <p:cNvPr id="12" name="Text 9"/>
          <p:cNvSpPr/>
          <p:nvPr/>
        </p:nvSpPr>
        <p:spPr>
          <a:xfrm>
            <a:off x="1645920" y="1463040"/>
            <a:ext cx="9857232" cy="502920"/>
          </a:xfrm>
          <a:prstGeom prst="rect">
            <a:avLst/>
          </a:prstGeom>
          <a:noFill/>
          <a:ln/>
        </p:spPr>
        <p:txBody>
          <a:bodyPr wrap="square" rtlCol="0" anchor="ctr">
            <a:normAutofit/>
          </a:bodyPr>
          <a:lstStyle/>
          <a:p>
            <a:pPr indent="0" marL="0">
              <a:buNone/>
            </a:pPr>
            <a:r>
              <a:rPr lang="en-US" sz="1400" b="1" dirty="0">
                <a:solidFill>
                  <a:srgbClr val="1B3A6B"/>
                </a:solidFill>
                <a:latin typeface="Arial" pitchFamily="34" charset="0"/>
                <a:ea typeface="Arial" pitchFamily="34" charset="-122"/>
                <a:cs typeface="Arial" pitchFamily="34" charset="-120"/>
              </a:rPr>
              <a:t>O histórico de alterações</a:t>
            </a:r>
            <a:endParaRPr lang="en-US" sz="1400" dirty="0"/>
          </a:p>
        </p:txBody>
      </p:sp>
      <p:sp>
        <p:nvSpPr>
          <p:cNvPr id="13" name="Text 10"/>
          <p:cNvSpPr/>
          <p:nvPr/>
        </p:nvSpPr>
        <p:spPr>
          <a:xfrm>
            <a:off x="777240" y="2057400"/>
            <a:ext cx="10634472" cy="4069080"/>
          </a:xfrm>
          <a:prstGeom prst="rect">
            <a:avLst/>
          </a:prstGeom>
          <a:noFill/>
          <a:ln/>
        </p:spPr>
        <p:txBody>
          <a:bodyPr wrap="square"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Toda alteração fica registrada: quem, quando, o quê</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2</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Ajuste com descrição</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recálculo antes de emitir</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vencimento novo = boleto novo</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histórico completo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03</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3</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M8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Pix e boleto: como funcionam os meios de pagamento</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Entender emissão, confirmação, vencimento, reemissão e estorno de Pix/boleto pelo Mercado Pago</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Pix e boleto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vencimento do Pix e do boleto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 confirmação automática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Boleto vencido, cancelamento e estorno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Custos e configuração</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Pix e boleto: como funcionam os meios de pagamento</a:t>
            </a:r>
            <a:endParaRPr lang="en-US" sz="2600" dirty="0"/>
          </a:p>
        </p:txBody>
      </p:sp>
      <p:sp>
        <p:nvSpPr>
          <p:cNvPr id="9" name="Shape 6"/>
          <p:cNvSpPr/>
          <p:nvPr/>
        </p:nvSpPr>
        <p:spPr>
          <a:xfrm>
            <a:off x="548640"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3514344" cy="109728"/>
          </a:xfrm>
          <a:prstGeom prst="rect">
            <a:avLst/>
          </a:prstGeom>
          <a:solidFill>
            <a:srgbClr val="1B3A6B"/>
          </a:solidFill>
          <a:ln/>
        </p:spPr>
      </p:sp>
      <p:sp>
        <p:nvSpPr>
          <p:cNvPr id="11" name="Text 8"/>
          <p:cNvSpPr/>
          <p:nvPr/>
        </p:nvSpPr>
        <p:spPr>
          <a:xfrm>
            <a:off x="822960"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Pix e boleto</a:t>
            </a:r>
            <a:endParaRPr lang="en-US" sz="1600" dirty="0"/>
          </a:p>
        </p:txBody>
      </p:sp>
      <p:sp>
        <p:nvSpPr>
          <p:cNvPr id="12" name="Text 9"/>
          <p:cNvSpPr/>
          <p:nvPr/>
        </p:nvSpPr>
        <p:spPr>
          <a:xfrm>
            <a:off x="822960" y="2286000"/>
            <a:ext cx="2965704" cy="2286000"/>
          </a:xfrm>
          <a:prstGeom prst="rect">
            <a:avLst/>
          </a:prstGeom>
          <a:noFill/>
          <a:ln/>
        </p:spPr>
        <p:txBody>
          <a:bodyPr wrap="square" rtlCol="0" anchor="t">
            <a:normAutofit/>
          </a:bodyPr>
          <a:lstStyle/>
          <a:p>
            <a:pPr marL="342900" indent="-342900">
              <a:spcAft>
                <a:spcPts val="600"/>
              </a:spcAft>
              <a:buSzPct val="100000"/>
              <a:buChar char="●"/>
            </a:pPr>
            <a:r>
              <a:rPr lang="en-US" sz="1200" dirty="0">
                <a:solidFill>
                  <a:srgbClr val="1F2937"/>
                </a:solidFill>
                <a:latin typeface="Arial" pitchFamily="34" charset="0"/>
                <a:ea typeface="Arial" pitchFamily="34" charset="-122"/>
                <a:cs typeface="Arial" pitchFamily="34" charset="-120"/>
              </a:rPr>
              <a:t>Pix: copia e cola · confirmação em minutos · padrão da plataforma</a:t>
            </a:r>
            <a:endParaRPr lang="en-US" sz="1200" dirty="0"/>
          </a:p>
          <a:p>
            <a:pPr marL="342900" indent="-342900">
              <a:spcAft>
                <a:spcPts val="600"/>
              </a:spcAft>
              <a:buSzPct val="100000"/>
              <a:buChar char="●"/>
            </a:pPr>
            <a:r>
              <a:rPr lang="en-US" sz="1200" dirty="0">
                <a:solidFill>
                  <a:srgbClr val="1F2937"/>
                </a:solidFill>
                <a:latin typeface="Arial" pitchFamily="34" charset="0"/>
                <a:ea typeface="Arial" pitchFamily="34" charset="-122"/>
                <a:cs typeface="Arial" pitchFamily="34" charset="-120"/>
              </a:rPr>
              <a:t>Boleto: linha digitável e PDF com código de barras · compensação em até 3 dias úteis · exige endereço completo do pagador</a:t>
            </a:r>
            <a:endParaRPr lang="en-US" sz="1200" dirty="0"/>
          </a:p>
          <a:p>
            <a:pPr marL="342900" indent="-342900">
              <a:spcAft>
                <a:spcPts val="600"/>
              </a:spcAft>
              <a:buSzPct val="100000"/>
              <a:buChar char="●"/>
            </a:pPr>
            <a:r>
              <a:rPr lang="en-US" sz="1200" dirty="0">
                <a:solidFill>
                  <a:srgbClr val="1F2937"/>
                </a:solidFill>
                <a:latin typeface="Arial" pitchFamily="34" charset="0"/>
                <a:ea typeface="Arial" pitchFamily="34" charset="-122"/>
                <a:cs typeface="Arial" pitchFamily="34" charset="-120"/>
              </a:rPr>
              <a:t>Um pedido = um método (Pix OU boleto)</a:t>
            </a:r>
            <a:endParaRPr lang="en-US" sz="1200" dirty="0"/>
          </a:p>
        </p:txBody>
      </p:sp>
      <p:sp>
        <p:nvSpPr>
          <p:cNvPr id="13" name="Shape 10"/>
          <p:cNvSpPr/>
          <p:nvPr/>
        </p:nvSpPr>
        <p:spPr>
          <a:xfrm>
            <a:off x="822960" y="4663440"/>
            <a:ext cx="2965704" cy="18288"/>
          </a:xfrm>
          <a:prstGeom prst="rect">
            <a:avLst/>
          </a:prstGeom>
          <a:solidFill>
            <a:srgbClr val="D8E0EC"/>
          </a:solidFill>
          <a:ln/>
        </p:spPr>
      </p:sp>
      <p:sp>
        <p:nvSpPr>
          <p:cNvPr id="14" name="Text 11"/>
          <p:cNvSpPr/>
          <p:nvPr/>
        </p:nvSpPr>
        <p:spPr>
          <a:xfrm>
            <a:off x="822960" y="4754880"/>
            <a:ext cx="2965704" cy="137160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O Pix é o padrão: confirma em minutos. O boleto exige endereço completo e leva até três dias úteis. Cada emissão é um método só.</a:t>
            </a:r>
            <a:endParaRPr lang="en-US" sz="1300" dirty="0"/>
          </a:p>
        </p:txBody>
      </p:sp>
      <p:sp>
        <p:nvSpPr>
          <p:cNvPr id="15" name="Shape 12"/>
          <p:cNvSpPr/>
          <p:nvPr/>
        </p:nvSpPr>
        <p:spPr>
          <a:xfrm>
            <a:off x="4337304"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6" name="Shape 13"/>
          <p:cNvSpPr/>
          <p:nvPr/>
        </p:nvSpPr>
        <p:spPr>
          <a:xfrm>
            <a:off x="4337304" y="1325880"/>
            <a:ext cx="3514344" cy="109728"/>
          </a:xfrm>
          <a:prstGeom prst="rect">
            <a:avLst/>
          </a:prstGeom>
          <a:solidFill>
            <a:srgbClr val="F7A23B"/>
          </a:solidFill>
          <a:ln/>
        </p:spPr>
      </p:sp>
      <p:sp>
        <p:nvSpPr>
          <p:cNvPr id="17" name="Text 14"/>
          <p:cNvSpPr/>
          <p:nvPr/>
        </p:nvSpPr>
        <p:spPr>
          <a:xfrm>
            <a:off x="4611624"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O vencimento do Pix e do boleto</a:t>
            </a:r>
            <a:endParaRPr lang="en-US" sz="1600" dirty="0"/>
          </a:p>
        </p:txBody>
      </p:sp>
      <p:sp>
        <p:nvSpPr>
          <p:cNvPr id="18" name="Text 15"/>
          <p:cNvSpPr/>
          <p:nvPr/>
        </p:nvSpPr>
        <p:spPr>
          <a:xfrm>
            <a:off x="4611624" y="2286000"/>
            <a:ext cx="2965704" cy="228600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Vencimento da cobrança enviado ao Mercado Pago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fim de semana → próximo dia útil</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data lida do código de barras é a que vale</a:t>
            </a:r>
            <a:endParaRPr lang="en-US" sz="1700" dirty="0"/>
          </a:p>
        </p:txBody>
      </p:sp>
      <p:sp>
        <p:nvSpPr>
          <p:cNvPr id="19" name="Shape 16"/>
          <p:cNvSpPr/>
          <p:nvPr/>
        </p:nvSpPr>
        <p:spPr>
          <a:xfrm>
            <a:off x="4611624" y="4663440"/>
            <a:ext cx="2965704" cy="18288"/>
          </a:xfrm>
          <a:prstGeom prst="rect">
            <a:avLst/>
          </a:prstGeom>
          <a:solidFill>
            <a:srgbClr val="D8E0EC"/>
          </a:solidFill>
          <a:ln/>
        </p:spPr>
      </p:sp>
      <p:sp>
        <p:nvSpPr>
          <p:cNvPr id="20" name="Text 17"/>
          <p:cNvSpPr/>
          <p:nvPr/>
        </p:nvSpPr>
        <p:spPr>
          <a:xfrm>
            <a:off x="4611624" y="4754880"/>
            <a:ext cx="2965704" cy="137160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O vencimento real é o lido do código de barras, porque o banco joga datas de fim de semana para o dia útil seguinte.</a:t>
            </a:r>
            <a:endParaRPr lang="en-US" sz="1300" dirty="0"/>
          </a:p>
        </p:txBody>
      </p:sp>
      <p:sp>
        <p:nvSpPr>
          <p:cNvPr id="21" name="Shape 18"/>
          <p:cNvSpPr/>
          <p:nvPr/>
        </p:nvSpPr>
        <p:spPr>
          <a:xfrm>
            <a:off x="8125968" y="1325880"/>
            <a:ext cx="3514344" cy="4937760"/>
          </a:xfrm>
          <a:prstGeom prst="roundRect">
            <a:avLst>
              <a:gd name="adj" fmla="val 208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8125968" y="1325880"/>
            <a:ext cx="3514344" cy="109728"/>
          </a:xfrm>
          <a:prstGeom prst="rect">
            <a:avLst/>
          </a:prstGeom>
          <a:solidFill>
            <a:srgbClr val="1B3A6B"/>
          </a:solidFill>
          <a:ln/>
        </p:spPr>
      </p:sp>
      <p:sp>
        <p:nvSpPr>
          <p:cNvPr id="23" name="Text 20"/>
          <p:cNvSpPr/>
          <p:nvPr/>
        </p:nvSpPr>
        <p:spPr>
          <a:xfrm>
            <a:off x="8400288" y="1554480"/>
            <a:ext cx="2965704"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A confirmação automática</a:t>
            </a:r>
            <a:endParaRPr lang="en-US" sz="1600" dirty="0"/>
          </a:p>
        </p:txBody>
      </p:sp>
      <p:sp>
        <p:nvSpPr>
          <p:cNvPr id="24" name="Text 21"/>
          <p:cNvSpPr/>
          <p:nvPr/>
        </p:nvSpPr>
        <p:spPr>
          <a:xfrm>
            <a:off x="8400288" y="4023360"/>
            <a:ext cx="2965704" cy="210312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A baixa chega por dois caminhos: o aviso do Mercado Pago, conferido pela plataforma, e uma sincronização a cada cinco minutos. Ninguém precisa conferir extrato.</a:t>
            </a:r>
            <a:endParaRPr lang="en-US" sz="1300" dirty="0"/>
          </a:p>
        </p:txBody>
      </p:sp>
      <p:sp>
        <p:nvSpPr>
          <p:cNvPr id="25" name="Text 22"/>
          <p:cNvSpPr/>
          <p:nvPr/>
        </p:nvSpPr>
        <p:spPr>
          <a:xfrm>
            <a:off x="8400288" y="2286000"/>
            <a:ext cx="2965704" cy="1645920"/>
          </a:xfrm>
          <a:prstGeom prst="rect">
            <a:avLst/>
          </a:prstGeom>
          <a:noFill/>
          <a:ln/>
        </p:spPr>
        <p:txBody>
          <a:bodyPr wrap="square" rtlCol="0" anchor="ctr">
            <a:normAutofit/>
          </a:bodyPr>
          <a:lstStyle/>
          <a:p>
            <a:pPr indent="0" marL="0">
              <a:buNone/>
            </a:pPr>
            <a:r>
              <a:rPr lang="en-US" sz="2200" dirty="0">
                <a:solidFill>
                  <a:srgbClr val="1F2937"/>
                </a:solidFill>
                <a:latin typeface="Arial" pitchFamily="34" charset="0"/>
                <a:ea typeface="Arial" pitchFamily="34" charset="-122"/>
                <a:cs typeface="Arial" pitchFamily="34" charset="-120"/>
              </a:rPr>
              <a:t>Dois caminhos de baixa: webhook (na hora) + sincronização a cada 5 min</a:t>
            </a:r>
            <a:endParaRPr lang="en-US" sz="22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Pix e boleto: como funcionam os meios de pagamento</a:t>
            </a:r>
            <a:endParaRPr lang="en-US" sz="2600" dirty="0"/>
          </a:p>
        </p:txBody>
      </p:sp>
      <p:sp>
        <p:nvSpPr>
          <p:cNvPr id="9" name="Shape 6"/>
          <p:cNvSpPr/>
          <p:nvPr/>
        </p:nvSpPr>
        <p:spPr>
          <a:xfrm>
            <a:off x="548640" y="1325880"/>
            <a:ext cx="5408676"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5408676" cy="109728"/>
          </a:xfrm>
          <a:prstGeom prst="rect">
            <a:avLst/>
          </a:prstGeom>
          <a:solidFill>
            <a:srgbClr val="1B3A6B"/>
          </a:solidFill>
          <a:ln/>
        </p:spPr>
      </p:sp>
      <p:sp>
        <p:nvSpPr>
          <p:cNvPr id="11" name="Text 8"/>
          <p:cNvSpPr/>
          <p:nvPr/>
        </p:nvSpPr>
        <p:spPr>
          <a:xfrm>
            <a:off x="822960" y="1554480"/>
            <a:ext cx="4860036"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Boleto vencido, cancelamento e estorno</a:t>
            </a:r>
            <a:endParaRPr lang="en-US" sz="1600" dirty="0"/>
          </a:p>
        </p:txBody>
      </p:sp>
      <p:sp>
        <p:nvSpPr>
          <p:cNvPr id="12" name="Text 9"/>
          <p:cNvSpPr/>
          <p:nvPr/>
        </p:nvSpPr>
        <p:spPr>
          <a:xfrm>
            <a:off x="822960" y="2286000"/>
            <a:ext cx="4860036" cy="2286000"/>
          </a:xfrm>
          <a:prstGeom prst="rect">
            <a:avLst/>
          </a:prstGeom>
          <a:noFill/>
          <a:ln/>
        </p:spPr>
        <p:txBody>
          <a:bodyPr wrap="square" rtlCol="0" anchor="t">
            <a:normAutofit/>
          </a:bodyPr>
          <a:lstStyle/>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Boleto vencido → marcado como vencido às 06:00 · PDF bloqueado · alerta ao consultor para reemitir · acompanhado por 10 dias</a:t>
            </a:r>
            <a:endParaRPr lang="en-US" sz="1600" dirty="0"/>
          </a:p>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Cobrança cancelada ou paga manualmente → boleto cancelado no Mercado Pago</a:t>
            </a:r>
            <a:endParaRPr lang="en-US" sz="1600" dirty="0"/>
          </a:p>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Estorno → registrado; cobrança segue paga; caso vai para revisão humana</a:t>
            </a:r>
            <a:endParaRPr lang="en-US" sz="1600" dirty="0"/>
          </a:p>
        </p:txBody>
      </p:sp>
      <p:sp>
        <p:nvSpPr>
          <p:cNvPr id="13" name="Shape 10"/>
          <p:cNvSpPr/>
          <p:nvPr/>
        </p:nvSpPr>
        <p:spPr>
          <a:xfrm>
            <a:off x="822960" y="4663440"/>
            <a:ext cx="4860036" cy="18288"/>
          </a:xfrm>
          <a:prstGeom prst="rect">
            <a:avLst/>
          </a:prstGeom>
          <a:solidFill>
            <a:srgbClr val="D8E0EC"/>
          </a:solidFill>
          <a:ln/>
        </p:spPr>
      </p:sp>
      <p:sp>
        <p:nvSpPr>
          <p:cNvPr id="14" name="Text 11"/>
          <p:cNvSpPr/>
          <p:nvPr/>
        </p:nvSpPr>
        <p:spPr>
          <a:xfrm>
            <a:off x="822960" y="4754880"/>
            <a:ext cx="4860036" cy="137160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Boleto vencido tem o PDF bloqueado e gera alerta para reemitir, mas continua monitorado por dez dias, porque um pagamento do último dia pode compensar depois. Estornos ficam registrados para revisão.</a:t>
            </a:r>
            <a:endParaRPr lang="en-US" sz="1300" dirty="0"/>
          </a:p>
        </p:txBody>
      </p:sp>
      <p:sp>
        <p:nvSpPr>
          <p:cNvPr id="15" name="Shape 12"/>
          <p:cNvSpPr/>
          <p:nvPr/>
        </p:nvSpPr>
        <p:spPr>
          <a:xfrm>
            <a:off x="6231636" y="1325880"/>
            <a:ext cx="5408676"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6" name="Shape 13"/>
          <p:cNvSpPr/>
          <p:nvPr/>
        </p:nvSpPr>
        <p:spPr>
          <a:xfrm>
            <a:off x="6231636" y="1325880"/>
            <a:ext cx="5408676" cy="109728"/>
          </a:xfrm>
          <a:prstGeom prst="rect">
            <a:avLst/>
          </a:prstGeom>
          <a:solidFill>
            <a:srgbClr val="F7A23B"/>
          </a:solidFill>
          <a:ln/>
        </p:spPr>
      </p:sp>
      <p:sp>
        <p:nvSpPr>
          <p:cNvPr id="17" name="Text 14"/>
          <p:cNvSpPr/>
          <p:nvPr/>
        </p:nvSpPr>
        <p:spPr>
          <a:xfrm>
            <a:off x="6505956" y="1554480"/>
            <a:ext cx="4860036"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Custos e configuração</a:t>
            </a:r>
            <a:endParaRPr lang="en-US" sz="1600" dirty="0"/>
          </a:p>
        </p:txBody>
      </p:sp>
      <p:sp>
        <p:nvSpPr>
          <p:cNvPr id="18" name="Text 15"/>
          <p:cNvSpPr/>
          <p:nvPr/>
        </p:nvSpPr>
        <p:spPr>
          <a:xfrm>
            <a:off x="6505956" y="2286000"/>
            <a:ext cx="4860036" cy="228600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Tarifas do meio de pagamento entram no custo variável (M3)</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conta Mercado Pago configurada pelo admin</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credenciais criptografadas</a:t>
            </a:r>
            <a:endParaRPr lang="en-US" sz="1700" dirty="0"/>
          </a:p>
        </p:txBody>
      </p:sp>
      <p:sp>
        <p:nvSpPr>
          <p:cNvPr id="19" name="Shape 16"/>
          <p:cNvSpPr/>
          <p:nvPr/>
        </p:nvSpPr>
        <p:spPr>
          <a:xfrm>
            <a:off x="6505956" y="4663440"/>
            <a:ext cx="4860036" cy="18288"/>
          </a:xfrm>
          <a:prstGeom prst="rect">
            <a:avLst/>
          </a:prstGeom>
          <a:solidFill>
            <a:srgbClr val="D8E0EC"/>
          </a:solidFill>
          <a:ln/>
        </p:spPr>
      </p:sp>
      <p:sp>
        <p:nvSpPr>
          <p:cNvPr id="20" name="Text 17"/>
          <p:cNvSpPr/>
          <p:nvPr/>
        </p:nvSpPr>
        <p:spPr>
          <a:xfrm>
            <a:off x="6505956" y="4754880"/>
            <a:ext cx="4860036" cy="137160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As tarifas do meio de pagamento entram no custo variável da sua conta.</a:t>
            </a:r>
            <a:endParaRPr lang="en-US" sz="13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3</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Pix (padrão) ou boleto</a:t>
            </a:r>
            <a:endParaRPr lang="en-US" sz="1800" dirty="0"/>
          </a:p>
        </p:txBody>
      </p:sp>
      <p:sp>
        <p:nvSpPr>
          <p:cNvPr id="13" name="Shape 10"/>
          <p:cNvSpPr/>
          <p:nvPr/>
        </p:nvSpPr>
        <p:spPr>
          <a:xfrm>
            <a:off x="6208776" y="132588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391656" y="1508760"/>
            <a:ext cx="457200" cy="457200"/>
          </a:xfrm>
          <a:prstGeom prst="ellipse">
            <a:avLst/>
          </a:prstGeom>
          <a:solidFill>
            <a:srgbClr val="F7A23B"/>
          </a:solidFill>
          <a:ln/>
        </p:spPr>
      </p:sp>
      <p:sp>
        <p:nvSpPr>
          <p:cNvPr id="15" name="Text 12"/>
          <p:cNvSpPr/>
          <p:nvPr/>
        </p:nvSpPr>
        <p:spPr>
          <a:xfrm>
            <a:off x="6391656"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86016" y="143560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baixa automática (webhook + sync)</a:t>
            </a:r>
            <a:endParaRPr lang="en-US" sz="1800" dirty="0"/>
          </a:p>
        </p:txBody>
      </p:sp>
      <p:sp>
        <p:nvSpPr>
          <p:cNvPr id="17" name="Shape 14"/>
          <p:cNvSpPr/>
          <p:nvPr/>
        </p:nvSpPr>
        <p:spPr>
          <a:xfrm>
            <a:off x="548640"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731520" y="4069080"/>
            <a:ext cx="457200" cy="457200"/>
          </a:xfrm>
          <a:prstGeom prst="ellipse">
            <a:avLst/>
          </a:prstGeom>
          <a:solidFill>
            <a:srgbClr val="1B3A6B"/>
          </a:solidFill>
          <a:ln/>
        </p:spPr>
      </p:sp>
      <p:sp>
        <p:nvSpPr>
          <p:cNvPr id="19" name="Text 16"/>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325880"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vencido: alerta e reemissão</a:t>
            </a:r>
            <a:endParaRPr lang="en-US" sz="1800" dirty="0"/>
          </a:p>
        </p:txBody>
      </p:sp>
      <p:sp>
        <p:nvSpPr>
          <p:cNvPr id="21" name="Shape 18"/>
          <p:cNvSpPr/>
          <p:nvPr/>
        </p:nvSpPr>
        <p:spPr>
          <a:xfrm>
            <a:off x="6208776" y="3886200"/>
            <a:ext cx="5431536"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391656" y="4069080"/>
            <a:ext cx="457200" cy="457200"/>
          </a:xfrm>
          <a:prstGeom prst="ellipse">
            <a:avLst/>
          </a:prstGeom>
          <a:solidFill>
            <a:srgbClr val="F7A23B"/>
          </a:solidFill>
          <a:ln/>
        </p:spPr>
      </p:sp>
      <p:sp>
        <p:nvSpPr>
          <p:cNvPr id="23" name="Text 20"/>
          <p:cNvSpPr/>
          <p:nvPr/>
        </p:nvSpPr>
        <p:spPr>
          <a:xfrm>
            <a:off x="6391656"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86016" y="3995928"/>
            <a:ext cx="4517136"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estorno: revisão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04</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4</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M8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Régua de cobrança e inadimplência</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Montar a régua de cobrança da empresa e gerir a inadimplência com as automações da plataforma</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 régua em cinco tempos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tom da cobrança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Multa, juros e acordos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Prevenção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Medindo</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RÉGUA DE COBRANÇA E INADIMPLÊNCIA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 régua em cinco tempos</a:t>
            </a:r>
            <a:endParaRPr lang="en-US" sz="2600" dirty="0"/>
          </a:p>
        </p:txBody>
      </p:sp>
      <p:sp>
        <p:nvSpPr>
          <p:cNvPr id="9" name="Shape 6"/>
          <p:cNvSpPr/>
          <p:nvPr/>
        </p:nvSpPr>
        <p:spPr>
          <a:xfrm>
            <a:off x="548640" y="132588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D−3: lembrete por e-mail (automático) + alerta ao consultor com WhatsApp pronto</a:t>
            </a:r>
            <a:endParaRPr lang="en-US" sz="1800" dirty="0"/>
          </a:p>
        </p:txBody>
      </p:sp>
      <p:sp>
        <p:nvSpPr>
          <p:cNvPr id="13" name="Shape 10"/>
          <p:cNvSpPr/>
          <p:nvPr/>
        </p:nvSpPr>
        <p:spPr>
          <a:xfrm>
            <a:off x="4322064" y="132588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D0: vencimento</a:t>
            </a:r>
            <a:endParaRPr lang="en-US" sz="1800" dirty="0"/>
          </a:p>
        </p:txBody>
      </p:sp>
      <p:sp>
        <p:nvSpPr>
          <p:cNvPr id="17" name="Shape 14"/>
          <p:cNvSpPr/>
          <p:nvPr/>
        </p:nvSpPr>
        <p:spPr>
          <a:xfrm>
            <a:off x="8095488" y="132588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D+1: marcada como vencida (automático)</a:t>
            </a:r>
            <a:endParaRPr lang="en-US" sz="1800" dirty="0"/>
          </a:p>
        </p:txBody>
      </p:sp>
      <p:sp>
        <p:nvSpPr>
          <p:cNvPr id="21" name="Shape 18"/>
          <p:cNvSpPr/>
          <p:nvPr/>
        </p:nvSpPr>
        <p:spPr>
          <a:xfrm>
            <a:off x="548640" y="342900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3611880"/>
            <a:ext cx="457200" cy="457200"/>
          </a:xfrm>
          <a:prstGeom prst="ellipse">
            <a:avLst/>
          </a:prstGeom>
          <a:solidFill>
            <a:srgbClr val="F7A23B"/>
          </a:solidFill>
          <a:ln/>
        </p:spPr>
      </p:sp>
      <p:sp>
        <p:nvSpPr>
          <p:cNvPr id="23" name="Text 20"/>
          <p:cNvSpPr/>
          <p:nvPr/>
        </p:nvSpPr>
        <p:spPr>
          <a:xfrm>
            <a:off x="731520" y="36118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53872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D+5, D+10…: alerta ao consultor a cada 5 dias com link de WhatsApp</a:t>
            </a:r>
            <a:endParaRPr lang="en-US" sz="1800" dirty="0"/>
          </a:p>
        </p:txBody>
      </p:sp>
      <p:sp>
        <p:nvSpPr>
          <p:cNvPr id="25" name="Shape 22"/>
          <p:cNvSpPr/>
          <p:nvPr/>
        </p:nvSpPr>
        <p:spPr>
          <a:xfrm>
            <a:off x="4322064" y="342900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3611880"/>
            <a:ext cx="457200" cy="457200"/>
          </a:xfrm>
          <a:prstGeom prst="ellipse">
            <a:avLst/>
          </a:prstGeom>
          <a:solidFill>
            <a:srgbClr val="1B3A6B"/>
          </a:solidFill>
          <a:ln/>
        </p:spPr>
      </p:sp>
      <p:sp>
        <p:nvSpPr>
          <p:cNvPr id="27" name="Text 24"/>
          <p:cNvSpPr/>
          <p:nvPr/>
        </p:nvSpPr>
        <p:spPr>
          <a:xfrm>
            <a:off x="4504944" y="36118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53872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D+15: contato pessoal + proposta de acordo</a:t>
            </a:r>
            <a:endParaRPr lang="en-US" sz="1800" dirty="0"/>
          </a:p>
        </p:txBody>
      </p:sp>
      <p:sp>
        <p:nvSpPr>
          <p:cNvPr id="29" name="Shape 26"/>
          <p:cNvSpPr/>
          <p:nvPr/>
        </p:nvSpPr>
        <p:spPr>
          <a:xfrm>
            <a:off x="8095488" y="342900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278368" y="3611880"/>
            <a:ext cx="457200" cy="457200"/>
          </a:xfrm>
          <a:prstGeom prst="ellipse">
            <a:avLst/>
          </a:prstGeom>
          <a:solidFill>
            <a:srgbClr val="F7A23B"/>
          </a:solidFill>
          <a:ln/>
        </p:spPr>
      </p:sp>
      <p:sp>
        <p:nvSpPr>
          <p:cNvPr id="31" name="Text 28"/>
          <p:cNvSpPr/>
          <p:nvPr/>
        </p:nvSpPr>
        <p:spPr>
          <a:xfrm>
            <a:off x="8278368" y="36118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872728" y="353872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D+30: medidas contratuais (aviso formal, suspensão da participação)</a:t>
            </a:r>
            <a:endParaRPr lang="en-US" sz="1800" dirty="0"/>
          </a:p>
        </p:txBody>
      </p:sp>
      <p:sp>
        <p:nvSpPr>
          <p:cNvPr id="33" name="Shape 30"/>
          <p:cNvSpPr/>
          <p:nvPr/>
        </p:nvSpPr>
        <p:spPr>
          <a:xfrm>
            <a:off x="548640" y="5413248"/>
            <a:ext cx="11091672" cy="868680"/>
          </a:xfrm>
          <a:prstGeom prst="roundRect">
            <a:avLst>
              <a:gd name="adj" fmla="val 8421"/>
            </a:avLst>
          </a:prstGeom>
          <a:solidFill>
            <a:srgbClr val="EEF3FA"/>
          </a:solidFill>
          <a:ln w="6350">
            <a:solidFill>
              <a:srgbClr val="D8E0EC"/>
            </a:solidFill>
            <a:prstDash val="solid"/>
          </a:ln>
        </p:spPr>
      </p:sp>
      <p:sp>
        <p:nvSpPr>
          <p:cNvPr id="34" name="Shape 31"/>
          <p:cNvSpPr/>
          <p:nvPr/>
        </p:nvSpPr>
        <p:spPr>
          <a:xfrm>
            <a:off x="548640" y="5413248"/>
            <a:ext cx="91440" cy="868680"/>
          </a:xfrm>
          <a:prstGeom prst="rect">
            <a:avLst/>
          </a:prstGeom>
          <a:solidFill>
            <a:srgbClr val="F7A23B"/>
          </a:solidFill>
          <a:ln/>
        </p:spPr>
      </p:sp>
      <p:sp>
        <p:nvSpPr>
          <p:cNvPr id="35" name="Text 32"/>
          <p:cNvSpPr/>
          <p:nvPr/>
        </p:nvSpPr>
        <p:spPr>
          <a:xfrm>
            <a:off x="777240" y="5458968"/>
            <a:ext cx="10744200" cy="77724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A régua combina automação e contato humano: lembrete três dias antes, marcação de vencida, alertas ao consultor a cada cinco dias, contato pessoal e, depois de trinta dias, as medidas do contrato.</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Régua de cobrança e inadimplência</a:t>
            </a:r>
            <a:endParaRPr lang="en-US" sz="2600" dirty="0"/>
          </a:p>
        </p:txBody>
      </p:sp>
      <p:sp>
        <p:nvSpPr>
          <p:cNvPr id="9" name="Shape 6"/>
          <p:cNvSpPr/>
          <p:nvPr/>
        </p:nvSpPr>
        <p:spPr>
          <a:xfrm>
            <a:off x="548640" y="1325880"/>
            <a:ext cx="5408676"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48640" y="1325880"/>
            <a:ext cx="5408676" cy="109728"/>
          </a:xfrm>
          <a:prstGeom prst="rect">
            <a:avLst/>
          </a:prstGeom>
          <a:solidFill>
            <a:srgbClr val="1B3A6B"/>
          </a:solidFill>
          <a:ln/>
        </p:spPr>
      </p:sp>
      <p:sp>
        <p:nvSpPr>
          <p:cNvPr id="11" name="Text 8"/>
          <p:cNvSpPr/>
          <p:nvPr/>
        </p:nvSpPr>
        <p:spPr>
          <a:xfrm>
            <a:off x="822960" y="1554480"/>
            <a:ext cx="4860036"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O tom da cobrança</a:t>
            </a:r>
            <a:endParaRPr lang="en-US" sz="1600" dirty="0"/>
          </a:p>
        </p:txBody>
      </p:sp>
      <p:sp>
        <p:nvSpPr>
          <p:cNvPr id="12" name="Text 9"/>
          <p:cNvSpPr/>
          <p:nvPr/>
        </p:nvSpPr>
        <p:spPr>
          <a:xfrm>
            <a:off x="822960" y="2286000"/>
            <a:ext cx="4860036" cy="228600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Lembrete: 'Sua economia deste mês está garantida! Segue o Pix…'</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Atraso leve: 'Notamos que a cobrança de março ficou em aberto. Aconteceu algo?'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Atraso grave: 'Precisamos regularizar até DD/MM para manter sua participação.'</a:t>
            </a:r>
            <a:endParaRPr lang="en-US" sz="1700" dirty="0"/>
          </a:p>
        </p:txBody>
      </p:sp>
      <p:sp>
        <p:nvSpPr>
          <p:cNvPr id="13" name="Shape 10"/>
          <p:cNvSpPr/>
          <p:nvPr/>
        </p:nvSpPr>
        <p:spPr>
          <a:xfrm>
            <a:off x="822960" y="4663440"/>
            <a:ext cx="4860036" cy="18288"/>
          </a:xfrm>
          <a:prstGeom prst="rect">
            <a:avLst/>
          </a:prstGeom>
          <a:solidFill>
            <a:srgbClr val="D8E0EC"/>
          </a:solidFill>
          <a:ln/>
        </p:spPr>
      </p:sp>
      <p:sp>
        <p:nvSpPr>
          <p:cNvPr id="14" name="Text 11"/>
          <p:cNvSpPr/>
          <p:nvPr/>
        </p:nvSpPr>
        <p:spPr>
          <a:xfrm>
            <a:off x="822960" y="4754880"/>
            <a:ext cx="4860036" cy="137160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O tom muda com o atraso. No atraso leve, pergunte em vez de acusar: muitas vezes o cliente não entendeu as duas contas.</a:t>
            </a:r>
            <a:endParaRPr lang="en-US" sz="1300" dirty="0"/>
          </a:p>
        </p:txBody>
      </p:sp>
      <p:sp>
        <p:nvSpPr>
          <p:cNvPr id="15" name="Shape 12"/>
          <p:cNvSpPr/>
          <p:nvPr/>
        </p:nvSpPr>
        <p:spPr>
          <a:xfrm>
            <a:off x="6231636" y="1325880"/>
            <a:ext cx="5408676"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6" name="Shape 13"/>
          <p:cNvSpPr/>
          <p:nvPr/>
        </p:nvSpPr>
        <p:spPr>
          <a:xfrm>
            <a:off x="6231636" y="1325880"/>
            <a:ext cx="5408676" cy="109728"/>
          </a:xfrm>
          <a:prstGeom prst="rect">
            <a:avLst/>
          </a:prstGeom>
          <a:solidFill>
            <a:srgbClr val="F7A23B"/>
          </a:solidFill>
          <a:ln/>
        </p:spPr>
      </p:sp>
      <p:sp>
        <p:nvSpPr>
          <p:cNvPr id="17" name="Text 14"/>
          <p:cNvSpPr/>
          <p:nvPr/>
        </p:nvSpPr>
        <p:spPr>
          <a:xfrm>
            <a:off x="6505956" y="1554480"/>
            <a:ext cx="4860036"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Multa, juros e acordos</a:t>
            </a:r>
            <a:endParaRPr lang="en-US" sz="1600" dirty="0"/>
          </a:p>
        </p:txBody>
      </p:sp>
      <p:sp>
        <p:nvSpPr>
          <p:cNvPr id="18" name="Text 15"/>
          <p:cNvSpPr/>
          <p:nvPr/>
        </p:nvSpPr>
        <p:spPr>
          <a:xfrm>
            <a:off x="6505956" y="2286000"/>
            <a:ext cx="4860036" cy="228600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Multa e juros: dentro da lei e do contrato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acordo: parcelar, registrar como ajuste</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nunca 'perdoar' sem registro</a:t>
            </a:r>
            <a:endParaRPr lang="en-US" sz="1700" dirty="0"/>
          </a:p>
        </p:txBody>
      </p:sp>
      <p:sp>
        <p:nvSpPr>
          <p:cNvPr id="19" name="Shape 16"/>
          <p:cNvSpPr/>
          <p:nvPr/>
        </p:nvSpPr>
        <p:spPr>
          <a:xfrm>
            <a:off x="6505956" y="4663440"/>
            <a:ext cx="4860036" cy="18288"/>
          </a:xfrm>
          <a:prstGeom prst="rect">
            <a:avLst/>
          </a:prstGeom>
          <a:solidFill>
            <a:srgbClr val="D8E0EC"/>
          </a:solidFill>
          <a:ln/>
        </p:spPr>
      </p:sp>
      <p:sp>
        <p:nvSpPr>
          <p:cNvPr id="20" name="Text 17"/>
          <p:cNvSpPr/>
          <p:nvPr/>
        </p:nvSpPr>
        <p:spPr>
          <a:xfrm>
            <a:off x="6505956" y="4754880"/>
            <a:ext cx="4860036" cy="1371600"/>
          </a:xfrm>
          <a:prstGeom prst="rect">
            <a:avLst/>
          </a:prstGeom>
          <a:noFill/>
          <a:ln/>
        </p:spPr>
        <p:txBody>
          <a:bodyPr wrap="square" rtlCol="0" anchor="t"/>
          <a:lstStyle/>
          <a:p>
            <a:pPr indent="0" marL="0">
              <a:buNone/>
            </a:pPr>
            <a:r>
              <a:rPr lang="en-US" sz="1300" i="1" dirty="0">
                <a:solidFill>
                  <a:srgbClr val="64748B"/>
                </a:solidFill>
                <a:latin typeface="Arial" pitchFamily="34" charset="0"/>
                <a:ea typeface="Arial" pitchFamily="34" charset="-122"/>
                <a:cs typeface="Arial" pitchFamily="34" charset="-120"/>
              </a:rPr>
              <a:t>Multa e juros só dentro da lei e do contrato. Acordos sempre registrados, nunca de boca.</a:t>
            </a:r>
            <a:endParaRPr lang="en-US" sz="13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RÉGUA DE COBRANÇA E INADIMPLÊNCIA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Prevenção</a:t>
            </a:r>
            <a:endParaRPr lang="en-US" sz="2600" dirty="0"/>
          </a:p>
        </p:txBody>
      </p:sp>
      <p:sp>
        <p:nvSpPr>
          <p:cNvPr id="9" name="Shape 6"/>
          <p:cNvSpPr/>
          <p:nvPr/>
        </p:nvSpPr>
        <p:spPr>
          <a:xfrm>
            <a:off x="548640" y="132588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Explicar as duas contas</a:t>
            </a:r>
            <a:endParaRPr lang="en-US" sz="1800" dirty="0"/>
          </a:p>
        </p:txBody>
      </p:sp>
      <p:sp>
        <p:nvSpPr>
          <p:cNvPr id="13" name="Shape 10"/>
          <p:cNvSpPr/>
          <p:nvPr/>
        </p:nvSpPr>
        <p:spPr>
          <a:xfrm>
            <a:off x="4322064" y="132588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vencimento junto com a distribuidora</a:t>
            </a:r>
            <a:endParaRPr lang="en-US" sz="1800" dirty="0"/>
          </a:p>
        </p:txBody>
      </p:sp>
      <p:sp>
        <p:nvSpPr>
          <p:cNvPr id="17" name="Shape 14"/>
          <p:cNvSpPr/>
          <p:nvPr/>
        </p:nvSpPr>
        <p:spPr>
          <a:xfrm>
            <a:off x="8095488" y="132588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Pix como padrão</a:t>
            </a:r>
            <a:endParaRPr lang="en-US" sz="1800" dirty="0"/>
          </a:p>
        </p:txBody>
      </p:sp>
      <p:sp>
        <p:nvSpPr>
          <p:cNvPr id="21" name="Shape 18"/>
          <p:cNvSpPr/>
          <p:nvPr/>
        </p:nvSpPr>
        <p:spPr>
          <a:xfrm>
            <a:off x="548640" y="342900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3611880"/>
            <a:ext cx="457200" cy="457200"/>
          </a:xfrm>
          <a:prstGeom prst="ellipse">
            <a:avLst/>
          </a:prstGeom>
          <a:solidFill>
            <a:srgbClr val="F7A23B"/>
          </a:solidFill>
          <a:ln/>
        </p:spPr>
      </p:sp>
      <p:sp>
        <p:nvSpPr>
          <p:cNvPr id="23" name="Text 20"/>
          <p:cNvSpPr/>
          <p:nvPr/>
        </p:nvSpPr>
        <p:spPr>
          <a:xfrm>
            <a:off x="731520" y="36118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53872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cliente no portal</a:t>
            </a:r>
            <a:endParaRPr lang="en-US" sz="1800" dirty="0"/>
          </a:p>
        </p:txBody>
      </p:sp>
      <p:sp>
        <p:nvSpPr>
          <p:cNvPr id="25" name="Shape 22"/>
          <p:cNvSpPr/>
          <p:nvPr/>
        </p:nvSpPr>
        <p:spPr>
          <a:xfrm>
            <a:off x="4322064" y="342900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3611880"/>
            <a:ext cx="457200" cy="457200"/>
          </a:xfrm>
          <a:prstGeom prst="ellipse">
            <a:avLst/>
          </a:prstGeom>
          <a:solidFill>
            <a:srgbClr val="1B3A6B"/>
          </a:solidFill>
          <a:ln/>
        </p:spPr>
      </p:sp>
      <p:sp>
        <p:nvSpPr>
          <p:cNvPr id="27" name="Text 24"/>
          <p:cNvSpPr/>
          <p:nvPr/>
        </p:nvSpPr>
        <p:spPr>
          <a:xfrm>
            <a:off x="4504944" y="36118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53872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comissão após a 1ª paga</a:t>
            </a:r>
            <a:endParaRPr lang="en-US" sz="1800" dirty="0"/>
          </a:p>
        </p:txBody>
      </p:sp>
      <p:sp>
        <p:nvSpPr>
          <p:cNvPr id="29" name="Shape 26"/>
          <p:cNvSpPr/>
          <p:nvPr/>
        </p:nvSpPr>
        <p:spPr>
          <a:xfrm>
            <a:off x="8095488" y="342900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278368" y="3611880"/>
            <a:ext cx="457200" cy="457200"/>
          </a:xfrm>
          <a:prstGeom prst="ellipse">
            <a:avLst/>
          </a:prstGeom>
          <a:solidFill>
            <a:srgbClr val="F7A23B"/>
          </a:solidFill>
          <a:ln/>
        </p:spPr>
      </p:sp>
      <p:sp>
        <p:nvSpPr>
          <p:cNvPr id="31" name="Text 28"/>
          <p:cNvSpPr/>
          <p:nvPr/>
        </p:nvSpPr>
        <p:spPr>
          <a:xfrm>
            <a:off x="8278368" y="36118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872728" y="353872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análise na entrada</a:t>
            </a:r>
            <a:endParaRPr lang="en-US" sz="1800" dirty="0"/>
          </a:p>
        </p:txBody>
      </p:sp>
      <p:sp>
        <p:nvSpPr>
          <p:cNvPr id="33" name="Shape 30"/>
          <p:cNvSpPr/>
          <p:nvPr/>
        </p:nvSpPr>
        <p:spPr>
          <a:xfrm>
            <a:off x="548640" y="5413248"/>
            <a:ext cx="11091672" cy="868680"/>
          </a:xfrm>
          <a:prstGeom prst="roundRect">
            <a:avLst>
              <a:gd name="adj" fmla="val 8421"/>
            </a:avLst>
          </a:prstGeom>
          <a:solidFill>
            <a:srgbClr val="EEF3FA"/>
          </a:solidFill>
          <a:ln w="6350">
            <a:solidFill>
              <a:srgbClr val="D8E0EC"/>
            </a:solidFill>
            <a:prstDash val="solid"/>
          </a:ln>
        </p:spPr>
      </p:sp>
      <p:sp>
        <p:nvSpPr>
          <p:cNvPr id="34" name="Shape 31"/>
          <p:cNvSpPr/>
          <p:nvPr/>
        </p:nvSpPr>
        <p:spPr>
          <a:xfrm>
            <a:off x="548640" y="5413248"/>
            <a:ext cx="91440" cy="868680"/>
          </a:xfrm>
          <a:prstGeom prst="rect">
            <a:avLst/>
          </a:prstGeom>
          <a:solidFill>
            <a:srgbClr val="F7A23B"/>
          </a:solidFill>
          <a:ln/>
        </p:spPr>
      </p:sp>
      <p:sp>
        <p:nvSpPr>
          <p:cNvPr id="35" name="Text 32"/>
          <p:cNvSpPr/>
          <p:nvPr/>
        </p:nvSpPr>
        <p:spPr>
          <a:xfrm>
            <a:off x="777240" y="5458968"/>
            <a:ext cx="10744200" cy="77724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A melhor cobrança é a que não precisa acontecer. As práticas da tela reduzem muito a inadimplência.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RÉGUA DE COBRANÇA E INADIMPLÊNCIA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Medindo</a:t>
            </a:r>
            <a:endParaRPr lang="en-US" sz="2600" dirty="0"/>
          </a:p>
        </p:txBody>
      </p:sp>
      <p:sp>
        <p:nvSpPr>
          <p:cNvPr id="9" name="Shape 6"/>
          <p:cNvSpPr/>
          <p:nvPr/>
        </p:nvSpPr>
        <p:spPr>
          <a:xfrm>
            <a:off x="548640" y="132588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 vencido até 30 dias</a:t>
            </a:r>
            <a:endParaRPr lang="en-US" sz="1800" dirty="0"/>
          </a:p>
        </p:txBody>
      </p:sp>
      <p:sp>
        <p:nvSpPr>
          <p:cNvPr id="13" name="Shape 10"/>
          <p:cNvSpPr/>
          <p:nvPr/>
        </p:nvSpPr>
        <p:spPr>
          <a:xfrm>
            <a:off x="4322064" y="132588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30–60</a:t>
            </a:r>
            <a:endParaRPr lang="en-US" sz="1800" dirty="0"/>
          </a:p>
        </p:txBody>
      </p:sp>
      <p:sp>
        <p:nvSpPr>
          <p:cNvPr id="17" name="Shape 14"/>
          <p:cNvSpPr/>
          <p:nvPr/>
        </p:nvSpPr>
        <p:spPr>
          <a:xfrm>
            <a:off x="8095488" y="132588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60–90</a:t>
            </a:r>
            <a:endParaRPr lang="en-US" sz="1800" dirty="0"/>
          </a:p>
        </p:txBody>
      </p:sp>
      <p:sp>
        <p:nvSpPr>
          <p:cNvPr id="21" name="Shape 18"/>
          <p:cNvSpPr/>
          <p:nvPr/>
        </p:nvSpPr>
        <p:spPr>
          <a:xfrm>
            <a:off x="548640" y="342900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3611880"/>
            <a:ext cx="457200" cy="457200"/>
          </a:xfrm>
          <a:prstGeom prst="ellipse">
            <a:avLst/>
          </a:prstGeom>
          <a:solidFill>
            <a:srgbClr val="F7A23B"/>
          </a:solidFill>
          <a:ln/>
        </p:spPr>
      </p:sp>
      <p:sp>
        <p:nvSpPr>
          <p:cNvPr id="23" name="Text 20"/>
          <p:cNvSpPr/>
          <p:nvPr/>
        </p:nvSpPr>
        <p:spPr>
          <a:xfrm>
            <a:off x="731520" y="36118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53872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&gt; 90</a:t>
            </a:r>
            <a:endParaRPr lang="en-US" sz="1800" dirty="0"/>
          </a:p>
        </p:txBody>
      </p:sp>
      <p:sp>
        <p:nvSpPr>
          <p:cNvPr id="25" name="Shape 22"/>
          <p:cNvSpPr/>
          <p:nvPr/>
        </p:nvSpPr>
        <p:spPr>
          <a:xfrm>
            <a:off x="4322064" y="342900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3611880"/>
            <a:ext cx="457200" cy="457200"/>
          </a:xfrm>
          <a:prstGeom prst="ellipse">
            <a:avLst/>
          </a:prstGeom>
          <a:solidFill>
            <a:srgbClr val="1B3A6B"/>
          </a:solidFill>
          <a:ln/>
        </p:spPr>
      </p:sp>
      <p:sp>
        <p:nvSpPr>
          <p:cNvPr id="27" name="Text 24"/>
          <p:cNvSpPr/>
          <p:nvPr/>
        </p:nvSpPr>
        <p:spPr>
          <a:xfrm>
            <a:off x="4504944" y="36118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53872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recuperação no mês</a:t>
            </a:r>
            <a:endParaRPr lang="en-US" sz="1800" dirty="0"/>
          </a:p>
        </p:txBody>
      </p:sp>
      <p:sp>
        <p:nvSpPr>
          <p:cNvPr id="29" name="Shape 26"/>
          <p:cNvSpPr/>
          <p:nvPr/>
        </p:nvSpPr>
        <p:spPr>
          <a:xfrm>
            <a:off x="8095488" y="3429000"/>
            <a:ext cx="3544824" cy="1874520"/>
          </a:xfrm>
          <a:prstGeom prst="roundRect">
            <a:avLst>
              <a:gd name="adj" fmla="val 3902"/>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278368" y="3611880"/>
            <a:ext cx="457200" cy="457200"/>
          </a:xfrm>
          <a:prstGeom prst="ellipse">
            <a:avLst/>
          </a:prstGeom>
          <a:solidFill>
            <a:srgbClr val="F7A23B"/>
          </a:solidFill>
          <a:ln/>
        </p:spPr>
      </p:sp>
      <p:sp>
        <p:nvSpPr>
          <p:cNvPr id="31" name="Text 28"/>
          <p:cNvSpPr/>
          <p:nvPr/>
        </p:nvSpPr>
        <p:spPr>
          <a:xfrm>
            <a:off x="8278368" y="36118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872728" y="3538728"/>
            <a:ext cx="2630424" cy="16550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inadimplência por consultor</a:t>
            </a:r>
            <a:endParaRPr lang="en-US" sz="1800" dirty="0"/>
          </a:p>
        </p:txBody>
      </p:sp>
      <p:sp>
        <p:nvSpPr>
          <p:cNvPr id="33" name="Shape 30"/>
          <p:cNvSpPr/>
          <p:nvPr/>
        </p:nvSpPr>
        <p:spPr>
          <a:xfrm>
            <a:off x="548640" y="5413248"/>
            <a:ext cx="11091672" cy="868680"/>
          </a:xfrm>
          <a:prstGeom prst="roundRect">
            <a:avLst>
              <a:gd name="adj" fmla="val 8421"/>
            </a:avLst>
          </a:prstGeom>
          <a:solidFill>
            <a:srgbClr val="EEF3FA"/>
          </a:solidFill>
          <a:ln w="6350">
            <a:solidFill>
              <a:srgbClr val="D8E0EC"/>
            </a:solidFill>
            <a:prstDash val="solid"/>
          </a:ln>
        </p:spPr>
      </p:sp>
      <p:sp>
        <p:nvSpPr>
          <p:cNvPr id="34" name="Shape 31"/>
          <p:cNvSpPr/>
          <p:nvPr/>
        </p:nvSpPr>
        <p:spPr>
          <a:xfrm>
            <a:off x="548640" y="5413248"/>
            <a:ext cx="91440" cy="868680"/>
          </a:xfrm>
          <a:prstGeom prst="rect">
            <a:avLst/>
          </a:prstGeom>
          <a:solidFill>
            <a:srgbClr val="F7A23B"/>
          </a:solidFill>
          <a:ln/>
        </p:spPr>
      </p:sp>
      <p:sp>
        <p:nvSpPr>
          <p:cNvPr id="35" name="Text 32"/>
          <p:cNvSpPr/>
          <p:nvPr/>
        </p:nvSpPr>
        <p:spPr>
          <a:xfrm>
            <a:off x="777240" y="5458968"/>
            <a:ext cx="10744200" cy="777240"/>
          </a:xfrm>
          <a:prstGeom prst="rect">
            <a:avLst/>
          </a:prstGeom>
          <a:noFill/>
          <a:ln/>
        </p:spPr>
        <p:txBody>
          <a:bodyPr wrap="square" rtlCol="0" anchor="ctr"/>
          <a:lstStyle/>
          <a:p>
            <a:pPr indent="0" marL="0">
              <a:buNone/>
            </a:pPr>
            <a:r>
              <a:rPr lang="en-US" sz="1500" dirty="0">
                <a:solidFill>
                  <a:srgbClr val="1F2937"/>
                </a:solidFill>
                <a:latin typeface="Arial" pitchFamily="34" charset="0"/>
                <a:ea typeface="Arial" pitchFamily="34" charset="-122"/>
                <a:cs typeface="Arial" pitchFamily="34" charset="-120"/>
              </a:rPr>
              <a:t>Meça por faixa de atraso e por consultor.</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4</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RESUMO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548640"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Régua: D−3</a:t>
            </a:r>
            <a:endParaRPr lang="en-US" sz="1800" dirty="0"/>
          </a:p>
        </p:txBody>
      </p:sp>
      <p:sp>
        <p:nvSpPr>
          <p:cNvPr id="13" name="Shape 10"/>
          <p:cNvSpPr/>
          <p:nvPr/>
        </p:nvSpPr>
        <p:spPr>
          <a:xfrm>
            <a:off x="4322064"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D+1</a:t>
            </a:r>
            <a:endParaRPr lang="en-US" sz="1800" dirty="0"/>
          </a:p>
        </p:txBody>
      </p:sp>
      <p:sp>
        <p:nvSpPr>
          <p:cNvPr id="17" name="Shape 14"/>
          <p:cNvSpPr/>
          <p:nvPr/>
        </p:nvSpPr>
        <p:spPr>
          <a:xfrm>
            <a:off x="8095488" y="132588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 cada 5 dias</a:t>
            </a:r>
            <a:endParaRPr lang="en-US" sz="1800" dirty="0"/>
          </a:p>
        </p:txBody>
      </p:sp>
      <p:sp>
        <p:nvSpPr>
          <p:cNvPr id="21" name="Shape 18"/>
          <p:cNvSpPr/>
          <p:nvPr/>
        </p:nvSpPr>
        <p:spPr>
          <a:xfrm>
            <a:off x="548640"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4069080"/>
            <a:ext cx="457200" cy="457200"/>
          </a:xfrm>
          <a:prstGeom prst="ellipse">
            <a:avLst/>
          </a:prstGeom>
          <a:solidFill>
            <a:srgbClr val="F7A23B"/>
          </a:solidFill>
          <a:ln/>
        </p:spPr>
      </p:sp>
      <p:sp>
        <p:nvSpPr>
          <p:cNvPr id="23" name="Text 20"/>
          <p:cNvSpPr/>
          <p:nvPr/>
        </p:nvSpPr>
        <p:spPr>
          <a:xfrm>
            <a:off x="7315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D+15</a:t>
            </a:r>
            <a:endParaRPr lang="en-US" sz="1800" dirty="0"/>
          </a:p>
        </p:txBody>
      </p:sp>
      <p:sp>
        <p:nvSpPr>
          <p:cNvPr id="25" name="Shape 22"/>
          <p:cNvSpPr/>
          <p:nvPr/>
        </p:nvSpPr>
        <p:spPr>
          <a:xfrm>
            <a:off x="4322064"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4069080"/>
            <a:ext cx="457200" cy="457200"/>
          </a:xfrm>
          <a:prstGeom prst="ellipse">
            <a:avLst/>
          </a:prstGeom>
          <a:solidFill>
            <a:srgbClr val="1B3A6B"/>
          </a:solidFill>
          <a:ln/>
        </p:spPr>
      </p:sp>
      <p:sp>
        <p:nvSpPr>
          <p:cNvPr id="27" name="Text 24"/>
          <p:cNvSpPr/>
          <p:nvPr/>
        </p:nvSpPr>
        <p:spPr>
          <a:xfrm>
            <a:off x="4504944"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D+30</a:t>
            </a:r>
            <a:endParaRPr lang="en-US" sz="1800" dirty="0"/>
          </a:p>
        </p:txBody>
      </p:sp>
      <p:sp>
        <p:nvSpPr>
          <p:cNvPr id="29" name="Shape 26"/>
          <p:cNvSpPr/>
          <p:nvPr/>
        </p:nvSpPr>
        <p:spPr>
          <a:xfrm>
            <a:off x="8095488" y="3886200"/>
            <a:ext cx="3544824"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278368" y="4069080"/>
            <a:ext cx="457200" cy="457200"/>
          </a:xfrm>
          <a:prstGeom prst="ellipse">
            <a:avLst/>
          </a:prstGeom>
          <a:solidFill>
            <a:srgbClr val="F7A23B"/>
          </a:solidFill>
          <a:ln/>
        </p:spPr>
      </p:sp>
      <p:sp>
        <p:nvSpPr>
          <p:cNvPr id="31" name="Text 28"/>
          <p:cNvSpPr/>
          <p:nvPr/>
        </p:nvSpPr>
        <p:spPr>
          <a:xfrm>
            <a:off x="8278368"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872728" y="3995928"/>
            <a:ext cx="2630424"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tom certo</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05</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5</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M8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Prática na plataforma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gerando a cobrança e emitindo o Pix</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Gerar a cobrança a partir da fatura, conferir, abrir para pagamento e emitir Pix e boleto</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5</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GERANDO A COBRANÇA E EMITINDO O PIX</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(1/2)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cobranca.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Detalhe da cobrança</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1  </a:t>
            </a:r>
            <a:pPr indent="0" marL="0">
              <a:buNone/>
            </a:pPr>
            <a:r>
              <a:rPr lang="en-US" sz="1400" b="1" dirty="0">
                <a:solidFill>
                  <a:srgbClr val="1B3A6B"/>
                </a:solidFill>
                <a:latin typeface="Arial" pitchFamily="34" charset="0"/>
                <a:ea typeface="Arial" pitchFamily="34" charset="-122"/>
                <a:cs typeface="Arial" pitchFamily="34" charset="-120"/>
              </a:rPr>
              <a:t>Gerando a cobrança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Na fatura aprovada, gere a cobrança, ou aguarde a rotina. Ela aparece em Cobranças de Faturas como rascunho.</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2  </a:t>
            </a:r>
            <a:pPr indent="0" marL="0">
              <a:buNone/>
            </a:pPr>
            <a:r>
              <a:rPr lang="en-US" sz="1400" b="1" dirty="0">
                <a:solidFill>
                  <a:srgbClr val="1B3A6B"/>
                </a:solidFill>
                <a:latin typeface="Arial" pitchFamily="34" charset="0"/>
                <a:ea typeface="Arial" pitchFamily="34" charset="-122"/>
                <a:cs typeface="Arial" pitchFamily="34" charset="-120"/>
              </a:rPr>
              <a:t>Conferindo antes de abrir</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Confira referência, vencimento, consumo injetado, desconto e valor total.</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3  </a:t>
            </a:r>
            <a:pPr indent="0" marL="0">
              <a:buNone/>
            </a:pPr>
            <a:r>
              <a:rPr lang="en-US" sz="1400" b="1" dirty="0">
                <a:solidFill>
                  <a:srgbClr val="1B3A6B"/>
                </a:solidFill>
                <a:latin typeface="Arial" pitchFamily="34" charset="0"/>
                <a:ea typeface="Arial" pitchFamily="34" charset="-122"/>
                <a:cs typeface="Arial" pitchFamily="34" charset="-120"/>
              </a:rPr>
              <a:t>Abrindo para pagamento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Em Ações Disponíveis, clique em Abrir esta cobrança para pagamento.</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4  </a:t>
            </a:r>
            <a:pPr indent="0" marL="0">
              <a:buNone/>
            </a:pPr>
            <a:r>
              <a:rPr lang="en-US" sz="1400" b="1" dirty="0">
                <a:solidFill>
                  <a:srgbClr val="1B3A6B"/>
                </a:solidFill>
                <a:latin typeface="Arial" pitchFamily="34" charset="0"/>
                <a:ea typeface="Arial" pitchFamily="34" charset="-122"/>
                <a:cs typeface="Arial" pitchFamily="34" charset="-120"/>
              </a:rPr>
              <a:t>Emitindo o Pix</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Gere o pagamento por Pix: o código aparece em Pagamentos Gerados e o cliente recebe o e-mail automaticamente.</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5</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GERANDO A COBRANÇA E EMITINDO O PIX</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(2/2)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cobrancas.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Cobranças</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5  </a:t>
            </a:r>
            <a:pPr indent="0" marL="0">
              <a:buNone/>
            </a:pPr>
            <a:r>
              <a:rPr lang="en-US" sz="1400" b="1" dirty="0">
                <a:solidFill>
                  <a:srgbClr val="1B3A6B"/>
                </a:solidFill>
                <a:latin typeface="Arial" pitchFamily="34" charset="0"/>
                <a:ea typeface="Arial" pitchFamily="34" charset="-122"/>
                <a:cs typeface="Arial" pitchFamily="34" charset="-120"/>
              </a:rPr>
              <a:t>Enviando pelo WhatsApp e emitindo boleto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Envie pelo WhatsApp com um clique. Para boleto, o cliente precisa ter endereço completo.</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06</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6</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M8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Prática na plataforma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pagamento, baixa automática e o portal do cliente</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Simular pagamentos, acompanhar a baixa automática, ver o portal do cliente e confirmar pagamento manual</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6</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6 · PAGAMENTO, BAIXA AUTOMÁTICA E O PORTAL DO CLIENTE</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na plataforma</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cliente_cobrancas.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Cobranças no portal do cliente</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1  </a:t>
            </a:r>
            <a:pPr indent="0" marL="0">
              <a:buNone/>
            </a:pPr>
            <a:r>
              <a:rPr lang="en-US" sz="1400" b="1" dirty="0">
                <a:solidFill>
                  <a:srgbClr val="1B3A6B"/>
                </a:solidFill>
                <a:latin typeface="Arial" pitchFamily="34" charset="0"/>
                <a:ea typeface="Arial" pitchFamily="34" charset="-122"/>
                <a:cs typeface="Arial" pitchFamily="34" charset="-120"/>
              </a:rPr>
              <a:t>O cliente paga pelo portal</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Como Cliente, abra Minhas Cobranças: Pix copia e cola e boleto em PDF prontos para pagar.</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2  </a:t>
            </a:r>
            <a:pPr indent="0" marL="0">
              <a:buNone/>
            </a:pPr>
            <a:r>
              <a:rPr lang="en-US" sz="1400" b="1" dirty="0">
                <a:solidFill>
                  <a:srgbClr val="1B3A6B"/>
                </a:solidFill>
                <a:latin typeface="Arial" pitchFamily="34" charset="0"/>
                <a:ea typeface="Arial" pitchFamily="34" charset="-122"/>
                <a:cs typeface="Arial" pitchFamily="34" charset="-120"/>
              </a:rPr>
              <a:t>Simulando o pagamento e a baixa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Como Administrador, simule o pagamento: a cobrança fica paga sozinha, com o histórico registrado.</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3  </a:t>
            </a:r>
            <a:pPr indent="0" marL="0">
              <a:buNone/>
            </a:pPr>
            <a:r>
              <a:rPr lang="en-US" sz="1400" b="1" dirty="0">
                <a:solidFill>
                  <a:srgbClr val="1B3A6B"/>
                </a:solidFill>
                <a:latin typeface="Arial" pitchFamily="34" charset="0"/>
                <a:ea typeface="Arial" pitchFamily="34" charset="-122"/>
                <a:cs typeface="Arial" pitchFamily="34" charset="-120"/>
              </a:rPr>
              <a:t>Acompanhando os pagamentos</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Em Financeiro, Pagamentos, acompanhe todos os Pix e boletos e sincronize sob demanda.</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4  </a:t>
            </a:r>
            <a:pPr indent="0" marL="0">
              <a:buNone/>
            </a:pPr>
            <a:r>
              <a:rPr lang="en-US" sz="1400" b="1" dirty="0">
                <a:solidFill>
                  <a:srgbClr val="1B3A6B"/>
                </a:solidFill>
                <a:latin typeface="Arial" pitchFamily="34" charset="0"/>
                <a:ea typeface="Arial" pitchFamily="34" charset="-122"/>
                <a:cs typeface="Arial" pitchFamily="34" charset="-120"/>
              </a:rPr>
              <a:t>Pagamento fora do sistema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Recebeu por fora? Use Confirmar Pagamento com data e observação: o boleto ativo é cancelado.</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6</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6 · NA PLATAFORMA</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Pagamentos</a:t>
            </a:r>
            <a:endParaRPr lang="en-US" sz="2600" dirty="0"/>
          </a:p>
        </p:txBody>
      </p:sp>
      <p:sp>
        <p:nvSpPr>
          <p:cNvPr id="9" name="Shape 6"/>
          <p:cNvSpPr/>
          <p:nvPr/>
        </p:nvSpPr>
        <p:spPr>
          <a:xfrm>
            <a:off x="1380744" y="1225296"/>
            <a:ext cx="9400032" cy="5319522"/>
          </a:xfrm>
          <a:prstGeom prst="roundRect">
            <a:avLst>
              <a:gd name="adj" fmla="val 1031"/>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pagamentos.jpg">    </p:cNvPr>
          <p:cNvPicPr>
            <a:picLocks noChangeAspect="1"/>
          </p:cNvPicPr>
          <p:nvPr/>
        </p:nvPicPr>
        <p:blipFill>
          <a:blip r:embed="rId2"/>
          <a:stretch>
            <a:fillRect/>
          </a:stretch>
        </p:blipFill>
        <p:spPr>
          <a:xfrm>
            <a:off x="1417320" y="1261872"/>
            <a:ext cx="9326880" cy="5246370"/>
          </a:xfrm>
          <a:prstGeom prst="rect">
            <a:avLst/>
          </a:prstGeom>
        </p:spPr>
      </p:pic>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457200" y="548640"/>
            <a:ext cx="3474720" cy="1737360"/>
          </a:xfrm>
          <a:prstGeom prst="rect">
            <a:avLst/>
          </a:prstGeom>
          <a:noFill/>
          <a:ln/>
        </p:spPr>
        <p:txBody>
          <a:bodyPr wrap="square" rtlCol="0" anchor="ctr"/>
          <a:lstStyle/>
          <a:p>
            <a:pPr indent="0" marL="0">
              <a:buNone/>
            </a:pPr>
            <a:r>
              <a:rPr lang="en-US" sz="11000" b="1" dirty="0">
                <a:solidFill>
                  <a:srgbClr val="11396F"/>
                </a:solidFill>
                <a:latin typeface="Arial" pitchFamily="34" charset="0"/>
                <a:ea typeface="Arial" pitchFamily="34" charset="-122"/>
                <a:cs typeface="Arial" pitchFamily="34" charset="-120"/>
              </a:rPr>
              <a:t>07</a:t>
            </a:r>
            <a:endParaRPr lang="en-US" sz="11000" dirty="0"/>
          </a:p>
        </p:txBody>
      </p:sp>
      <p:sp>
        <p:nvSpPr>
          <p:cNvPr id="4" name="Text 2"/>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7</a:t>
            </a:r>
            <a:endParaRPr lang="en-US" sz="1800" dirty="0"/>
          </a:p>
        </p:txBody>
      </p:sp>
      <p:sp>
        <p:nvSpPr>
          <p:cNvPr id="5" name="Text 3"/>
          <p:cNvSpPr/>
          <p:nvPr/>
        </p:nvSpPr>
        <p:spPr>
          <a:xfrm>
            <a:off x="548640" y="3200400"/>
            <a:ext cx="3383280" cy="457200"/>
          </a:xfrm>
          <a:prstGeom prst="rect">
            <a:avLst/>
          </a:prstGeom>
          <a:noFill/>
          <a:ln/>
        </p:spPr>
        <p:txBody>
          <a:bodyPr wrap="square" rtlCol="0" anchor="ctr"/>
          <a:lstStyle/>
          <a:p>
            <a:pPr indent="0" marL="0">
              <a:buNone/>
            </a:pPr>
            <a:r>
              <a:rPr lang="en-US" sz="1100" dirty="0">
                <a:solidFill>
                  <a:srgbClr val="C7D2E3"/>
                </a:solidFill>
                <a:latin typeface="Arial" pitchFamily="34" charset="0"/>
                <a:ea typeface="Arial" pitchFamily="34" charset="-122"/>
                <a:cs typeface="Arial" pitchFamily="34" charset="-120"/>
              </a:rPr>
              <a:t>M8 · Etapa 3 · Operação ponta a ponta</a:t>
            </a:r>
            <a:endParaRPr lang="en-US" sz="1100" dirty="0"/>
          </a:p>
        </p:txBody>
      </p:sp>
      <p:sp>
        <p:nvSpPr>
          <p:cNvPr id="6" name="Text 4"/>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Prática na plataforma</a:t>
            </a:r>
            <a:endParaRPr lang="en-US" sz="1400" dirty="0"/>
          </a:p>
        </p:txBody>
      </p:sp>
      <p:pic>
        <p:nvPicPr>
          <p:cNvPr id="7"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8" name="Text 5"/>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vencimento, boleto vencido e reemissão</a:t>
            </a:r>
            <a:endParaRPr lang="en-US" sz="3200" dirty="0"/>
          </a:p>
        </p:txBody>
      </p:sp>
      <p:sp>
        <p:nvSpPr>
          <p:cNvPr id="9" name="Text 6"/>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Ver a régua automática funcionando: lembrete, vencida, boleto vencido, reemissão e alteração de vencimento</a:t>
            </a:r>
            <a:endParaRPr lang="en-US" sz="1500" dirty="0"/>
          </a:p>
        </p:txBody>
      </p:sp>
      <p:sp>
        <p:nvSpPr>
          <p:cNvPr id="10" name="Text 7"/>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7</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7 · VENCIMENTO, BOLETO VENCIDO E REEMISSÃO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(1/2)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cobranca.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Detalhe da cobrança</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1  </a:t>
            </a:r>
            <a:pPr indent="0" marL="0">
              <a:buNone/>
            </a:pPr>
            <a:r>
              <a:rPr lang="en-US" sz="1400" b="1" dirty="0">
                <a:solidFill>
                  <a:srgbClr val="1B3A6B"/>
                </a:solidFill>
                <a:latin typeface="Arial" pitchFamily="34" charset="0"/>
                <a:ea typeface="Arial" pitchFamily="34" charset="-122"/>
                <a:cs typeface="Arial" pitchFamily="34" charset="-120"/>
              </a:rPr>
              <a:t>Três dias antes: o lembrete</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Três dias antes: e-mail ao cliente e alerta ao consultor com a mensagem de WhatsApp pronta.</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2  </a:t>
            </a:r>
            <a:pPr indent="0" marL="0">
              <a:buNone/>
            </a:pPr>
            <a:r>
              <a:rPr lang="en-US" sz="1400" b="1" dirty="0">
                <a:solidFill>
                  <a:srgbClr val="1B3A6B"/>
                </a:solidFill>
                <a:latin typeface="Arial" pitchFamily="34" charset="0"/>
                <a:ea typeface="Arial" pitchFamily="34" charset="-122"/>
                <a:cs typeface="Arial" pitchFamily="34" charset="-120"/>
              </a:rPr>
              <a:t>Venceu: cobrança vencida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No dia seguinte ao vencimento, a cobrança é marcada como vencida sozinha.</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3  </a:t>
            </a:r>
            <a:pPr indent="0" marL="0">
              <a:buNone/>
            </a:pPr>
            <a:r>
              <a:rPr lang="en-US" sz="1400" b="1" dirty="0">
                <a:solidFill>
                  <a:srgbClr val="1B3A6B"/>
                </a:solidFill>
                <a:latin typeface="Arial" pitchFamily="34" charset="0"/>
                <a:ea typeface="Arial" pitchFamily="34" charset="-122"/>
                <a:cs typeface="Arial" pitchFamily="34" charset="-120"/>
              </a:rPr>
              <a:t>Boleto vencido e reemissão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Boleto vencido: PDF bloqueado e alerta para reemitir. Gere o novo boleto e envie.</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4  </a:t>
            </a:r>
            <a:pPr indent="0" marL="0">
              <a:buNone/>
            </a:pPr>
            <a:r>
              <a:rPr lang="en-US" sz="1400" b="1" dirty="0">
                <a:solidFill>
                  <a:srgbClr val="1B3A6B"/>
                </a:solidFill>
                <a:latin typeface="Arial" pitchFamily="34" charset="0"/>
                <a:ea typeface="Arial" pitchFamily="34" charset="-122"/>
                <a:cs typeface="Arial" pitchFamily="34" charset="-120"/>
              </a:rPr>
              <a:t>O cliente pediu outra data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Use Editar vencimento: o pagamento anterior é cancelado, um novo é emitido e tudo fica no histórico.</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Aula 7</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7 · VENCIMENTO, BOLETO VENCIDO E REEMISSÃO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(2/2)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alertas.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Alertas operacionais</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5  </a:t>
            </a:r>
            <a:pPr indent="0" marL="0">
              <a:buNone/>
            </a:pPr>
            <a:r>
              <a:rPr lang="en-US" sz="1400" b="1" dirty="0">
                <a:solidFill>
                  <a:srgbClr val="1B3A6B"/>
                </a:solidFill>
                <a:latin typeface="Arial" pitchFamily="34" charset="0"/>
                <a:ea typeface="Arial" pitchFamily="34" charset="-122"/>
                <a:cs typeface="Arial" pitchFamily="34" charset="-120"/>
              </a:rPr>
              <a:t>A cobrança humana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Nos contatos humanos, use Cobrar via WhatsApp e Enviar Lembrete.</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Teste rápido</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QUESTÕES 1–2 DE 7</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Teste rápido</a:t>
            </a:r>
            <a:endParaRPr lang="en-US" sz="2600" dirty="0"/>
          </a:p>
        </p:txBody>
      </p:sp>
      <p:sp>
        <p:nvSpPr>
          <p:cNvPr id="9" name="Shape 6"/>
          <p:cNvSpPr/>
          <p:nvPr/>
        </p:nvSpPr>
        <p:spPr>
          <a:xfrm>
            <a:off x="548640" y="1325880"/>
            <a:ext cx="502920" cy="502920"/>
          </a:xfrm>
          <a:prstGeom prst="ellipse">
            <a:avLst/>
          </a:prstGeom>
          <a:solidFill>
            <a:srgbClr val="1B3A6B"/>
          </a:solidFill>
          <a:ln/>
        </p:spPr>
      </p:sp>
      <p:sp>
        <p:nvSpPr>
          <p:cNvPr id="10" name="Text 7"/>
          <p:cNvSpPr/>
          <p:nvPr/>
        </p:nvSpPr>
        <p:spPr>
          <a:xfrm>
            <a:off x="548640" y="13258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1" name="Text 8"/>
          <p:cNvSpPr/>
          <p:nvPr/>
        </p:nvSpPr>
        <p:spPr>
          <a:xfrm>
            <a:off x="1234440" y="1280160"/>
            <a:ext cx="10424160" cy="640080"/>
          </a:xfrm>
          <a:prstGeom prst="rect">
            <a:avLst/>
          </a:prstGeom>
          <a:noFill/>
          <a:ln/>
        </p:spPr>
        <p:txBody>
          <a:bodyPr wrap="square" rtlCol="0" anchor="ctr"/>
          <a:lstStyle/>
          <a:p>
            <a:pPr indent="0" marL="0">
              <a:buNone/>
            </a:pPr>
            <a:r>
              <a:rPr lang="en-US" sz="1800" b="1" dirty="0">
                <a:solidFill>
                  <a:srgbClr val="1B3A6B"/>
                </a:solidFill>
                <a:latin typeface="Arial" pitchFamily="34" charset="0"/>
                <a:ea typeface="Arial" pitchFamily="34" charset="-122"/>
                <a:cs typeface="Arial" pitchFamily="34" charset="-120"/>
              </a:rPr>
              <a:t>A cobrança nasce com status:</a:t>
            </a:r>
            <a:endParaRPr lang="en-US" sz="1800" dirty="0"/>
          </a:p>
        </p:txBody>
      </p:sp>
      <p:sp>
        <p:nvSpPr>
          <p:cNvPr id="12" name="Shape 9"/>
          <p:cNvSpPr/>
          <p:nvPr/>
        </p:nvSpPr>
        <p:spPr>
          <a:xfrm>
            <a:off x="548640" y="2057400"/>
            <a:ext cx="2601468" cy="1463040"/>
          </a:xfrm>
          <a:prstGeom prst="roundRect">
            <a:avLst>
              <a:gd name="adj" fmla="val 5000"/>
            </a:avLst>
          </a:prstGeom>
          <a:solidFill>
            <a:srgbClr val="FFFFFF"/>
          </a:solidFill>
          <a:ln w="9525">
            <a:solidFill>
              <a:srgbClr val="D8E0EC"/>
            </a:solidFill>
            <a:prstDash val="solid"/>
          </a:ln>
        </p:spPr>
      </p:sp>
      <p:sp>
        <p:nvSpPr>
          <p:cNvPr id="13" name="Text 10"/>
          <p:cNvSpPr/>
          <p:nvPr/>
        </p:nvSpPr>
        <p:spPr>
          <a:xfrm>
            <a:off x="685800"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A</a:t>
            </a:r>
            <a:endParaRPr lang="en-US" sz="1400" dirty="0"/>
          </a:p>
        </p:txBody>
      </p:sp>
      <p:sp>
        <p:nvSpPr>
          <p:cNvPr id="14" name="Text 11"/>
          <p:cNvSpPr/>
          <p:nvPr/>
        </p:nvSpPr>
        <p:spPr>
          <a:xfrm>
            <a:off x="685800"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rascunho</a:t>
            </a:r>
            <a:endParaRPr lang="en-US" sz="1500" dirty="0"/>
          </a:p>
        </p:txBody>
      </p:sp>
      <p:sp>
        <p:nvSpPr>
          <p:cNvPr id="15" name="Shape 12"/>
          <p:cNvSpPr/>
          <p:nvPr/>
        </p:nvSpPr>
        <p:spPr>
          <a:xfrm>
            <a:off x="3378708" y="2057400"/>
            <a:ext cx="2601468" cy="1463040"/>
          </a:xfrm>
          <a:prstGeom prst="roundRect">
            <a:avLst>
              <a:gd name="adj" fmla="val 5000"/>
            </a:avLst>
          </a:prstGeom>
          <a:solidFill>
            <a:srgbClr val="FFFFFF"/>
          </a:solidFill>
          <a:ln w="9525">
            <a:solidFill>
              <a:srgbClr val="D8E0EC"/>
            </a:solidFill>
            <a:prstDash val="solid"/>
          </a:ln>
        </p:spPr>
      </p:sp>
      <p:sp>
        <p:nvSpPr>
          <p:cNvPr id="16" name="Text 13"/>
          <p:cNvSpPr/>
          <p:nvPr/>
        </p:nvSpPr>
        <p:spPr>
          <a:xfrm>
            <a:off x="3515868"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B</a:t>
            </a:r>
            <a:endParaRPr lang="en-US" sz="1400" dirty="0"/>
          </a:p>
        </p:txBody>
      </p:sp>
      <p:sp>
        <p:nvSpPr>
          <p:cNvPr id="17" name="Text 14"/>
          <p:cNvSpPr/>
          <p:nvPr/>
        </p:nvSpPr>
        <p:spPr>
          <a:xfrm>
            <a:off x="3515868"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paga</a:t>
            </a:r>
            <a:endParaRPr lang="en-US" sz="1500" dirty="0"/>
          </a:p>
        </p:txBody>
      </p:sp>
      <p:sp>
        <p:nvSpPr>
          <p:cNvPr id="18" name="Shape 15"/>
          <p:cNvSpPr/>
          <p:nvPr/>
        </p:nvSpPr>
        <p:spPr>
          <a:xfrm>
            <a:off x="6208776" y="2057400"/>
            <a:ext cx="2601468" cy="1463040"/>
          </a:xfrm>
          <a:prstGeom prst="roundRect">
            <a:avLst>
              <a:gd name="adj" fmla="val 5000"/>
            </a:avLst>
          </a:prstGeom>
          <a:solidFill>
            <a:srgbClr val="FFFFFF"/>
          </a:solidFill>
          <a:ln w="9525">
            <a:solidFill>
              <a:srgbClr val="D8E0EC"/>
            </a:solidFill>
            <a:prstDash val="solid"/>
          </a:ln>
        </p:spPr>
      </p:sp>
      <p:sp>
        <p:nvSpPr>
          <p:cNvPr id="19" name="Text 16"/>
          <p:cNvSpPr/>
          <p:nvPr/>
        </p:nvSpPr>
        <p:spPr>
          <a:xfrm>
            <a:off x="6345936"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C</a:t>
            </a:r>
            <a:endParaRPr lang="en-US" sz="1400" dirty="0"/>
          </a:p>
        </p:txBody>
      </p:sp>
      <p:sp>
        <p:nvSpPr>
          <p:cNvPr id="20" name="Text 17"/>
          <p:cNvSpPr/>
          <p:nvPr/>
        </p:nvSpPr>
        <p:spPr>
          <a:xfrm>
            <a:off x="6345936"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vencida</a:t>
            </a:r>
            <a:endParaRPr lang="en-US" sz="1500" dirty="0"/>
          </a:p>
        </p:txBody>
      </p:sp>
      <p:sp>
        <p:nvSpPr>
          <p:cNvPr id="21" name="Shape 18"/>
          <p:cNvSpPr/>
          <p:nvPr/>
        </p:nvSpPr>
        <p:spPr>
          <a:xfrm>
            <a:off x="9038844" y="2057400"/>
            <a:ext cx="2601468" cy="1463040"/>
          </a:xfrm>
          <a:prstGeom prst="roundRect">
            <a:avLst>
              <a:gd name="adj" fmla="val 5000"/>
            </a:avLst>
          </a:prstGeom>
          <a:solidFill>
            <a:srgbClr val="FFFFFF"/>
          </a:solidFill>
          <a:ln w="9525">
            <a:solidFill>
              <a:srgbClr val="D8E0EC"/>
            </a:solidFill>
            <a:prstDash val="solid"/>
          </a:ln>
        </p:spPr>
      </p:sp>
      <p:sp>
        <p:nvSpPr>
          <p:cNvPr id="22" name="Text 19"/>
          <p:cNvSpPr/>
          <p:nvPr/>
        </p:nvSpPr>
        <p:spPr>
          <a:xfrm>
            <a:off x="9176004"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D</a:t>
            </a:r>
            <a:endParaRPr lang="en-US" sz="1400" dirty="0"/>
          </a:p>
        </p:txBody>
      </p:sp>
      <p:sp>
        <p:nvSpPr>
          <p:cNvPr id="23" name="Text 20"/>
          <p:cNvSpPr/>
          <p:nvPr/>
        </p:nvSpPr>
        <p:spPr>
          <a:xfrm>
            <a:off x="9176004"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aberta</a:t>
            </a:r>
            <a:endParaRPr lang="en-US" sz="1500" dirty="0"/>
          </a:p>
        </p:txBody>
      </p:sp>
      <p:sp>
        <p:nvSpPr>
          <p:cNvPr id="24" name="Shape 21"/>
          <p:cNvSpPr/>
          <p:nvPr/>
        </p:nvSpPr>
        <p:spPr>
          <a:xfrm>
            <a:off x="548640" y="3840480"/>
            <a:ext cx="502920" cy="502920"/>
          </a:xfrm>
          <a:prstGeom prst="ellipse">
            <a:avLst/>
          </a:prstGeom>
          <a:solidFill>
            <a:srgbClr val="1B3A6B"/>
          </a:solidFill>
          <a:ln/>
        </p:spPr>
      </p:sp>
      <p:sp>
        <p:nvSpPr>
          <p:cNvPr id="25" name="Text 22"/>
          <p:cNvSpPr/>
          <p:nvPr/>
        </p:nvSpPr>
        <p:spPr>
          <a:xfrm>
            <a:off x="548640" y="38404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6" name="Text 23"/>
          <p:cNvSpPr/>
          <p:nvPr/>
        </p:nvSpPr>
        <p:spPr>
          <a:xfrm>
            <a:off x="1234440" y="3794760"/>
            <a:ext cx="10424160" cy="640080"/>
          </a:xfrm>
          <a:prstGeom prst="rect">
            <a:avLst/>
          </a:prstGeom>
          <a:noFill/>
          <a:ln/>
        </p:spPr>
        <p:txBody>
          <a:bodyPr wrap="square" rtlCol="0" anchor="ctr"/>
          <a:lstStyle/>
          <a:p>
            <a:pPr indent="0" marL="0">
              <a:buNone/>
            </a:pPr>
            <a:r>
              <a:rPr lang="en-US" sz="1800" b="1" dirty="0">
                <a:solidFill>
                  <a:srgbClr val="1B3A6B"/>
                </a:solidFill>
                <a:latin typeface="Arial" pitchFamily="34" charset="0"/>
                <a:ea typeface="Arial" pitchFamily="34" charset="-122"/>
                <a:cs typeface="Arial" pitchFamily="34" charset="-120"/>
              </a:rPr>
              <a:t>O Pix ou boleto é gerado:</a:t>
            </a:r>
            <a:endParaRPr lang="en-US" sz="1800" dirty="0"/>
          </a:p>
        </p:txBody>
      </p:sp>
      <p:sp>
        <p:nvSpPr>
          <p:cNvPr id="27" name="Shape 24"/>
          <p:cNvSpPr/>
          <p:nvPr/>
        </p:nvSpPr>
        <p:spPr>
          <a:xfrm>
            <a:off x="548640" y="4572000"/>
            <a:ext cx="2601468" cy="1463040"/>
          </a:xfrm>
          <a:prstGeom prst="roundRect">
            <a:avLst>
              <a:gd name="adj" fmla="val 5000"/>
            </a:avLst>
          </a:prstGeom>
          <a:solidFill>
            <a:srgbClr val="FFFFFF"/>
          </a:solidFill>
          <a:ln w="9525">
            <a:solidFill>
              <a:srgbClr val="D8E0EC"/>
            </a:solidFill>
            <a:prstDash val="solid"/>
          </a:ln>
        </p:spPr>
      </p:sp>
      <p:sp>
        <p:nvSpPr>
          <p:cNvPr id="28" name="Text 25"/>
          <p:cNvSpPr/>
          <p:nvPr/>
        </p:nvSpPr>
        <p:spPr>
          <a:xfrm>
            <a:off x="685800"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A</a:t>
            </a:r>
            <a:endParaRPr lang="en-US" sz="1400" dirty="0"/>
          </a:p>
        </p:txBody>
      </p:sp>
      <p:sp>
        <p:nvSpPr>
          <p:cNvPr id="29" name="Text 26"/>
          <p:cNvSpPr/>
          <p:nvPr/>
        </p:nvSpPr>
        <p:spPr>
          <a:xfrm>
            <a:off x="685800"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automaticamente ao aprovar a fatura</a:t>
            </a:r>
            <a:endParaRPr lang="en-US" sz="1500" dirty="0"/>
          </a:p>
        </p:txBody>
      </p:sp>
      <p:sp>
        <p:nvSpPr>
          <p:cNvPr id="30" name="Shape 27"/>
          <p:cNvSpPr/>
          <p:nvPr/>
        </p:nvSpPr>
        <p:spPr>
          <a:xfrm>
            <a:off x="3378708" y="4572000"/>
            <a:ext cx="2601468" cy="1463040"/>
          </a:xfrm>
          <a:prstGeom prst="roundRect">
            <a:avLst>
              <a:gd name="adj" fmla="val 5000"/>
            </a:avLst>
          </a:prstGeom>
          <a:solidFill>
            <a:srgbClr val="FFFFFF"/>
          </a:solidFill>
          <a:ln w="9525">
            <a:solidFill>
              <a:srgbClr val="D8E0EC"/>
            </a:solidFill>
            <a:prstDash val="solid"/>
          </a:ln>
        </p:spPr>
      </p:sp>
      <p:sp>
        <p:nvSpPr>
          <p:cNvPr id="31" name="Text 28"/>
          <p:cNvSpPr/>
          <p:nvPr/>
        </p:nvSpPr>
        <p:spPr>
          <a:xfrm>
            <a:off x="3515868"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B</a:t>
            </a:r>
            <a:endParaRPr lang="en-US" sz="1400" dirty="0"/>
          </a:p>
        </p:txBody>
      </p:sp>
      <p:sp>
        <p:nvSpPr>
          <p:cNvPr id="32" name="Text 29"/>
          <p:cNvSpPr/>
          <p:nvPr/>
        </p:nvSpPr>
        <p:spPr>
          <a:xfrm>
            <a:off x="3515868"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manualmente na tela da cobrança</a:t>
            </a:r>
            <a:endParaRPr lang="en-US" sz="1500" dirty="0"/>
          </a:p>
        </p:txBody>
      </p:sp>
      <p:sp>
        <p:nvSpPr>
          <p:cNvPr id="33" name="Shape 30"/>
          <p:cNvSpPr/>
          <p:nvPr/>
        </p:nvSpPr>
        <p:spPr>
          <a:xfrm>
            <a:off x="6208776" y="4572000"/>
            <a:ext cx="2601468" cy="1463040"/>
          </a:xfrm>
          <a:prstGeom prst="roundRect">
            <a:avLst>
              <a:gd name="adj" fmla="val 5000"/>
            </a:avLst>
          </a:prstGeom>
          <a:solidFill>
            <a:srgbClr val="FFFFFF"/>
          </a:solidFill>
          <a:ln w="9525">
            <a:solidFill>
              <a:srgbClr val="D8E0EC"/>
            </a:solidFill>
            <a:prstDash val="solid"/>
          </a:ln>
        </p:spPr>
      </p:sp>
      <p:sp>
        <p:nvSpPr>
          <p:cNvPr id="34" name="Text 31"/>
          <p:cNvSpPr/>
          <p:nvPr/>
        </p:nvSpPr>
        <p:spPr>
          <a:xfrm>
            <a:off x="6345936"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C</a:t>
            </a:r>
            <a:endParaRPr lang="en-US" sz="1400" dirty="0"/>
          </a:p>
        </p:txBody>
      </p:sp>
      <p:sp>
        <p:nvSpPr>
          <p:cNvPr id="35" name="Text 32"/>
          <p:cNvSpPr/>
          <p:nvPr/>
        </p:nvSpPr>
        <p:spPr>
          <a:xfrm>
            <a:off x="6345936"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pelo cliente</a:t>
            </a:r>
            <a:endParaRPr lang="en-US" sz="1500" dirty="0"/>
          </a:p>
        </p:txBody>
      </p:sp>
      <p:sp>
        <p:nvSpPr>
          <p:cNvPr id="36" name="Shape 33"/>
          <p:cNvSpPr/>
          <p:nvPr/>
        </p:nvSpPr>
        <p:spPr>
          <a:xfrm>
            <a:off x="9038844" y="4572000"/>
            <a:ext cx="2601468" cy="1463040"/>
          </a:xfrm>
          <a:prstGeom prst="roundRect">
            <a:avLst>
              <a:gd name="adj" fmla="val 5000"/>
            </a:avLst>
          </a:prstGeom>
          <a:solidFill>
            <a:srgbClr val="FFFFFF"/>
          </a:solidFill>
          <a:ln w="9525">
            <a:solidFill>
              <a:srgbClr val="D8E0EC"/>
            </a:solidFill>
            <a:prstDash val="solid"/>
          </a:ln>
        </p:spPr>
      </p:sp>
      <p:sp>
        <p:nvSpPr>
          <p:cNvPr id="37" name="Text 34"/>
          <p:cNvSpPr/>
          <p:nvPr/>
        </p:nvSpPr>
        <p:spPr>
          <a:xfrm>
            <a:off x="9176004"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D</a:t>
            </a:r>
            <a:endParaRPr lang="en-US" sz="1400" dirty="0"/>
          </a:p>
        </p:txBody>
      </p:sp>
      <p:sp>
        <p:nvSpPr>
          <p:cNvPr id="38" name="Text 35"/>
          <p:cNvSpPr/>
          <p:nvPr/>
        </p:nvSpPr>
        <p:spPr>
          <a:xfrm>
            <a:off x="9176004"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pela distribuidora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Teste rápido</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QUESTÕES 3–4 DE 7</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Teste rápido</a:t>
            </a:r>
            <a:endParaRPr lang="en-US" sz="2600" dirty="0"/>
          </a:p>
        </p:txBody>
      </p:sp>
      <p:sp>
        <p:nvSpPr>
          <p:cNvPr id="9" name="Shape 6"/>
          <p:cNvSpPr/>
          <p:nvPr/>
        </p:nvSpPr>
        <p:spPr>
          <a:xfrm>
            <a:off x="548640" y="1325880"/>
            <a:ext cx="502920" cy="502920"/>
          </a:xfrm>
          <a:prstGeom prst="ellipse">
            <a:avLst/>
          </a:prstGeom>
          <a:solidFill>
            <a:srgbClr val="1B3A6B"/>
          </a:solidFill>
          <a:ln/>
        </p:spPr>
      </p:sp>
      <p:sp>
        <p:nvSpPr>
          <p:cNvPr id="10" name="Text 7"/>
          <p:cNvSpPr/>
          <p:nvPr/>
        </p:nvSpPr>
        <p:spPr>
          <a:xfrm>
            <a:off x="548640" y="13258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8"/>
          <p:cNvSpPr/>
          <p:nvPr/>
        </p:nvSpPr>
        <p:spPr>
          <a:xfrm>
            <a:off x="1234440" y="1280160"/>
            <a:ext cx="10424160" cy="640080"/>
          </a:xfrm>
          <a:prstGeom prst="rect">
            <a:avLst/>
          </a:prstGeom>
          <a:noFill/>
          <a:ln/>
        </p:spPr>
        <p:txBody>
          <a:bodyPr wrap="square" rtlCol="0" anchor="ctr"/>
          <a:lstStyle/>
          <a:p>
            <a:pPr indent="0" marL="0">
              <a:buNone/>
            </a:pPr>
            <a:r>
              <a:rPr lang="en-US" sz="1800" b="1" dirty="0">
                <a:solidFill>
                  <a:srgbClr val="1B3A6B"/>
                </a:solidFill>
                <a:latin typeface="Arial" pitchFamily="34" charset="0"/>
                <a:ea typeface="Arial" pitchFamily="34" charset="-122"/>
                <a:cs typeface="Arial" pitchFamily="34" charset="-120"/>
              </a:rPr>
              <a:t>Para emitir boleto pelo Mercado Pago, é obrigatório:</a:t>
            </a:r>
            <a:endParaRPr lang="en-US" sz="1800" dirty="0"/>
          </a:p>
        </p:txBody>
      </p:sp>
      <p:sp>
        <p:nvSpPr>
          <p:cNvPr id="12" name="Shape 9"/>
          <p:cNvSpPr/>
          <p:nvPr/>
        </p:nvSpPr>
        <p:spPr>
          <a:xfrm>
            <a:off x="548640" y="2057400"/>
            <a:ext cx="2601468" cy="1463040"/>
          </a:xfrm>
          <a:prstGeom prst="roundRect">
            <a:avLst>
              <a:gd name="adj" fmla="val 5000"/>
            </a:avLst>
          </a:prstGeom>
          <a:solidFill>
            <a:srgbClr val="FFFFFF"/>
          </a:solidFill>
          <a:ln w="9525">
            <a:solidFill>
              <a:srgbClr val="D8E0EC"/>
            </a:solidFill>
            <a:prstDash val="solid"/>
          </a:ln>
        </p:spPr>
      </p:sp>
      <p:sp>
        <p:nvSpPr>
          <p:cNvPr id="13" name="Text 10"/>
          <p:cNvSpPr/>
          <p:nvPr/>
        </p:nvSpPr>
        <p:spPr>
          <a:xfrm>
            <a:off x="685800"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A</a:t>
            </a:r>
            <a:endParaRPr lang="en-US" sz="1400" dirty="0"/>
          </a:p>
        </p:txBody>
      </p:sp>
      <p:sp>
        <p:nvSpPr>
          <p:cNvPr id="14" name="Text 11"/>
          <p:cNvSpPr/>
          <p:nvPr/>
        </p:nvSpPr>
        <p:spPr>
          <a:xfrm>
            <a:off x="685800"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CPF do consultor</a:t>
            </a:r>
            <a:endParaRPr lang="en-US" sz="1500" dirty="0"/>
          </a:p>
        </p:txBody>
      </p:sp>
      <p:sp>
        <p:nvSpPr>
          <p:cNvPr id="15" name="Shape 12"/>
          <p:cNvSpPr/>
          <p:nvPr/>
        </p:nvSpPr>
        <p:spPr>
          <a:xfrm>
            <a:off x="3378708" y="2057400"/>
            <a:ext cx="2601468" cy="1463040"/>
          </a:xfrm>
          <a:prstGeom prst="roundRect">
            <a:avLst>
              <a:gd name="adj" fmla="val 5000"/>
            </a:avLst>
          </a:prstGeom>
          <a:solidFill>
            <a:srgbClr val="FFFFFF"/>
          </a:solidFill>
          <a:ln w="9525">
            <a:solidFill>
              <a:srgbClr val="D8E0EC"/>
            </a:solidFill>
            <a:prstDash val="solid"/>
          </a:ln>
        </p:spPr>
      </p:sp>
      <p:sp>
        <p:nvSpPr>
          <p:cNvPr id="16" name="Text 13"/>
          <p:cNvSpPr/>
          <p:nvPr/>
        </p:nvSpPr>
        <p:spPr>
          <a:xfrm>
            <a:off x="3515868"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B</a:t>
            </a:r>
            <a:endParaRPr lang="en-US" sz="1400" dirty="0"/>
          </a:p>
        </p:txBody>
      </p:sp>
      <p:sp>
        <p:nvSpPr>
          <p:cNvPr id="17" name="Text 14"/>
          <p:cNvSpPr/>
          <p:nvPr/>
        </p:nvSpPr>
        <p:spPr>
          <a:xfrm>
            <a:off x="3515868"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endereço completo do pagador</a:t>
            </a:r>
            <a:endParaRPr lang="en-US" sz="1500" dirty="0"/>
          </a:p>
        </p:txBody>
      </p:sp>
      <p:sp>
        <p:nvSpPr>
          <p:cNvPr id="18" name="Shape 15"/>
          <p:cNvSpPr/>
          <p:nvPr/>
        </p:nvSpPr>
        <p:spPr>
          <a:xfrm>
            <a:off x="6208776" y="2057400"/>
            <a:ext cx="2601468" cy="1463040"/>
          </a:xfrm>
          <a:prstGeom prst="roundRect">
            <a:avLst>
              <a:gd name="adj" fmla="val 5000"/>
            </a:avLst>
          </a:prstGeom>
          <a:solidFill>
            <a:srgbClr val="FFFFFF"/>
          </a:solidFill>
          <a:ln w="9525">
            <a:solidFill>
              <a:srgbClr val="D8E0EC"/>
            </a:solidFill>
            <a:prstDash val="solid"/>
          </a:ln>
        </p:spPr>
      </p:sp>
      <p:sp>
        <p:nvSpPr>
          <p:cNvPr id="19" name="Text 16"/>
          <p:cNvSpPr/>
          <p:nvPr/>
        </p:nvSpPr>
        <p:spPr>
          <a:xfrm>
            <a:off x="6345936"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C</a:t>
            </a:r>
            <a:endParaRPr lang="en-US" sz="1400" dirty="0"/>
          </a:p>
        </p:txBody>
      </p:sp>
      <p:sp>
        <p:nvSpPr>
          <p:cNvPr id="20" name="Text 17"/>
          <p:cNvSpPr/>
          <p:nvPr/>
        </p:nvSpPr>
        <p:spPr>
          <a:xfrm>
            <a:off x="6345936"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foto do cliente</a:t>
            </a:r>
            <a:endParaRPr lang="en-US" sz="1500" dirty="0"/>
          </a:p>
        </p:txBody>
      </p:sp>
      <p:sp>
        <p:nvSpPr>
          <p:cNvPr id="21" name="Shape 18"/>
          <p:cNvSpPr/>
          <p:nvPr/>
        </p:nvSpPr>
        <p:spPr>
          <a:xfrm>
            <a:off x="9038844" y="2057400"/>
            <a:ext cx="2601468" cy="1463040"/>
          </a:xfrm>
          <a:prstGeom prst="roundRect">
            <a:avLst>
              <a:gd name="adj" fmla="val 5000"/>
            </a:avLst>
          </a:prstGeom>
          <a:solidFill>
            <a:srgbClr val="FFFFFF"/>
          </a:solidFill>
          <a:ln w="9525">
            <a:solidFill>
              <a:srgbClr val="D8E0EC"/>
            </a:solidFill>
            <a:prstDash val="solid"/>
          </a:ln>
        </p:spPr>
      </p:sp>
      <p:sp>
        <p:nvSpPr>
          <p:cNvPr id="22" name="Text 19"/>
          <p:cNvSpPr/>
          <p:nvPr/>
        </p:nvSpPr>
        <p:spPr>
          <a:xfrm>
            <a:off x="9176004"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D</a:t>
            </a:r>
            <a:endParaRPr lang="en-US" sz="1400" dirty="0"/>
          </a:p>
        </p:txBody>
      </p:sp>
      <p:sp>
        <p:nvSpPr>
          <p:cNvPr id="23" name="Text 20"/>
          <p:cNvSpPr/>
          <p:nvPr/>
        </p:nvSpPr>
        <p:spPr>
          <a:xfrm>
            <a:off x="9176004"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nada</a:t>
            </a:r>
            <a:endParaRPr lang="en-US" sz="1500" dirty="0"/>
          </a:p>
        </p:txBody>
      </p:sp>
      <p:sp>
        <p:nvSpPr>
          <p:cNvPr id="24" name="Shape 21"/>
          <p:cNvSpPr/>
          <p:nvPr/>
        </p:nvSpPr>
        <p:spPr>
          <a:xfrm>
            <a:off x="548640" y="3840480"/>
            <a:ext cx="502920" cy="502920"/>
          </a:xfrm>
          <a:prstGeom prst="ellipse">
            <a:avLst/>
          </a:prstGeom>
          <a:solidFill>
            <a:srgbClr val="1B3A6B"/>
          </a:solidFill>
          <a:ln/>
        </p:spPr>
      </p:sp>
      <p:sp>
        <p:nvSpPr>
          <p:cNvPr id="25" name="Text 22"/>
          <p:cNvSpPr/>
          <p:nvPr/>
        </p:nvSpPr>
        <p:spPr>
          <a:xfrm>
            <a:off x="548640" y="38404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6" name="Text 23"/>
          <p:cNvSpPr/>
          <p:nvPr/>
        </p:nvSpPr>
        <p:spPr>
          <a:xfrm>
            <a:off x="1234440" y="3794760"/>
            <a:ext cx="10424160" cy="640080"/>
          </a:xfrm>
          <a:prstGeom prst="rect">
            <a:avLst/>
          </a:prstGeom>
          <a:noFill/>
          <a:ln/>
        </p:spPr>
        <p:txBody>
          <a:bodyPr wrap="square" rtlCol="0" anchor="ctr"/>
          <a:lstStyle/>
          <a:p>
            <a:pPr indent="0" marL="0">
              <a:buNone/>
            </a:pPr>
            <a:r>
              <a:rPr lang="en-US" sz="1800" b="1" dirty="0">
                <a:solidFill>
                  <a:srgbClr val="1B3A6B"/>
                </a:solidFill>
                <a:latin typeface="Arial" pitchFamily="34" charset="0"/>
                <a:ea typeface="Arial" pitchFamily="34" charset="-122"/>
                <a:cs typeface="Arial" pitchFamily="34" charset="-120"/>
              </a:rPr>
              <a:t>A baixa do pagamento acontece por:</a:t>
            </a:r>
            <a:endParaRPr lang="en-US" sz="1800" dirty="0"/>
          </a:p>
        </p:txBody>
      </p:sp>
      <p:sp>
        <p:nvSpPr>
          <p:cNvPr id="27" name="Shape 24"/>
          <p:cNvSpPr/>
          <p:nvPr/>
        </p:nvSpPr>
        <p:spPr>
          <a:xfrm>
            <a:off x="548640" y="4572000"/>
            <a:ext cx="2601468" cy="1463040"/>
          </a:xfrm>
          <a:prstGeom prst="roundRect">
            <a:avLst>
              <a:gd name="adj" fmla="val 5000"/>
            </a:avLst>
          </a:prstGeom>
          <a:solidFill>
            <a:srgbClr val="FFFFFF"/>
          </a:solidFill>
          <a:ln w="9525">
            <a:solidFill>
              <a:srgbClr val="D8E0EC"/>
            </a:solidFill>
            <a:prstDash val="solid"/>
          </a:ln>
        </p:spPr>
      </p:sp>
      <p:sp>
        <p:nvSpPr>
          <p:cNvPr id="28" name="Text 25"/>
          <p:cNvSpPr/>
          <p:nvPr/>
        </p:nvSpPr>
        <p:spPr>
          <a:xfrm>
            <a:off x="685800"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A</a:t>
            </a:r>
            <a:endParaRPr lang="en-US" sz="1400" dirty="0"/>
          </a:p>
        </p:txBody>
      </p:sp>
      <p:sp>
        <p:nvSpPr>
          <p:cNvPr id="29" name="Text 26"/>
          <p:cNvSpPr/>
          <p:nvPr/>
        </p:nvSpPr>
        <p:spPr>
          <a:xfrm>
            <a:off x="685800"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webhook do Mercado Pago e sincronização periódica</a:t>
            </a:r>
            <a:endParaRPr lang="en-US" sz="1500" dirty="0"/>
          </a:p>
        </p:txBody>
      </p:sp>
      <p:sp>
        <p:nvSpPr>
          <p:cNvPr id="30" name="Shape 27"/>
          <p:cNvSpPr/>
          <p:nvPr/>
        </p:nvSpPr>
        <p:spPr>
          <a:xfrm>
            <a:off x="3378708" y="4572000"/>
            <a:ext cx="2601468" cy="1463040"/>
          </a:xfrm>
          <a:prstGeom prst="roundRect">
            <a:avLst>
              <a:gd name="adj" fmla="val 5000"/>
            </a:avLst>
          </a:prstGeom>
          <a:solidFill>
            <a:srgbClr val="FFFFFF"/>
          </a:solidFill>
          <a:ln w="9525">
            <a:solidFill>
              <a:srgbClr val="D8E0EC"/>
            </a:solidFill>
            <a:prstDash val="solid"/>
          </a:ln>
        </p:spPr>
      </p:sp>
      <p:sp>
        <p:nvSpPr>
          <p:cNvPr id="31" name="Text 28"/>
          <p:cNvSpPr/>
          <p:nvPr/>
        </p:nvSpPr>
        <p:spPr>
          <a:xfrm>
            <a:off x="3515868"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B</a:t>
            </a:r>
            <a:endParaRPr lang="en-US" sz="1400" dirty="0"/>
          </a:p>
        </p:txBody>
      </p:sp>
      <p:sp>
        <p:nvSpPr>
          <p:cNvPr id="32" name="Text 29"/>
          <p:cNvSpPr/>
          <p:nvPr/>
        </p:nvSpPr>
        <p:spPr>
          <a:xfrm>
            <a:off x="3515868"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só manual</a:t>
            </a:r>
            <a:endParaRPr lang="en-US" sz="1500" dirty="0"/>
          </a:p>
        </p:txBody>
      </p:sp>
      <p:sp>
        <p:nvSpPr>
          <p:cNvPr id="33" name="Shape 30"/>
          <p:cNvSpPr/>
          <p:nvPr/>
        </p:nvSpPr>
        <p:spPr>
          <a:xfrm>
            <a:off x="6208776" y="4572000"/>
            <a:ext cx="2601468" cy="1463040"/>
          </a:xfrm>
          <a:prstGeom prst="roundRect">
            <a:avLst>
              <a:gd name="adj" fmla="val 5000"/>
            </a:avLst>
          </a:prstGeom>
          <a:solidFill>
            <a:srgbClr val="FFFFFF"/>
          </a:solidFill>
          <a:ln w="9525">
            <a:solidFill>
              <a:srgbClr val="D8E0EC"/>
            </a:solidFill>
            <a:prstDash val="solid"/>
          </a:ln>
        </p:spPr>
      </p:sp>
      <p:sp>
        <p:nvSpPr>
          <p:cNvPr id="34" name="Text 31"/>
          <p:cNvSpPr/>
          <p:nvPr/>
        </p:nvSpPr>
        <p:spPr>
          <a:xfrm>
            <a:off x="6345936"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C</a:t>
            </a:r>
            <a:endParaRPr lang="en-US" sz="1400" dirty="0"/>
          </a:p>
        </p:txBody>
      </p:sp>
      <p:sp>
        <p:nvSpPr>
          <p:cNvPr id="35" name="Text 32"/>
          <p:cNvSpPr/>
          <p:nvPr/>
        </p:nvSpPr>
        <p:spPr>
          <a:xfrm>
            <a:off x="6345936"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só no fim do mês</a:t>
            </a:r>
            <a:endParaRPr lang="en-US" sz="1500" dirty="0"/>
          </a:p>
        </p:txBody>
      </p:sp>
      <p:sp>
        <p:nvSpPr>
          <p:cNvPr id="36" name="Shape 33"/>
          <p:cNvSpPr/>
          <p:nvPr/>
        </p:nvSpPr>
        <p:spPr>
          <a:xfrm>
            <a:off x="9038844" y="4572000"/>
            <a:ext cx="2601468" cy="1463040"/>
          </a:xfrm>
          <a:prstGeom prst="roundRect">
            <a:avLst>
              <a:gd name="adj" fmla="val 5000"/>
            </a:avLst>
          </a:prstGeom>
          <a:solidFill>
            <a:srgbClr val="FFFFFF"/>
          </a:solidFill>
          <a:ln w="9525">
            <a:solidFill>
              <a:srgbClr val="D8E0EC"/>
            </a:solidFill>
            <a:prstDash val="solid"/>
          </a:ln>
        </p:spPr>
      </p:sp>
      <p:sp>
        <p:nvSpPr>
          <p:cNvPr id="37" name="Text 34"/>
          <p:cNvSpPr/>
          <p:nvPr/>
        </p:nvSpPr>
        <p:spPr>
          <a:xfrm>
            <a:off x="9176004"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D</a:t>
            </a:r>
            <a:endParaRPr lang="en-US" sz="1400" dirty="0"/>
          </a:p>
        </p:txBody>
      </p:sp>
      <p:sp>
        <p:nvSpPr>
          <p:cNvPr id="38" name="Text 35"/>
          <p:cNvSpPr/>
          <p:nvPr/>
        </p:nvSpPr>
        <p:spPr>
          <a:xfrm>
            <a:off x="9176004"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e-mail do cliente</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Teste rápido</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QUESTÕES 5–6 DE 7</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Teste rápido</a:t>
            </a:r>
            <a:endParaRPr lang="en-US" sz="2600" dirty="0"/>
          </a:p>
        </p:txBody>
      </p:sp>
      <p:sp>
        <p:nvSpPr>
          <p:cNvPr id="9" name="Shape 6"/>
          <p:cNvSpPr/>
          <p:nvPr/>
        </p:nvSpPr>
        <p:spPr>
          <a:xfrm>
            <a:off x="548640" y="1325880"/>
            <a:ext cx="502920" cy="502920"/>
          </a:xfrm>
          <a:prstGeom prst="ellipse">
            <a:avLst/>
          </a:prstGeom>
          <a:solidFill>
            <a:srgbClr val="1B3A6B"/>
          </a:solidFill>
          <a:ln/>
        </p:spPr>
      </p:sp>
      <p:sp>
        <p:nvSpPr>
          <p:cNvPr id="10" name="Text 7"/>
          <p:cNvSpPr/>
          <p:nvPr/>
        </p:nvSpPr>
        <p:spPr>
          <a:xfrm>
            <a:off x="548640" y="13258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1" name="Text 8"/>
          <p:cNvSpPr/>
          <p:nvPr/>
        </p:nvSpPr>
        <p:spPr>
          <a:xfrm>
            <a:off x="1234440" y="1280160"/>
            <a:ext cx="10424160" cy="640080"/>
          </a:xfrm>
          <a:prstGeom prst="rect">
            <a:avLst/>
          </a:prstGeom>
          <a:noFill/>
          <a:ln/>
        </p:spPr>
        <p:txBody>
          <a:bodyPr wrap="square" rtlCol="0" anchor="ctr"/>
          <a:lstStyle/>
          <a:p>
            <a:pPr indent="0" marL="0">
              <a:buNone/>
            </a:pPr>
            <a:r>
              <a:rPr lang="en-US" sz="1800" b="1" dirty="0">
                <a:solidFill>
                  <a:srgbClr val="1B3A6B"/>
                </a:solidFill>
                <a:latin typeface="Arial" pitchFamily="34" charset="0"/>
                <a:ea typeface="Arial" pitchFamily="34" charset="-122"/>
                <a:cs typeface="Arial" pitchFamily="34" charset="-120"/>
              </a:rPr>
              <a:t>Alterar o vencimento de uma cobrança com boleto ativo:</a:t>
            </a:r>
            <a:endParaRPr lang="en-US" sz="1800" dirty="0"/>
          </a:p>
        </p:txBody>
      </p:sp>
      <p:sp>
        <p:nvSpPr>
          <p:cNvPr id="12" name="Shape 9"/>
          <p:cNvSpPr/>
          <p:nvPr/>
        </p:nvSpPr>
        <p:spPr>
          <a:xfrm>
            <a:off x="548640" y="2057400"/>
            <a:ext cx="2601468" cy="1463040"/>
          </a:xfrm>
          <a:prstGeom prst="roundRect">
            <a:avLst>
              <a:gd name="adj" fmla="val 5000"/>
            </a:avLst>
          </a:prstGeom>
          <a:solidFill>
            <a:srgbClr val="FFFFFF"/>
          </a:solidFill>
          <a:ln w="9525">
            <a:solidFill>
              <a:srgbClr val="D8E0EC"/>
            </a:solidFill>
            <a:prstDash val="solid"/>
          </a:ln>
        </p:spPr>
      </p:sp>
      <p:sp>
        <p:nvSpPr>
          <p:cNvPr id="13" name="Text 10"/>
          <p:cNvSpPr/>
          <p:nvPr/>
        </p:nvSpPr>
        <p:spPr>
          <a:xfrm>
            <a:off x="685800"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A</a:t>
            </a:r>
            <a:endParaRPr lang="en-US" sz="1400" dirty="0"/>
          </a:p>
        </p:txBody>
      </p:sp>
      <p:sp>
        <p:nvSpPr>
          <p:cNvPr id="14" name="Text 11"/>
          <p:cNvSpPr/>
          <p:nvPr/>
        </p:nvSpPr>
        <p:spPr>
          <a:xfrm>
            <a:off x="685800"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cancela e reemite o boleto com a nova data</a:t>
            </a:r>
            <a:endParaRPr lang="en-US" sz="1500" dirty="0"/>
          </a:p>
        </p:txBody>
      </p:sp>
      <p:sp>
        <p:nvSpPr>
          <p:cNvPr id="15" name="Shape 12"/>
          <p:cNvSpPr/>
          <p:nvPr/>
        </p:nvSpPr>
        <p:spPr>
          <a:xfrm>
            <a:off x="3378708" y="2057400"/>
            <a:ext cx="2601468" cy="1463040"/>
          </a:xfrm>
          <a:prstGeom prst="roundRect">
            <a:avLst>
              <a:gd name="adj" fmla="val 5000"/>
            </a:avLst>
          </a:prstGeom>
          <a:solidFill>
            <a:srgbClr val="FFFFFF"/>
          </a:solidFill>
          <a:ln w="9525">
            <a:solidFill>
              <a:srgbClr val="D8E0EC"/>
            </a:solidFill>
            <a:prstDash val="solid"/>
          </a:ln>
        </p:spPr>
      </p:sp>
      <p:sp>
        <p:nvSpPr>
          <p:cNvPr id="16" name="Text 13"/>
          <p:cNvSpPr/>
          <p:nvPr/>
        </p:nvSpPr>
        <p:spPr>
          <a:xfrm>
            <a:off x="3515868"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B</a:t>
            </a:r>
            <a:endParaRPr lang="en-US" sz="1400" dirty="0"/>
          </a:p>
        </p:txBody>
      </p:sp>
      <p:sp>
        <p:nvSpPr>
          <p:cNvPr id="17" name="Text 14"/>
          <p:cNvSpPr/>
          <p:nvPr/>
        </p:nvSpPr>
        <p:spPr>
          <a:xfrm>
            <a:off x="3515868"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não é permitido</a:t>
            </a:r>
            <a:endParaRPr lang="en-US" sz="1500" dirty="0"/>
          </a:p>
        </p:txBody>
      </p:sp>
      <p:sp>
        <p:nvSpPr>
          <p:cNvPr id="18" name="Shape 15"/>
          <p:cNvSpPr/>
          <p:nvPr/>
        </p:nvSpPr>
        <p:spPr>
          <a:xfrm>
            <a:off x="6208776" y="2057400"/>
            <a:ext cx="2601468" cy="1463040"/>
          </a:xfrm>
          <a:prstGeom prst="roundRect">
            <a:avLst>
              <a:gd name="adj" fmla="val 5000"/>
            </a:avLst>
          </a:prstGeom>
          <a:solidFill>
            <a:srgbClr val="FFFFFF"/>
          </a:solidFill>
          <a:ln w="9525">
            <a:solidFill>
              <a:srgbClr val="D8E0EC"/>
            </a:solidFill>
            <a:prstDash val="solid"/>
          </a:ln>
        </p:spPr>
      </p:sp>
      <p:sp>
        <p:nvSpPr>
          <p:cNvPr id="19" name="Text 16"/>
          <p:cNvSpPr/>
          <p:nvPr/>
        </p:nvSpPr>
        <p:spPr>
          <a:xfrm>
            <a:off x="6345936"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C</a:t>
            </a:r>
            <a:endParaRPr lang="en-US" sz="1400" dirty="0"/>
          </a:p>
        </p:txBody>
      </p:sp>
      <p:sp>
        <p:nvSpPr>
          <p:cNvPr id="20" name="Text 17"/>
          <p:cNvSpPr/>
          <p:nvPr/>
        </p:nvSpPr>
        <p:spPr>
          <a:xfrm>
            <a:off x="6345936"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muda só na tela</a:t>
            </a:r>
            <a:endParaRPr lang="en-US" sz="1500" dirty="0"/>
          </a:p>
        </p:txBody>
      </p:sp>
      <p:sp>
        <p:nvSpPr>
          <p:cNvPr id="21" name="Shape 18"/>
          <p:cNvSpPr/>
          <p:nvPr/>
        </p:nvSpPr>
        <p:spPr>
          <a:xfrm>
            <a:off x="9038844" y="2057400"/>
            <a:ext cx="2601468" cy="1463040"/>
          </a:xfrm>
          <a:prstGeom prst="roundRect">
            <a:avLst>
              <a:gd name="adj" fmla="val 5000"/>
            </a:avLst>
          </a:prstGeom>
          <a:solidFill>
            <a:srgbClr val="FFFFFF"/>
          </a:solidFill>
          <a:ln w="9525">
            <a:solidFill>
              <a:srgbClr val="D8E0EC"/>
            </a:solidFill>
            <a:prstDash val="solid"/>
          </a:ln>
        </p:spPr>
      </p:sp>
      <p:sp>
        <p:nvSpPr>
          <p:cNvPr id="22" name="Text 19"/>
          <p:cNvSpPr/>
          <p:nvPr/>
        </p:nvSpPr>
        <p:spPr>
          <a:xfrm>
            <a:off x="9176004"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D</a:t>
            </a:r>
            <a:endParaRPr lang="en-US" sz="1400" dirty="0"/>
          </a:p>
        </p:txBody>
      </p:sp>
      <p:sp>
        <p:nvSpPr>
          <p:cNvPr id="23" name="Text 20"/>
          <p:cNvSpPr/>
          <p:nvPr/>
        </p:nvSpPr>
        <p:spPr>
          <a:xfrm>
            <a:off x="9176004"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gera multa</a:t>
            </a:r>
            <a:endParaRPr lang="en-US" sz="1500" dirty="0"/>
          </a:p>
        </p:txBody>
      </p:sp>
      <p:sp>
        <p:nvSpPr>
          <p:cNvPr id="24" name="Shape 21"/>
          <p:cNvSpPr/>
          <p:nvPr/>
        </p:nvSpPr>
        <p:spPr>
          <a:xfrm>
            <a:off x="548640" y="3840480"/>
            <a:ext cx="502920" cy="502920"/>
          </a:xfrm>
          <a:prstGeom prst="ellipse">
            <a:avLst/>
          </a:prstGeom>
          <a:solidFill>
            <a:srgbClr val="1B3A6B"/>
          </a:solidFill>
          <a:ln/>
        </p:spPr>
      </p:sp>
      <p:sp>
        <p:nvSpPr>
          <p:cNvPr id="25" name="Text 22"/>
          <p:cNvSpPr/>
          <p:nvPr/>
        </p:nvSpPr>
        <p:spPr>
          <a:xfrm>
            <a:off x="548640" y="38404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6" name="Text 23"/>
          <p:cNvSpPr/>
          <p:nvPr/>
        </p:nvSpPr>
        <p:spPr>
          <a:xfrm>
            <a:off x="1234440" y="3794760"/>
            <a:ext cx="10424160" cy="640080"/>
          </a:xfrm>
          <a:prstGeom prst="rect">
            <a:avLst/>
          </a:prstGeom>
          <a:noFill/>
          <a:ln/>
        </p:spPr>
        <p:txBody>
          <a:bodyPr wrap="square" rtlCol="0" anchor="ctr"/>
          <a:lstStyle/>
          <a:p>
            <a:pPr indent="0" marL="0">
              <a:buNone/>
            </a:pPr>
            <a:r>
              <a:rPr lang="en-US" sz="1800" b="1" dirty="0">
                <a:solidFill>
                  <a:srgbClr val="1B3A6B"/>
                </a:solidFill>
                <a:latin typeface="Arial" pitchFamily="34" charset="0"/>
                <a:ea typeface="Arial" pitchFamily="34" charset="-122"/>
                <a:cs typeface="Arial" pitchFamily="34" charset="-120"/>
              </a:rPr>
              <a:t>O lembrete por e-mail ao cliente é enviado:</a:t>
            </a:r>
            <a:endParaRPr lang="en-US" sz="1800" dirty="0"/>
          </a:p>
        </p:txBody>
      </p:sp>
      <p:sp>
        <p:nvSpPr>
          <p:cNvPr id="27" name="Shape 24"/>
          <p:cNvSpPr/>
          <p:nvPr/>
        </p:nvSpPr>
        <p:spPr>
          <a:xfrm>
            <a:off x="548640" y="4572000"/>
            <a:ext cx="2601468" cy="1463040"/>
          </a:xfrm>
          <a:prstGeom prst="roundRect">
            <a:avLst>
              <a:gd name="adj" fmla="val 5000"/>
            </a:avLst>
          </a:prstGeom>
          <a:solidFill>
            <a:srgbClr val="FFFFFF"/>
          </a:solidFill>
          <a:ln w="9525">
            <a:solidFill>
              <a:srgbClr val="D8E0EC"/>
            </a:solidFill>
            <a:prstDash val="solid"/>
          </a:ln>
        </p:spPr>
      </p:sp>
      <p:sp>
        <p:nvSpPr>
          <p:cNvPr id="28" name="Text 25"/>
          <p:cNvSpPr/>
          <p:nvPr/>
        </p:nvSpPr>
        <p:spPr>
          <a:xfrm>
            <a:off x="685800"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A</a:t>
            </a:r>
            <a:endParaRPr lang="en-US" sz="1400" dirty="0"/>
          </a:p>
        </p:txBody>
      </p:sp>
      <p:sp>
        <p:nvSpPr>
          <p:cNvPr id="29" name="Text 26"/>
          <p:cNvSpPr/>
          <p:nvPr/>
        </p:nvSpPr>
        <p:spPr>
          <a:xfrm>
            <a:off x="685800"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3 dias antes do vencimento, se houver boleto/Pix pagável</a:t>
            </a:r>
            <a:endParaRPr lang="en-US" sz="1500" dirty="0"/>
          </a:p>
        </p:txBody>
      </p:sp>
      <p:sp>
        <p:nvSpPr>
          <p:cNvPr id="30" name="Shape 27"/>
          <p:cNvSpPr/>
          <p:nvPr/>
        </p:nvSpPr>
        <p:spPr>
          <a:xfrm>
            <a:off x="3378708" y="4572000"/>
            <a:ext cx="2601468" cy="1463040"/>
          </a:xfrm>
          <a:prstGeom prst="roundRect">
            <a:avLst>
              <a:gd name="adj" fmla="val 5000"/>
            </a:avLst>
          </a:prstGeom>
          <a:solidFill>
            <a:srgbClr val="FFFFFF"/>
          </a:solidFill>
          <a:ln w="9525">
            <a:solidFill>
              <a:srgbClr val="D8E0EC"/>
            </a:solidFill>
            <a:prstDash val="solid"/>
          </a:ln>
        </p:spPr>
      </p:sp>
      <p:sp>
        <p:nvSpPr>
          <p:cNvPr id="31" name="Text 28"/>
          <p:cNvSpPr/>
          <p:nvPr/>
        </p:nvSpPr>
        <p:spPr>
          <a:xfrm>
            <a:off x="3515868"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B</a:t>
            </a:r>
            <a:endParaRPr lang="en-US" sz="1400" dirty="0"/>
          </a:p>
        </p:txBody>
      </p:sp>
      <p:sp>
        <p:nvSpPr>
          <p:cNvPr id="32" name="Text 29"/>
          <p:cNvSpPr/>
          <p:nvPr/>
        </p:nvSpPr>
        <p:spPr>
          <a:xfrm>
            <a:off x="3515868"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todo dia</a:t>
            </a:r>
            <a:endParaRPr lang="en-US" sz="1500" dirty="0"/>
          </a:p>
        </p:txBody>
      </p:sp>
      <p:sp>
        <p:nvSpPr>
          <p:cNvPr id="33" name="Shape 30"/>
          <p:cNvSpPr/>
          <p:nvPr/>
        </p:nvSpPr>
        <p:spPr>
          <a:xfrm>
            <a:off x="6208776" y="4572000"/>
            <a:ext cx="2601468" cy="1463040"/>
          </a:xfrm>
          <a:prstGeom prst="roundRect">
            <a:avLst>
              <a:gd name="adj" fmla="val 5000"/>
            </a:avLst>
          </a:prstGeom>
          <a:solidFill>
            <a:srgbClr val="FFFFFF"/>
          </a:solidFill>
          <a:ln w="9525">
            <a:solidFill>
              <a:srgbClr val="D8E0EC"/>
            </a:solidFill>
            <a:prstDash val="solid"/>
          </a:ln>
        </p:spPr>
      </p:sp>
      <p:sp>
        <p:nvSpPr>
          <p:cNvPr id="34" name="Text 31"/>
          <p:cNvSpPr/>
          <p:nvPr/>
        </p:nvSpPr>
        <p:spPr>
          <a:xfrm>
            <a:off x="6345936"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C</a:t>
            </a:r>
            <a:endParaRPr lang="en-US" sz="1400" dirty="0"/>
          </a:p>
        </p:txBody>
      </p:sp>
      <p:sp>
        <p:nvSpPr>
          <p:cNvPr id="35" name="Text 32"/>
          <p:cNvSpPr/>
          <p:nvPr/>
        </p:nvSpPr>
        <p:spPr>
          <a:xfrm>
            <a:off x="6345936"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só depois de vencer</a:t>
            </a:r>
            <a:endParaRPr lang="en-US" sz="1500" dirty="0"/>
          </a:p>
        </p:txBody>
      </p:sp>
      <p:sp>
        <p:nvSpPr>
          <p:cNvPr id="36" name="Shape 33"/>
          <p:cNvSpPr/>
          <p:nvPr/>
        </p:nvSpPr>
        <p:spPr>
          <a:xfrm>
            <a:off x="9038844" y="4572000"/>
            <a:ext cx="2601468" cy="1463040"/>
          </a:xfrm>
          <a:prstGeom prst="roundRect">
            <a:avLst>
              <a:gd name="adj" fmla="val 5000"/>
            </a:avLst>
          </a:prstGeom>
          <a:solidFill>
            <a:srgbClr val="FFFFFF"/>
          </a:solidFill>
          <a:ln w="9525">
            <a:solidFill>
              <a:srgbClr val="D8E0EC"/>
            </a:solidFill>
            <a:prstDash val="solid"/>
          </a:ln>
        </p:spPr>
      </p:sp>
      <p:sp>
        <p:nvSpPr>
          <p:cNvPr id="37" name="Text 34"/>
          <p:cNvSpPr/>
          <p:nvPr/>
        </p:nvSpPr>
        <p:spPr>
          <a:xfrm>
            <a:off x="9176004" y="46634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D</a:t>
            </a:r>
            <a:endParaRPr lang="en-US" sz="1400" dirty="0"/>
          </a:p>
        </p:txBody>
      </p:sp>
      <p:sp>
        <p:nvSpPr>
          <p:cNvPr id="38" name="Text 35"/>
          <p:cNvSpPr/>
          <p:nvPr/>
        </p:nvSpPr>
        <p:spPr>
          <a:xfrm>
            <a:off x="9176004" y="50292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nunca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Teste rápido</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QUESTÕES 7–7 DE 7</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Teste rápido</a:t>
            </a:r>
            <a:endParaRPr lang="en-US" sz="2600" dirty="0"/>
          </a:p>
        </p:txBody>
      </p:sp>
      <p:sp>
        <p:nvSpPr>
          <p:cNvPr id="9" name="Shape 6"/>
          <p:cNvSpPr/>
          <p:nvPr/>
        </p:nvSpPr>
        <p:spPr>
          <a:xfrm>
            <a:off x="548640" y="1325880"/>
            <a:ext cx="502920" cy="502920"/>
          </a:xfrm>
          <a:prstGeom prst="ellipse">
            <a:avLst/>
          </a:prstGeom>
          <a:solidFill>
            <a:srgbClr val="1B3A6B"/>
          </a:solidFill>
          <a:ln/>
        </p:spPr>
      </p:sp>
      <p:sp>
        <p:nvSpPr>
          <p:cNvPr id="10" name="Text 7"/>
          <p:cNvSpPr/>
          <p:nvPr/>
        </p:nvSpPr>
        <p:spPr>
          <a:xfrm>
            <a:off x="548640" y="13258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11" name="Text 8"/>
          <p:cNvSpPr/>
          <p:nvPr/>
        </p:nvSpPr>
        <p:spPr>
          <a:xfrm>
            <a:off x="1234440" y="1280160"/>
            <a:ext cx="10424160" cy="640080"/>
          </a:xfrm>
          <a:prstGeom prst="rect">
            <a:avLst/>
          </a:prstGeom>
          <a:noFill/>
          <a:ln/>
        </p:spPr>
        <p:txBody>
          <a:bodyPr wrap="square" rtlCol="0" anchor="ctr"/>
          <a:lstStyle/>
          <a:p>
            <a:pPr indent="0" marL="0">
              <a:buNone/>
            </a:pPr>
            <a:r>
              <a:rPr lang="en-US" sz="1800" b="1" dirty="0">
                <a:solidFill>
                  <a:srgbClr val="1B3A6B"/>
                </a:solidFill>
                <a:latin typeface="Arial" pitchFamily="34" charset="0"/>
                <a:ea typeface="Arial" pitchFamily="34" charset="-122"/>
                <a:cs typeface="Arial" pitchFamily="34" charset="-120"/>
              </a:rPr>
              <a:t>Comissão e inadimplência: o melhor momento para pagar comissão é:</a:t>
            </a:r>
            <a:endParaRPr lang="en-US" sz="1800" dirty="0"/>
          </a:p>
        </p:txBody>
      </p:sp>
      <p:sp>
        <p:nvSpPr>
          <p:cNvPr id="12" name="Shape 9"/>
          <p:cNvSpPr/>
          <p:nvPr/>
        </p:nvSpPr>
        <p:spPr>
          <a:xfrm>
            <a:off x="548640" y="2057400"/>
            <a:ext cx="2601468" cy="1463040"/>
          </a:xfrm>
          <a:prstGeom prst="roundRect">
            <a:avLst>
              <a:gd name="adj" fmla="val 5000"/>
            </a:avLst>
          </a:prstGeom>
          <a:solidFill>
            <a:srgbClr val="FFFFFF"/>
          </a:solidFill>
          <a:ln w="9525">
            <a:solidFill>
              <a:srgbClr val="D8E0EC"/>
            </a:solidFill>
            <a:prstDash val="solid"/>
          </a:ln>
        </p:spPr>
      </p:sp>
      <p:sp>
        <p:nvSpPr>
          <p:cNvPr id="13" name="Text 10"/>
          <p:cNvSpPr/>
          <p:nvPr/>
        </p:nvSpPr>
        <p:spPr>
          <a:xfrm>
            <a:off x="685800"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A</a:t>
            </a:r>
            <a:endParaRPr lang="en-US" sz="1400" dirty="0"/>
          </a:p>
        </p:txBody>
      </p:sp>
      <p:sp>
        <p:nvSpPr>
          <p:cNvPr id="14" name="Text 11"/>
          <p:cNvSpPr/>
          <p:nvPr/>
        </p:nvSpPr>
        <p:spPr>
          <a:xfrm>
            <a:off x="685800"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proposta enviada</a:t>
            </a:r>
            <a:endParaRPr lang="en-US" sz="1500" dirty="0"/>
          </a:p>
        </p:txBody>
      </p:sp>
      <p:sp>
        <p:nvSpPr>
          <p:cNvPr id="15" name="Shape 12"/>
          <p:cNvSpPr/>
          <p:nvPr/>
        </p:nvSpPr>
        <p:spPr>
          <a:xfrm>
            <a:off x="3378708" y="2057400"/>
            <a:ext cx="2601468" cy="1463040"/>
          </a:xfrm>
          <a:prstGeom prst="roundRect">
            <a:avLst>
              <a:gd name="adj" fmla="val 5000"/>
            </a:avLst>
          </a:prstGeom>
          <a:solidFill>
            <a:srgbClr val="FFFFFF"/>
          </a:solidFill>
          <a:ln w="9525">
            <a:solidFill>
              <a:srgbClr val="D8E0EC"/>
            </a:solidFill>
            <a:prstDash val="solid"/>
          </a:ln>
        </p:spPr>
      </p:sp>
      <p:sp>
        <p:nvSpPr>
          <p:cNvPr id="16" name="Text 13"/>
          <p:cNvSpPr/>
          <p:nvPr/>
        </p:nvSpPr>
        <p:spPr>
          <a:xfrm>
            <a:off x="3515868"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B</a:t>
            </a:r>
            <a:endParaRPr lang="en-US" sz="1400" dirty="0"/>
          </a:p>
        </p:txBody>
      </p:sp>
      <p:sp>
        <p:nvSpPr>
          <p:cNvPr id="17" name="Text 14"/>
          <p:cNvSpPr/>
          <p:nvPr/>
        </p:nvSpPr>
        <p:spPr>
          <a:xfrm>
            <a:off x="3515868"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primeira cobrança paga</a:t>
            </a:r>
            <a:endParaRPr lang="en-US" sz="1500" dirty="0"/>
          </a:p>
        </p:txBody>
      </p:sp>
      <p:sp>
        <p:nvSpPr>
          <p:cNvPr id="18" name="Shape 15"/>
          <p:cNvSpPr/>
          <p:nvPr/>
        </p:nvSpPr>
        <p:spPr>
          <a:xfrm>
            <a:off x="6208776" y="2057400"/>
            <a:ext cx="2601468" cy="1463040"/>
          </a:xfrm>
          <a:prstGeom prst="roundRect">
            <a:avLst>
              <a:gd name="adj" fmla="val 5000"/>
            </a:avLst>
          </a:prstGeom>
          <a:solidFill>
            <a:srgbClr val="FFFFFF"/>
          </a:solidFill>
          <a:ln w="9525">
            <a:solidFill>
              <a:srgbClr val="D8E0EC"/>
            </a:solidFill>
            <a:prstDash val="solid"/>
          </a:ln>
        </p:spPr>
      </p:sp>
      <p:sp>
        <p:nvSpPr>
          <p:cNvPr id="19" name="Text 16"/>
          <p:cNvSpPr/>
          <p:nvPr/>
        </p:nvSpPr>
        <p:spPr>
          <a:xfrm>
            <a:off x="6345936"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C</a:t>
            </a:r>
            <a:endParaRPr lang="en-US" sz="1400" dirty="0"/>
          </a:p>
        </p:txBody>
      </p:sp>
      <p:sp>
        <p:nvSpPr>
          <p:cNvPr id="20" name="Text 17"/>
          <p:cNvSpPr/>
          <p:nvPr/>
        </p:nvSpPr>
        <p:spPr>
          <a:xfrm>
            <a:off x="6345936"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contrato emitido</a:t>
            </a:r>
            <a:endParaRPr lang="en-US" sz="1500" dirty="0"/>
          </a:p>
        </p:txBody>
      </p:sp>
      <p:sp>
        <p:nvSpPr>
          <p:cNvPr id="21" name="Shape 18"/>
          <p:cNvSpPr/>
          <p:nvPr/>
        </p:nvSpPr>
        <p:spPr>
          <a:xfrm>
            <a:off x="9038844" y="2057400"/>
            <a:ext cx="2601468" cy="1463040"/>
          </a:xfrm>
          <a:prstGeom prst="roundRect">
            <a:avLst>
              <a:gd name="adj" fmla="val 5000"/>
            </a:avLst>
          </a:prstGeom>
          <a:solidFill>
            <a:srgbClr val="FFFFFF"/>
          </a:solidFill>
          <a:ln w="9525">
            <a:solidFill>
              <a:srgbClr val="D8E0EC"/>
            </a:solidFill>
            <a:prstDash val="solid"/>
          </a:ln>
        </p:spPr>
      </p:sp>
      <p:sp>
        <p:nvSpPr>
          <p:cNvPr id="22" name="Text 19"/>
          <p:cNvSpPr/>
          <p:nvPr/>
        </p:nvSpPr>
        <p:spPr>
          <a:xfrm>
            <a:off x="9176004" y="2148840"/>
            <a:ext cx="365760" cy="365760"/>
          </a:xfrm>
          <a:prstGeom prst="rect">
            <a:avLst/>
          </a:prstGeom>
          <a:noFill/>
          <a:ln/>
        </p:spPr>
        <p:txBody>
          <a:bodyPr wrap="square" rtlCol="0" anchor="ctr"/>
          <a:lstStyle/>
          <a:p>
            <a:pPr indent="0" marL="0">
              <a:buNone/>
            </a:pPr>
            <a:r>
              <a:rPr lang="en-US" sz="1400" b="1" dirty="0">
                <a:solidFill>
                  <a:srgbClr val="F7A23B"/>
                </a:solidFill>
                <a:latin typeface="Arial" pitchFamily="34" charset="0"/>
                <a:ea typeface="Arial" pitchFamily="34" charset="-122"/>
                <a:cs typeface="Arial" pitchFamily="34" charset="-120"/>
              </a:rPr>
              <a:t>D</a:t>
            </a:r>
            <a:endParaRPr lang="en-US" sz="1400" dirty="0"/>
          </a:p>
        </p:txBody>
      </p:sp>
      <p:sp>
        <p:nvSpPr>
          <p:cNvPr id="23" name="Text 20"/>
          <p:cNvSpPr/>
          <p:nvPr/>
        </p:nvSpPr>
        <p:spPr>
          <a:xfrm>
            <a:off x="9176004" y="2514600"/>
            <a:ext cx="2327148" cy="914400"/>
          </a:xfrm>
          <a:prstGeom prst="rect">
            <a:avLst/>
          </a:prstGeom>
          <a:noFill/>
          <a:ln/>
        </p:spPr>
        <p:txBody>
          <a:bodyPr wrap="square" rtlCol="0" anchor="t"/>
          <a:lstStyle/>
          <a:p>
            <a:pPr indent="0" marL="0">
              <a:buNone/>
            </a:pPr>
            <a:r>
              <a:rPr lang="en-US" sz="1500" dirty="0">
                <a:solidFill>
                  <a:srgbClr val="1F2937"/>
                </a:solidFill>
                <a:latin typeface="Arial" pitchFamily="34" charset="0"/>
                <a:ea typeface="Arial" pitchFamily="34" charset="-122"/>
                <a:cs typeface="Arial" pitchFamily="34" charset="-120"/>
              </a:rPr>
              <a:t>nunca</a:t>
            </a:r>
            <a:endParaRPr lang="en-US" sz="15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Teste rápido</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CONFIRA SUAS RESPOSTAS</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Gabarito do teste rápido</a:t>
            </a:r>
            <a:endParaRPr lang="en-US" sz="2600" dirty="0"/>
          </a:p>
        </p:txBody>
      </p:sp>
      <p:sp>
        <p:nvSpPr>
          <p:cNvPr id="9" name="Shape 6"/>
          <p:cNvSpPr/>
          <p:nvPr/>
        </p:nvSpPr>
        <p:spPr>
          <a:xfrm>
            <a:off x="548640" y="1325880"/>
            <a:ext cx="3544824" cy="1478280"/>
          </a:xfrm>
          <a:prstGeom prst="roundRect">
            <a:avLst>
              <a:gd name="adj" fmla="val 494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731520" y="1508760"/>
            <a:ext cx="457200" cy="457200"/>
          </a:xfrm>
          <a:prstGeom prst="ellipse">
            <a:avLst/>
          </a:prstGeom>
          <a:solidFill>
            <a:srgbClr val="1B3A6B"/>
          </a:solidFill>
          <a:ln/>
        </p:spPr>
      </p:sp>
      <p:sp>
        <p:nvSpPr>
          <p:cNvPr id="11" name="Text 8"/>
          <p:cNvSpPr/>
          <p:nvPr/>
        </p:nvSpPr>
        <p:spPr>
          <a:xfrm>
            <a:off x="7315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325880" y="1435608"/>
            <a:ext cx="2630424" cy="125882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 rascunho</a:t>
            </a:r>
            <a:endParaRPr lang="en-US" sz="1800" dirty="0"/>
          </a:p>
        </p:txBody>
      </p:sp>
      <p:sp>
        <p:nvSpPr>
          <p:cNvPr id="13" name="Shape 10"/>
          <p:cNvSpPr/>
          <p:nvPr/>
        </p:nvSpPr>
        <p:spPr>
          <a:xfrm>
            <a:off x="4322064" y="1325880"/>
            <a:ext cx="3544824" cy="1478280"/>
          </a:xfrm>
          <a:prstGeom prst="roundRect">
            <a:avLst>
              <a:gd name="adj" fmla="val 494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504944" y="1508760"/>
            <a:ext cx="457200" cy="457200"/>
          </a:xfrm>
          <a:prstGeom prst="ellipse">
            <a:avLst/>
          </a:prstGeom>
          <a:solidFill>
            <a:srgbClr val="F7A23B"/>
          </a:solidFill>
          <a:ln/>
        </p:spPr>
      </p:sp>
      <p:sp>
        <p:nvSpPr>
          <p:cNvPr id="15" name="Text 12"/>
          <p:cNvSpPr/>
          <p:nvPr/>
        </p:nvSpPr>
        <p:spPr>
          <a:xfrm>
            <a:off x="4504944"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99304" y="1435608"/>
            <a:ext cx="2630424" cy="125882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B) manualmente na tela da cobrança</a:t>
            </a:r>
            <a:endParaRPr lang="en-US" sz="1800" dirty="0"/>
          </a:p>
        </p:txBody>
      </p:sp>
      <p:sp>
        <p:nvSpPr>
          <p:cNvPr id="17" name="Shape 14"/>
          <p:cNvSpPr/>
          <p:nvPr/>
        </p:nvSpPr>
        <p:spPr>
          <a:xfrm>
            <a:off x="8095488" y="1325880"/>
            <a:ext cx="3544824" cy="1478280"/>
          </a:xfrm>
          <a:prstGeom prst="roundRect">
            <a:avLst>
              <a:gd name="adj" fmla="val 494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278368" y="1508760"/>
            <a:ext cx="457200" cy="457200"/>
          </a:xfrm>
          <a:prstGeom prst="ellipse">
            <a:avLst/>
          </a:prstGeom>
          <a:solidFill>
            <a:srgbClr val="1B3A6B"/>
          </a:solidFill>
          <a:ln/>
        </p:spPr>
      </p:sp>
      <p:sp>
        <p:nvSpPr>
          <p:cNvPr id="19" name="Text 16"/>
          <p:cNvSpPr/>
          <p:nvPr/>
        </p:nvSpPr>
        <p:spPr>
          <a:xfrm>
            <a:off x="8278368"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872728" y="1435608"/>
            <a:ext cx="2630424" cy="125882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B) endereço completo do pagador</a:t>
            </a:r>
            <a:endParaRPr lang="en-US" sz="1800" dirty="0"/>
          </a:p>
        </p:txBody>
      </p:sp>
      <p:sp>
        <p:nvSpPr>
          <p:cNvPr id="21" name="Shape 18"/>
          <p:cNvSpPr/>
          <p:nvPr/>
        </p:nvSpPr>
        <p:spPr>
          <a:xfrm>
            <a:off x="548640" y="3032760"/>
            <a:ext cx="3544824" cy="1478280"/>
          </a:xfrm>
          <a:prstGeom prst="roundRect">
            <a:avLst>
              <a:gd name="adj" fmla="val 494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731520" y="3215640"/>
            <a:ext cx="457200" cy="457200"/>
          </a:xfrm>
          <a:prstGeom prst="ellipse">
            <a:avLst/>
          </a:prstGeom>
          <a:solidFill>
            <a:srgbClr val="F7A23B"/>
          </a:solidFill>
          <a:ln/>
        </p:spPr>
      </p:sp>
      <p:sp>
        <p:nvSpPr>
          <p:cNvPr id="23" name="Text 20"/>
          <p:cNvSpPr/>
          <p:nvPr/>
        </p:nvSpPr>
        <p:spPr>
          <a:xfrm>
            <a:off x="731520" y="32156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325880" y="3142488"/>
            <a:ext cx="2630424" cy="125882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 webhook do Mercado Pago e sincronização periódica</a:t>
            </a:r>
            <a:endParaRPr lang="en-US" sz="1800" dirty="0"/>
          </a:p>
        </p:txBody>
      </p:sp>
      <p:sp>
        <p:nvSpPr>
          <p:cNvPr id="25" name="Shape 22"/>
          <p:cNvSpPr/>
          <p:nvPr/>
        </p:nvSpPr>
        <p:spPr>
          <a:xfrm>
            <a:off x="4322064" y="3032760"/>
            <a:ext cx="3544824" cy="1478280"/>
          </a:xfrm>
          <a:prstGeom prst="roundRect">
            <a:avLst>
              <a:gd name="adj" fmla="val 494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504944" y="3215640"/>
            <a:ext cx="457200" cy="457200"/>
          </a:xfrm>
          <a:prstGeom prst="ellipse">
            <a:avLst/>
          </a:prstGeom>
          <a:solidFill>
            <a:srgbClr val="1B3A6B"/>
          </a:solidFill>
          <a:ln/>
        </p:spPr>
      </p:sp>
      <p:sp>
        <p:nvSpPr>
          <p:cNvPr id="27" name="Text 24"/>
          <p:cNvSpPr/>
          <p:nvPr/>
        </p:nvSpPr>
        <p:spPr>
          <a:xfrm>
            <a:off x="4504944" y="32156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99304" y="3142488"/>
            <a:ext cx="2630424" cy="125882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 cancela e reemite o boleto com a nova data</a:t>
            </a:r>
            <a:endParaRPr lang="en-US" sz="1800" dirty="0"/>
          </a:p>
        </p:txBody>
      </p:sp>
      <p:sp>
        <p:nvSpPr>
          <p:cNvPr id="29" name="Shape 26"/>
          <p:cNvSpPr/>
          <p:nvPr/>
        </p:nvSpPr>
        <p:spPr>
          <a:xfrm>
            <a:off x="8095488" y="3032760"/>
            <a:ext cx="3544824" cy="1478280"/>
          </a:xfrm>
          <a:prstGeom prst="roundRect">
            <a:avLst>
              <a:gd name="adj" fmla="val 494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278368" y="3215640"/>
            <a:ext cx="457200" cy="457200"/>
          </a:xfrm>
          <a:prstGeom prst="ellipse">
            <a:avLst/>
          </a:prstGeom>
          <a:solidFill>
            <a:srgbClr val="F7A23B"/>
          </a:solidFill>
          <a:ln/>
        </p:spPr>
      </p:sp>
      <p:sp>
        <p:nvSpPr>
          <p:cNvPr id="31" name="Text 28"/>
          <p:cNvSpPr/>
          <p:nvPr/>
        </p:nvSpPr>
        <p:spPr>
          <a:xfrm>
            <a:off x="8278368" y="321564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872728" y="3142488"/>
            <a:ext cx="2630424" cy="125882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 3 dias antes do vencimento, se houver boleto/Pix pagável</a:t>
            </a:r>
            <a:endParaRPr lang="en-US" sz="1800" dirty="0"/>
          </a:p>
        </p:txBody>
      </p:sp>
      <p:sp>
        <p:nvSpPr>
          <p:cNvPr id="33" name="Shape 30"/>
          <p:cNvSpPr/>
          <p:nvPr/>
        </p:nvSpPr>
        <p:spPr>
          <a:xfrm>
            <a:off x="548640" y="4739640"/>
            <a:ext cx="3544824" cy="1478280"/>
          </a:xfrm>
          <a:prstGeom prst="roundRect">
            <a:avLst>
              <a:gd name="adj" fmla="val 494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4" name="Shape 31"/>
          <p:cNvSpPr/>
          <p:nvPr/>
        </p:nvSpPr>
        <p:spPr>
          <a:xfrm>
            <a:off x="731520" y="4922520"/>
            <a:ext cx="457200" cy="457200"/>
          </a:xfrm>
          <a:prstGeom prst="ellipse">
            <a:avLst/>
          </a:prstGeom>
          <a:solidFill>
            <a:srgbClr val="1B3A6B"/>
          </a:solidFill>
          <a:ln/>
        </p:spPr>
      </p:sp>
      <p:sp>
        <p:nvSpPr>
          <p:cNvPr id="35" name="Text 32"/>
          <p:cNvSpPr/>
          <p:nvPr/>
        </p:nvSpPr>
        <p:spPr>
          <a:xfrm>
            <a:off x="731520" y="492252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6" name="Text 33"/>
          <p:cNvSpPr/>
          <p:nvPr/>
        </p:nvSpPr>
        <p:spPr>
          <a:xfrm>
            <a:off x="1325880" y="4849368"/>
            <a:ext cx="2630424" cy="125882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B) primeira cobrança paga</a:t>
            </a:r>
            <a:endParaRPr lang="en-US" sz="18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548640" y="6547104"/>
            <a:ext cx="274320" cy="274320"/>
          </a:xfrm>
          <a:prstGeom prst="rect">
            <a:avLst/>
          </a:prstGeom>
        </p:spPr>
      </p:pic>
      <p:sp>
        <p:nvSpPr>
          <p:cNvPr id="4" name="Text 1"/>
          <p:cNvSpPr/>
          <p:nvPr/>
        </p:nvSpPr>
        <p:spPr>
          <a:xfrm>
            <a:off x="88696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02336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M8 · Fechamento</a:t>
            </a:r>
            <a:endParaRPr lang="en-US" sz="900" dirty="0"/>
          </a:p>
        </p:txBody>
      </p:sp>
      <p:sp>
        <p:nvSpPr>
          <p:cNvPr id="6" name="Shape 3"/>
          <p:cNvSpPr/>
          <p:nvPr/>
        </p:nvSpPr>
        <p:spPr>
          <a:xfrm>
            <a:off x="548640" y="384048"/>
            <a:ext cx="82296" cy="658368"/>
          </a:xfrm>
          <a:prstGeom prst="rect">
            <a:avLst/>
          </a:prstGeom>
          <a:solidFill>
            <a:srgbClr val="F7A23B"/>
          </a:solidFill>
          <a:ln/>
        </p:spPr>
      </p:sp>
      <p:sp>
        <p:nvSpPr>
          <p:cNvPr id="7" name="Text 4"/>
          <p:cNvSpPr/>
          <p:nvPr/>
        </p:nvSpPr>
        <p:spPr>
          <a:xfrm>
            <a:off x="77724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FECHAMENTO DO MÓDULO</a:t>
            </a:r>
            <a:endParaRPr lang="en-US" sz="1000" dirty="0"/>
          </a:p>
        </p:txBody>
      </p:sp>
      <p:sp>
        <p:nvSpPr>
          <p:cNvPr id="8" name="Text 5"/>
          <p:cNvSpPr/>
          <p:nvPr/>
        </p:nvSpPr>
        <p:spPr>
          <a:xfrm>
            <a:off x="777240" y="530352"/>
            <a:ext cx="1088136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Pratique e entregue</a:t>
            </a:r>
            <a:endParaRPr lang="en-US" sz="2600" dirty="0"/>
          </a:p>
        </p:txBody>
      </p:sp>
      <p:sp>
        <p:nvSpPr>
          <p:cNvPr id="9" name="Text 6"/>
          <p:cNvSpPr/>
          <p:nvPr/>
        </p:nvSpPr>
        <p:spPr>
          <a:xfrm>
            <a:off x="548640" y="1325880"/>
            <a:ext cx="5394960" cy="411480"/>
          </a:xfrm>
          <a:prstGeom prst="rect">
            <a:avLst/>
          </a:prstGeom>
          <a:noFill/>
          <a:ln/>
        </p:spPr>
        <p:txBody>
          <a:bodyPr wrap="square" rtlCol="0" anchor="ctr"/>
          <a:lstStyle/>
          <a:p>
            <a:pPr indent="0" marL="0">
              <a:buNone/>
            </a:pPr>
            <a:r>
              <a:rPr lang="en-US" sz="1600" b="1" dirty="0">
                <a:solidFill>
                  <a:srgbClr val="1B3A6B"/>
                </a:solidFill>
                <a:latin typeface="Arial" pitchFamily="34" charset="0"/>
                <a:ea typeface="Arial" pitchFamily="34" charset="-122"/>
                <a:cs typeface="Arial" pitchFamily="34" charset="-120"/>
              </a:rPr>
              <a:t>Exercícios</a:t>
            </a:r>
            <a:endParaRPr lang="en-US" sz="1600" dirty="0"/>
          </a:p>
        </p:txBody>
      </p:sp>
      <p:sp>
        <p:nvSpPr>
          <p:cNvPr id="10" name="Text 7"/>
          <p:cNvSpPr/>
          <p:nvPr/>
        </p:nvSpPr>
        <p:spPr>
          <a:xfrm>
            <a:off x="548640" y="1783080"/>
            <a:ext cx="5394960" cy="4480560"/>
          </a:xfrm>
          <a:prstGeom prst="rect">
            <a:avLst/>
          </a:prstGeom>
          <a:noFill/>
          <a:ln/>
        </p:spPr>
        <p:txBody>
          <a:bodyPr wrap="square" rtlCol="0" anchor="t">
            <a:normAutofit/>
          </a:bodyPr>
          <a:lstStyle/>
          <a:p>
            <a:pPr indent="0" marL="0">
              <a:spcAft>
                <a:spcPts val="800"/>
              </a:spcAft>
              <a:buNone/>
            </a:pPr>
            <a:r>
              <a:rPr lang="en-US" sz="1600" dirty="0">
                <a:solidFill>
                  <a:srgbClr val="1F2937"/>
                </a:solidFill>
                <a:latin typeface="Arial" pitchFamily="34" charset="0"/>
                <a:ea typeface="Arial" pitchFamily="34" charset="-122"/>
                <a:cs typeface="Arial" pitchFamily="34" charset="-120"/>
              </a:rPr>
              <a:t>1. Cobrança de R$ 1.695,20 com um desconto manual de R$ 50 (cortesia pela demora no primeiro crédito). Valor final?</a:t>
            </a:r>
            <a:endParaRPr lang="en-US" sz="1600" dirty="0"/>
          </a:p>
          <a:p>
            <a:pPr indent="0" marL="0">
              <a:spcAft>
                <a:spcPts val="800"/>
              </a:spcAft>
              <a:buNone/>
            </a:pPr>
            <a:r>
              <a:rPr lang="en-US" sz="1600" dirty="0">
                <a:solidFill>
                  <a:srgbClr val="1F2937"/>
                </a:solidFill>
                <a:latin typeface="Arial" pitchFamily="34" charset="0"/>
                <a:ea typeface="Arial" pitchFamily="34" charset="-122"/>
                <a:cs typeface="Arial" pitchFamily="34" charset="-120"/>
              </a:rPr>
              <a:t>2. Monte uma régua para uma cobrança com vencimento dia 10: o que acontece nos dias 7, 10, 11, 15, 20 e 30?</a:t>
            </a:r>
            <a:endParaRPr lang="en-US" sz="1600" dirty="0"/>
          </a:p>
          <a:p>
            <a:pPr indent="0" marL="0">
              <a:spcAft>
                <a:spcPts val="800"/>
              </a:spcAft>
              <a:buNone/>
            </a:pPr>
            <a:r>
              <a:rPr lang="en-US" sz="1600" dirty="0">
                <a:solidFill>
                  <a:srgbClr val="1F2937"/>
                </a:solidFill>
                <a:latin typeface="Arial" pitchFamily="34" charset="0"/>
                <a:ea typeface="Arial" pitchFamily="34" charset="-122"/>
                <a:cs typeface="Arial" pitchFamily="34" charset="-120"/>
              </a:rPr>
              <a:t>3. Por que a plataforma não cancela o boleto vencido no Mercado Pago imediatamente?</a:t>
            </a:r>
            <a:endParaRPr lang="en-US" sz="1600" dirty="0"/>
          </a:p>
        </p:txBody>
      </p:sp>
      <p:sp>
        <p:nvSpPr>
          <p:cNvPr id="11" name="Shape 8"/>
          <p:cNvSpPr/>
          <p:nvPr/>
        </p:nvSpPr>
        <p:spPr>
          <a:xfrm>
            <a:off x="6172200" y="1325880"/>
            <a:ext cx="5468112" cy="4937760"/>
          </a:xfrm>
          <a:prstGeom prst="roundRect">
            <a:avLst>
              <a:gd name="adj" fmla="val 1852"/>
            </a:avLst>
          </a:prstGeom>
          <a:solidFill>
            <a:srgbClr val="1B3A6B"/>
          </a:solidFill>
          <a:ln/>
        </p:spPr>
      </p:sp>
      <p:sp>
        <p:nvSpPr>
          <p:cNvPr id="12" name="Text 9"/>
          <p:cNvSpPr/>
          <p:nvPr/>
        </p:nvSpPr>
        <p:spPr>
          <a:xfrm>
            <a:off x="6492240" y="1554480"/>
            <a:ext cx="4828032" cy="4480560"/>
          </a:xfrm>
          <a:prstGeom prst="rect">
            <a:avLst/>
          </a:prstGeom>
          <a:noFill/>
          <a:ln/>
        </p:spPr>
        <p:txBody>
          <a:bodyPr wrap="square" rtlCol="0" anchor="t">
            <a:normAutofit/>
          </a:bodyPr>
          <a:lstStyle/>
          <a:p>
            <a:pPr indent="0" marL="0">
              <a:buNone/>
            </a:pPr>
            <a:r>
              <a:rPr lang="en-US" sz="1300" b="1" spc="100" kern="0" dirty="0">
                <a:solidFill>
                  <a:srgbClr val="F7A23B"/>
                </a:solidFill>
                <a:latin typeface="Arial" pitchFamily="34" charset="0"/>
                <a:ea typeface="Arial" pitchFamily="34" charset="-122"/>
                <a:cs typeface="Arial" pitchFamily="34" charset="-120"/>
              </a:rPr>
              <a:t>ENTREGÁVEL DO MÓDULO
</a:t>
            </a:r>
            <a:pPr indent="0" marL="0">
              <a:buNone/>
            </a:pPr>
            <a:r>
              <a:rPr lang="en-US" sz="1600" dirty="0">
                <a:solidFill>
                  <a:srgbClr val="FFFFFF"/>
                </a:solidFill>
                <a:latin typeface="Arial" pitchFamily="34" charset="0"/>
                <a:ea typeface="Arial" pitchFamily="34" charset="-122"/>
                <a:cs typeface="Arial" pitchFamily="34" charset="-120"/>
              </a:rPr>
              <a:t>Primeiro faturamento: cobranças do mês 1 geradas e abertas para os 15 clientes; Pix ou boleto emitido para todos; pelo menos 10 pagos (simulados), 1 com ajuste justificado, 1 com vencimento alterado e 1 vencida tratada (boleto reemitido); e a régua de cobrança da sua empresa em uma página.</a:t>
            </a:r>
            <a:endParaRPr lang="en-US" sz="1300" dirty="0"/>
          </a:p>
        </p:txBody>
      </p:sp>
      <p:sp>
        <p:nvSpPr>
          <p:cNvPr id="25" name="Slide Number Placeholder 0"/>
          <p:cNvSpPr>
            <a:spLocks noGrp="1"/>
          </p:cNvSpPr>
          <p:nvPr>
            <p:ph type="sldNum" sz="quarter" idx="4294967295"/>
          </p:nvPr>
        </p:nvSpPr>
        <p:spPr>
          <a:xfrm>
            <a:off x="11292840" y="655624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1B3A6B"/>
                </a:solidFill>
                <a:latin typeface="Arial"/>
                <a:ea typeface="Arial"/>
                <a:cs typeface="Arial"/>
              </a:defRPr>
            </a:lvl1pPr>
          </a:lstStyle>
          <a:p>
            <a:pPr algn="r"/>
            <a:fld id="{F7021451-1387-4CA6-816F-3879F97B5CBC}" type="slidenum">
              <a:rPr b="1" lang="en-US"/>
              <a:t>36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GD Solar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M8 — Cobrança e recebimento</dc:title>
  <dc:subject>PptxGenJS Presentation</dc:subject>
  <dc:creator>PptxGenJS</dc:creator>
  <cp:lastModifiedBy>PptxGenJS</cp:lastModifiedBy>
  <cp:revision>1</cp:revision>
  <dcterms:created xsi:type="dcterms:W3CDTF">2026-10-30T13:18:27Z</dcterms:created>
  <dcterms:modified xsi:type="dcterms:W3CDTF">2026-10-30T13:18:27Z</dcterms:modified>
</cp:coreProperties>
</file>