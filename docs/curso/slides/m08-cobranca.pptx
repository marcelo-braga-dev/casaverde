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fórmula você já conhece. O valor original é o consumo injetado da fatura, em reais. O desconto é esse valor vezes a margem de desconto do cliente. E o valor final é o original menos o desconto, mais ou menos os ajustes manuais, que veremos na próxima aula. Para a padaria: dois mil, cento e dezenove reais de consumo injetado, menos vinte por cento, que são quatrocentos e vinte e três reais e oitenta, dá mil, seiscentos e noventa e cinco reais e vinte centavos. O vencimento da cobrança, por padrão, acompanha o vencimento da fatura da distribuidora, para que o cliente tenha as duas contas na mesma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cobrança é gerada de duas formas. Automaticamente: de hora em hora, uma rotina procura faturas aprovadas sem cobrança e gera as cobranças. Ou manualmente, com um clique na fatura, quando você quer adiantar. A plataforma impede gerar duas cobranças ativas para a mesma fatura. E, se uma fatura ficar aprovada sem cobrança por muito tempo, a varredura de saúde operacional avisa.
Toda cobrança nasce como rascunho. Isso é proposital: é a sua chance de conferir antes de o cliente ver. Quando está tudo certo, você abre a cobrança para pagamento, e ela passa a aberta. Ao gerar o Pix ou o boleto, ela fica aguardando pagamento. Quando o pagamento é confirmado, vira paga. Se o vencimento passa sem pagamento, uma rotina que roda a cada dez minutos marca como vencida. E, se por algum motivo a cobrança não deve existir — por exemplo, a fatura era duplicada —, você cancela, informando o motivo. Rascunhos esquecidos também geram alerta: a varredura avisa sobre cobranças em rascunho há mais de dois dias.
Uma decisão importante desta plataforma: o Pix ou o boleto não é gerado automaticamente. É sempre uma pessoa que clica para gerar, na tela da cobrança. O motivo é cuidado: emitir um boleto é um ato com efeito financeiro e de comunicação com o cliente, e a conferência humana evita mandar um valor errado. Para que isso não vire esquecimento, a plataforma alerta o consultor quando uma cobrança vai vencer em cinco dias sem pagamento gerado.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Resumindo: a cobrança é o consumo injetado com o desconto, mais ou menos ajustes; nasce em rascunho, é aberta para pagamento, fica aguardando, e termina paga, vencida ou cancelada; e o Pix ou boleto é sempre emitido por uma pessoa. Na próxima aula, os ajustes.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ajuste mais comum é o desconto manual. Use para uma cortesia — por exemplo, o primeiro crédito demorou um ciclo além do prometido e você quer compensar o cliente —, para corrigir um erro seu ou para uma negociação. O acréscimo manual é o contrário: por exemplo, no mês anterior uma fatura foi lida errado e você cobrou a menos; no mês seguinte, cobra a diferença. Em ambos, a plataforma pede o tipo, o valor e uma descrição. Escreva uma descrição que o cliente entenderia, porque ela pode ser questionada. E combine com o cliente antes de cobrar um acréscimo: surpresa na cobrança gera cancelamento.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a fatura que originou a cobrança foi corrigida, ou se a regra de desconto do cliente mudou antes do pagamento, a cobrança pode ser recalculada, para refletir os novos números. Faça isso sempre antes de emitir o Pix ou o boleto. Se o pagamento já tiver sido gerado, o recálculo exige cancelar e emitir de novo — por isso, a conferência no status de rascunho é tão importante.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Outra situação frequente: o cliente pede para mudar o vencimento — por exemplo, a empresa recebe dos clientes dela no dia quinze e prefere pagar depois disso. Na tela da cobrança, use editar vencimento e informe a nova data. Se já existe um boleto ou Pix ativo, a plataforma cancela o anterior no Mercado Pago e emite um novo com a data nova — o mesmo acontece se o valor mudar. Isso evita que o cliente pague um boleto com a data ou o valor errados. Depois, envie o novo boleto ao cliente.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Tudo isso fica registrado no histórico de alterações da cobrança: quem mudou o vencimento, quem lançou um ajuste, quando o status mudou, quando um boleto foi emitido ou cancelado. É a trilha de auditoria da sua operação financeira. Numa discussão com um cliente, ou numa auditoria, você reconstrói a história de cada cobrança em segundos.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Resumindo: ajustes sempre com descrição e combinados com o cliente; recalcule antes de emitir; mudança de vencimento ou valor reemite o boleto; e o histórico registra tudo. Na próxima aula, como funcionam o Pix e o boleto.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plataforma oferece dois métodos. O Pix, que é o padrão: o cliente recebe um código copia e cola, paga no aplicativo do banco e a confirmação chega em minutos. E o boleto, com linha digitável e um PDF com código de barras e a marca da sua empresa. O boleto leva até três dias úteis para compensar e exige o endereço completo do pagador — sem ele, o Mercado Pago recusa a emissão. Um detalhe: cada emissão é um método. Não dá para gerar Pix e boleto juntos no mesmo pedido; se o cliente quiser os dois, você gera um e, se ele preferir o outro, cancela e gera o outro.
Ao emitir, a plataforma envia ao Mercado Pago o vencimento da cobrança. Se o vencimento cai num fim de semana, o banco joga para o próximo dia útil, e a plataforma registra a data real lida do próprio código de barras — é ela que aparece no PDF e que o banco aceita. Cobrança já vencida, quando emitida, recebe alguns dias de prazo.
Quando o cliente paga, a baixa acontece por dois caminhos. O principal é o webhook: o Mercado Pago avisa a plataforma no momento em que o status muda. Por segurança, a plataforma não confia só no aviso: ela confere o status diretamente no Mercado Pago antes de dar baixa, e só aceita avisos assinados com a chave secreta da sua conta. O segundo caminho é a sincronização: a cada cinco minutos, a plataforma consulta os pagamentos pendentes. Se o aviso falhar por qualquer motivo, a sincronização pega. Resultado: ninguém precisa conferir extrato para dar baixa. E, se algo falhar repetidamente — credencial recusada, pagamento que não sincroniza há horas, aviso com erro —, vira alerta operacional.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Três situações especiais. Primeiro, o boleto vencido. O Mercado Pago devolve ao pagador um boleto pago depois do vencimento, então todo dia às seis da manhã a plataforma marca como vencidos os boletos e Pix cuja data passou, bloqueia o PDF para o cliente não pagar um boleto que vai ser devolvido e alerta o consultor para gerar um novo e enviar. Mas ela não cancela o boleto antigo na hora: um boleto pago no último dia pode levar até três dias úteis para compensar. Por isso, o boleto vencido continua sendo acompanhado por dez dias; se o pagamento cair, a cobrança é baixada e o boleto substituto é cancelado automaticamente. Segundo: se você cancelar a cobrança ou confirmar um pagamento manualmente, o boleto ativo é cancelado no Mercado Pago — e, se o Mercado Pago responder que ele já foi pago, o pagamento é registrado. Terceiro: estorno. Se um pagamento for estornado no Mercado Pago, ele aparece como estornado, a cobrança continua marcada como paga e o caso fica registrado para revisão humana.
Lembre que o meio de pagamento cobra tarifas por transação, diferentes para Pix e boleto; elas entram no custo variável da sua conta do módulo 3. A conta do Mercado Pago é configurada pelo administrador, com as credenciais guardadas de forma criptografada. O passo a passo está no material de apoio, e voltamos a isso no módulo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Resumindo: Pix ou boleto, baixa automática por dois caminhos, boleto vencido tratado com alerta e reemissão, e estornos registrados. Na próxima aula, a régua de cobrança.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Vamos montar a régua, combinando o que a plataforma faz sozinha com o que a sua equipe faz. Três dias antes do vencimento, o cliente recebe automaticamente um e-mail de lembrete com o Pix ou o boleto, se já houver um pagável, e o consultor responsável recebe um alerta com uma mensagem de WhatsApp pronta, para enviar com um clique. No vencimento, nada acontece — muitos clientes pagam no próprio dia. No dia seguinte, a cobrança é marcada como vencida automaticamente. A partir daí, a cada cinco dias, o consultor recebe um novo alerta com o link de WhatsApp para cobrar — e, se o boleto venceu sem um substituto, o alerta pede para gerar um novo boleto antes. Por volta de quinze dias de atraso, entra o contato pessoal: uma ligação, entender o motivo e propor um acordo, se for o caso. E, depois de trinta dias, as medidas previstas no contrato: aviso formal e, se o contrato permitir, a suspensão da participação do cliente na usina, com a retirada da unidade dele da lista de rateio. Os prazos são exemplos; defina os seus e escreva no contrato.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tom importa. No lembrete, reforce o benefício: "a sua economia deste mês está garantida, segue o Pix". No atraso leve, pergunte, não acuse: "notamos que a cobrança ficou em aberto, aconteceu alguma coisa?" — muitas vezes o cliente simplesmente não entendeu as duas contas e achou que já tinha pago. No atraso grave, seja claro e objetivo, com data e consequência. As mensagens de WhatsApp da plataforma usam modelos que você pode editar, com campos como o nome do cliente, o valor e o vencimento, preenchidos automaticamente.
Sobre multa e juros: em relações de consumo, a multa de mora tem limite legal, e os juros também precisam respeitar a lei e o contrato. Cobre o que está previsto, nada além. Para acordos, por exemplo parcelar uma dívida de dois meses, registre na plataforma — como ajustes nas cobranças seguintes, com descrição clara. Nunca perdoe uma dívida "de boca", sem registro: além do prejuízo, isso bagunça os relatórios e o repasse ao produtor.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melhor cobrança é a que não precisa acontecer. Algumas práticas reduzem muito a inadimplência. Explicar as duas contas na venda e nas boas-vindas. Alinhar o vencimento com o da fatura da distribuidora, ou com a data que o cliente pediu. Usar o Pix como padrão: é mais fácil de pagar. Colocar o cliente no portal, onde ele vê as cobranças e a economia. Pagar a comissão do vendedor só depois da primeira cobrança paga. E avaliar o cliente na entrada: histórico, tempo de empresa, referências.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Meça a inadimplência por faixa de atraso — até trinta dias, de trinta a sessenta, de sessenta a noventa e acima de noventa —, a recuperação no mês e a inadimplência por consultor. Um consultor com inadimplência muito acima da média provavelmente está vendendo para o cliente errado, ou explicando mal. Os relatórios de cobrança da plataforma trazem esses números, como você vai ver no módulo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Resumindo: uma régua clara, combinando automações e contato humano, tom adequado, acordos registrados e muita prevenção. Escreva a régua da sua empresa no entregável. Agora, para os laboratórios de cobrança.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Abra a fatura aprovada da padaria e gere a cobrança. Se você preferir, pode esperar: a rotina de hora em hora gera sozinha as cobranças das faturas aprovadas. Depois, abra Financeiro, Cobranças de Faturas, e filtre pelo nome do cliente. A cobrança da padaria está lá, em rascunho.
Abra a cobrança. Em dados da cobrança, confira o titular, a referência, o vencimento, a usina e a unidade consumidora, o consumo e o consumo injetado. No resumo financeiro, o valor original, o desconto, os ajustes e o valor total: mil, seiscentos e noventa e cinco reais e vinte centavos. Se quiser rever a origem, o atalho da fatura de concessionária abre os dados técnicos da fatura. Tudo certo? Siga. Algo errado? Corrija antes, com um ajuste ou na fatura.
Em ações disponíveis, clique em abrir esta cobrança para pagamento. O status passa de rascunho para aberta. A partir daqui, ela aparece para o cliente no portal e pode receber o Pix ou o boleto.
Agora, gere o pagamento e escolha Pix. Em segundos, o pagamento aparece na seção de pagamentos gerados, com o valor, o vencimento e o código Pix copia e cola. A cobrança passa a aguardando pagamento. E o cliente recebe, automaticamente, um e-mail avisando que o pagamento está disponível, com o valor, o vencimento e o Pix — no laboratório, esse e-mail aparece na caixa de e-mails do ambiente de aula. Repare que o e-mail vai para o e-mail de contato real do cliente cadastrado na ficha dele.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o botão de enviar ao cliente pelo WhatsApp: ele abre o WhatsApp com uma mensagem pronta, com o valor e o Pix — o envio é seu, com um clique. Agora, faça um boleto para a clínica. Se o cadastro da clínica não tiver o endereço completo, o Mercado Pago recusa, e a plataforma mostra o motivo; complete o endereço do cliente e gere de novo. O boleto vem com a linha digitável, o código de barras e o PDF com a marca da sua empresa.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Primeiro, veja pelo lado do cliente. Troque para o perfil Cliente e abra Minhas Cobranças. A cobrança do mês está lá, com o cartão de pagamento: o Pix copia e cola, pronto para colar no aplicativo do banco, e, quando for boleto, a linha digitável e o PDF para baixar. Repare que o cliente vê só o que precisa para pagar — nenhum dado técnico ou interno. Quanto mais clientes pagam pelo portal, menos mensagens a sua equipe responde.
Volte ao Administrador. No laboratório, use o botão de simular pagamento na cobrança da padaria — ele imita exatamente o que o Mercado Pago faz quando o cliente paga. Em instantes, o pagamento aparece como pago, e a cobrança como paga, com a data do pagamento. Ninguém clicou em "dar baixa": a confirmação chegou pelo mesmo caminho do mundo real, o aviso do Mercado Pago, conferido pela plataforma. Abra o histórico de alterações: o pagamento está registrado.
Em Financeiro, Pagamentos, você vê todos os Pix e boletos emitidos, com filtros por status, método e cliente. Dentro de um pagamento, existe um botão para sincronizar na hora com o Mercado Pago, útil quando um cliente diz "acabei de pagar". Como administrador, você também vê os avisos recebidos do Mercado Pago, um por um — e, se um deles falhou, a plataforma permite reprocessar.
E quando o cliente paga por fora — uma transferência direta, por exemplo? Na cobrança, use confirmar pagamento: informe a data e uma observação com a referência do comprovante. A cobrança fica paga e, se houver um Pix ou boleto ativo, a plataforma cancela no Mercado Pago, para o cliente não pagar duas vezes. Use isso como exceção: o ideal é o pagamento passar pelo Pix ou boleto, que dão baixa sozinhos.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Avance o laboratório até três dias antes do vencimento. Na caixa de e-mails do laboratório, aparece o lembrete enviado aos clientes, com o Pix. E, em Alertas Operacionais, há um alerta de lembrete para o consultor responsável, com o link do WhatsApp e a mensagem pronta. Clique e veja a mensagem. Na vida real, o consultor só confere e envia.
Avance para o dia seguinte ao vencimento. As cobranças não pagas foram marcadas como vencidas, sem ninguém clicar. No dashboard, o número de cobranças vencidas subiu, e o valor vencido aparece separado. Na lista de cobranças, filtre pelas vencidas: é a fila de trabalho da cobrança.
Agora, a clínica, que tinha boleto. Repare no selo de boleto vencido e no PDF bloqueado: o cliente não consegue mais baixar um boleto que o banco devolveria. Em Alertas Operacionais, há um alerta pedindo para gerar um novo boleto e enviar. E o menu mostra quantas cobranças estão aguardando um novo boleto. Gere o novo pagamento para a clínica e envie ao cliente. Lembre do detalhe da aula 3: o boleto antigo não foi cancelado no banco; ele continua sendo acompanhado por dez dias. Se a clínica tiver pago o antigo no último dia, a cobrança é baixada e o novo boleto é cancelado sozinho.
Por fim, a residência ligou: recebe o salário no dia quinze e pediu para pagar depois disso. Na cobrança, use editar vencimento e informe a nova data. A plataforma cancela o Pix anterior no Mercado Pago e emite um novo com a data nova. O histórico de alterações registra quem mudou e quando. Se o pedido se repetir todo mês, ajuste a data de vencimento padrão desse cliente no contrato.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os contatos humanos da régua, a cobrança tem os botões de cobrar via WhatsApp e enviar lembrete, sempre com a mensagem pronta e o valor correto. Use-os nos dias de contato pessoal.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jp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jp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jp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jp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jp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jp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2191695" cy="128016"/>
          </a:xfrm>
          <a:prstGeom prst="rect">
            <a:avLst/>
          </a:prstGeom>
          <a:solidFill>
            <a:srgbClr val="F7A23B"/>
          </a:solidFill>
          <a:ln/>
        </p:spPr>
      </p:sp>
      <p:pic>
        <p:nvPicPr>
          <p:cNvPr id="3" name="Image 0" descr="/www/wwwroot/rexar/gdsolar/docs/curso/slides/assets/logo-gdsolar.png">    </p:cNvPr>
          <p:cNvPicPr>
            <a:picLocks noChangeAspect="1"/>
          </p:cNvPicPr>
          <p:nvPr/>
        </p:nvPicPr>
        <p:blipFill>
          <a:blip r:embed="rId1"/>
          <a:stretch>
            <a:fillRect/>
          </a:stretch>
        </p:blipFill>
        <p:spPr>
          <a:xfrm>
            <a:off x="640080" y="594360"/>
            <a:ext cx="822960" cy="822960"/>
          </a:xfrm>
          <a:prstGeom prst="rect">
            <a:avLst/>
          </a:prstGeom>
        </p:spPr>
      </p:pic>
      <p:sp>
        <p:nvSpPr>
          <p:cNvPr id="4" name="Text 1"/>
          <p:cNvSpPr/>
          <p:nvPr/>
        </p:nvSpPr>
        <p:spPr>
          <a:xfrm>
            <a:off x="1600200" y="566928"/>
            <a:ext cx="7315200" cy="868680"/>
          </a:xfrm>
          <a:prstGeom prst="rect">
            <a:avLst/>
          </a:prstGeom>
          <a:noFill/>
          <a:ln/>
        </p:spPr>
        <p:txBody>
          <a:bodyPr wrap="square" rtlCol="0" anchor="ctr"/>
          <a:lstStyle/>
          <a:p>
            <a:pPr indent="0" marL="0">
              <a:buNone/>
            </a:pPr>
            <a:r>
              <a:rPr lang="en-US" sz="1800" b="1" dirty="0">
                <a:solidFill>
                  <a:srgbClr val="FFFFFF"/>
                </a:solidFill>
                <a:latin typeface="Arial" pitchFamily="34" charset="0"/>
                <a:ea typeface="Arial" pitchFamily="34" charset="-122"/>
                <a:cs typeface="Arial" pitchFamily="34" charset="-120"/>
              </a:rPr>
              <a:t>GD Solar
</a:t>
            </a:r>
            <a:pPr indent="0" marL="0">
              <a:buNone/>
            </a:pPr>
            <a:r>
              <a:rPr lang="en-US" sz="1300" dirty="0">
                <a:solidFill>
                  <a:srgbClr val="C7D2E3"/>
                </a:solidFill>
                <a:latin typeface="Arial" pitchFamily="34" charset="0"/>
                <a:ea typeface="Arial" pitchFamily="34" charset="-122"/>
                <a:cs typeface="Arial" pitchFamily="34" charset="-120"/>
              </a:rPr>
              <a:t>Formação em Energia por Assinatura</a:t>
            </a:r>
            <a:endParaRPr lang="en-US" sz="1800" dirty="0"/>
          </a:p>
        </p:txBody>
      </p:sp>
      <p:sp>
        <p:nvSpPr>
          <p:cNvPr id="5" name="Text 2"/>
          <p:cNvSpPr/>
          <p:nvPr/>
        </p:nvSpPr>
        <p:spPr>
          <a:xfrm>
            <a:off x="640080" y="1920240"/>
            <a:ext cx="10972800" cy="411480"/>
          </a:xfrm>
          <a:prstGeom prst="rect">
            <a:avLst/>
          </a:prstGeom>
          <a:noFill/>
          <a:ln/>
        </p:spPr>
        <p:txBody>
          <a:bodyPr wrap="square" rtlCol="0" anchor="ctr"/>
          <a:lstStyle/>
          <a:p>
            <a:pPr indent="0" marL="0">
              <a:buNone/>
            </a:pPr>
            <a:r>
              <a:rPr lang="en-US" sz="1400" b="1" spc="100" kern="0" dirty="0">
                <a:solidFill>
                  <a:srgbClr val="F7A23B"/>
                </a:solidFill>
                <a:latin typeface="Arial" pitchFamily="34" charset="0"/>
                <a:ea typeface="Arial" pitchFamily="34" charset="-122"/>
                <a:cs typeface="Arial" pitchFamily="34" charset="-120"/>
              </a:rPr>
              <a:t>M8  ·  ETAPA 3 · OPERAÇÃO PONTA A PONTA</a:t>
            </a:r>
            <a:endParaRPr lang="en-US" sz="1400" dirty="0"/>
          </a:p>
        </p:txBody>
      </p:sp>
      <p:sp>
        <p:nvSpPr>
          <p:cNvPr id="6" name="Text 3"/>
          <p:cNvSpPr/>
          <p:nvPr/>
        </p:nvSpPr>
        <p:spPr>
          <a:xfrm>
            <a:off x="640080" y="2331720"/>
            <a:ext cx="10972800" cy="1188720"/>
          </a:xfrm>
          <a:prstGeom prst="rect">
            <a:avLst/>
          </a:prstGeom>
          <a:noFill/>
          <a:ln/>
        </p:spPr>
        <p:txBody>
          <a:bodyPr wrap="square" rtlCol="0" anchor="t">
            <a:normAutofit/>
          </a:bodyPr>
          <a:lstStyle/>
          <a:p>
            <a:pPr indent="0" marL="0">
              <a:buNone/>
            </a:pPr>
            <a:r>
              <a:rPr lang="en-US" sz="4000" b="1" dirty="0">
                <a:solidFill>
                  <a:srgbClr val="FFFFFF"/>
                </a:solidFill>
                <a:latin typeface="Arial" pitchFamily="34" charset="0"/>
                <a:ea typeface="Arial" pitchFamily="34" charset="-122"/>
                <a:cs typeface="Arial" pitchFamily="34" charset="-120"/>
              </a:rPr>
              <a:t>Cobrança e recebimento</a:t>
            </a:r>
            <a:endParaRPr lang="en-US" sz="4000" dirty="0"/>
          </a:p>
        </p:txBody>
      </p:sp>
      <p:sp>
        <p:nvSpPr>
          <p:cNvPr id="7" name="Text 4"/>
          <p:cNvSpPr/>
          <p:nvPr/>
        </p:nvSpPr>
        <p:spPr>
          <a:xfrm>
            <a:off x="640080" y="3657600"/>
            <a:ext cx="6583680" cy="2743200"/>
          </a:xfrm>
          <a:prstGeom prst="rect">
            <a:avLst/>
          </a:prstGeom>
          <a:noFill/>
          <a:ln/>
        </p:spPr>
        <p:txBody>
          <a:bodyPr wrap="square" rtlCol="0" anchor="t">
            <a:normAutofit/>
          </a:bodyPr>
          <a:lstStyle/>
          <a:p>
            <a:pPr indent="0" marL="0">
              <a:spcAft>
                <a:spcPts val="400"/>
              </a:spcAft>
              <a:buNone/>
            </a:pPr>
            <a:r>
              <a:rPr lang="en-US" sz="1200" dirty="0">
                <a:solidFill>
                  <a:srgbClr val="C7D2E3"/>
                </a:solidFill>
                <a:latin typeface="Arial" pitchFamily="34" charset="0"/>
                <a:ea typeface="Arial" pitchFamily="34" charset="-122"/>
                <a:cs typeface="Arial" pitchFamily="34" charset="-120"/>
              </a:rPr>
              <a:t>1. Como nasce a cobrança</a:t>
            </a:r>
            <a:endParaRPr lang="en-US" sz="1200" dirty="0"/>
          </a:p>
          <a:p>
            <a:pPr indent="0" marL="0">
              <a:spcAft>
                <a:spcPts val="400"/>
              </a:spcAft>
              <a:buNone/>
            </a:pPr>
            <a:r>
              <a:rPr lang="en-US" sz="1200" dirty="0">
                <a:solidFill>
                  <a:srgbClr val="C7D2E3"/>
                </a:solidFill>
                <a:latin typeface="Arial" pitchFamily="34" charset="0"/>
                <a:ea typeface="Arial" pitchFamily="34" charset="-122"/>
                <a:cs typeface="Arial" pitchFamily="34" charset="-120"/>
              </a:rPr>
              <a:t>2. Ajustes, descontos e recálculo</a:t>
            </a:r>
            <a:endParaRPr lang="en-US" sz="1200" dirty="0"/>
          </a:p>
          <a:p>
            <a:pPr indent="0" marL="0">
              <a:spcAft>
                <a:spcPts val="400"/>
              </a:spcAft>
              <a:buNone/>
            </a:pPr>
            <a:r>
              <a:rPr lang="en-US" sz="1200" dirty="0">
                <a:solidFill>
                  <a:srgbClr val="C7D2E3"/>
                </a:solidFill>
                <a:latin typeface="Arial" pitchFamily="34" charset="0"/>
                <a:ea typeface="Arial" pitchFamily="34" charset="-122"/>
                <a:cs typeface="Arial" pitchFamily="34" charset="-120"/>
              </a:rPr>
              <a:t>3. Pix e boleto: como funcionam os meios de pagamento</a:t>
            </a:r>
            <a:endParaRPr lang="en-US" sz="1200" dirty="0"/>
          </a:p>
          <a:p>
            <a:pPr indent="0" marL="0">
              <a:spcAft>
                <a:spcPts val="400"/>
              </a:spcAft>
              <a:buNone/>
            </a:pPr>
            <a:r>
              <a:rPr lang="en-US" sz="1200" dirty="0">
                <a:solidFill>
                  <a:srgbClr val="C7D2E3"/>
                </a:solidFill>
                <a:latin typeface="Arial" pitchFamily="34" charset="0"/>
                <a:ea typeface="Arial" pitchFamily="34" charset="-122"/>
                <a:cs typeface="Arial" pitchFamily="34" charset="-120"/>
              </a:rPr>
              <a:t>4. Régua de cobrança e inadimplência</a:t>
            </a:r>
            <a:endParaRPr lang="en-US" sz="1200" dirty="0"/>
          </a:p>
          <a:p>
            <a:pPr indent="0" marL="0">
              <a:spcAft>
                <a:spcPts val="400"/>
              </a:spcAft>
              <a:buNone/>
            </a:pPr>
            <a:r>
              <a:rPr lang="en-US" sz="1200" dirty="0">
                <a:solidFill>
                  <a:srgbClr val="C7D2E3"/>
                </a:solidFill>
                <a:latin typeface="Arial" pitchFamily="34" charset="0"/>
                <a:ea typeface="Arial" pitchFamily="34" charset="-122"/>
                <a:cs typeface="Arial" pitchFamily="34" charset="-120"/>
              </a:rPr>
              <a:t>5. gerando a cobrança e emitindo o Pix</a:t>
            </a:r>
            <a:endParaRPr lang="en-US" sz="1200" dirty="0"/>
          </a:p>
          <a:p>
            <a:pPr indent="0" marL="0">
              <a:spcAft>
                <a:spcPts val="400"/>
              </a:spcAft>
              <a:buNone/>
            </a:pPr>
            <a:r>
              <a:rPr lang="en-US" sz="1200" dirty="0">
                <a:solidFill>
                  <a:srgbClr val="C7D2E3"/>
                </a:solidFill>
                <a:latin typeface="Arial" pitchFamily="34" charset="0"/>
                <a:ea typeface="Arial" pitchFamily="34" charset="-122"/>
                <a:cs typeface="Arial" pitchFamily="34" charset="-120"/>
              </a:rPr>
              <a:t>6. pagamento, baixa automática e o portal do cliente</a:t>
            </a:r>
            <a:endParaRPr lang="en-US" sz="1200" dirty="0"/>
          </a:p>
          <a:p>
            <a:pPr indent="0" marL="0">
              <a:spcAft>
                <a:spcPts val="400"/>
              </a:spcAft>
              <a:buNone/>
            </a:pPr>
            <a:r>
              <a:rPr lang="en-US" sz="1200" dirty="0">
                <a:solidFill>
                  <a:srgbClr val="C7D2E3"/>
                </a:solidFill>
                <a:latin typeface="Arial" pitchFamily="34" charset="0"/>
                <a:ea typeface="Arial" pitchFamily="34" charset="-122"/>
                <a:cs typeface="Arial" pitchFamily="34" charset="-120"/>
              </a:rPr>
              <a:t>7. vencimento, boleto vencido e reemissão</a:t>
            </a:r>
            <a:endParaRPr lang="en-US" sz="1200" dirty="0"/>
          </a:p>
        </p:txBody>
      </p:sp>
      <p:sp>
        <p:nvSpPr>
          <p:cNvPr id="8" name="Shape 5"/>
          <p:cNvSpPr/>
          <p:nvPr/>
        </p:nvSpPr>
        <p:spPr>
          <a:xfrm>
            <a:off x="7589520" y="3657600"/>
            <a:ext cx="3977640" cy="2743200"/>
          </a:xfrm>
          <a:prstGeom prst="roundRect">
            <a:avLst>
              <a:gd name="adj" fmla="val 3333"/>
            </a:avLst>
          </a:prstGeom>
          <a:solidFill>
            <a:srgbClr val="11396F"/>
          </a:solidFill>
          <a:ln/>
        </p:spPr>
      </p:sp>
      <p:sp>
        <p:nvSpPr>
          <p:cNvPr id="9" name="Text 6"/>
          <p:cNvSpPr/>
          <p:nvPr/>
        </p:nvSpPr>
        <p:spPr>
          <a:xfrm>
            <a:off x="7772400" y="3749040"/>
            <a:ext cx="3611880" cy="2560320"/>
          </a:xfrm>
          <a:prstGeom prst="rect">
            <a:avLst/>
          </a:prstGeom>
          <a:noFill/>
          <a:ln/>
        </p:spPr>
        <p:txBody>
          <a:bodyPr wrap="square" rtlCol="0" anchor="t">
            <a:normAutofit/>
          </a:bodyPr>
          <a:lstStyle/>
          <a:p>
            <a:pPr indent="0" marL="0">
              <a:buNone/>
            </a:pPr>
            <a:r>
              <a:rPr lang="en-US" sz="1300" b="1" dirty="0">
                <a:solidFill>
                  <a:srgbClr val="F7A23B"/>
                </a:solidFill>
                <a:latin typeface="Arial" pitchFamily="34" charset="0"/>
                <a:ea typeface="Arial" pitchFamily="34" charset="-122"/>
                <a:cs typeface="Arial" pitchFamily="34" charset="-120"/>
              </a:rPr>
              <a:t>Ao final do módulo
</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Explicar o ciclo de vida da cobrança (rascunho → aberta → aguardando pagamento → paga / vencida / cancelada).</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Lançar ajustes, recalcular e alterar vencimento com histórico.</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Entender Pix e boleto pelo Mercado Pago: emissão, baixa por webhook/sincronização, vencimento e reemissão.</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Montar a régua de cobrança e gerir inadimplência.</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Gerar cobranças a partir de faturas, emitir Pix/boleto, acompanhar a baixa e o portal do cliente.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457200" y="548640"/>
            <a:ext cx="3474720" cy="1737360"/>
          </a:xfrm>
          <a:prstGeom prst="rect">
            <a:avLst/>
          </a:prstGeom>
          <a:noFill/>
          <a:ln/>
        </p:spPr>
        <p:txBody>
          <a:bodyPr wrap="square" rtlCol="0" anchor="ctr"/>
          <a:lstStyle/>
          <a:p>
            <a:pPr indent="0" marL="0">
              <a:buNone/>
            </a:pPr>
            <a:r>
              <a:rPr lang="en-US" sz="11000" b="1" dirty="0">
                <a:solidFill>
                  <a:srgbClr val="11396F"/>
                </a:solidFill>
                <a:latin typeface="Arial" pitchFamily="34" charset="0"/>
                <a:ea typeface="Arial" pitchFamily="34" charset="-122"/>
                <a:cs typeface="Arial" pitchFamily="34" charset="-120"/>
              </a:rPr>
              <a:t>01</a:t>
            </a:r>
            <a:endParaRPr lang="en-US" sz="11000" dirty="0"/>
          </a:p>
        </p:txBody>
      </p:sp>
      <p:sp>
        <p:nvSpPr>
          <p:cNvPr id="4" name="Text 2"/>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1</a:t>
            </a:r>
            <a:endParaRPr lang="en-US" sz="1800" dirty="0"/>
          </a:p>
        </p:txBody>
      </p:sp>
      <p:sp>
        <p:nvSpPr>
          <p:cNvPr id="5" name="Text 3"/>
          <p:cNvSpPr/>
          <p:nvPr/>
        </p:nvSpPr>
        <p:spPr>
          <a:xfrm>
            <a:off x="548640" y="3200400"/>
            <a:ext cx="3383280" cy="457200"/>
          </a:xfrm>
          <a:prstGeom prst="rect">
            <a:avLst/>
          </a:prstGeom>
          <a:noFill/>
          <a:ln/>
        </p:spPr>
        <p:txBody>
          <a:bodyPr wrap="square" rtlCol="0" anchor="ctr"/>
          <a:lstStyle/>
          <a:p>
            <a:pPr indent="0" marL="0">
              <a:buNone/>
            </a:pPr>
            <a:r>
              <a:rPr lang="en-US" sz="1100" dirty="0">
                <a:solidFill>
                  <a:srgbClr val="C7D2E3"/>
                </a:solidFill>
                <a:latin typeface="Arial" pitchFamily="34" charset="0"/>
                <a:ea typeface="Arial" pitchFamily="34" charset="-122"/>
                <a:cs typeface="Arial" pitchFamily="34" charset="-120"/>
              </a:rPr>
              <a:t>M8 · Etapa 3 · Operação ponta a ponta</a:t>
            </a:r>
            <a:endParaRPr lang="en-US" sz="1100" dirty="0"/>
          </a:p>
        </p:txBody>
      </p:sp>
      <p:sp>
        <p:nvSpPr>
          <p:cNvPr id="6" name="Text 4"/>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7"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8" name="Text 5"/>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Como nasce a cobrança</a:t>
            </a:r>
            <a:endParaRPr lang="en-US" sz="3200" dirty="0"/>
          </a:p>
        </p:txBody>
      </p:sp>
      <p:sp>
        <p:nvSpPr>
          <p:cNvPr id="9" name="Text 6"/>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Entender a fórmula, o momento e o ciclo de status da cobrança</a:t>
            </a:r>
            <a:endParaRPr lang="en-US" sz="1500" dirty="0"/>
          </a:p>
        </p:txBody>
      </p:sp>
      <p:sp>
        <p:nvSpPr>
          <p:cNvPr id="10" name="Text 7"/>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A fórmula</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Quando a cobrança é gerada</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 ciclo de status</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Por que o pagamento não é gerado sozinho</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1</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 · COMO NASCE A COBRANÇA</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A fórmula</a:t>
            </a:r>
            <a:endParaRPr lang="en-US" sz="2600" dirty="0"/>
          </a:p>
        </p:txBody>
      </p:sp>
      <p:sp>
        <p:nvSpPr>
          <p:cNvPr id="9" name="Shape 6"/>
          <p:cNvSpPr/>
          <p:nvPr/>
        </p:nvSpPr>
        <p:spPr>
          <a:xfrm>
            <a:off x="548640" y="1325880"/>
            <a:ext cx="11091672" cy="4937760"/>
          </a:xfrm>
          <a:prstGeom prst="roundRect">
            <a:avLst>
              <a:gd name="adj" fmla="val 1852"/>
            </a:avLst>
          </a:prstGeom>
          <a:solidFill>
            <a:srgbClr val="0B1F3A"/>
          </a:solidFill>
          <a:ln/>
        </p:spPr>
      </p:sp>
      <p:sp>
        <p:nvSpPr>
          <p:cNvPr id="10" name="Text 7"/>
          <p:cNvSpPr/>
          <p:nvPr/>
        </p:nvSpPr>
        <p:spPr>
          <a:xfrm>
            <a:off x="914400" y="1554480"/>
            <a:ext cx="10360152" cy="4480560"/>
          </a:xfrm>
          <a:prstGeom prst="rect">
            <a:avLst/>
          </a:prstGeom>
          <a:noFill/>
          <a:ln/>
        </p:spPr>
        <p:txBody>
          <a:bodyPr wrap="square" rtlCol="0" anchor="ctr">
            <a:normAutofit/>
          </a:bodyPr>
          <a:lstStyle/>
          <a:p>
            <a:pPr indent="0" marL="0">
              <a:spcAft>
                <a:spcPts val="1000"/>
              </a:spcAft>
              <a:buNone/>
            </a:pPr>
            <a:r>
              <a:rPr lang="en-US" sz="2400" b="1" dirty="0">
                <a:solidFill>
                  <a:srgbClr val="FFFFFF"/>
                </a:solidFill>
                <a:latin typeface="Consolas" pitchFamily="34" charset="0"/>
                <a:ea typeface="Consolas" pitchFamily="34" charset="-122"/>
                <a:cs typeface="Consolas" pitchFamily="34" charset="-120"/>
              </a:rPr>
              <a:t>Valor original = consumo injetado da fatura (R$)</a:t>
            </a:r>
            <a:endParaRPr lang="en-US" sz="2400" dirty="0"/>
          </a:p>
          <a:p>
            <a:pPr indent="0" marL="0">
              <a:spcAft>
                <a:spcPts val="1000"/>
              </a:spcAft>
              <a:buNone/>
            </a:pPr>
            <a:r>
              <a:rPr lang="en-US" sz="2400" dirty="0">
                <a:solidFill>
                  <a:srgbClr val="FFFFFF"/>
                </a:solidFill>
                <a:latin typeface="Consolas" pitchFamily="34" charset="0"/>
                <a:ea typeface="Consolas" pitchFamily="34" charset="-122"/>
                <a:cs typeface="Consolas" pitchFamily="34" charset="-120"/>
              </a:rPr>
              <a:t>Desconto = valor original × margem de desconto (%)</a:t>
            </a:r>
            <a:endParaRPr lang="en-US" sz="2400" dirty="0"/>
          </a:p>
          <a:p>
            <a:pPr indent="0" marL="0">
              <a:spcAft>
                <a:spcPts val="1000"/>
              </a:spcAft>
              <a:buNone/>
            </a:pPr>
            <a:r>
              <a:rPr lang="en-US" sz="2400" dirty="0">
                <a:solidFill>
                  <a:srgbClr val="FFFFFF"/>
                </a:solidFill>
                <a:latin typeface="Consolas" pitchFamily="34" charset="0"/>
                <a:ea typeface="Consolas" pitchFamily="34" charset="-122"/>
                <a:cs typeface="Consolas" pitchFamily="34" charset="-120"/>
              </a:rPr>
              <a:t>Valor final = valor original − desconto − desconto manual + acréscimo manual</a:t>
            </a:r>
            <a:endParaRPr lang="en-US" sz="2400" dirty="0"/>
          </a:p>
          <a:p>
            <a:pPr indent="0" marL="0">
              <a:spcAft>
                <a:spcPts val="1000"/>
              </a:spcAft>
              <a:buNone/>
            </a:pPr>
            <a:r>
              <a:rPr lang="en-US" sz="2400" b="1" dirty="0">
                <a:solidFill>
                  <a:srgbClr val="F7A23B"/>
                </a:solidFill>
                <a:latin typeface="Consolas" pitchFamily="34" charset="0"/>
                <a:ea typeface="Consolas" pitchFamily="34" charset="-122"/>
                <a:cs typeface="Consolas" pitchFamily="34" charset="-120"/>
              </a:rPr>
              <a:t>Padaria: 2.119,00 − 423,80 = R$ 1.695,20</a:t>
            </a:r>
            <a:endParaRPr lang="en-US" sz="24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1</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Como nasce a cobrança</a:t>
            </a:r>
            <a:endParaRPr lang="en-US" sz="2600" dirty="0"/>
          </a:p>
        </p:txBody>
      </p:sp>
      <p:sp>
        <p:nvSpPr>
          <p:cNvPr id="9" name="Shape 6"/>
          <p:cNvSpPr/>
          <p:nvPr/>
        </p:nvSpPr>
        <p:spPr>
          <a:xfrm>
            <a:off x="548640" y="1325880"/>
            <a:ext cx="3514344" cy="4937760"/>
          </a:xfrm>
          <a:prstGeom prst="roundRect">
            <a:avLst>
              <a:gd name="adj" fmla="val 208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48640" y="1325880"/>
            <a:ext cx="3514344" cy="109728"/>
          </a:xfrm>
          <a:prstGeom prst="rect">
            <a:avLst/>
          </a:prstGeom>
          <a:solidFill>
            <a:srgbClr val="1B3A6B"/>
          </a:solidFill>
          <a:ln/>
        </p:spPr>
      </p:sp>
      <p:sp>
        <p:nvSpPr>
          <p:cNvPr id="11" name="Text 8"/>
          <p:cNvSpPr/>
          <p:nvPr/>
        </p:nvSpPr>
        <p:spPr>
          <a:xfrm>
            <a:off x="822960" y="1554480"/>
            <a:ext cx="2965704"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Quando a cobrança é gerada</a:t>
            </a:r>
            <a:endParaRPr lang="en-US" sz="1600" dirty="0"/>
          </a:p>
        </p:txBody>
      </p:sp>
      <p:sp>
        <p:nvSpPr>
          <p:cNvPr id="12" name="Text 9"/>
          <p:cNvSpPr/>
          <p:nvPr/>
        </p:nvSpPr>
        <p:spPr>
          <a:xfrm>
            <a:off x="822960" y="2286000"/>
            <a:ext cx="2965704" cy="374904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Automática: rotina de hora em hora para faturas aprovadas</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Manual: botão na fatura</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1 fatura ativa = 1 cobrança</a:t>
            </a:r>
            <a:endParaRPr lang="en-US" sz="1700" dirty="0"/>
          </a:p>
        </p:txBody>
      </p:sp>
      <p:sp>
        <p:nvSpPr>
          <p:cNvPr id="13" name="Shape 10"/>
          <p:cNvSpPr/>
          <p:nvPr/>
        </p:nvSpPr>
        <p:spPr>
          <a:xfrm>
            <a:off x="4337304" y="1325880"/>
            <a:ext cx="3514344" cy="4937760"/>
          </a:xfrm>
          <a:prstGeom prst="roundRect">
            <a:avLst>
              <a:gd name="adj" fmla="val 208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337304" y="1325880"/>
            <a:ext cx="3514344" cy="109728"/>
          </a:xfrm>
          <a:prstGeom prst="rect">
            <a:avLst/>
          </a:prstGeom>
          <a:solidFill>
            <a:srgbClr val="F7A23B"/>
          </a:solidFill>
          <a:ln/>
        </p:spPr>
      </p:sp>
      <p:sp>
        <p:nvSpPr>
          <p:cNvPr id="15" name="Text 12"/>
          <p:cNvSpPr/>
          <p:nvPr/>
        </p:nvSpPr>
        <p:spPr>
          <a:xfrm>
            <a:off x="4611624" y="1554480"/>
            <a:ext cx="2965704"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O ciclo de status</a:t>
            </a:r>
            <a:endParaRPr lang="en-US" sz="1600" dirty="0"/>
          </a:p>
        </p:txBody>
      </p:sp>
      <p:sp>
        <p:nvSpPr>
          <p:cNvPr id="16" name="Text 13"/>
          <p:cNvSpPr/>
          <p:nvPr/>
        </p:nvSpPr>
        <p:spPr>
          <a:xfrm>
            <a:off x="4611624" y="2286000"/>
            <a:ext cx="2965704" cy="374904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Rascunho → Aberta → Aguardando pagamento → Paga</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Vencida</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Cancelada</a:t>
            </a:r>
            <a:endParaRPr lang="en-US" sz="1700" dirty="0"/>
          </a:p>
        </p:txBody>
      </p:sp>
      <p:sp>
        <p:nvSpPr>
          <p:cNvPr id="17" name="Shape 14"/>
          <p:cNvSpPr/>
          <p:nvPr/>
        </p:nvSpPr>
        <p:spPr>
          <a:xfrm>
            <a:off x="8125968" y="1325880"/>
            <a:ext cx="3514344" cy="4937760"/>
          </a:xfrm>
          <a:prstGeom prst="roundRect">
            <a:avLst>
              <a:gd name="adj" fmla="val 208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125968" y="1325880"/>
            <a:ext cx="3514344" cy="109728"/>
          </a:xfrm>
          <a:prstGeom prst="rect">
            <a:avLst/>
          </a:prstGeom>
          <a:solidFill>
            <a:srgbClr val="1B3A6B"/>
          </a:solidFill>
          <a:ln/>
        </p:spPr>
      </p:sp>
      <p:sp>
        <p:nvSpPr>
          <p:cNvPr id="19" name="Text 16"/>
          <p:cNvSpPr/>
          <p:nvPr/>
        </p:nvSpPr>
        <p:spPr>
          <a:xfrm>
            <a:off x="8400288" y="1554480"/>
            <a:ext cx="2965704"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Por que o pagamento não é gerado sozinho</a:t>
            </a:r>
            <a:endParaRPr lang="en-US" sz="1600" dirty="0"/>
          </a:p>
        </p:txBody>
      </p:sp>
      <p:sp>
        <p:nvSpPr>
          <p:cNvPr id="20" name="Text 17"/>
          <p:cNvSpPr/>
          <p:nvPr/>
        </p:nvSpPr>
        <p:spPr>
          <a:xfrm>
            <a:off x="8400288" y="2286000"/>
            <a:ext cx="2965704" cy="374904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Decisão de negócio: Pix/boleto é emitido por uma pessoa</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alerta: cobrança vencendo em 5 dias sem pagamento gerado</a:t>
            </a:r>
            <a:endParaRPr lang="en-US" sz="17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1</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 · RESUMO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548640" y="1325880"/>
            <a:ext cx="3544824" cy="4892040"/>
          </a:xfrm>
          <a:prstGeom prst="roundRect">
            <a:avLst>
              <a:gd name="adj" fmla="val 2064"/>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2630424"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Consumo injetado × (1 − desconto) ± ajustes</a:t>
            </a:r>
            <a:endParaRPr lang="en-US" sz="1800" dirty="0"/>
          </a:p>
        </p:txBody>
      </p:sp>
      <p:sp>
        <p:nvSpPr>
          <p:cNvPr id="13" name="Shape 10"/>
          <p:cNvSpPr/>
          <p:nvPr/>
        </p:nvSpPr>
        <p:spPr>
          <a:xfrm>
            <a:off x="4322064" y="1325880"/>
            <a:ext cx="3544824" cy="4892040"/>
          </a:xfrm>
          <a:prstGeom prst="roundRect">
            <a:avLst>
              <a:gd name="adj" fmla="val 2064"/>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504944" y="1508760"/>
            <a:ext cx="457200" cy="457200"/>
          </a:xfrm>
          <a:prstGeom prst="ellipse">
            <a:avLst/>
          </a:prstGeom>
          <a:solidFill>
            <a:srgbClr val="F7A23B"/>
          </a:solidFill>
          <a:ln/>
        </p:spPr>
      </p:sp>
      <p:sp>
        <p:nvSpPr>
          <p:cNvPr id="15" name="Text 12"/>
          <p:cNvSpPr/>
          <p:nvPr/>
        </p:nvSpPr>
        <p:spPr>
          <a:xfrm>
            <a:off x="4504944"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99304" y="1435608"/>
            <a:ext cx="2630424"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rascunho → aberta → aguardando → paga</a:t>
            </a:r>
            <a:endParaRPr lang="en-US" sz="1800" dirty="0"/>
          </a:p>
        </p:txBody>
      </p:sp>
      <p:sp>
        <p:nvSpPr>
          <p:cNvPr id="17" name="Shape 14"/>
          <p:cNvSpPr/>
          <p:nvPr/>
        </p:nvSpPr>
        <p:spPr>
          <a:xfrm>
            <a:off x="8095488" y="1325880"/>
            <a:ext cx="3544824" cy="4892040"/>
          </a:xfrm>
          <a:prstGeom prst="roundRect">
            <a:avLst>
              <a:gd name="adj" fmla="val 2064"/>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278368" y="1508760"/>
            <a:ext cx="457200" cy="457200"/>
          </a:xfrm>
          <a:prstGeom prst="ellipse">
            <a:avLst/>
          </a:prstGeom>
          <a:solidFill>
            <a:srgbClr val="1B3A6B"/>
          </a:solidFill>
          <a:ln/>
        </p:spPr>
      </p:sp>
      <p:sp>
        <p:nvSpPr>
          <p:cNvPr id="19" name="Text 16"/>
          <p:cNvSpPr/>
          <p:nvPr/>
        </p:nvSpPr>
        <p:spPr>
          <a:xfrm>
            <a:off x="8278368"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872728" y="1435608"/>
            <a:ext cx="2630424"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Pix/boleto por clique humano</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457200" y="548640"/>
            <a:ext cx="3474720" cy="1737360"/>
          </a:xfrm>
          <a:prstGeom prst="rect">
            <a:avLst/>
          </a:prstGeom>
          <a:noFill/>
          <a:ln/>
        </p:spPr>
        <p:txBody>
          <a:bodyPr wrap="square" rtlCol="0" anchor="ctr"/>
          <a:lstStyle/>
          <a:p>
            <a:pPr indent="0" marL="0">
              <a:buNone/>
            </a:pPr>
            <a:r>
              <a:rPr lang="en-US" sz="11000" b="1" dirty="0">
                <a:solidFill>
                  <a:srgbClr val="11396F"/>
                </a:solidFill>
                <a:latin typeface="Arial" pitchFamily="34" charset="0"/>
                <a:ea typeface="Arial" pitchFamily="34" charset="-122"/>
                <a:cs typeface="Arial" pitchFamily="34" charset="-120"/>
              </a:rPr>
              <a:t>02</a:t>
            </a:r>
            <a:endParaRPr lang="en-US" sz="11000" dirty="0"/>
          </a:p>
        </p:txBody>
      </p:sp>
      <p:sp>
        <p:nvSpPr>
          <p:cNvPr id="4" name="Text 2"/>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2</a:t>
            </a:r>
            <a:endParaRPr lang="en-US" sz="1800" dirty="0"/>
          </a:p>
        </p:txBody>
      </p:sp>
      <p:sp>
        <p:nvSpPr>
          <p:cNvPr id="5" name="Text 3"/>
          <p:cNvSpPr/>
          <p:nvPr/>
        </p:nvSpPr>
        <p:spPr>
          <a:xfrm>
            <a:off x="548640" y="3200400"/>
            <a:ext cx="3383280" cy="457200"/>
          </a:xfrm>
          <a:prstGeom prst="rect">
            <a:avLst/>
          </a:prstGeom>
          <a:noFill/>
          <a:ln/>
        </p:spPr>
        <p:txBody>
          <a:bodyPr wrap="square" rtlCol="0" anchor="ctr"/>
          <a:lstStyle/>
          <a:p>
            <a:pPr indent="0" marL="0">
              <a:buNone/>
            </a:pPr>
            <a:r>
              <a:rPr lang="en-US" sz="1100" dirty="0">
                <a:solidFill>
                  <a:srgbClr val="C7D2E3"/>
                </a:solidFill>
                <a:latin typeface="Arial" pitchFamily="34" charset="0"/>
                <a:ea typeface="Arial" pitchFamily="34" charset="-122"/>
                <a:cs typeface="Arial" pitchFamily="34" charset="-120"/>
              </a:rPr>
              <a:t>M8 · Etapa 3 · Operação ponta a ponta</a:t>
            </a:r>
            <a:endParaRPr lang="en-US" sz="1100" dirty="0"/>
          </a:p>
        </p:txBody>
      </p:sp>
      <p:sp>
        <p:nvSpPr>
          <p:cNvPr id="6" name="Text 4"/>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7"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8" name="Text 5"/>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Ajustes, descontos e recálculo</a:t>
            </a:r>
            <a:endParaRPr lang="en-US" sz="3200" dirty="0"/>
          </a:p>
        </p:txBody>
      </p:sp>
      <p:sp>
        <p:nvSpPr>
          <p:cNvPr id="9" name="Text 6"/>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Saber quando e como ajustar uma cobrança, alterar o vencimento e manter a trilha de auditoria</a:t>
            </a:r>
            <a:endParaRPr lang="en-US" sz="1500" dirty="0"/>
          </a:p>
        </p:txBody>
      </p:sp>
      <p:sp>
        <p:nvSpPr>
          <p:cNvPr id="10" name="Text 7"/>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Desconto e acréscimo manual</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Recálculo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Alterar o vencimento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Passo a passo na plataforma</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2</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AJUSTES, DESCONTOS E RECÁLCULO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Desconto e acréscimo manual</a:t>
            </a:r>
            <a:endParaRPr lang="en-US" sz="2600" dirty="0"/>
          </a:p>
        </p:txBody>
      </p:sp>
      <p:sp>
        <p:nvSpPr>
          <p:cNvPr id="9" name="Shape 6"/>
          <p:cNvSpPr/>
          <p:nvPr/>
        </p:nvSpPr>
        <p:spPr>
          <a:xfrm>
            <a:off x="548640" y="1325880"/>
            <a:ext cx="3544824" cy="4892040"/>
          </a:xfrm>
          <a:prstGeom prst="roundRect">
            <a:avLst>
              <a:gd name="adj" fmla="val 2064"/>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2630424"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Desconto manual: cortesia, compensação de erro, negociação</a:t>
            </a:r>
            <a:endParaRPr lang="en-US" sz="1800" dirty="0"/>
          </a:p>
        </p:txBody>
      </p:sp>
      <p:sp>
        <p:nvSpPr>
          <p:cNvPr id="13" name="Shape 10"/>
          <p:cNvSpPr/>
          <p:nvPr/>
        </p:nvSpPr>
        <p:spPr>
          <a:xfrm>
            <a:off x="4322064" y="1325880"/>
            <a:ext cx="3544824" cy="4892040"/>
          </a:xfrm>
          <a:prstGeom prst="roundRect">
            <a:avLst>
              <a:gd name="adj" fmla="val 2064"/>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504944" y="1508760"/>
            <a:ext cx="457200" cy="457200"/>
          </a:xfrm>
          <a:prstGeom prst="ellipse">
            <a:avLst/>
          </a:prstGeom>
          <a:solidFill>
            <a:srgbClr val="F7A23B"/>
          </a:solidFill>
          <a:ln/>
        </p:spPr>
      </p:sp>
      <p:sp>
        <p:nvSpPr>
          <p:cNvPr id="15" name="Text 12"/>
          <p:cNvSpPr/>
          <p:nvPr/>
        </p:nvSpPr>
        <p:spPr>
          <a:xfrm>
            <a:off x="4504944"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99304" y="1435608"/>
            <a:ext cx="2630424"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Acréscimo manual: diferença de mês anterior cobrada a menos</a:t>
            </a:r>
            <a:endParaRPr lang="en-US" sz="1800" dirty="0"/>
          </a:p>
        </p:txBody>
      </p:sp>
      <p:sp>
        <p:nvSpPr>
          <p:cNvPr id="17" name="Shape 14"/>
          <p:cNvSpPr/>
          <p:nvPr/>
        </p:nvSpPr>
        <p:spPr>
          <a:xfrm>
            <a:off x="8095488" y="1325880"/>
            <a:ext cx="3544824" cy="4892040"/>
          </a:xfrm>
          <a:prstGeom prst="roundRect">
            <a:avLst>
              <a:gd name="adj" fmla="val 2064"/>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278368" y="1508760"/>
            <a:ext cx="457200" cy="457200"/>
          </a:xfrm>
          <a:prstGeom prst="ellipse">
            <a:avLst/>
          </a:prstGeom>
          <a:solidFill>
            <a:srgbClr val="1B3A6B"/>
          </a:solidFill>
          <a:ln/>
        </p:spPr>
      </p:sp>
      <p:sp>
        <p:nvSpPr>
          <p:cNvPr id="19" name="Text 16"/>
          <p:cNvSpPr/>
          <p:nvPr/>
        </p:nvSpPr>
        <p:spPr>
          <a:xfrm>
            <a:off x="8278368"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872728" y="1435608"/>
            <a:ext cx="2630424"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Sempre: tipo + valor + descrição</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2</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AJUSTES, DESCONTOS E RECÁLCULO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Recálculo</a:t>
            </a:r>
            <a:endParaRPr lang="en-US" sz="2600" dirty="0"/>
          </a:p>
        </p:txBody>
      </p:sp>
      <p:sp>
        <p:nvSpPr>
          <p:cNvPr id="9" name="Shape 6"/>
          <p:cNvSpPr/>
          <p:nvPr/>
        </p:nvSpPr>
        <p:spPr>
          <a:xfrm>
            <a:off x="548640" y="2651760"/>
            <a:ext cx="5596128" cy="1463040"/>
          </a:xfrm>
          <a:prstGeom prst="chevron">
            <a:avLst/>
          </a:prstGeom>
          <a:solidFill>
            <a:srgbClr val="1B3A6B"/>
          </a:solidFill>
          <a:ln w="25400">
            <a:solidFill>
              <a:srgbClr val="FFFFFF"/>
            </a:solidFill>
            <a:prstDash val="solid"/>
          </a:ln>
        </p:spPr>
      </p:sp>
      <p:sp>
        <p:nvSpPr>
          <p:cNvPr id="10" name="Text 7"/>
          <p:cNvSpPr/>
          <p:nvPr/>
        </p:nvSpPr>
        <p:spPr>
          <a:xfrm>
            <a:off x="868680" y="2651760"/>
            <a:ext cx="5074920" cy="1463040"/>
          </a:xfrm>
          <a:prstGeom prst="rect">
            <a:avLst/>
          </a:prstGeom>
          <a:noFill/>
          <a:ln/>
        </p:spPr>
        <p:txBody>
          <a:bodyPr wrap="square" rtlCol="0" anchor="ctr">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Fatura corrigida ou desconto do cliente alterado</a:t>
            </a:r>
            <a:endParaRPr lang="en-US" sz="1500" dirty="0"/>
          </a:p>
        </p:txBody>
      </p:sp>
      <p:sp>
        <p:nvSpPr>
          <p:cNvPr id="11" name="Shape 8"/>
          <p:cNvSpPr/>
          <p:nvPr/>
        </p:nvSpPr>
        <p:spPr>
          <a:xfrm>
            <a:off x="6035040" y="2651760"/>
            <a:ext cx="5596128" cy="1463040"/>
          </a:xfrm>
          <a:prstGeom prst="chevron">
            <a:avLst/>
          </a:prstGeom>
          <a:solidFill>
            <a:srgbClr val="11396F"/>
          </a:solidFill>
          <a:ln w="25400">
            <a:solidFill>
              <a:srgbClr val="FFFFFF"/>
            </a:solidFill>
            <a:prstDash val="solid"/>
          </a:ln>
        </p:spPr>
      </p:sp>
      <p:sp>
        <p:nvSpPr>
          <p:cNvPr id="12" name="Text 9"/>
          <p:cNvSpPr/>
          <p:nvPr/>
        </p:nvSpPr>
        <p:spPr>
          <a:xfrm>
            <a:off x="6355080" y="2651760"/>
            <a:ext cx="5074920" cy="1463040"/>
          </a:xfrm>
          <a:prstGeom prst="rect">
            <a:avLst/>
          </a:prstGeom>
          <a:noFill/>
          <a:ln/>
        </p:spPr>
        <p:txBody>
          <a:bodyPr wrap="square" rtlCol="0" anchor="ctr">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recalcular a cobrança (enquanto não paga)</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2</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AJUSTES, DESCONTOS E RECÁLCULO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Alterar o vencimento</a:t>
            </a:r>
            <a:endParaRPr lang="en-US" sz="2600" dirty="0"/>
          </a:p>
        </p:txBody>
      </p:sp>
      <p:sp>
        <p:nvSpPr>
          <p:cNvPr id="9" name="Shape 6"/>
          <p:cNvSpPr/>
          <p:nvPr/>
        </p:nvSpPr>
        <p:spPr>
          <a:xfrm>
            <a:off x="548640" y="1325880"/>
            <a:ext cx="11091672" cy="4892040"/>
          </a:xfrm>
          <a:prstGeom prst="roundRect">
            <a:avLst>
              <a:gd name="adj" fmla="val 149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10177272"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Mudou o vencimento ou o valor? O boleto ativo é cancelado e reemitido</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2</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AJUSTES, DESCONTOS E RECÁLCULO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na plataforma</a:t>
            </a:r>
            <a:endParaRPr lang="en-US" sz="2600" dirty="0"/>
          </a:p>
        </p:txBody>
      </p:sp>
      <p:sp>
        <p:nvSpPr>
          <p:cNvPr id="9" name="Shape 6"/>
          <p:cNvSpPr/>
          <p:nvPr/>
        </p:nvSpPr>
        <p:spPr>
          <a:xfrm>
            <a:off x="548640" y="1325880"/>
            <a:ext cx="11091672" cy="4937760"/>
          </a:xfrm>
          <a:prstGeom prst="roundRect">
            <a:avLst>
              <a:gd name="adj" fmla="val 1481"/>
            </a:avLst>
          </a:prstGeom>
          <a:solidFill>
            <a:srgbClr val="FFFFFF"/>
          </a:solidFill>
          <a:ln w="9525">
            <a:solidFill>
              <a:srgbClr val="D8E0EC"/>
            </a:solidFill>
            <a:prstDash val="solid"/>
          </a:ln>
        </p:spPr>
      </p:sp>
      <p:sp>
        <p:nvSpPr>
          <p:cNvPr id="10" name="Shape 7"/>
          <p:cNvSpPr/>
          <p:nvPr/>
        </p:nvSpPr>
        <p:spPr>
          <a:xfrm>
            <a:off x="731520" y="1508760"/>
            <a:ext cx="822960" cy="384048"/>
          </a:xfrm>
          <a:prstGeom prst="roundRect">
            <a:avLst>
              <a:gd name="adj" fmla="val 47619"/>
            </a:avLst>
          </a:prstGeom>
          <a:solidFill>
            <a:srgbClr val="F7A23B"/>
          </a:solidFill>
          <a:ln/>
        </p:spPr>
      </p:sp>
      <p:sp>
        <p:nvSpPr>
          <p:cNvPr id="11" name="Text 8"/>
          <p:cNvSpPr/>
          <p:nvPr/>
        </p:nvSpPr>
        <p:spPr>
          <a:xfrm>
            <a:off x="731520" y="1508760"/>
            <a:ext cx="822960" cy="384048"/>
          </a:xfrm>
          <a:prstGeom prst="rect">
            <a:avLst/>
          </a:prstGeom>
          <a:noFill/>
          <a:ln/>
        </p:spPr>
        <p:txBody>
          <a:bodyPr wrap="square"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PASSO 1</a:t>
            </a:r>
            <a:endParaRPr lang="en-US" sz="1000" dirty="0"/>
          </a:p>
        </p:txBody>
      </p:sp>
      <p:sp>
        <p:nvSpPr>
          <p:cNvPr id="12" name="Text 9"/>
          <p:cNvSpPr/>
          <p:nvPr/>
        </p:nvSpPr>
        <p:spPr>
          <a:xfrm>
            <a:off x="1645920" y="1463040"/>
            <a:ext cx="9857232" cy="502920"/>
          </a:xfrm>
          <a:prstGeom prst="rect">
            <a:avLst/>
          </a:prstGeom>
          <a:noFill/>
          <a:ln/>
        </p:spPr>
        <p:txBody>
          <a:bodyPr wrap="square" rtlCol="0" anchor="ctr">
            <a:normAutofit/>
          </a:bodyPr>
          <a:lstStyle/>
          <a:p>
            <a:pPr indent="0" marL="0">
              <a:buNone/>
            </a:pPr>
            <a:r>
              <a:rPr lang="en-US" sz="1400" b="1" dirty="0">
                <a:solidFill>
                  <a:srgbClr val="1B3A6B"/>
                </a:solidFill>
                <a:latin typeface="Arial" pitchFamily="34" charset="0"/>
                <a:ea typeface="Arial" pitchFamily="34" charset="-122"/>
                <a:cs typeface="Arial" pitchFamily="34" charset="-120"/>
              </a:rPr>
              <a:t>O histórico de alterações</a:t>
            </a:r>
            <a:endParaRPr lang="en-US" sz="1400" dirty="0"/>
          </a:p>
        </p:txBody>
      </p:sp>
      <p:sp>
        <p:nvSpPr>
          <p:cNvPr id="13" name="Text 10"/>
          <p:cNvSpPr/>
          <p:nvPr/>
        </p:nvSpPr>
        <p:spPr>
          <a:xfrm>
            <a:off x="777240" y="2057400"/>
            <a:ext cx="10634472" cy="4069080"/>
          </a:xfrm>
          <a:prstGeom prst="rect">
            <a:avLst/>
          </a:prstGeom>
          <a:noFill/>
          <a:ln/>
        </p:spPr>
        <p:txBody>
          <a:bodyPr wrap="square" rtlCol="0" anchor="t">
            <a:normAutofit/>
          </a:bodyPr>
          <a:lstStyle/>
          <a:p>
            <a:pPr indent="0" marL="0">
              <a:buNone/>
            </a:pPr>
            <a:r>
              <a:rPr lang="en-US" sz="1500" dirty="0">
                <a:solidFill>
                  <a:srgbClr val="1F2937"/>
                </a:solidFill>
                <a:latin typeface="Arial" pitchFamily="34" charset="0"/>
                <a:ea typeface="Arial" pitchFamily="34" charset="-122"/>
                <a:cs typeface="Arial" pitchFamily="34" charset="-120"/>
              </a:rPr>
              <a:t>Toda alteração fica registrada: quem, quando, o quê</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2</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RESUMO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548640" y="132588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Ajuste com descrição</a:t>
            </a:r>
            <a:endParaRPr lang="en-US" sz="1800" dirty="0"/>
          </a:p>
        </p:txBody>
      </p:sp>
      <p:sp>
        <p:nvSpPr>
          <p:cNvPr id="13" name="Shape 10"/>
          <p:cNvSpPr/>
          <p:nvPr/>
        </p:nvSpPr>
        <p:spPr>
          <a:xfrm>
            <a:off x="6208776" y="132588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391656" y="1508760"/>
            <a:ext cx="457200" cy="457200"/>
          </a:xfrm>
          <a:prstGeom prst="ellipse">
            <a:avLst/>
          </a:prstGeom>
          <a:solidFill>
            <a:srgbClr val="F7A23B"/>
          </a:solidFill>
          <a:ln/>
        </p:spPr>
      </p:sp>
      <p:sp>
        <p:nvSpPr>
          <p:cNvPr id="15" name="Text 12"/>
          <p:cNvSpPr/>
          <p:nvPr/>
        </p:nvSpPr>
        <p:spPr>
          <a:xfrm>
            <a:off x="6391656"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6986016" y="143560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recálculo antes de emitir</a:t>
            </a:r>
            <a:endParaRPr lang="en-US" sz="1800" dirty="0"/>
          </a:p>
        </p:txBody>
      </p:sp>
      <p:sp>
        <p:nvSpPr>
          <p:cNvPr id="17" name="Shape 14"/>
          <p:cNvSpPr/>
          <p:nvPr/>
        </p:nvSpPr>
        <p:spPr>
          <a:xfrm>
            <a:off x="548640" y="388620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731520" y="4069080"/>
            <a:ext cx="457200" cy="457200"/>
          </a:xfrm>
          <a:prstGeom prst="ellipse">
            <a:avLst/>
          </a:prstGeom>
          <a:solidFill>
            <a:srgbClr val="1B3A6B"/>
          </a:solidFill>
          <a:ln/>
        </p:spPr>
      </p:sp>
      <p:sp>
        <p:nvSpPr>
          <p:cNvPr id="19" name="Text 16"/>
          <p:cNvSpPr/>
          <p:nvPr/>
        </p:nvSpPr>
        <p:spPr>
          <a:xfrm>
            <a:off x="73152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1325880" y="399592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vencimento novo = boleto novo</a:t>
            </a:r>
            <a:endParaRPr lang="en-US" sz="1800" dirty="0"/>
          </a:p>
        </p:txBody>
      </p:sp>
      <p:sp>
        <p:nvSpPr>
          <p:cNvPr id="21" name="Shape 18"/>
          <p:cNvSpPr/>
          <p:nvPr/>
        </p:nvSpPr>
        <p:spPr>
          <a:xfrm>
            <a:off x="6208776" y="388620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6391656" y="4069080"/>
            <a:ext cx="457200" cy="457200"/>
          </a:xfrm>
          <a:prstGeom prst="ellipse">
            <a:avLst/>
          </a:prstGeom>
          <a:solidFill>
            <a:srgbClr val="F7A23B"/>
          </a:solidFill>
          <a:ln/>
        </p:spPr>
      </p:sp>
      <p:sp>
        <p:nvSpPr>
          <p:cNvPr id="23" name="Text 20"/>
          <p:cNvSpPr/>
          <p:nvPr/>
        </p:nvSpPr>
        <p:spPr>
          <a:xfrm>
            <a:off x="6391656"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6986016" y="399592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histórico completo</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457200" y="548640"/>
            <a:ext cx="3474720" cy="1737360"/>
          </a:xfrm>
          <a:prstGeom prst="rect">
            <a:avLst/>
          </a:prstGeom>
          <a:noFill/>
          <a:ln/>
        </p:spPr>
        <p:txBody>
          <a:bodyPr wrap="square" rtlCol="0" anchor="ctr"/>
          <a:lstStyle/>
          <a:p>
            <a:pPr indent="0" marL="0">
              <a:buNone/>
            </a:pPr>
            <a:r>
              <a:rPr lang="en-US" sz="11000" b="1" dirty="0">
                <a:solidFill>
                  <a:srgbClr val="11396F"/>
                </a:solidFill>
                <a:latin typeface="Arial" pitchFamily="34" charset="0"/>
                <a:ea typeface="Arial" pitchFamily="34" charset="-122"/>
                <a:cs typeface="Arial" pitchFamily="34" charset="-120"/>
              </a:rPr>
              <a:t>03</a:t>
            </a:r>
            <a:endParaRPr lang="en-US" sz="11000" dirty="0"/>
          </a:p>
        </p:txBody>
      </p:sp>
      <p:sp>
        <p:nvSpPr>
          <p:cNvPr id="4" name="Text 2"/>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3</a:t>
            </a:r>
            <a:endParaRPr lang="en-US" sz="1800" dirty="0"/>
          </a:p>
        </p:txBody>
      </p:sp>
      <p:sp>
        <p:nvSpPr>
          <p:cNvPr id="5" name="Text 3"/>
          <p:cNvSpPr/>
          <p:nvPr/>
        </p:nvSpPr>
        <p:spPr>
          <a:xfrm>
            <a:off x="548640" y="3200400"/>
            <a:ext cx="3383280" cy="457200"/>
          </a:xfrm>
          <a:prstGeom prst="rect">
            <a:avLst/>
          </a:prstGeom>
          <a:noFill/>
          <a:ln/>
        </p:spPr>
        <p:txBody>
          <a:bodyPr wrap="square" rtlCol="0" anchor="ctr"/>
          <a:lstStyle/>
          <a:p>
            <a:pPr indent="0" marL="0">
              <a:buNone/>
            </a:pPr>
            <a:r>
              <a:rPr lang="en-US" sz="1100" dirty="0">
                <a:solidFill>
                  <a:srgbClr val="C7D2E3"/>
                </a:solidFill>
                <a:latin typeface="Arial" pitchFamily="34" charset="0"/>
                <a:ea typeface="Arial" pitchFamily="34" charset="-122"/>
                <a:cs typeface="Arial" pitchFamily="34" charset="-120"/>
              </a:rPr>
              <a:t>M8 · Etapa 3 · Operação ponta a ponta</a:t>
            </a:r>
            <a:endParaRPr lang="en-US" sz="1100" dirty="0"/>
          </a:p>
        </p:txBody>
      </p:sp>
      <p:sp>
        <p:nvSpPr>
          <p:cNvPr id="6" name="Text 4"/>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7"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8" name="Text 5"/>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Pix e boleto: como funcionam os meios de pagamento</a:t>
            </a:r>
            <a:endParaRPr lang="en-US" sz="3200" dirty="0"/>
          </a:p>
        </p:txBody>
      </p:sp>
      <p:sp>
        <p:nvSpPr>
          <p:cNvPr id="9" name="Text 6"/>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Entender emissão, confirmação, vencimento, reemissão e estorno de Pix/boleto pelo Mercado Pago</a:t>
            </a:r>
            <a:endParaRPr lang="en-US" sz="1500" dirty="0"/>
          </a:p>
        </p:txBody>
      </p:sp>
      <p:sp>
        <p:nvSpPr>
          <p:cNvPr id="10" name="Text 7"/>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Pix e boleto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 vencimento do Pix e do boleto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A confirmação automática</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Boleto vencido, cancelamento e estorno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Custos e configuração</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3</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Pix e boleto: como funcionam os meios de pagamento</a:t>
            </a:r>
            <a:endParaRPr lang="en-US" sz="2600" dirty="0"/>
          </a:p>
        </p:txBody>
      </p:sp>
      <p:sp>
        <p:nvSpPr>
          <p:cNvPr id="9" name="Shape 6"/>
          <p:cNvSpPr/>
          <p:nvPr/>
        </p:nvSpPr>
        <p:spPr>
          <a:xfrm>
            <a:off x="548640" y="1325880"/>
            <a:ext cx="3514344" cy="4937760"/>
          </a:xfrm>
          <a:prstGeom prst="roundRect">
            <a:avLst>
              <a:gd name="adj" fmla="val 208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48640" y="1325880"/>
            <a:ext cx="3514344" cy="109728"/>
          </a:xfrm>
          <a:prstGeom prst="rect">
            <a:avLst/>
          </a:prstGeom>
          <a:solidFill>
            <a:srgbClr val="1B3A6B"/>
          </a:solidFill>
          <a:ln/>
        </p:spPr>
      </p:sp>
      <p:sp>
        <p:nvSpPr>
          <p:cNvPr id="11" name="Text 8"/>
          <p:cNvSpPr/>
          <p:nvPr/>
        </p:nvSpPr>
        <p:spPr>
          <a:xfrm>
            <a:off x="822960" y="1554480"/>
            <a:ext cx="2965704"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Pix e boleto</a:t>
            </a:r>
            <a:endParaRPr lang="en-US" sz="1600" dirty="0"/>
          </a:p>
        </p:txBody>
      </p:sp>
      <p:sp>
        <p:nvSpPr>
          <p:cNvPr id="12" name="Text 9"/>
          <p:cNvSpPr/>
          <p:nvPr/>
        </p:nvSpPr>
        <p:spPr>
          <a:xfrm>
            <a:off x="822960" y="2286000"/>
            <a:ext cx="2965704" cy="374904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Pix: copia e cola · confirmação em minutos · padrão da plataforma</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Boleto: linha digitável e PDF com código de barras · compensação em até 3 dias úteis · exige endereço completo do pagador</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Um pedido = um método (Pix OU boleto)</a:t>
            </a:r>
            <a:endParaRPr lang="en-US" sz="1700" dirty="0"/>
          </a:p>
        </p:txBody>
      </p:sp>
      <p:sp>
        <p:nvSpPr>
          <p:cNvPr id="13" name="Shape 10"/>
          <p:cNvSpPr/>
          <p:nvPr/>
        </p:nvSpPr>
        <p:spPr>
          <a:xfrm>
            <a:off x="4337304" y="1325880"/>
            <a:ext cx="3514344" cy="4937760"/>
          </a:xfrm>
          <a:prstGeom prst="roundRect">
            <a:avLst>
              <a:gd name="adj" fmla="val 208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337304" y="1325880"/>
            <a:ext cx="3514344" cy="109728"/>
          </a:xfrm>
          <a:prstGeom prst="rect">
            <a:avLst/>
          </a:prstGeom>
          <a:solidFill>
            <a:srgbClr val="F7A23B"/>
          </a:solidFill>
          <a:ln/>
        </p:spPr>
      </p:sp>
      <p:sp>
        <p:nvSpPr>
          <p:cNvPr id="15" name="Text 12"/>
          <p:cNvSpPr/>
          <p:nvPr/>
        </p:nvSpPr>
        <p:spPr>
          <a:xfrm>
            <a:off x="4611624" y="1554480"/>
            <a:ext cx="2965704"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O vencimento do Pix e do boleto</a:t>
            </a:r>
            <a:endParaRPr lang="en-US" sz="1600" dirty="0"/>
          </a:p>
        </p:txBody>
      </p:sp>
      <p:sp>
        <p:nvSpPr>
          <p:cNvPr id="16" name="Text 13"/>
          <p:cNvSpPr/>
          <p:nvPr/>
        </p:nvSpPr>
        <p:spPr>
          <a:xfrm>
            <a:off x="4611624" y="2286000"/>
            <a:ext cx="2965704" cy="374904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Vencimento da cobrança enviado ao Mercado Pago</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fim de semana → próximo dia útil</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data lida do código de barras é a que vale</a:t>
            </a:r>
            <a:endParaRPr lang="en-US" sz="1700" dirty="0"/>
          </a:p>
        </p:txBody>
      </p:sp>
      <p:sp>
        <p:nvSpPr>
          <p:cNvPr id="17" name="Shape 14"/>
          <p:cNvSpPr/>
          <p:nvPr/>
        </p:nvSpPr>
        <p:spPr>
          <a:xfrm>
            <a:off x="8125968" y="1325880"/>
            <a:ext cx="3514344" cy="4937760"/>
          </a:xfrm>
          <a:prstGeom prst="roundRect">
            <a:avLst>
              <a:gd name="adj" fmla="val 208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125968" y="1325880"/>
            <a:ext cx="3514344" cy="109728"/>
          </a:xfrm>
          <a:prstGeom prst="rect">
            <a:avLst/>
          </a:prstGeom>
          <a:solidFill>
            <a:srgbClr val="1B3A6B"/>
          </a:solidFill>
          <a:ln/>
        </p:spPr>
      </p:sp>
      <p:sp>
        <p:nvSpPr>
          <p:cNvPr id="19" name="Text 16"/>
          <p:cNvSpPr/>
          <p:nvPr/>
        </p:nvSpPr>
        <p:spPr>
          <a:xfrm>
            <a:off x="8400288" y="1554480"/>
            <a:ext cx="2965704"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A confirmação automática</a:t>
            </a:r>
            <a:endParaRPr lang="en-US" sz="1600" dirty="0"/>
          </a:p>
        </p:txBody>
      </p:sp>
      <p:sp>
        <p:nvSpPr>
          <p:cNvPr id="20" name="Text 17"/>
          <p:cNvSpPr/>
          <p:nvPr/>
        </p:nvSpPr>
        <p:spPr>
          <a:xfrm>
            <a:off x="8400288" y="2286000"/>
            <a:ext cx="2965704" cy="3749040"/>
          </a:xfrm>
          <a:prstGeom prst="rect">
            <a:avLst/>
          </a:prstGeom>
          <a:noFill/>
          <a:ln/>
        </p:spPr>
        <p:txBody>
          <a:bodyPr wrap="square" rtlCol="0" anchor="ctr">
            <a:normAutofit/>
          </a:bodyPr>
          <a:lstStyle/>
          <a:p>
            <a:pPr indent="0" marL="0">
              <a:buNone/>
            </a:pPr>
            <a:r>
              <a:rPr lang="en-US" sz="2200" dirty="0">
                <a:solidFill>
                  <a:srgbClr val="1F2937"/>
                </a:solidFill>
                <a:latin typeface="Arial" pitchFamily="34" charset="0"/>
                <a:ea typeface="Arial" pitchFamily="34" charset="-122"/>
                <a:cs typeface="Arial" pitchFamily="34" charset="-120"/>
              </a:rPr>
              <a:t>Dois caminhos de baixa: webhook (na hora) + sincronização a cada 5 min</a:t>
            </a:r>
            <a:endParaRPr lang="en-US" sz="22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3</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Pix e boleto: como funcionam os meios de pagamento</a:t>
            </a:r>
            <a:endParaRPr lang="en-US" sz="2600" dirty="0"/>
          </a:p>
        </p:txBody>
      </p:sp>
      <p:sp>
        <p:nvSpPr>
          <p:cNvPr id="9" name="Shape 6"/>
          <p:cNvSpPr/>
          <p:nvPr/>
        </p:nvSpPr>
        <p:spPr>
          <a:xfrm>
            <a:off x="548640" y="1325880"/>
            <a:ext cx="5408676" cy="4937760"/>
          </a:xfrm>
          <a:prstGeom prst="roundRect">
            <a:avLst>
              <a:gd name="adj" fmla="val 1481"/>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48640" y="1325880"/>
            <a:ext cx="5408676" cy="109728"/>
          </a:xfrm>
          <a:prstGeom prst="rect">
            <a:avLst/>
          </a:prstGeom>
          <a:solidFill>
            <a:srgbClr val="1B3A6B"/>
          </a:solidFill>
          <a:ln/>
        </p:spPr>
      </p:sp>
      <p:sp>
        <p:nvSpPr>
          <p:cNvPr id="11" name="Text 8"/>
          <p:cNvSpPr/>
          <p:nvPr/>
        </p:nvSpPr>
        <p:spPr>
          <a:xfrm>
            <a:off x="822960" y="1554480"/>
            <a:ext cx="4860036"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Boleto vencido, cancelamento e estorno</a:t>
            </a:r>
            <a:endParaRPr lang="en-US" sz="1600" dirty="0"/>
          </a:p>
        </p:txBody>
      </p:sp>
      <p:sp>
        <p:nvSpPr>
          <p:cNvPr id="12" name="Text 9"/>
          <p:cNvSpPr/>
          <p:nvPr/>
        </p:nvSpPr>
        <p:spPr>
          <a:xfrm>
            <a:off x="822960" y="2286000"/>
            <a:ext cx="4860036" cy="374904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Boleto vencido → marcado como vencido às 06:00 · PDF bloqueado · alerta ao consultor para reemitir · acompanhado por 10 dias</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Cobrança cancelada ou paga manualmente → boleto cancelado no Mercado Pago</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Estorno → registrado; cobrança segue paga; caso vai para revisão humana</a:t>
            </a:r>
            <a:endParaRPr lang="en-US" sz="1700" dirty="0"/>
          </a:p>
        </p:txBody>
      </p:sp>
      <p:sp>
        <p:nvSpPr>
          <p:cNvPr id="13" name="Shape 10"/>
          <p:cNvSpPr/>
          <p:nvPr/>
        </p:nvSpPr>
        <p:spPr>
          <a:xfrm>
            <a:off x="6231636" y="1325880"/>
            <a:ext cx="5408676" cy="4937760"/>
          </a:xfrm>
          <a:prstGeom prst="roundRect">
            <a:avLst>
              <a:gd name="adj" fmla="val 1481"/>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231636" y="1325880"/>
            <a:ext cx="5408676" cy="109728"/>
          </a:xfrm>
          <a:prstGeom prst="rect">
            <a:avLst/>
          </a:prstGeom>
          <a:solidFill>
            <a:srgbClr val="F7A23B"/>
          </a:solidFill>
          <a:ln/>
        </p:spPr>
      </p:sp>
      <p:sp>
        <p:nvSpPr>
          <p:cNvPr id="15" name="Text 12"/>
          <p:cNvSpPr/>
          <p:nvPr/>
        </p:nvSpPr>
        <p:spPr>
          <a:xfrm>
            <a:off x="6505956" y="1554480"/>
            <a:ext cx="4860036"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Custos e configuração</a:t>
            </a:r>
            <a:endParaRPr lang="en-US" sz="1600" dirty="0"/>
          </a:p>
        </p:txBody>
      </p:sp>
      <p:sp>
        <p:nvSpPr>
          <p:cNvPr id="16" name="Text 13"/>
          <p:cNvSpPr/>
          <p:nvPr/>
        </p:nvSpPr>
        <p:spPr>
          <a:xfrm>
            <a:off x="6505956" y="2286000"/>
            <a:ext cx="4860036" cy="374904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Tarifas do meio de pagamento entram no custo variável (M3)</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conta Mercado Pago configurada pelo admin</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credenciais criptografadas</a:t>
            </a:r>
            <a:endParaRPr lang="en-US" sz="17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3</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 · RESUMO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548640" y="132588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Pix (padrão) ou boleto</a:t>
            </a:r>
            <a:endParaRPr lang="en-US" sz="1800" dirty="0"/>
          </a:p>
        </p:txBody>
      </p:sp>
      <p:sp>
        <p:nvSpPr>
          <p:cNvPr id="13" name="Shape 10"/>
          <p:cNvSpPr/>
          <p:nvPr/>
        </p:nvSpPr>
        <p:spPr>
          <a:xfrm>
            <a:off x="6208776" y="132588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391656" y="1508760"/>
            <a:ext cx="457200" cy="457200"/>
          </a:xfrm>
          <a:prstGeom prst="ellipse">
            <a:avLst/>
          </a:prstGeom>
          <a:solidFill>
            <a:srgbClr val="F7A23B"/>
          </a:solidFill>
          <a:ln/>
        </p:spPr>
      </p:sp>
      <p:sp>
        <p:nvSpPr>
          <p:cNvPr id="15" name="Text 12"/>
          <p:cNvSpPr/>
          <p:nvPr/>
        </p:nvSpPr>
        <p:spPr>
          <a:xfrm>
            <a:off x="6391656"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6986016" y="143560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baixa automática (webhook + sync)</a:t>
            </a:r>
            <a:endParaRPr lang="en-US" sz="1800" dirty="0"/>
          </a:p>
        </p:txBody>
      </p:sp>
      <p:sp>
        <p:nvSpPr>
          <p:cNvPr id="17" name="Shape 14"/>
          <p:cNvSpPr/>
          <p:nvPr/>
        </p:nvSpPr>
        <p:spPr>
          <a:xfrm>
            <a:off x="548640" y="388620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731520" y="4069080"/>
            <a:ext cx="457200" cy="457200"/>
          </a:xfrm>
          <a:prstGeom prst="ellipse">
            <a:avLst/>
          </a:prstGeom>
          <a:solidFill>
            <a:srgbClr val="1B3A6B"/>
          </a:solidFill>
          <a:ln/>
        </p:spPr>
      </p:sp>
      <p:sp>
        <p:nvSpPr>
          <p:cNvPr id="19" name="Text 16"/>
          <p:cNvSpPr/>
          <p:nvPr/>
        </p:nvSpPr>
        <p:spPr>
          <a:xfrm>
            <a:off x="73152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1325880" y="399592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vencido: alerta e reemissão</a:t>
            </a:r>
            <a:endParaRPr lang="en-US" sz="1800" dirty="0"/>
          </a:p>
        </p:txBody>
      </p:sp>
      <p:sp>
        <p:nvSpPr>
          <p:cNvPr id="21" name="Shape 18"/>
          <p:cNvSpPr/>
          <p:nvPr/>
        </p:nvSpPr>
        <p:spPr>
          <a:xfrm>
            <a:off x="6208776" y="388620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6391656" y="4069080"/>
            <a:ext cx="457200" cy="457200"/>
          </a:xfrm>
          <a:prstGeom prst="ellipse">
            <a:avLst/>
          </a:prstGeom>
          <a:solidFill>
            <a:srgbClr val="F7A23B"/>
          </a:solidFill>
          <a:ln/>
        </p:spPr>
      </p:sp>
      <p:sp>
        <p:nvSpPr>
          <p:cNvPr id="23" name="Text 20"/>
          <p:cNvSpPr/>
          <p:nvPr/>
        </p:nvSpPr>
        <p:spPr>
          <a:xfrm>
            <a:off x="6391656"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6986016" y="399592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estorno: revisão</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457200" y="548640"/>
            <a:ext cx="3474720" cy="1737360"/>
          </a:xfrm>
          <a:prstGeom prst="rect">
            <a:avLst/>
          </a:prstGeom>
          <a:noFill/>
          <a:ln/>
        </p:spPr>
        <p:txBody>
          <a:bodyPr wrap="square" rtlCol="0" anchor="ctr"/>
          <a:lstStyle/>
          <a:p>
            <a:pPr indent="0" marL="0">
              <a:buNone/>
            </a:pPr>
            <a:r>
              <a:rPr lang="en-US" sz="11000" b="1" dirty="0">
                <a:solidFill>
                  <a:srgbClr val="11396F"/>
                </a:solidFill>
                <a:latin typeface="Arial" pitchFamily="34" charset="0"/>
                <a:ea typeface="Arial" pitchFamily="34" charset="-122"/>
                <a:cs typeface="Arial" pitchFamily="34" charset="-120"/>
              </a:rPr>
              <a:t>04</a:t>
            </a:r>
            <a:endParaRPr lang="en-US" sz="11000" dirty="0"/>
          </a:p>
        </p:txBody>
      </p:sp>
      <p:sp>
        <p:nvSpPr>
          <p:cNvPr id="4" name="Text 2"/>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4</a:t>
            </a:r>
            <a:endParaRPr lang="en-US" sz="1800" dirty="0"/>
          </a:p>
        </p:txBody>
      </p:sp>
      <p:sp>
        <p:nvSpPr>
          <p:cNvPr id="5" name="Text 3"/>
          <p:cNvSpPr/>
          <p:nvPr/>
        </p:nvSpPr>
        <p:spPr>
          <a:xfrm>
            <a:off x="548640" y="3200400"/>
            <a:ext cx="3383280" cy="457200"/>
          </a:xfrm>
          <a:prstGeom prst="rect">
            <a:avLst/>
          </a:prstGeom>
          <a:noFill/>
          <a:ln/>
        </p:spPr>
        <p:txBody>
          <a:bodyPr wrap="square" rtlCol="0" anchor="ctr"/>
          <a:lstStyle/>
          <a:p>
            <a:pPr indent="0" marL="0">
              <a:buNone/>
            </a:pPr>
            <a:r>
              <a:rPr lang="en-US" sz="1100" dirty="0">
                <a:solidFill>
                  <a:srgbClr val="C7D2E3"/>
                </a:solidFill>
                <a:latin typeface="Arial" pitchFamily="34" charset="0"/>
                <a:ea typeface="Arial" pitchFamily="34" charset="-122"/>
                <a:cs typeface="Arial" pitchFamily="34" charset="-120"/>
              </a:rPr>
              <a:t>M8 · Etapa 3 · Operação ponta a ponta</a:t>
            </a:r>
            <a:endParaRPr lang="en-US" sz="1100" dirty="0"/>
          </a:p>
        </p:txBody>
      </p:sp>
      <p:sp>
        <p:nvSpPr>
          <p:cNvPr id="6" name="Text 4"/>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7"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8" name="Text 5"/>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Régua de cobrança e inadimplência</a:t>
            </a:r>
            <a:endParaRPr lang="en-US" sz="3200" dirty="0"/>
          </a:p>
        </p:txBody>
      </p:sp>
      <p:sp>
        <p:nvSpPr>
          <p:cNvPr id="9" name="Text 6"/>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Montar a régua de cobrança da empresa e gerir a inadimplência com as automações da plataforma</a:t>
            </a:r>
            <a:endParaRPr lang="en-US" sz="1500" dirty="0"/>
          </a:p>
        </p:txBody>
      </p:sp>
      <p:sp>
        <p:nvSpPr>
          <p:cNvPr id="10" name="Text 7"/>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A régua em cinco tempos</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 tom da cobrança</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Multa, juros e acordos</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Prevenção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Medindo</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4</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RÉGUA DE COBRANÇA E INADIMPLÊNCIA</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A régua em cinco tempos</a:t>
            </a:r>
            <a:endParaRPr lang="en-US" sz="2600" dirty="0"/>
          </a:p>
        </p:txBody>
      </p:sp>
      <p:sp>
        <p:nvSpPr>
          <p:cNvPr id="9" name="Shape 6"/>
          <p:cNvSpPr/>
          <p:nvPr/>
        </p:nvSpPr>
        <p:spPr>
          <a:xfrm>
            <a:off x="548640"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D−3: lembrete por e-mail (automático) + alerta ao consultor com WhatsApp pronto</a:t>
            </a:r>
            <a:endParaRPr lang="en-US" sz="1800" dirty="0"/>
          </a:p>
        </p:txBody>
      </p:sp>
      <p:sp>
        <p:nvSpPr>
          <p:cNvPr id="13" name="Shape 10"/>
          <p:cNvSpPr/>
          <p:nvPr/>
        </p:nvSpPr>
        <p:spPr>
          <a:xfrm>
            <a:off x="4322064"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504944" y="1508760"/>
            <a:ext cx="457200" cy="457200"/>
          </a:xfrm>
          <a:prstGeom prst="ellipse">
            <a:avLst/>
          </a:prstGeom>
          <a:solidFill>
            <a:srgbClr val="F7A23B"/>
          </a:solidFill>
          <a:ln/>
        </p:spPr>
      </p:sp>
      <p:sp>
        <p:nvSpPr>
          <p:cNvPr id="15" name="Text 12"/>
          <p:cNvSpPr/>
          <p:nvPr/>
        </p:nvSpPr>
        <p:spPr>
          <a:xfrm>
            <a:off x="4504944"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99304"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D0: vencimento</a:t>
            </a:r>
            <a:endParaRPr lang="en-US" sz="1800" dirty="0"/>
          </a:p>
        </p:txBody>
      </p:sp>
      <p:sp>
        <p:nvSpPr>
          <p:cNvPr id="17" name="Shape 14"/>
          <p:cNvSpPr/>
          <p:nvPr/>
        </p:nvSpPr>
        <p:spPr>
          <a:xfrm>
            <a:off x="8095488"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278368" y="1508760"/>
            <a:ext cx="457200" cy="457200"/>
          </a:xfrm>
          <a:prstGeom prst="ellipse">
            <a:avLst/>
          </a:prstGeom>
          <a:solidFill>
            <a:srgbClr val="1B3A6B"/>
          </a:solidFill>
          <a:ln/>
        </p:spPr>
      </p:sp>
      <p:sp>
        <p:nvSpPr>
          <p:cNvPr id="19" name="Text 16"/>
          <p:cNvSpPr/>
          <p:nvPr/>
        </p:nvSpPr>
        <p:spPr>
          <a:xfrm>
            <a:off x="8278368"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872728"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D+1: marcada como vencida (automático)</a:t>
            </a:r>
            <a:endParaRPr lang="en-US" sz="1800" dirty="0"/>
          </a:p>
        </p:txBody>
      </p:sp>
      <p:sp>
        <p:nvSpPr>
          <p:cNvPr id="21" name="Shape 18"/>
          <p:cNvSpPr/>
          <p:nvPr/>
        </p:nvSpPr>
        <p:spPr>
          <a:xfrm>
            <a:off x="548640" y="388620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731520" y="4069080"/>
            <a:ext cx="457200" cy="457200"/>
          </a:xfrm>
          <a:prstGeom prst="ellipse">
            <a:avLst/>
          </a:prstGeom>
          <a:solidFill>
            <a:srgbClr val="F7A23B"/>
          </a:solidFill>
          <a:ln/>
        </p:spPr>
      </p:sp>
      <p:sp>
        <p:nvSpPr>
          <p:cNvPr id="23" name="Text 20"/>
          <p:cNvSpPr/>
          <p:nvPr/>
        </p:nvSpPr>
        <p:spPr>
          <a:xfrm>
            <a:off x="73152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1325880" y="399592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D+5, D+10…: alerta ao consultor a cada 5 dias com link de WhatsApp</a:t>
            </a:r>
            <a:endParaRPr lang="en-US" sz="1800" dirty="0"/>
          </a:p>
        </p:txBody>
      </p:sp>
      <p:sp>
        <p:nvSpPr>
          <p:cNvPr id="25" name="Shape 22"/>
          <p:cNvSpPr/>
          <p:nvPr/>
        </p:nvSpPr>
        <p:spPr>
          <a:xfrm>
            <a:off x="4322064" y="388620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6" name="Shape 23"/>
          <p:cNvSpPr/>
          <p:nvPr/>
        </p:nvSpPr>
        <p:spPr>
          <a:xfrm>
            <a:off x="4504944" y="4069080"/>
            <a:ext cx="457200" cy="457200"/>
          </a:xfrm>
          <a:prstGeom prst="ellipse">
            <a:avLst/>
          </a:prstGeom>
          <a:solidFill>
            <a:srgbClr val="1B3A6B"/>
          </a:solidFill>
          <a:ln/>
        </p:spPr>
      </p:sp>
      <p:sp>
        <p:nvSpPr>
          <p:cNvPr id="27" name="Text 24"/>
          <p:cNvSpPr/>
          <p:nvPr/>
        </p:nvSpPr>
        <p:spPr>
          <a:xfrm>
            <a:off x="4504944"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5"/>
          <p:cNvSpPr/>
          <p:nvPr/>
        </p:nvSpPr>
        <p:spPr>
          <a:xfrm>
            <a:off x="5099304" y="399592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D+15: contato pessoal + proposta de acordo</a:t>
            </a:r>
            <a:endParaRPr lang="en-US" sz="1800" dirty="0"/>
          </a:p>
        </p:txBody>
      </p:sp>
      <p:sp>
        <p:nvSpPr>
          <p:cNvPr id="29" name="Shape 26"/>
          <p:cNvSpPr/>
          <p:nvPr/>
        </p:nvSpPr>
        <p:spPr>
          <a:xfrm>
            <a:off x="8095488" y="388620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30" name="Shape 27"/>
          <p:cNvSpPr/>
          <p:nvPr/>
        </p:nvSpPr>
        <p:spPr>
          <a:xfrm>
            <a:off x="8278368" y="4069080"/>
            <a:ext cx="457200" cy="457200"/>
          </a:xfrm>
          <a:prstGeom prst="ellipse">
            <a:avLst/>
          </a:prstGeom>
          <a:solidFill>
            <a:srgbClr val="F7A23B"/>
          </a:solidFill>
          <a:ln/>
        </p:spPr>
      </p:sp>
      <p:sp>
        <p:nvSpPr>
          <p:cNvPr id="31" name="Text 28"/>
          <p:cNvSpPr/>
          <p:nvPr/>
        </p:nvSpPr>
        <p:spPr>
          <a:xfrm>
            <a:off x="8278368"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29"/>
          <p:cNvSpPr/>
          <p:nvPr/>
        </p:nvSpPr>
        <p:spPr>
          <a:xfrm>
            <a:off x="8872728" y="399592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D+30: medidas contratuais (aviso formal, suspensão da participação)</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4</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Régua de cobrança e inadimplência</a:t>
            </a:r>
            <a:endParaRPr lang="en-US" sz="2600" dirty="0"/>
          </a:p>
        </p:txBody>
      </p:sp>
      <p:sp>
        <p:nvSpPr>
          <p:cNvPr id="9" name="Shape 6"/>
          <p:cNvSpPr/>
          <p:nvPr/>
        </p:nvSpPr>
        <p:spPr>
          <a:xfrm>
            <a:off x="548640" y="1325880"/>
            <a:ext cx="5408676" cy="4937760"/>
          </a:xfrm>
          <a:prstGeom prst="roundRect">
            <a:avLst>
              <a:gd name="adj" fmla="val 1481"/>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48640" y="1325880"/>
            <a:ext cx="5408676" cy="109728"/>
          </a:xfrm>
          <a:prstGeom prst="rect">
            <a:avLst/>
          </a:prstGeom>
          <a:solidFill>
            <a:srgbClr val="1B3A6B"/>
          </a:solidFill>
          <a:ln/>
        </p:spPr>
      </p:sp>
      <p:sp>
        <p:nvSpPr>
          <p:cNvPr id="11" name="Text 8"/>
          <p:cNvSpPr/>
          <p:nvPr/>
        </p:nvSpPr>
        <p:spPr>
          <a:xfrm>
            <a:off x="822960" y="1554480"/>
            <a:ext cx="4860036"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O tom da cobrança</a:t>
            </a:r>
            <a:endParaRPr lang="en-US" sz="1600" dirty="0"/>
          </a:p>
        </p:txBody>
      </p:sp>
      <p:sp>
        <p:nvSpPr>
          <p:cNvPr id="12" name="Text 9"/>
          <p:cNvSpPr/>
          <p:nvPr/>
        </p:nvSpPr>
        <p:spPr>
          <a:xfrm>
            <a:off x="822960" y="2286000"/>
            <a:ext cx="4860036" cy="374904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Lembrete: 'Sua economia deste mês está garantida! Segue o Pix…'</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Atraso leve: 'Notamos que a cobrança de março ficou em aberto. Aconteceu algo?'</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Atraso grave: 'Precisamos regularizar até DD/MM para manter sua participação.'</a:t>
            </a:r>
            <a:endParaRPr lang="en-US" sz="1700" dirty="0"/>
          </a:p>
        </p:txBody>
      </p:sp>
      <p:sp>
        <p:nvSpPr>
          <p:cNvPr id="13" name="Shape 10"/>
          <p:cNvSpPr/>
          <p:nvPr/>
        </p:nvSpPr>
        <p:spPr>
          <a:xfrm>
            <a:off x="6231636" y="1325880"/>
            <a:ext cx="5408676" cy="4937760"/>
          </a:xfrm>
          <a:prstGeom prst="roundRect">
            <a:avLst>
              <a:gd name="adj" fmla="val 1481"/>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231636" y="1325880"/>
            <a:ext cx="5408676" cy="109728"/>
          </a:xfrm>
          <a:prstGeom prst="rect">
            <a:avLst/>
          </a:prstGeom>
          <a:solidFill>
            <a:srgbClr val="F7A23B"/>
          </a:solidFill>
          <a:ln/>
        </p:spPr>
      </p:sp>
      <p:sp>
        <p:nvSpPr>
          <p:cNvPr id="15" name="Text 12"/>
          <p:cNvSpPr/>
          <p:nvPr/>
        </p:nvSpPr>
        <p:spPr>
          <a:xfrm>
            <a:off x="6505956" y="1554480"/>
            <a:ext cx="4860036"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Multa, juros e acordos</a:t>
            </a:r>
            <a:endParaRPr lang="en-US" sz="1600" dirty="0"/>
          </a:p>
        </p:txBody>
      </p:sp>
      <p:sp>
        <p:nvSpPr>
          <p:cNvPr id="16" name="Text 13"/>
          <p:cNvSpPr/>
          <p:nvPr/>
        </p:nvSpPr>
        <p:spPr>
          <a:xfrm>
            <a:off x="6505956" y="2286000"/>
            <a:ext cx="4860036" cy="374904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Multa e juros: dentro da lei e do contrato</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acordo: parcelar, registrar como ajuste</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nunca 'perdoar' sem registro</a:t>
            </a:r>
            <a:endParaRPr lang="en-US" sz="17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4</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RÉGUA DE COBRANÇA E INADIMPLÊNCIA</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Prevenção</a:t>
            </a:r>
            <a:endParaRPr lang="en-US" sz="2600" dirty="0"/>
          </a:p>
        </p:txBody>
      </p:sp>
      <p:sp>
        <p:nvSpPr>
          <p:cNvPr id="9" name="Shape 6"/>
          <p:cNvSpPr/>
          <p:nvPr/>
        </p:nvSpPr>
        <p:spPr>
          <a:xfrm>
            <a:off x="548640"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Explicar as duas contas</a:t>
            </a:r>
            <a:endParaRPr lang="en-US" sz="1800" dirty="0"/>
          </a:p>
        </p:txBody>
      </p:sp>
      <p:sp>
        <p:nvSpPr>
          <p:cNvPr id="13" name="Shape 10"/>
          <p:cNvSpPr/>
          <p:nvPr/>
        </p:nvSpPr>
        <p:spPr>
          <a:xfrm>
            <a:off x="4322064"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504944" y="1508760"/>
            <a:ext cx="457200" cy="457200"/>
          </a:xfrm>
          <a:prstGeom prst="ellipse">
            <a:avLst/>
          </a:prstGeom>
          <a:solidFill>
            <a:srgbClr val="F7A23B"/>
          </a:solidFill>
          <a:ln/>
        </p:spPr>
      </p:sp>
      <p:sp>
        <p:nvSpPr>
          <p:cNvPr id="15" name="Text 12"/>
          <p:cNvSpPr/>
          <p:nvPr/>
        </p:nvSpPr>
        <p:spPr>
          <a:xfrm>
            <a:off x="4504944"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99304"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vencimento junto com a distribuidora</a:t>
            </a:r>
            <a:endParaRPr lang="en-US" sz="1800" dirty="0"/>
          </a:p>
        </p:txBody>
      </p:sp>
      <p:sp>
        <p:nvSpPr>
          <p:cNvPr id="17" name="Shape 14"/>
          <p:cNvSpPr/>
          <p:nvPr/>
        </p:nvSpPr>
        <p:spPr>
          <a:xfrm>
            <a:off x="8095488"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278368" y="1508760"/>
            <a:ext cx="457200" cy="457200"/>
          </a:xfrm>
          <a:prstGeom prst="ellipse">
            <a:avLst/>
          </a:prstGeom>
          <a:solidFill>
            <a:srgbClr val="1B3A6B"/>
          </a:solidFill>
          <a:ln/>
        </p:spPr>
      </p:sp>
      <p:sp>
        <p:nvSpPr>
          <p:cNvPr id="19" name="Text 16"/>
          <p:cNvSpPr/>
          <p:nvPr/>
        </p:nvSpPr>
        <p:spPr>
          <a:xfrm>
            <a:off x="8278368"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872728"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Pix como padrão</a:t>
            </a:r>
            <a:endParaRPr lang="en-US" sz="1800" dirty="0"/>
          </a:p>
        </p:txBody>
      </p:sp>
      <p:sp>
        <p:nvSpPr>
          <p:cNvPr id="21" name="Shape 18"/>
          <p:cNvSpPr/>
          <p:nvPr/>
        </p:nvSpPr>
        <p:spPr>
          <a:xfrm>
            <a:off x="548640" y="388620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731520" y="4069080"/>
            <a:ext cx="457200" cy="457200"/>
          </a:xfrm>
          <a:prstGeom prst="ellipse">
            <a:avLst/>
          </a:prstGeom>
          <a:solidFill>
            <a:srgbClr val="F7A23B"/>
          </a:solidFill>
          <a:ln/>
        </p:spPr>
      </p:sp>
      <p:sp>
        <p:nvSpPr>
          <p:cNvPr id="23" name="Text 20"/>
          <p:cNvSpPr/>
          <p:nvPr/>
        </p:nvSpPr>
        <p:spPr>
          <a:xfrm>
            <a:off x="73152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1325880" y="399592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cliente no portal</a:t>
            </a:r>
            <a:endParaRPr lang="en-US" sz="1800" dirty="0"/>
          </a:p>
        </p:txBody>
      </p:sp>
      <p:sp>
        <p:nvSpPr>
          <p:cNvPr id="25" name="Shape 22"/>
          <p:cNvSpPr/>
          <p:nvPr/>
        </p:nvSpPr>
        <p:spPr>
          <a:xfrm>
            <a:off x="4322064" y="388620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6" name="Shape 23"/>
          <p:cNvSpPr/>
          <p:nvPr/>
        </p:nvSpPr>
        <p:spPr>
          <a:xfrm>
            <a:off x="4504944" y="4069080"/>
            <a:ext cx="457200" cy="457200"/>
          </a:xfrm>
          <a:prstGeom prst="ellipse">
            <a:avLst/>
          </a:prstGeom>
          <a:solidFill>
            <a:srgbClr val="1B3A6B"/>
          </a:solidFill>
          <a:ln/>
        </p:spPr>
      </p:sp>
      <p:sp>
        <p:nvSpPr>
          <p:cNvPr id="27" name="Text 24"/>
          <p:cNvSpPr/>
          <p:nvPr/>
        </p:nvSpPr>
        <p:spPr>
          <a:xfrm>
            <a:off x="4504944"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5"/>
          <p:cNvSpPr/>
          <p:nvPr/>
        </p:nvSpPr>
        <p:spPr>
          <a:xfrm>
            <a:off x="5099304" y="399592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comissão após a 1ª paga</a:t>
            </a:r>
            <a:endParaRPr lang="en-US" sz="1800" dirty="0"/>
          </a:p>
        </p:txBody>
      </p:sp>
      <p:sp>
        <p:nvSpPr>
          <p:cNvPr id="29" name="Shape 26"/>
          <p:cNvSpPr/>
          <p:nvPr/>
        </p:nvSpPr>
        <p:spPr>
          <a:xfrm>
            <a:off x="8095488" y="388620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30" name="Shape 27"/>
          <p:cNvSpPr/>
          <p:nvPr/>
        </p:nvSpPr>
        <p:spPr>
          <a:xfrm>
            <a:off x="8278368" y="4069080"/>
            <a:ext cx="457200" cy="457200"/>
          </a:xfrm>
          <a:prstGeom prst="ellipse">
            <a:avLst/>
          </a:prstGeom>
          <a:solidFill>
            <a:srgbClr val="F7A23B"/>
          </a:solidFill>
          <a:ln/>
        </p:spPr>
      </p:sp>
      <p:sp>
        <p:nvSpPr>
          <p:cNvPr id="31" name="Text 28"/>
          <p:cNvSpPr/>
          <p:nvPr/>
        </p:nvSpPr>
        <p:spPr>
          <a:xfrm>
            <a:off x="8278368"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29"/>
          <p:cNvSpPr/>
          <p:nvPr/>
        </p:nvSpPr>
        <p:spPr>
          <a:xfrm>
            <a:off x="8872728" y="399592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análise na entrada</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4</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RÉGUA DE COBRANÇA E INADIMPLÊNCIA</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Medindo</a:t>
            </a:r>
            <a:endParaRPr lang="en-US" sz="2600" dirty="0"/>
          </a:p>
        </p:txBody>
      </p:sp>
      <p:sp>
        <p:nvSpPr>
          <p:cNvPr id="9" name="Shape 6"/>
          <p:cNvSpPr/>
          <p:nvPr/>
        </p:nvSpPr>
        <p:spPr>
          <a:xfrm>
            <a:off x="548640"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 vencido até 30 dias</a:t>
            </a:r>
            <a:endParaRPr lang="en-US" sz="1800" dirty="0"/>
          </a:p>
        </p:txBody>
      </p:sp>
      <p:sp>
        <p:nvSpPr>
          <p:cNvPr id="13" name="Shape 10"/>
          <p:cNvSpPr/>
          <p:nvPr/>
        </p:nvSpPr>
        <p:spPr>
          <a:xfrm>
            <a:off x="4322064"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504944" y="1508760"/>
            <a:ext cx="457200" cy="457200"/>
          </a:xfrm>
          <a:prstGeom prst="ellipse">
            <a:avLst/>
          </a:prstGeom>
          <a:solidFill>
            <a:srgbClr val="F7A23B"/>
          </a:solidFill>
          <a:ln/>
        </p:spPr>
      </p:sp>
      <p:sp>
        <p:nvSpPr>
          <p:cNvPr id="15" name="Text 12"/>
          <p:cNvSpPr/>
          <p:nvPr/>
        </p:nvSpPr>
        <p:spPr>
          <a:xfrm>
            <a:off x="4504944"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99304"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30–60</a:t>
            </a:r>
            <a:endParaRPr lang="en-US" sz="1800" dirty="0"/>
          </a:p>
        </p:txBody>
      </p:sp>
      <p:sp>
        <p:nvSpPr>
          <p:cNvPr id="17" name="Shape 14"/>
          <p:cNvSpPr/>
          <p:nvPr/>
        </p:nvSpPr>
        <p:spPr>
          <a:xfrm>
            <a:off x="8095488"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278368" y="1508760"/>
            <a:ext cx="457200" cy="457200"/>
          </a:xfrm>
          <a:prstGeom prst="ellipse">
            <a:avLst/>
          </a:prstGeom>
          <a:solidFill>
            <a:srgbClr val="1B3A6B"/>
          </a:solidFill>
          <a:ln/>
        </p:spPr>
      </p:sp>
      <p:sp>
        <p:nvSpPr>
          <p:cNvPr id="19" name="Text 16"/>
          <p:cNvSpPr/>
          <p:nvPr/>
        </p:nvSpPr>
        <p:spPr>
          <a:xfrm>
            <a:off x="8278368"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872728"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60–90</a:t>
            </a:r>
            <a:endParaRPr lang="en-US" sz="1800" dirty="0"/>
          </a:p>
        </p:txBody>
      </p:sp>
      <p:sp>
        <p:nvSpPr>
          <p:cNvPr id="21" name="Shape 18"/>
          <p:cNvSpPr/>
          <p:nvPr/>
        </p:nvSpPr>
        <p:spPr>
          <a:xfrm>
            <a:off x="548640" y="388620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731520" y="4069080"/>
            <a:ext cx="457200" cy="457200"/>
          </a:xfrm>
          <a:prstGeom prst="ellipse">
            <a:avLst/>
          </a:prstGeom>
          <a:solidFill>
            <a:srgbClr val="F7A23B"/>
          </a:solidFill>
          <a:ln/>
        </p:spPr>
      </p:sp>
      <p:sp>
        <p:nvSpPr>
          <p:cNvPr id="23" name="Text 20"/>
          <p:cNvSpPr/>
          <p:nvPr/>
        </p:nvSpPr>
        <p:spPr>
          <a:xfrm>
            <a:off x="73152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1325880" y="399592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&gt; 90</a:t>
            </a:r>
            <a:endParaRPr lang="en-US" sz="1800" dirty="0"/>
          </a:p>
        </p:txBody>
      </p:sp>
      <p:sp>
        <p:nvSpPr>
          <p:cNvPr id="25" name="Shape 22"/>
          <p:cNvSpPr/>
          <p:nvPr/>
        </p:nvSpPr>
        <p:spPr>
          <a:xfrm>
            <a:off x="4322064" y="388620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6" name="Shape 23"/>
          <p:cNvSpPr/>
          <p:nvPr/>
        </p:nvSpPr>
        <p:spPr>
          <a:xfrm>
            <a:off x="4504944" y="4069080"/>
            <a:ext cx="457200" cy="457200"/>
          </a:xfrm>
          <a:prstGeom prst="ellipse">
            <a:avLst/>
          </a:prstGeom>
          <a:solidFill>
            <a:srgbClr val="1B3A6B"/>
          </a:solidFill>
          <a:ln/>
        </p:spPr>
      </p:sp>
      <p:sp>
        <p:nvSpPr>
          <p:cNvPr id="27" name="Text 24"/>
          <p:cNvSpPr/>
          <p:nvPr/>
        </p:nvSpPr>
        <p:spPr>
          <a:xfrm>
            <a:off x="4504944"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5"/>
          <p:cNvSpPr/>
          <p:nvPr/>
        </p:nvSpPr>
        <p:spPr>
          <a:xfrm>
            <a:off x="5099304" y="399592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recuperação no mês</a:t>
            </a:r>
            <a:endParaRPr lang="en-US" sz="1800" dirty="0"/>
          </a:p>
        </p:txBody>
      </p:sp>
      <p:sp>
        <p:nvSpPr>
          <p:cNvPr id="29" name="Shape 26"/>
          <p:cNvSpPr/>
          <p:nvPr/>
        </p:nvSpPr>
        <p:spPr>
          <a:xfrm>
            <a:off x="8095488" y="388620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30" name="Shape 27"/>
          <p:cNvSpPr/>
          <p:nvPr/>
        </p:nvSpPr>
        <p:spPr>
          <a:xfrm>
            <a:off x="8278368" y="4069080"/>
            <a:ext cx="457200" cy="457200"/>
          </a:xfrm>
          <a:prstGeom prst="ellipse">
            <a:avLst/>
          </a:prstGeom>
          <a:solidFill>
            <a:srgbClr val="F7A23B"/>
          </a:solidFill>
          <a:ln/>
        </p:spPr>
      </p:sp>
      <p:sp>
        <p:nvSpPr>
          <p:cNvPr id="31" name="Text 28"/>
          <p:cNvSpPr/>
          <p:nvPr/>
        </p:nvSpPr>
        <p:spPr>
          <a:xfrm>
            <a:off x="8278368"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29"/>
          <p:cNvSpPr/>
          <p:nvPr/>
        </p:nvSpPr>
        <p:spPr>
          <a:xfrm>
            <a:off x="8872728" y="399592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inadimplência por consultor</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4</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RESUMO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548640"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Régua: D−3</a:t>
            </a:r>
            <a:endParaRPr lang="en-US" sz="1800" dirty="0"/>
          </a:p>
        </p:txBody>
      </p:sp>
      <p:sp>
        <p:nvSpPr>
          <p:cNvPr id="13" name="Shape 10"/>
          <p:cNvSpPr/>
          <p:nvPr/>
        </p:nvSpPr>
        <p:spPr>
          <a:xfrm>
            <a:off x="4322064"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504944" y="1508760"/>
            <a:ext cx="457200" cy="457200"/>
          </a:xfrm>
          <a:prstGeom prst="ellipse">
            <a:avLst/>
          </a:prstGeom>
          <a:solidFill>
            <a:srgbClr val="F7A23B"/>
          </a:solidFill>
          <a:ln/>
        </p:spPr>
      </p:sp>
      <p:sp>
        <p:nvSpPr>
          <p:cNvPr id="15" name="Text 12"/>
          <p:cNvSpPr/>
          <p:nvPr/>
        </p:nvSpPr>
        <p:spPr>
          <a:xfrm>
            <a:off x="4504944"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99304"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D+1</a:t>
            </a:r>
            <a:endParaRPr lang="en-US" sz="1800" dirty="0"/>
          </a:p>
        </p:txBody>
      </p:sp>
      <p:sp>
        <p:nvSpPr>
          <p:cNvPr id="17" name="Shape 14"/>
          <p:cNvSpPr/>
          <p:nvPr/>
        </p:nvSpPr>
        <p:spPr>
          <a:xfrm>
            <a:off x="8095488"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278368" y="1508760"/>
            <a:ext cx="457200" cy="457200"/>
          </a:xfrm>
          <a:prstGeom prst="ellipse">
            <a:avLst/>
          </a:prstGeom>
          <a:solidFill>
            <a:srgbClr val="1B3A6B"/>
          </a:solidFill>
          <a:ln/>
        </p:spPr>
      </p:sp>
      <p:sp>
        <p:nvSpPr>
          <p:cNvPr id="19" name="Text 16"/>
          <p:cNvSpPr/>
          <p:nvPr/>
        </p:nvSpPr>
        <p:spPr>
          <a:xfrm>
            <a:off x="8278368"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872728"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a cada 5 dias</a:t>
            </a:r>
            <a:endParaRPr lang="en-US" sz="1800" dirty="0"/>
          </a:p>
        </p:txBody>
      </p:sp>
      <p:sp>
        <p:nvSpPr>
          <p:cNvPr id="21" name="Shape 18"/>
          <p:cNvSpPr/>
          <p:nvPr/>
        </p:nvSpPr>
        <p:spPr>
          <a:xfrm>
            <a:off x="548640" y="388620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731520" y="4069080"/>
            <a:ext cx="457200" cy="457200"/>
          </a:xfrm>
          <a:prstGeom prst="ellipse">
            <a:avLst/>
          </a:prstGeom>
          <a:solidFill>
            <a:srgbClr val="F7A23B"/>
          </a:solidFill>
          <a:ln/>
        </p:spPr>
      </p:sp>
      <p:sp>
        <p:nvSpPr>
          <p:cNvPr id="23" name="Text 20"/>
          <p:cNvSpPr/>
          <p:nvPr/>
        </p:nvSpPr>
        <p:spPr>
          <a:xfrm>
            <a:off x="73152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1325880" y="399592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D+15</a:t>
            </a:r>
            <a:endParaRPr lang="en-US" sz="1800" dirty="0"/>
          </a:p>
        </p:txBody>
      </p:sp>
      <p:sp>
        <p:nvSpPr>
          <p:cNvPr id="25" name="Shape 22"/>
          <p:cNvSpPr/>
          <p:nvPr/>
        </p:nvSpPr>
        <p:spPr>
          <a:xfrm>
            <a:off x="4322064" y="388620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6" name="Shape 23"/>
          <p:cNvSpPr/>
          <p:nvPr/>
        </p:nvSpPr>
        <p:spPr>
          <a:xfrm>
            <a:off x="4504944" y="4069080"/>
            <a:ext cx="457200" cy="457200"/>
          </a:xfrm>
          <a:prstGeom prst="ellipse">
            <a:avLst/>
          </a:prstGeom>
          <a:solidFill>
            <a:srgbClr val="1B3A6B"/>
          </a:solidFill>
          <a:ln/>
        </p:spPr>
      </p:sp>
      <p:sp>
        <p:nvSpPr>
          <p:cNvPr id="27" name="Text 24"/>
          <p:cNvSpPr/>
          <p:nvPr/>
        </p:nvSpPr>
        <p:spPr>
          <a:xfrm>
            <a:off x="4504944"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5"/>
          <p:cNvSpPr/>
          <p:nvPr/>
        </p:nvSpPr>
        <p:spPr>
          <a:xfrm>
            <a:off x="5099304" y="399592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D+30</a:t>
            </a:r>
            <a:endParaRPr lang="en-US" sz="1800" dirty="0"/>
          </a:p>
        </p:txBody>
      </p:sp>
      <p:sp>
        <p:nvSpPr>
          <p:cNvPr id="29" name="Shape 26"/>
          <p:cNvSpPr/>
          <p:nvPr/>
        </p:nvSpPr>
        <p:spPr>
          <a:xfrm>
            <a:off x="8095488" y="388620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30" name="Shape 27"/>
          <p:cNvSpPr/>
          <p:nvPr/>
        </p:nvSpPr>
        <p:spPr>
          <a:xfrm>
            <a:off x="8278368" y="4069080"/>
            <a:ext cx="457200" cy="457200"/>
          </a:xfrm>
          <a:prstGeom prst="ellipse">
            <a:avLst/>
          </a:prstGeom>
          <a:solidFill>
            <a:srgbClr val="F7A23B"/>
          </a:solidFill>
          <a:ln/>
        </p:spPr>
      </p:sp>
      <p:sp>
        <p:nvSpPr>
          <p:cNvPr id="31" name="Text 28"/>
          <p:cNvSpPr/>
          <p:nvPr/>
        </p:nvSpPr>
        <p:spPr>
          <a:xfrm>
            <a:off x="8278368"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29"/>
          <p:cNvSpPr/>
          <p:nvPr/>
        </p:nvSpPr>
        <p:spPr>
          <a:xfrm>
            <a:off x="8872728" y="399592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tom certo</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457200" y="548640"/>
            <a:ext cx="3474720" cy="1737360"/>
          </a:xfrm>
          <a:prstGeom prst="rect">
            <a:avLst/>
          </a:prstGeom>
          <a:noFill/>
          <a:ln/>
        </p:spPr>
        <p:txBody>
          <a:bodyPr wrap="square" rtlCol="0" anchor="ctr"/>
          <a:lstStyle/>
          <a:p>
            <a:pPr indent="0" marL="0">
              <a:buNone/>
            </a:pPr>
            <a:r>
              <a:rPr lang="en-US" sz="11000" b="1" dirty="0">
                <a:solidFill>
                  <a:srgbClr val="11396F"/>
                </a:solidFill>
                <a:latin typeface="Arial" pitchFamily="34" charset="0"/>
                <a:ea typeface="Arial" pitchFamily="34" charset="-122"/>
                <a:cs typeface="Arial" pitchFamily="34" charset="-120"/>
              </a:rPr>
              <a:t>05</a:t>
            </a:r>
            <a:endParaRPr lang="en-US" sz="11000" dirty="0"/>
          </a:p>
        </p:txBody>
      </p:sp>
      <p:sp>
        <p:nvSpPr>
          <p:cNvPr id="4" name="Text 2"/>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5</a:t>
            </a:r>
            <a:endParaRPr lang="en-US" sz="1800" dirty="0"/>
          </a:p>
        </p:txBody>
      </p:sp>
      <p:sp>
        <p:nvSpPr>
          <p:cNvPr id="5" name="Text 3"/>
          <p:cNvSpPr/>
          <p:nvPr/>
        </p:nvSpPr>
        <p:spPr>
          <a:xfrm>
            <a:off x="548640" y="3200400"/>
            <a:ext cx="3383280" cy="457200"/>
          </a:xfrm>
          <a:prstGeom prst="rect">
            <a:avLst/>
          </a:prstGeom>
          <a:noFill/>
          <a:ln/>
        </p:spPr>
        <p:txBody>
          <a:bodyPr wrap="square" rtlCol="0" anchor="ctr"/>
          <a:lstStyle/>
          <a:p>
            <a:pPr indent="0" marL="0">
              <a:buNone/>
            </a:pPr>
            <a:r>
              <a:rPr lang="en-US" sz="1100" dirty="0">
                <a:solidFill>
                  <a:srgbClr val="C7D2E3"/>
                </a:solidFill>
                <a:latin typeface="Arial" pitchFamily="34" charset="0"/>
                <a:ea typeface="Arial" pitchFamily="34" charset="-122"/>
                <a:cs typeface="Arial" pitchFamily="34" charset="-120"/>
              </a:rPr>
              <a:t>M8 · Etapa 3 · Operação ponta a ponta</a:t>
            </a:r>
            <a:endParaRPr lang="en-US" sz="1100" dirty="0"/>
          </a:p>
        </p:txBody>
      </p:sp>
      <p:sp>
        <p:nvSpPr>
          <p:cNvPr id="6" name="Text 4"/>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Prática na plataforma</a:t>
            </a:r>
            <a:endParaRPr lang="en-US" sz="1400" dirty="0"/>
          </a:p>
        </p:txBody>
      </p:sp>
      <p:pic>
        <p:nvPicPr>
          <p:cNvPr id="7"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8" name="Text 5"/>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gerando a cobrança e emitindo o Pix</a:t>
            </a:r>
            <a:endParaRPr lang="en-US" sz="3200" dirty="0"/>
          </a:p>
        </p:txBody>
      </p:sp>
      <p:sp>
        <p:nvSpPr>
          <p:cNvPr id="9" name="Text 6"/>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Gerar a cobrança a partir da fatura, conferir, abrir para pagamento e emitir Pix e boleto</a:t>
            </a:r>
            <a:endParaRPr lang="en-US" sz="1500" dirty="0"/>
          </a:p>
        </p:txBody>
      </p:sp>
      <p:sp>
        <p:nvSpPr>
          <p:cNvPr id="10" name="Text 7"/>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Passo a passo na plataforma</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5</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5 · GERANDO A COBRANÇA E EMITINDO O PIX</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(1/2)</a:t>
            </a:r>
            <a:endParaRPr lang="en-US" sz="2600" dirty="0"/>
          </a:p>
        </p:txBody>
      </p:sp>
      <p:sp>
        <p:nvSpPr>
          <p:cNvPr id="9" name="Shape 6"/>
          <p:cNvSpPr/>
          <p:nvPr/>
        </p:nvSpPr>
        <p:spPr>
          <a:xfrm>
            <a:off x="420624" y="1289304"/>
            <a:ext cx="7114032" cy="4033647"/>
          </a:xfrm>
          <a:prstGeom prst="roundRect">
            <a:avLst>
              <a:gd name="adj" fmla="val 1360"/>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cobranca.jpg">    </p:cNvPr>
          <p:cNvPicPr>
            <a:picLocks noChangeAspect="1"/>
          </p:cNvPicPr>
          <p:nvPr/>
        </p:nvPicPr>
        <p:blipFill>
          <a:blip r:embed="rId2"/>
          <a:stretch>
            <a:fillRect/>
          </a:stretch>
        </p:blipFill>
        <p:spPr>
          <a:xfrm>
            <a:off x="457200" y="1325880"/>
            <a:ext cx="7040880" cy="3960495"/>
          </a:xfrm>
          <a:prstGeom prst="rect">
            <a:avLst/>
          </a:prstGeom>
        </p:spPr>
      </p:pic>
      <p:sp>
        <p:nvSpPr>
          <p:cNvPr id="11" name="Text 7"/>
          <p:cNvSpPr/>
          <p:nvPr/>
        </p:nvSpPr>
        <p:spPr>
          <a:xfrm>
            <a:off x="457200" y="5332095"/>
            <a:ext cx="7040880" cy="320040"/>
          </a:xfrm>
          <a:prstGeom prst="rect">
            <a:avLst/>
          </a:prstGeom>
          <a:noFill/>
          <a:ln/>
        </p:spPr>
        <p:txBody>
          <a:bodyPr wrap="square" rtlCol="0" anchor="ctr"/>
          <a:lstStyle/>
          <a:p>
            <a:pPr algn="ctr" indent="0" marL="0">
              <a:buNone/>
            </a:pPr>
            <a:r>
              <a:rPr lang="en-US" sz="1100" i="1" dirty="0">
                <a:solidFill>
                  <a:srgbClr val="64748B"/>
                </a:solidFill>
                <a:latin typeface="Arial" pitchFamily="34" charset="0"/>
                <a:ea typeface="Arial" pitchFamily="34" charset="-122"/>
                <a:cs typeface="Arial" pitchFamily="34" charset="-120"/>
              </a:rPr>
              <a:t>Detalhe da cobrança</a:t>
            </a:r>
            <a:endParaRPr lang="en-US" sz="1100" dirty="0"/>
          </a:p>
        </p:txBody>
      </p:sp>
      <p:sp>
        <p:nvSpPr>
          <p:cNvPr id="12" name="Text 8"/>
          <p:cNvSpPr/>
          <p:nvPr/>
        </p:nvSpPr>
        <p:spPr>
          <a:xfrm>
            <a:off x="7818120" y="1325880"/>
            <a:ext cx="3977640" cy="4937760"/>
          </a:xfrm>
          <a:prstGeom prst="rect">
            <a:avLst/>
          </a:prstGeom>
          <a:noFill/>
          <a:ln/>
        </p:spPr>
        <p:txBody>
          <a:bodyPr wrap="square" rtlCol="0" anchor="t">
            <a:normAutofit/>
          </a:bodyPr>
          <a:lstStyle/>
          <a:p>
            <a:pPr indent="0" marL="0">
              <a:buNone/>
            </a:pPr>
            <a:r>
              <a:rPr lang="en-US" sz="1500" b="1" dirty="0">
                <a:solidFill>
                  <a:srgbClr val="F7A23B"/>
                </a:solidFill>
                <a:latin typeface="Arial" pitchFamily="34" charset="0"/>
                <a:ea typeface="Arial" pitchFamily="34" charset="-122"/>
                <a:cs typeface="Arial" pitchFamily="34" charset="-120"/>
              </a:rPr>
              <a:t>1  </a:t>
            </a:r>
            <a:pPr indent="0" marL="0">
              <a:buNone/>
            </a:pPr>
            <a:r>
              <a:rPr lang="en-US" sz="1400" b="1" dirty="0">
                <a:solidFill>
                  <a:srgbClr val="1B3A6B"/>
                </a:solidFill>
                <a:latin typeface="Arial" pitchFamily="34" charset="0"/>
                <a:ea typeface="Arial" pitchFamily="34" charset="-122"/>
                <a:cs typeface="Arial" pitchFamily="34" charset="-120"/>
              </a:rPr>
              <a:t>Gerando a cobrança</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Fatura aprovada → gerar cobrança → status Rascunho</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2  </a:t>
            </a:r>
            <a:pPr indent="0" marL="0">
              <a:buNone/>
            </a:pPr>
            <a:r>
              <a:rPr lang="en-US" sz="1400" b="1" dirty="0">
                <a:solidFill>
                  <a:srgbClr val="1B3A6B"/>
                </a:solidFill>
                <a:latin typeface="Arial" pitchFamily="34" charset="0"/>
                <a:ea typeface="Arial" pitchFamily="34" charset="-122"/>
                <a:cs typeface="Arial" pitchFamily="34" charset="-120"/>
              </a:rPr>
              <a:t>Conferindo antes de abrir</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Confira: referência · vencimento · consumo injetado · desconto · valor total</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3  </a:t>
            </a:r>
            <a:pPr indent="0" marL="0">
              <a:buNone/>
            </a:pPr>
            <a:r>
              <a:rPr lang="en-US" sz="1400" b="1" dirty="0">
                <a:solidFill>
                  <a:srgbClr val="1B3A6B"/>
                </a:solidFill>
                <a:latin typeface="Arial" pitchFamily="34" charset="0"/>
                <a:ea typeface="Arial" pitchFamily="34" charset="-122"/>
                <a:cs typeface="Arial" pitchFamily="34" charset="-120"/>
              </a:rPr>
              <a:t>Abrindo para pagamento</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Ações Disponíveis → Abrir esta cobrança para pagamento</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4  </a:t>
            </a:r>
            <a:pPr indent="0" marL="0">
              <a:buNone/>
            </a:pPr>
            <a:r>
              <a:rPr lang="en-US" sz="1400" b="1" dirty="0">
                <a:solidFill>
                  <a:srgbClr val="1B3A6B"/>
                </a:solidFill>
                <a:latin typeface="Arial" pitchFamily="34" charset="0"/>
                <a:ea typeface="Arial" pitchFamily="34" charset="-122"/>
                <a:cs typeface="Arial" pitchFamily="34" charset="-120"/>
              </a:rPr>
              <a:t>Emitindo o Pix</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Gerar pagamento → Pix · copia e cola · cliente recebe e-mail automaticamente</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5</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5 · GERANDO A COBRANÇA E EMITINDO O PIX</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(2/2)</a:t>
            </a:r>
            <a:endParaRPr lang="en-US" sz="2600" dirty="0"/>
          </a:p>
        </p:txBody>
      </p:sp>
      <p:sp>
        <p:nvSpPr>
          <p:cNvPr id="9" name="Shape 6"/>
          <p:cNvSpPr/>
          <p:nvPr/>
        </p:nvSpPr>
        <p:spPr>
          <a:xfrm>
            <a:off x="420624" y="1289304"/>
            <a:ext cx="7114032" cy="4033647"/>
          </a:xfrm>
          <a:prstGeom prst="roundRect">
            <a:avLst>
              <a:gd name="adj" fmla="val 1360"/>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cobrancas.jpg">    </p:cNvPr>
          <p:cNvPicPr>
            <a:picLocks noChangeAspect="1"/>
          </p:cNvPicPr>
          <p:nvPr/>
        </p:nvPicPr>
        <p:blipFill>
          <a:blip r:embed="rId2"/>
          <a:stretch>
            <a:fillRect/>
          </a:stretch>
        </p:blipFill>
        <p:spPr>
          <a:xfrm>
            <a:off x="457200" y="1325880"/>
            <a:ext cx="7040880" cy="3960495"/>
          </a:xfrm>
          <a:prstGeom prst="rect">
            <a:avLst/>
          </a:prstGeom>
        </p:spPr>
      </p:pic>
      <p:sp>
        <p:nvSpPr>
          <p:cNvPr id="11" name="Text 7"/>
          <p:cNvSpPr/>
          <p:nvPr/>
        </p:nvSpPr>
        <p:spPr>
          <a:xfrm>
            <a:off x="457200" y="5332095"/>
            <a:ext cx="7040880" cy="320040"/>
          </a:xfrm>
          <a:prstGeom prst="rect">
            <a:avLst/>
          </a:prstGeom>
          <a:noFill/>
          <a:ln/>
        </p:spPr>
        <p:txBody>
          <a:bodyPr wrap="square" rtlCol="0" anchor="ctr"/>
          <a:lstStyle/>
          <a:p>
            <a:pPr algn="ctr" indent="0" marL="0">
              <a:buNone/>
            </a:pPr>
            <a:r>
              <a:rPr lang="en-US" sz="1100" i="1" dirty="0">
                <a:solidFill>
                  <a:srgbClr val="64748B"/>
                </a:solidFill>
                <a:latin typeface="Arial" pitchFamily="34" charset="0"/>
                <a:ea typeface="Arial" pitchFamily="34" charset="-122"/>
                <a:cs typeface="Arial" pitchFamily="34" charset="-120"/>
              </a:rPr>
              <a:t>Cobranças</a:t>
            </a:r>
            <a:endParaRPr lang="en-US" sz="1100" dirty="0"/>
          </a:p>
        </p:txBody>
      </p:sp>
      <p:sp>
        <p:nvSpPr>
          <p:cNvPr id="12" name="Text 8"/>
          <p:cNvSpPr/>
          <p:nvPr/>
        </p:nvSpPr>
        <p:spPr>
          <a:xfrm>
            <a:off x="7818120" y="1325880"/>
            <a:ext cx="3977640" cy="4937760"/>
          </a:xfrm>
          <a:prstGeom prst="rect">
            <a:avLst/>
          </a:prstGeom>
          <a:noFill/>
          <a:ln/>
        </p:spPr>
        <p:txBody>
          <a:bodyPr wrap="square" rtlCol="0" anchor="t">
            <a:normAutofit/>
          </a:bodyPr>
          <a:lstStyle/>
          <a:p>
            <a:pPr indent="0" marL="0">
              <a:buNone/>
            </a:pPr>
            <a:r>
              <a:rPr lang="en-US" sz="1500" b="1" dirty="0">
                <a:solidFill>
                  <a:srgbClr val="F7A23B"/>
                </a:solidFill>
                <a:latin typeface="Arial" pitchFamily="34" charset="0"/>
                <a:ea typeface="Arial" pitchFamily="34" charset="-122"/>
                <a:cs typeface="Arial" pitchFamily="34" charset="-120"/>
              </a:rPr>
              <a:t>5  </a:t>
            </a:r>
            <a:pPr indent="0" marL="0">
              <a:buNone/>
            </a:pPr>
            <a:r>
              <a:rPr lang="en-US" sz="1400" b="1" dirty="0">
                <a:solidFill>
                  <a:srgbClr val="1B3A6B"/>
                </a:solidFill>
                <a:latin typeface="Arial" pitchFamily="34" charset="0"/>
                <a:ea typeface="Arial" pitchFamily="34" charset="-122"/>
                <a:cs typeface="Arial" pitchFamily="34" charset="-120"/>
              </a:rPr>
              <a:t>Enviando pelo WhatsApp e emitindo boleto</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WhatsApp: mensagem pronta, envio com 1 clique · Boleto exige endereço completo</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457200" y="548640"/>
            <a:ext cx="3474720" cy="1737360"/>
          </a:xfrm>
          <a:prstGeom prst="rect">
            <a:avLst/>
          </a:prstGeom>
          <a:noFill/>
          <a:ln/>
        </p:spPr>
        <p:txBody>
          <a:bodyPr wrap="square" rtlCol="0" anchor="ctr"/>
          <a:lstStyle/>
          <a:p>
            <a:pPr indent="0" marL="0">
              <a:buNone/>
            </a:pPr>
            <a:r>
              <a:rPr lang="en-US" sz="11000" b="1" dirty="0">
                <a:solidFill>
                  <a:srgbClr val="11396F"/>
                </a:solidFill>
                <a:latin typeface="Arial" pitchFamily="34" charset="0"/>
                <a:ea typeface="Arial" pitchFamily="34" charset="-122"/>
                <a:cs typeface="Arial" pitchFamily="34" charset="-120"/>
              </a:rPr>
              <a:t>06</a:t>
            </a:r>
            <a:endParaRPr lang="en-US" sz="11000" dirty="0"/>
          </a:p>
        </p:txBody>
      </p:sp>
      <p:sp>
        <p:nvSpPr>
          <p:cNvPr id="4" name="Text 2"/>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6</a:t>
            </a:r>
            <a:endParaRPr lang="en-US" sz="1800" dirty="0"/>
          </a:p>
        </p:txBody>
      </p:sp>
      <p:sp>
        <p:nvSpPr>
          <p:cNvPr id="5" name="Text 3"/>
          <p:cNvSpPr/>
          <p:nvPr/>
        </p:nvSpPr>
        <p:spPr>
          <a:xfrm>
            <a:off x="548640" y="3200400"/>
            <a:ext cx="3383280" cy="457200"/>
          </a:xfrm>
          <a:prstGeom prst="rect">
            <a:avLst/>
          </a:prstGeom>
          <a:noFill/>
          <a:ln/>
        </p:spPr>
        <p:txBody>
          <a:bodyPr wrap="square" rtlCol="0" anchor="ctr"/>
          <a:lstStyle/>
          <a:p>
            <a:pPr indent="0" marL="0">
              <a:buNone/>
            </a:pPr>
            <a:r>
              <a:rPr lang="en-US" sz="1100" dirty="0">
                <a:solidFill>
                  <a:srgbClr val="C7D2E3"/>
                </a:solidFill>
                <a:latin typeface="Arial" pitchFamily="34" charset="0"/>
                <a:ea typeface="Arial" pitchFamily="34" charset="-122"/>
                <a:cs typeface="Arial" pitchFamily="34" charset="-120"/>
              </a:rPr>
              <a:t>M8 · Etapa 3 · Operação ponta a ponta</a:t>
            </a:r>
            <a:endParaRPr lang="en-US" sz="1100" dirty="0"/>
          </a:p>
        </p:txBody>
      </p:sp>
      <p:sp>
        <p:nvSpPr>
          <p:cNvPr id="6" name="Text 4"/>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Prática na plataforma</a:t>
            </a:r>
            <a:endParaRPr lang="en-US" sz="1400" dirty="0"/>
          </a:p>
        </p:txBody>
      </p:sp>
      <p:pic>
        <p:nvPicPr>
          <p:cNvPr id="7"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8" name="Text 5"/>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pagamento, baixa automática e o portal do cliente</a:t>
            </a:r>
            <a:endParaRPr lang="en-US" sz="3200" dirty="0"/>
          </a:p>
        </p:txBody>
      </p:sp>
      <p:sp>
        <p:nvSpPr>
          <p:cNvPr id="9" name="Text 6"/>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Simular pagamentos, acompanhar a baixa automática, ver o portal do cliente e confirmar pagamento manual</a:t>
            </a:r>
            <a:endParaRPr lang="en-US" sz="1500" dirty="0"/>
          </a:p>
        </p:txBody>
      </p:sp>
      <p:sp>
        <p:nvSpPr>
          <p:cNvPr id="10" name="Text 7"/>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Passo a passo na plataforma</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6</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6 · PAGAMENTO, BAIXA AUTOMÁTICA E O PORTAL DO CLIENTE</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na plataforma</a:t>
            </a:r>
            <a:endParaRPr lang="en-US" sz="2600" dirty="0"/>
          </a:p>
        </p:txBody>
      </p:sp>
      <p:sp>
        <p:nvSpPr>
          <p:cNvPr id="9" name="Shape 6"/>
          <p:cNvSpPr/>
          <p:nvPr/>
        </p:nvSpPr>
        <p:spPr>
          <a:xfrm>
            <a:off x="420624" y="1289304"/>
            <a:ext cx="7114032" cy="4033647"/>
          </a:xfrm>
          <a:prstGeom prst="roundRect">
            <a:avLst>
              <a:gd name="adj" fmla="val 1360"/>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cliente_cobrancas.jpg">    </p:cNvPr>
          <p:cNvPicPr>
            <a:picLocks noChangeAspect="1"/>
          </p:cNvPicPr>
          <p:nvPr/>
        </p:nvPicPr>
        <p:blipFill>
          <a:blip r:embed="rId2"/>
          <a:stretch>
            <a:fillRect/>
          </a:stretch>
        </p:blipFill>
        <p:spPr>
          <a:xfrm>
            <a:off x="457200" y="1325880"/>
            <a:ext cx="7040880" cy="3960495"/>
          </a:xfrm>
          <a:prstGeom prst="rect">
            <a:avLst/>
          </a:prstGeom>
        </p:spPr>
      </p:pic>
      <p:sp>
        <p:nvSpPr>
          <p:cNvPr id="11" name="Text 7"/>
          <p:cNvSpPr/>
          <p:nvPr/>
        </p:nvSpPr>
        <p:spPr>
          <a:xfrm>
            <a:off x="457200" y="5332095"/>
            <a:ext cx="7040880" cy="320040"/>
          </a:xfrm>
          <a:prstGeom prst="rect">
            <a:avLst/>
          </a:prstGeom>
          <a:noFill/>
          <a:ln/>
        </p:spPr>
        <p:txBody>
          <a:bodyPr wrap="square" rtlCol="0" anchor="ctr"/>
          <a:lstStyle/>
          <a:p>
            <a:pPr algn="ctr" indent="0" marL="0">
              <a:buNone/>
            </a:pPr>
            <a:r>
              <a:rPr lang="en-US" sz="1100" i="1" dirty="0">
                <a:solidFill>
                  <a:srgbClr val="64748B"/>
                </a:solidFill>
                <a:latin typeface="Arial" pitchFamily="34" charset="0"/>
                <a:ea typeface="Arial" pitchFamily="34" charset="-122"/>
                <a:cs typeface="Arial" pitchFamily="34" charset="-120"/>
              </a:rPr>
              <a:t>Cobranças no portal do cliente</a:t>
            </a:r>
            <a:endParaRPr lang="en-US" sz="1100" dirty="0"/>
          </a:p>
        </p:txBody>
      </p:sp>
      <p:sp>
        <p:nvSpPr>
          <p:cNvPr id="12" name="Text 8"/>
          <p:cNvSpPr/>
          <p:nvPr/>
        </p:nvSpPr>
        <p:spPr>
          <a:xfrm>
            <a:off x="7818120" y="1325880"/>
            <a:ext cx="3977640" cy="4937760"/>
          </a:xfrm>
          <a:prstGeom prst="rect">
            <a:avLst/>
          </a:prstGeom>
          <a:noFill/>
          <a:ln/>
        </p:spPr>
        <p:txBody>
          <a:bodyPr wrap="square" rtlCol="0" anchor="t">
            <a:normAutofit/>
          </a:bodyPr>
          <a:lstStyle/>
          <a:p>
            <a:pPr indent="0" marL="0">
              <a:buNone/>
            </a:pPr>
            <a:r>
              <a:rPr lang="en-US" sz="1500" b="1" dirty="0">
                <a:solidFill>
                  <a:srgbClr val="F7A23B"/>
                </a:solidFill>
                <a:latin typeface="Arial" pitchFamily="34" charset="0"/>
                <a:ea typeface="Arial" pitchFamily="34" charset="-122"/>
                <a:cs typeface="Arial" pitchFamily="34" charset="-120"/>
              </a:rPr>
              <a:t>1  </a:t>
            </a:r>
            <a:pPr indent="0" marL="0">
              <a:buNone/>
            </a:pPr>
            <a:r>
              <a:rPr lang="en-US" sz="1400" b="1" dirty="0">
                <a:solidFill>
                  <a:srgbClr val="1B3A6B"/>
                </a:solidFill>
                <a:latin typeface="Arial" pitchFamily="34" charset="0"/>
                <a:ea typeface="Arial" pitchFamily="34" charset="-122"/>
                <a:cs typeface="Arial" pitchFamily="34" charset="-120"/>
              </a:rPr>
              <a:t>O cliente paga pelo portal</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Portal do cliente: Minhas Cobranças → Pix copia e cola / boleto em PDF</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2  </a:t>
            </a:r>
            <a:pPr indent="0" marL="0">
              <a:buNone/>
            </a:pPr>
            <a:r>
              <a:rPr lang="en-US" sz="1400" b="1" dirty="0">
                <a:solidFill>
                  <a:srgbClr val="1B3A6B"/>
                </a:solidFill>
                <a:latin typeface="Arial" pitchFamily="34" charset="0"/>
                <a:ea typeface="Arial" pitchFamily="34" charset="-122"/>
                <a:cs typeface="Arial" pitchFamily="34" charset="-120"/>
              </a:rPr>
              <a:t>Simulando o pagamento e a baixa</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Pagamento confirmado → webhook/sincronização → cobrança Paga (sem ação manual)</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3  </a:t>
            </a:r>
            <a:pPr indent="0" marL="0">
              <a:buNone/>
            </a:pPr>
            <a:r>
              <a:rPr lang="en-US" sz="1400" b="1" dirty="0">
                <a:solidFill>
                  <a:srgbClr val="1B3A6B"/>
                </a:solidFill>
                <a:latin typeface="Arial" pitchFamily="34" charset="0"/>
                <a:ea typeface="Arial" pitchFamily="34" charset="-122"/>
                <a:cs typeface="Arial" pitchFamily="34" charset="-120"/>
              </a:rPr>
              <a:t>Acompanhando os pagamentos</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Financeiro → Pagamentos: todos os Pix/boletos · sincronizar sob demanda</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4  </a:t>
            </a:r>
            <a:pPr indent="0" marL="0">
              <a:buNone/>
            </a:pPr>
            <a:r>
              <a:rPr lang="en-US" sz="1400" b="1" dirty="0">
                <a:solidFill>
                  <a:srgbClr val="1B3A6B"/>
                </a:solidFill>
                <a:latin typeface="Arial" pitchFamily="34" charset="0"/>
                <a:ea typeface="Arial" pitchFamily="34" charset="-122"/>
                <a:cs typeface="Arial" pitchFamily="34" charset="-120"/>
              </a:rPr>
              <a:t>Pagamento fora do sistema</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Recebeu por fora? Confirmar Pagamento + observação · boleto ativo é cancelado</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6</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6 · NA PLATAFORMA</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Pagamentos</a:t>
            </a:r>
            <a:endParaRPr lang="en-US" sz="2600" dirty="0"/>
          </a:p>
        </p:txBody>
      </p:sp>
      <p:sp>
        <p:nvSpPr>
          <p:cNvPr id="9" name="Shape 6"/>
          <p:cNvSpPr/>
          <p:nvPr/>
        </p:nvSpPr>
        <p:spPr>
          <a:xfrm>
            <a:off x="1380744" y="1225296"/>
            <a:ext cx="9400032" cy="5319522"/>
          </a:xfrm>
          <a:prstGeom prst="roundRect">
            <a:avLst>
              <a:gd name="adj" fmla="val 1031"/>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pagamentos.jpg">    </p:cNvPr>
          <p:cNvPicPr>
            <a:picLocks noChangeAspect="1"/>
          </p:cNvPicPr>
          <p:nvPr/>
        </p:nvPicPr>
        <p:blipFill>
          <a:blip r:embed="rId2"/>
          <a:stretch>
            <a:fillRect/>
          </a:stretch>
        </p:blipFill>
        <p:spPr>
          <a:xfrm>
            <a:off x="1417320" y="1261872"/>
            <a:ext cx="9326880" cy="5246370"/>
          </a:xfrm>
          <a:prstGeom prst="rect">
            <a:avLst/>
          </a:prstGeom>
        </p:spPr>
      </p:pic>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457200" y="548640"/>
            <a:ext cx="3474720" cy="1737360"/>
          </a:xfrm>
          <a:prstGeom prst="rect">
            <a:avLst/>
          </a:prstGeom>
          <a:noFill/>
          <a:ln/>
        </p:spPr>
        <p:txBody>
          <a:bodyPr wrap="square" rtlCol="0" anchor="ctr"/>
          <a:lstStyle/>
          <a:p>
            <a:pPr indent="0" marL="0">
              <a:buNone/>
            </a:pPr>
            <a:r>
              <a:rPr lang="en-US" sz="11000" b="1" dirty="0">
                <a:solidFill>
                  <a:srgbClr val="11396F"/>
                </a:solidFill>
                <a:latin typeface="Arial" pitchFamily="34" charset="0"/>
                <a:ea typeface="Arial" pitchFamily="34" charset="-122"/>
                <a:cs typeface="Arial" pitchFamily="34" charset="-120"/>
              </a:rPr>
              <a:t>07</a:t>
            </a:r>
            <a:endParaRPr lang="en-US" sz="11000" dirty="0"/>
          </a:p>
        </p:txBody>
      </p:sp>
      <p:sp>
        <p:nvSpPr>
          <p:cNvPr id="4" name="Text 2"/>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7</a:t>
            </a:r>
            <a:endParaRPr lang="en-US" sz="1800" dirty="0"/>
          </a:p>
        </p:txBody>
      </p:sp>
      <p:sp>
        <p:nvSpPr>
          <p:cNvPr id="5" name="Text 3"/>
          <p:cNvSpPr/>
          <p:nvPr/>
        </p:nvSpPr>
        <p:spPr>
          <a:xfrm>
            <a:off x="548640" y="3200400"/>
            <a:ext cx="3383280" cy="457200"/>
          </a:xfrm>
          <a:prstGeom prst="rect">
            <a:avLst/>
          </a:prstGeom>
          <a:noFill/>
          <a:ln/>
        </p:spPr>
        <p:txBody>
          <a:bodyPr wrap="square" rtlCol="0" anchor="ctr"/>
          <a:lstStyle/>
          <a:p>
            <a:pPr indent="0" marL="0">
              <a:buNone/>
            </a:pPr>
            <a:r>
              <a:rPr lang="en-US" sz="1100" dirty="0">
                <a:solidFill>
                  <a:srgbClr val="C7D2E3"/>
                </a:solidFill>
                <a:latin typeface="Arial" pitchFamily="34" charset="0"/>
                <a:ea typeface="Arial" pitchFamily="34" charset="-122"/>
                <a:cs typeface="Arial" pitchFamily="34" charset="-120"/>
              </a:rPr>
              <a:t>M8 · Etapa 3 · Operação ponta a ponta</a:t>
            </a:r>
            <a:endParaRPr lang="en-US" sz="1100" dirty="0"/>
          </a:p>
        </p:txBody>
      </p:sp>
      <p:sp>
        <p:nvSpPr>
          <p:cNvPr id="6" name="Text 4"/>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Prática na plataforma</a:t>
            </a:r>
            <a:endParaRPr lang="en-US" sz="1400" dirty="0"/>
          </a:p>
        </p:txBody>
      </p:sp>
      <p:pic>
        <p:nvPicPr>
          <p:cNvPr id="7"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8" name="Text 5"/>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vencimento, boleto vencido e reemissão</a:t>
            </a:r>
            <a:endParaRPr lang="en-US" sz="3200" dirty="0"/>
          </a:p>
        </p:txBody>
      </p:sp>
      <p:sp>
        <p:nvSpPr>
          <p:cNvPr id="9" name="Text 6"/>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Ver a régua automática funcionando: lembrete, vencida, boleto vencido, reemissão e alteração de vencimento</a:t>
            </a:r>
            <a:endParaRPr lang="en-US" sz="1500" dirty="0"/>
          </a:p>
        </p:txBody>
      </p:sp>
      <p:sp>
        <p:nvSpPr>
          <p:cNvPr id="10" name="Text 7"/>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Passo a passo na plataforma</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7</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7 · VENCIMENTO, BOLETO VENCIDO E REEMISSÃO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(1/2)</a:t>
            </a:r>
            <a:endParaRPr lang="en-US" sz="2600" dirty="0"/>
          </a:p>
        </p:txBody>
      </p:sp>
      <p:sp>
        <p:nvSpPr>
          <p:cNvPr id="9" name="Shape 6"/>
          <p:cNvSpPr/>
          <p:nvPr/>
        </p:nvSpPr>
        <p:spPr>
          <a:xfrm>
            <a:off x="420624" y="1289304"/>
            <a:ext cx="7114032" cy="4033647"/>
          </a:xfrm>
          <a:prstGeom prst="roundRect">
            <a:avLst>
              <a:gd name="adj" fmla="val 1360"/>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cobranca.jpg">    </p:cNvPr>
          <p:cNvPicPr>
            <a:picLocks noChangeAspect="1"/>
          </p:cNvPicPr>
          <p:nvPr/>
        </p:nvPicPr>
        <p:blipFill>
          <a:blip r:embed="rId2"/>
          <a:stretch>
            <a:fillRect/>
          </a:stretch>
        </p:blipFill>
        <p:spPr>
          <a:xfrm>
            <a:off x="457200" y="1325880"/>
            <a:ext cx="7040880" cy="3960495"/>
          </a:xfrm>
          <a:prstGeom prst="rect">
            <a:avLst/>
          </a:prstGeom>
        </p:spPr>
      </p:pic>
      <p:sp>
        <p:nvSpPr>
          <p:cNvPr id="11" name="Text 7"/>
          <p:cNvSpPr/>
          <p:nvPr/>
        </p:nvSpPr>
        <p:spPr>
          <a:xfrm>
            <a:off x="457200" y="5332095"/>
            <a:ext cx="7040880" cy="320040"/>
          </a:xfrm>
          <a:prstGeom prst="rect">
            <a:avLst/>
          </a:prstGeom>
          <a:noFill/>
          <a:ln/>
        </p:spPr>
        <p:txBody>
          <a:bodyPr wrap="square" rtlCol="0" anchor="ctr"/>
          <a:lstStyle/>
          <a:p>
            <a:pPr algn="ctr" indent="0" marL="0">
              <a:buNone/>
            </a:pPr>
            <a:r>
              <a:rPr lang="en-US" sz="1100" i="1" dirty="0">
                <a:solidFill>
                  <a:srgbClr val="64748B"/>
                </a:solidFill>
                <a:latin typeface="Arial" pitchFamily="34" charset="0"/>
                <a:ea typeface="Arial" pitchFamily="34" charset="-122"/>
                <a:cs typeface="Arial" pitchFamily="34" charset="-120"/>
              </a:rPr>
              <a:t>Detalhe da cobrança</a:t>
            </a:r>
            <a:endParaRPr lang="en-US" sz="1100" dirty="0"/>
          </a:p>
        </p:txBody>
      </p:sp>
      <p:sp>
        <p:nvSpPr>
          <p:cNvPr id="12" name="Text 8"/>
          <p:cNvSpPr/>
          <p:nvPr/>
        </p:nvSpPr>
        <p:spPr>
          <a:xfrm>
            <a:off x="7818120" y="1325880"/>
            <a:ext cx="3977640" cy="4937760"/>
          </a:xfrm>
          <a:prstGeom prst="rect">
            <a:avLst/>
          </a:prstGeom>
          <a:noFill/>
          <a:ln/>
        </p:spPr>
        <p:txBody>
          <a:bodyPr wrap="square" rtlCol="0" anchor="t">
            <a:normAutofit/>
          </a:bodyPr>
          <a:lstStyle/>
          <a:p>
            <a:pPr indent="0" marL="0">
              <a:buNone/>
            </a:pPr>
            <a:r>
              <a:rPr lang="en-US" sz="1500" b="1" dirty="0">
                <a:solidFill>
                  <a:srgbClr val="F7A23B"/>
                </a:solidFill>
                <a:latin typeface="Arial" pitchFamily="34" charset="0"/>
                <a:ea typeface="Arial" pitchFamily="34" charset="-122"/>
                <a:cs typeface="Arial" pitchFamily="34" charset="-120"/>
              </a:rPr>
              <a:t>1  </a:t>
            </a:r>
            <a:pPr indent="0" marL="0">
              <a:buNone/>
            </a:pPr>
            <a:r>
              <a:rPr lang="en-US" sz="1400" b="1" dirty="0">
                <a:solidFill>
                  <a:srgbClr val="1B3A6B"/>
                </a:solidFill>
                <a:latin typeface="Arial" pitchFamily="34" charset="0"/>
                <a:ea typeface="Arial" pitchFamily="34" charset="-122"/>
                <a:cs typeface="Arial" pitchFamily="34" charset="-120"/>
              </a:rPr>
              <a:t>Três dias antes: o lembrete</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D−3: e-mail ao cliente + alerta ao consultor com WhatsApp pronto</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2  </a:t>
            </a:r>
            <a:pPr indent="0" marL="0">
              <a:buNone/>
            </a:pPr>
            <a:r>
              <a:rPr lang="en-US" sz="1400" b="1" dirty="0">
                <a:solidFill>
                  <a:srgbClr val="1B3A6B"/>
                </a:solidFill>
                <a:latin typeface="Arial" pitchFamily="34" charset="0"/>
                <a:ea typeface="Arial" pitchFamily="34" charset="-122"/>
                <a:cs typeface="Arial" pitchFamily="34" charset="-120"/>
              </a:rPr>
              <a:t>Venceu: cobrança vencida</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D+1: marcada como vencida automaticamente</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3  </a:t>
            </a:r>
            <a:pPr indent="0" marL="0">
              <a:buNone/>
            </a:pPr>
            <a:r>
              <a:rPr lang="en-US" sz="1400" b="1" dirty="0">
                <a:solidFill>
                  <a:srgbClr val="1B3A6B"/>
                </a:solidFill>
                <a:latin typeface="Arial" pitchFamily="34" charset="0"/>
                <a:ea typeface="Arial" pitchFamily="34" charset="-122"/>
                <a:cs typeface="Arial" pitchFamily="34" charset="-120"/>
              </a:rPr>
              <a:t>Boleto vencido e reemissão</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Boleto vencido: PDF bloqueado · alerta para reemitir · novo boleto · o antigo segue monitorado por 10 dias</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4  </a:t>
            </a:r>
            <a:pPr indent="0" marL="0">
              <a:buNone/>
            </a:pPr>
            <a:r>
              <a:rPr lang="en-US" sz="1400" b="1" dirty="0">
                <a:solidFill>
                  <a:srgbClr val="1B3A6B"/>
                </a:solidFill>
                <a:latin typeface="Arial" pitchFamily="34" charset="0"/>
                <a:ea typeface="Arial" pitchFamily="34" charset="-122"/>
                <a:cs typeface="Arial" pitchFamily="34" charset="-120"/>
              </a:rPr>
              <a:t>O cliente pediu outra data</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Editar vencimento → pagamento anterior cancelado → novo emitido → histórico</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7</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7 · VENCIMENTO, BOLETO VENCIDO E REEMISSÃO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(2/2)</a:t>
            </a:r>
            <a:endParaRPr lang="en-US" sz="2600" dirty="0"/>
          </a:p>
        </p:txBody>
      </p:sp>
      <p:sp>
        <p:nvSpPr>
          <p:cNvPr id="9" name="Shape 6"/>
          <p:cNvSpPr/>
          <p:nvPr/>
        </p:nvSpPr>
        <p:spPr>
          <a:xfrm>
            <a:off x="420624" y="1289304"/>
            <a:ext cx="7114032" cy="4033647"/>
          </a:xfrm>
          <a:prstGeom prst="roundRect">
            <a:avLst>
              <a:gd name="adj" fmla="val 1360"/>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alertas.jpg">    </p:cNvPr>
          <p:cNvPicPr>
            <a:picLocks noChangeAspect="1"/>
          </p:cNvPicPr>
          <p:nvPr/>
        </p:nvPicPr>
        <p:blipFill>
          <a:blip r:embed="rId2"/>
          <a:stretch>
            <a:fillRect/>
          </a:stretch>
        </p:blipFill>
        <p:spPr>
          <a:xfrm>
            <a:off x="457200" y="1325880"/>
            <a:ext cx="7040880" cy="3960495"/>
          </a:xfrm>
          <a:prstGeom prst="rect">
            <a:avLst/>
          </a:prstGeom>
        </p:spPr>
      </p:pic>
      <p:sp>
        <p:nvSpPr>
          <p:cNvPr id="11" name="Text 7"/>
          <p:cNvSpPr/>
          <p:nvPr/>
        </p:nvSpPr>
        <p:spPr>
          <a:xfrm>
            <a:off x="457200" y="5332095"/>
            <a:ext cx="7040880" cy="320040"/>
          </a:xfrm>
          <a:prstGeom prst="rect">
            <a:avLst/>
          </a:prstGeom>
          <a:noFill/>
          <a:ln/>
        </p:spPr>
        <p:txBody>
          <a:bodyPr wrap="square" rtlCol="0" anchor="ctr"/>
          <a:lstStyle/>
          <a:p>
            <a:pPr algn="ctr" indent="0" marL="0">
              <a:buNone/>
            </a:pPr>
            <a:r>
              <a:rPr lang="en-US" sz="1100" i="1" dirty="0">
                <a:solidFill>
                  <a:srgbClr val="64748B"/>
                </a:solidFill>
                <a:latin typeface="Arial" pitchFamily="34" charset="0"/>
                <a:ea typeface="Arial" pitchFamily="34" charset="-122"/>
                <a:cs typeface="Arial" pitchFamily="34" charset="-120"/>
              </a:rPr>
              <a:t>Alertas operacionais</a:t>
            </a:r>
            <a:endParaRPr lang="en-US" sz="1100" dirty="0"/>
          </a:p>
        </p:txBody>
      </p:sp>
      <p:sp>
        <p:nvSpPr>
          <p:cNvPr id="12" name="Text 8"/>
          <p:cNvSpPr/>
          <p:nvPr/>
        </p:nvSpPr>
        <p:spPr>
          <a:xfrm>
            <a:off x="7818120" y="1325880"/>
            <a:ext cx="3977640" cy="4937760"/>
          </a:xfrm>
          <a:prstGeom prst="rect">
            <a:avLst/>
          </a:prstGeom>
          <a:noFill/>
          <a:ln/>
        </p:spPr>
        <p:txBody>
          <a:bodyPr wrap="square" rtlCol="0" anchor="t">
            <a:normAutofit/>
          </a:bodyPr>
          <a:lstStyle/>
          <a:p>
            <a:pPr indent="0" marL="0">
              <a:buNone/>
            </a:pPr>
            <a:r>
              <a:rPr lang="en-US" sz="1500" b="1" dirty="0">
                <a:solidFill>
                  <a:srgbClr val="F7A23B"/>
                </a:solidFill>
                <a:latin typeface="Arial" pitchFamily="34" charset="0"/>
                <a:ea typeface="Arial" pitchFamily="34" charset="-122"/>
                <a:cs typeface="Arial" pitchFamily="34" charset="-120"/>
              </a:rPr>
              <a:t>5  </a:t>
            </a:r>
            <a:pPr indent="0" marL="0">
              <a:buNone/>
            </a:pPr>
            <a:r>
              <a:rPr lang="en-US" sz="1400" b="1" dirty="0">
                <a:solidFill>
                  <a:srgbClr val="1B3A6B"/>
                </a:solidFill>
                <a:latin typeface="Arial" pitchFamily="34" charset="0"/>
                <a:ea typeface="Arial" pitchFamily="34" charset="-122"/>
                <a:cs typeface="Arial" pitchFamily="34" charset="-120"/>
              </a:rPr>
              <a:t>A cobrança humana</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Cobrar via WhatsApp · Enviar Lembrete — o contato humano da régua</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Fechamento</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FECHAMENTO DO MÓDULO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Pratique e entregue</a:t>
            </a:r>
            <a:endParaRPr lang="en-US" sz="2600" dirty="0"/>
          </a:p>
        </p:txBody>
      </p:sp>
      <p:sp>
        <p:nvSpPr>
          <p:cNvPr id="9" name="Text 6"/>
          <p:cNvSpPr/>
          <p:nvPr/>
        </p:nvSpPr>
        <p:spPr>
          <a:xfrm>
            <a:off x="548640" y="1325880"/>
            <a:ext cx="5394960" cy="411480"/>
          </a:xfrm>
          <a:prstGeom prst="rect">
            <a:avLst/>
          </a:prstGeom>
          <a:noFill/>
          <a:ln/>
        </p:spPr>
        <p:txBody>
          <a:bodyPr wrap="square" rtlCol="0" anchor="ctr"/>
          <a:lstStyle/>
          <a:p>
            <a:pPr indent="0" marL="0">
              <a:buNone/>
            </a:pPr>
            <a:r>
              <a:rPr lang="en-US" sz="1600" b="1" dirty="0">
                <a:solidFill>
                  <a:srgbClr val="1B3A6B"/>
                </a:solidFill>
                <a:latin typeface="Arial" pitchFamily="34" charset="0"/>
                <a:ea typeface="Arial" pitchFamily="34" charset="-122"/>
                <a:cs typeface="Arial" pitchFamily="34" charset="-120"/>
              </a:rPr>
              <a:t>Exercícios</a:t>
            </a:r>
            <a:endParaRPr lang="en-US" sz="1600" dirty="0"/>
          </a:p>
        </p:txBody>
      </p:sp>
      <p:sp>
        <p:nvSpPr>
          <p:cNvPr id="10" name="Text 7"/>
          <p:cNvSpPr/>
          <p:nvPr/>
        </p:nvSpPr>
        <p:spPr>
          <a:xfrm>
            <a:off x="548640" y="1783080"/>
            <a:ext cx="5394960" cy="4480560"/>
          </a:xfrm>
          <a:prstGeom prst="rect">
            <a:avLst/>
          </a:prstGeom>
          <a:noFill/>
          <a:ln/>
        </p:spPr>
        <p:txBody>
          <a:bodyPr wrap="square" rtlCol="0" anchor="t">
            <a:normAutofit/>
          </a:bodyPr>
          <a:lstStyle/>
          <a:p>
            <a:pPr indent="0" marL="0">
              <a:spcAft>
                <a:spcPts val="800"/>
              </a:spcAft>
              <a:buNone/>
            </a:pPr>
            <a:r>
              <a:rPr lang="en-US" sz="1600" dirty="0">
                <a:solidFill>
                  <a:srgbClr val="1F2937"/>
                </a:solidFill>
                <a:latin typeface="Arial" pitchFamily="34" charset="0"/>
                <a:ea typeface="Arial" pitchFamily="34" charset="-122"/>
                <a:cs typeface="Arial" pitchFamily="34" charset="-120"/>
              </a:rPr>
              <a:t>1. Cobrança de R$ 1.695,20 com um desconto manual de R$ 50 (cortesia pela demora no primeiro crédito). Valor final?</a:t>
            </a:r>
            <a:endParaRPr lang="en-US" sz="1600" dirty="0"/>
          </a:p>
          <a:p>
            <a:pPr indent="0" marL="0">
              <a:spcAft>
                <a:spcPts val="800"/>
              </a:spcAft>
              <a:buNone/>
            </a:pPr>
            <a:r>
              <a:rPr lang="en-US" sz="1600" dirty="0">
                <a:solidFill>
                  <a:srgbClr val="1F2937"/>
                </a:solidFill>
                <a:latin typeface="Arial" pitchFamily="34" charset="0"/>
                <a:ea typeface="Arial" pitchFamily="34" charset="-122"/>
                <a:cs typeface="Arial" pitchFamily="34" charset="-120"/>
              </a:rPr>
              <a:t>2. Monte uma régua para uma cobrança com vencimento dia 10: o que acontece nos dias 7, 10, 11, 15, 20 e 30?</a:t>
            </a:r>
            <a:endParaRPr lang="en-US" sz="1600" dirty="0"/>
          </a:p>
          <a:p>
            <a:pPr indent="0" marL="0">
              <a:spcAft>
                <a:spcPts val="800"/>
              </a:spcAft>
              <a:buNone/>
            </a:pPr>
            <a:r>
              <a:rPr lang="en-US" sz="1600" dirty="0">
                <a:solidFill>
                  <a:srgbClr val="1F2937"/>
                </a:solidFill>
                <a:latin typeface="Arial" pitchFamily="34" charset="0"/>
                <a:ea typeface="Arial" pitchFamily="34" charset="-122"/>
                <a:cs typeface="Arial" pitchFamily="34" charset="-120"/>
              </a:rPr>
              <a:t>3. Por que a plataforma não cancela o boleto vencido no Mercado Pago imediatamente?</a:t>
            </a:r>
            <a:endParaRPr lang="en-US" sz="1600" dirty="0"/>
          </a:p>
        </p:txBody>
      </p:sp>
      <p:sp>
        <p:nvSpPr>
          <p:cNvPr id="11" name="Shape 8"/>
          <p:cNvSpPr/>
          <p:nvPr/>
        </p:nvSpPr>
        <p:spPr>
          <a:xfrm>
            <a:off x="6172200" y="1325880"/>
            <a:ext cx="5468112" cy="4937760"/>
          </a:xfrm>
          <a:prstGeom prst="roundRect">
            <a:avLst>
              <a:gd name="adj" fmla="val 1852"/>
            </a:avLst>
          </a:prstGeom>
          <a:solidFill>
            <a:srgbClr val="1B3A6B"/>
          </a:solidFill>
          <a:ln/>
        </p:spPr>
      </p:sp>
      <p:sp>
        <p:nvSpPr>
          <p:cNvPr id="12" name="Text 9"/>
          <p:cNvSpPr/>
          <p:nvPr/>
        </p:nvSpPr>
        <p:spPr>
          <a:xfrm>
            <a:off x="6492240" y="1554480"/>
            <a:ext cx="4828032" cy="4480560"/>
          </a:xfrm>
          <a:prstGeom prst="rect">
            <a:avLst/>
          </a:prstGeom>
          <a:noFill/>
          <a:ln/>
        </p:spPr>
        <p:txBody>
          <a:bodyPr wrap="square" rtlCol="0" anchor="t">
            <a:normAutofit/>
          </a:bodyPr>
          <a:lstStyle/>
          <a:p>
            <a:pPr indent="0" marL="0">
              <a:buNone/>
            </a:pPr>
            <a:r>
              <a:rPr lang="en-US" sz="1300" b="1" spc="100" kern="0" dirty="0">
                <a:solidFill>
                  <a:srgbClr val="F7A23B"/>
                </a:solidFill>
                <a:latin typeface="Arial" pitchFamily="34" charset="0"/>
                <a:ea typeface="Arial" pitchFamily="34" charset="-122"/>
                <a:cs typeface="Arial" pitchFamily="34" charset="-120"/>
              </a:rPr>
              <a:t>ENTREGÁVEL DO MÓDULO
</a:t>
            </a:r>
            <a:pPr indent="0" marL="0">
              <a:buNone/>
            </a:pPr>
            <a:r>
              <a:rPr lang="en-US" sz="1600" dirty="0">
                <a:solidFill>
                  <a:srgbClr val="FFFFFF"/>
                </a:solidFill>
                <a:latin typeface="Arial" pitchFamily="34" charset="0"/>
                <a:ea typeface="Arial" pitchFamily="34" charset="-122"/>
                <a:cs typeface="Arial" pitchFamily="34" charset="-120"/>
              </a:rPr>
              <a:t>Primeiro faturamento: cobranças do mês 1 geradas e abertas para os 15 clientes; Pix ou boleto emitido para todos; pelo menos 10 pagos (simulados), 1 com ajuste justificado, 1 com vencimento alterado e 1 vencida tratada (boleto reemitido); e a régua de cobrança da sua empresa em uma página.</a:t>
            </a:r>
            <a:endParaRPr lang="en-US" sz="13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31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GD Solar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M8 — Cobrança e recebimento</dc:title>
  <dc:subject>PptxGenJS Presentation</dc:subject>
  <dc:creator>PptxGenJS</dc:creator>
  <cp:lastModifiedBy>PptxGenJS</cp:lastModifiedBy>
  <cp:revision>1</cp:revision>
  <dcterms:created xsi:type="dcterms:W3CDTF">2026-10-30T11:40:28Z</dcterms:created>
  <dcterms:modified xsi:type="dcterms:W3CDTF">2026-10-30T11:40:28Z</dcterms:modified>
</cp:coreProperties>
</file>