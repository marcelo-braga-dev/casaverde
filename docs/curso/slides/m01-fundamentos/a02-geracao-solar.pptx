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[APRESENTADOR] Abertura (0:00–0:45)
Visual: APRESENTADOR; inserção de imagem aérea de usina solar no solo.
Narração:
Você não precisa ser engenheiro para ter uma empresa de assinatura de energia. Mas precisa entender o suficiente de uma usina solar para conversar com o dono dela, avaliar se ela vai entregar o que promete e explicar para o seu cliente de onde vem a energia. É isso que vamos ver agora, sem complicação.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[ANIMAÇÃO] Os componentes (0:45–3:30)
Visual: ANIMAÇÃO: sol → painéis → cabos → inversor → transformador/medidor → rede.
Narração:
Uma usina fotovoltaica tem quatro peças principais. Primeiro, os painéis, ou módulos. Eles são feitos de células de silício que, quando recebem a luz do sol, geram eletricidade. Essa eletricidade sai em corrente contínua, a mesma de uma pilha. Só que a rede elétrica e os aparelhos da casa usam corrente alternada. Por isso existe a segunda peça: o inversor, que converte a corrente contínua em alternada, no padrão da rede. Em usinas maiores, ainda existe um transformador, que eleva a tensão para a da rede local. A terceira peça é a estrutura: os suportes que seguram os painéis no solo ou no telhado, na inclinação certa. E a quarta é o medidor bidirecional, instalado pela distribuidora. Ele mede a energia nos dois sentidos: a que a usina injeta na rede e a que eventualmente consome da rede, por exemplo à noite. É esse medidor que gera os créditos de energia. Sem ele, não existe compensação.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[QUADRO] Quanto uma usina gera (3:30–6:30)
Visual: QUADRO.
Narração:
Agora a conta mais importante desta aula: quanto uma usina gera por mês. A regra prática é multiplicar a potência da usina, em kWp, por um número chamado produtividade, que diz quantos quilowatts-hora cada kWp gera por mês naquela região. No Brasil, esse número costuma ficar entre cerca de cem e cento e quarenta quilowatts-hora por kWp por mês, dependendo da região, da instalação e da época do ano. É um país privilegiado em sol. Então, uma usina de quinhentos kWp, numa região com produtividade de cento e vinte, gera aproximadamente quinhentos vezes cento e vinte: sessenta mil quilowatts-hora por mês. Essa é exatamente a nossa usina de referência no laboratório, a Sol Nascente I. E sessenta mil quilowatts-hora por mês atendem quantos clientes? Se o cliente médio da sua carteira consome quinhentos, são cento e vinte clientes. Se você atender padarias de três mil, são vinte. Percebe como a conta da usina já começa a desenhar o seu negócio?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[ANIMAÇÃO] A geração varia (6:30–9:00)
Visual: ANIMAÇÃO: gráfico de barras com 12 meses, mais alto no verão e mais baixo no inverno; ícones de nuvem, poeira e sombra.
Narração:
Atenção: esse número é uma média. A geração muda ao longo do ano. Nos meses de dias mais longos e mais sol, a usina gera mais; nos meses de inverno ou de muita chuva, gera menos. A diferença entre o melhor e o pior mês pode ser grande, dependendo da região. Além disso, a geração cai se os painéis estão sujos, se surge uma sombra — uma árvore que cresceu, uma construção nova —, ou se um inversor para de funcionar. Para a sua empresa, isso tem duas consequências práticas. A primeira: você distribui a energia da usina com base na média anual, não no melhor mês. A segunda: você precisa acompanhar a geração todo mês. Se uma usina para por uma semana e ninguém percebe, seus clientes recebem menos créditos, pagam mais para a distribuidora e quem leva a culpa é a sua empresa. No módulo 9, vamos ver como a plataforma ajuda a acompanhar isso.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A usina envelhece (9:00–10:30)
Visual: SLIDE com curva descendente suave ao longo de 25 anos.
Narração:
Outro ponto: os painéis perdem um pouco de eficiência a cada ano. É a degradação. Os fabricantes costumam garantir algo como oitenta por cento da potência original depois de vinte e cinco anos, o que dá uma perda pequena, de meio a menos de um por cento ao ano. Parece pouco, mas, se você assina um contrato de dez anos com um cliente prometendo uma quantidade fixa de energia, precisa considerar que no décimo ano a usina vai gerar um pouco menos do que no primeiro.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Usina no solo, no telhado e o que o produtor precisa (10:30–12:20)
Visual: SLIDE com duas fotos: usina no solo e usina em telhado de galpão.
Narração:
As usinas que abastecem empresas de assinatura costumam ser instaladas no solo, em terrenos rurais, porque permitem escala: centenas de quilowatts ou alguns megawatts num lugar só. Uma usina de um megawatt ocupa, aproximadamente, de um hectare e meio a dois hectares, dependendo do projeto. Mas também existem usinas em telhados de galpões, de indústrias e de armazéns. Para o seu negócio, o mais importante não é onde a usina está, e sim três coisas: que ela esteja na área da mesma distribuidora dos seus clientes, que esteja legalmente conectada à rede, com o parecer de acesso aprovado pela distribuidora, e que gere o que promete. No módulo 4, você vai aprender a fazer a due diligence de uma usina, ou seja, a checagem completa antes de fechar negócio com o produtor.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[APRESENTADOR] Resumo (12:20–13:00)
Visual: APRESENTADOR + SLIDE de resumo.
Narração:
Resumindo: a usina transforma luz em eletricidade, o inversor a deixa no padrão da rede e o medidor bidirecional registra o que é injetado. A geração mensal é aproximadamente a potência em kWp vezes a produtividade da região. Ela varia ao longo do ano, cai com problemas de operação e degrada um pouco a cada ano. Na próxima aula, vamos acompanhar o caminho dessa energia até a tomada do seu cliente.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F33"/>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1F7A4D"/>
          </a:solidFill>
          <a:ln/>
        </p:spPr>
      </p:sp>
      <p:sp>
        <p:nvSpPr>
          <p:cNvPr id="3" name="Shape 1"/>
          <p:cNvSpPr/>
          <p:nvPr/>
        </p:nvSpPr>
        <p:spPr>
          <a:xfrm>
            <a:off x="320040" y="0"/>
            <a:ext cx="109728" cy="6858000"/>
          </a:xfrm>
          <a:prstGeom prst="rect">
            <a:avLst/>
          </a:prstGeom>
          <a:solidFill>
            <a:srgbClr val="F5B700"/>
          </a:solidFill>
          <a:ln/>
        </p:spPr>
      </p:sp>
      <p:sp>
        <p:nvSpPr>
          <p:cNvPr id="4" name="Text 2"/>
          <p:cNvSpPr/>
          <p:nvPr/>
        </p:nvSpPr>
        <p:spPr>
          <a:xfrm>
            <a:off x="914400" y="640080"/>
            <a:ext cx="10058400" cy="457200"/>
          </a:xfrm>
          <a:prstGeom prst="rect">
            <a:avLst/>
          </a:prstGeom>
          <a:noFill/>
          <a:ln/>
        </p:spPr>
        <p:txBody>
          <a:bodyPr wrap="square" rtlCol="0" anchor="ctr"/>
          <a:lstStyle/>
          <a:p>
            <a:pPr indent="0" marL="0">
              <a:buNone/>
            </a:pPr>
            <a:r>
              <a:rPr lang="en-US" sz="1600" b="1" spc="200" kern="0" dirty="0">
                <a:solidFill>
                  <a:srgbClr val="F5B700"/>
                </a:solidFill>
                <a:latin typeface="Arial" pitchFamily="34" charset="0"/>
                <a:ea typeface="Arial" pitchFamily="34" charset="-122"/>
                <a:cs typeface="Arial" pitchFamily="34" charset="-120"/>
              </a:rPr>
              <a:t>FORMAÇÃO EM ENERGIA POR ASSINATURA</a:t>
            </a:r>
            <a:endParaRPr lang="en-US" sz="1600" dirty="0"/>
          </a:p>
        </p:txBody>
      </p:sp>
      <p:sp>
        <p:nvSpPr>
          <p:cNvPr id="5" name="Text 3"/>
          <p:cNvSpPr/>
          <p:nvPr/>
        </p:nvSpPr>
        <p:spPr>
          <a:xfrm>
            <a:off x="914400" y="1828800"/>
            <a:ext cx="10058400" cy="548640"/>
          </a:xfrm>
          <a:prstGeom prst="rect">
            <a:avLst/>
          </a:prstGeom>
          <a:noFill/>
          <a:ln/>
        </p:spPr>
        <p:txBody>
          <a:bodyPr wrap="square" rtlCol="0" anchor="ctr"/>
          <a:lstStyle/>
          <a:p>
            <a:pPr indent="0" marL="0">
              <a:buNone/>
            </a:pPr>
            <a:r>
              <a:rPr lang="en-US" sz="2200" dirty="0">
                <a:solidFill>
                  <a:srgbClr val="C9CDD2"/>
                </a:solidFill>
                <a:latin typeface="Arial" pitchFamily="34" charset="0"/>
                <a:ea typeface="Arial" pitchFamily="34" charset="-122"/>
                <a:cs typeface="Arial" pitchFamily="34" charset="-120"/>
              </a:rPr>
              <a:t>M1 · Aula 2</a:t>
            </a:r>
            <a:endParaRPr lang="en-US" sz="2200" dirty="0"/>
          </a:p>
        </p:txBody>
      </p:sp>
      <p:sp>
        <p:nvSpPr>
          <p:cNvPr id="6" name="Text 4"/>
          <p:cNvSpPr/>
          <p:nvPr/>
        </p:nvSpPr>
        <p:spPr>
          <a:xfrm>
            <a:off x="914400" y="2377440"/>
            <a:ext cx="10332720" cy="1737360"/>
          </a:xfrm>
          <a:prstGeom prst="rect">
            <a:avLst/>
          </a:prstGeom>
          <a:noFill/>
          <a:ln/>
        </p:spPr>
        <p:txBody>
          <a:bodyPr wrap="square" rtlCol="0" anchor="t">
            <a:normAutofit/>
          </a:bodyPr>
          <a:lstStyle/>
          <a:p>
            <a:pPr indent="0" marL="0">
              <a:buNone/>
            </a:pPr>
            <a:r>
              <a:rPr lang="en-US" sz="4000" b="1" dirty="0">
                <a:solidFill>
                  <a:srgbClr val="FFFFFF"/>
                </a:solidFill>
                <a:latin typeface="Arial" pitchFamily="34" charset="0"/>
                <a:ea typeface="Arial" pitchFamily="34" charset="-122"/>
                <a:cs typeface="Arial" pitchFamily="34" charset="-120"/>
              </a:rPr>
              <a:t>Como funciona a geração solar fotovoltaica</a:t>
            </a:r>
            <a:endParaRPr lang="en-US" sz="4000" dirty="0"/>
          </a:p>
        </p:txBody>
      </p:sp>
      <p:sp>
        <p:nvSpPr>
          <p:cNvPr id="7" name="Text 5"/>
          <p:cNvSpPr/>
          <p:nvPr/>
        </p:nvSpPr>
        <p:spPr>
          <a:xfrm>
            <a:off x="914400" y="4297680"/>
            <a:ext cx="10332720" cy="914400"/>
          </a:xfrm>
          <a:prstGeom prst="rect">
            <a:avLst/>
          </a:prstGeom>
          <a:noFill/>
          <a:ln/>
        </p:spPr>
        <p:txBody>
          <a:bodyPr wrap="square" rtlCol="0" anchor="t">
            <a:normAutofit/>
          </a:bodyPr>
          <a:lstStyle/>
          <a:p>
            <a:pPr indent="0" marL="0">
              <a:buNone/>
            </a:pPr>
            <a:r>
              <a:rPr lang="en-US" sz="1800" dirty="0">
                <a:solidFill>
                  <a:srgbClr val="C9CDD2"/>
                </a:solidFill>
                <a:latin typeface="Arial" pitchFamily="34" charset="0"/>
                <a:ea typeface="Arial" pitchFamily="34" charset="-122"/>
                <a:cs typeface="Arial" pitchFamily="34" charset="-120"/>
              </a:rPr>
              <a:t>Entender os componentes de uma usina, estimar a geração mensal e conhecer os fatores que a afetam</a:t>
            </a:r>
            <a:endParaRPr lang="en-US" sz="1800" dirty="0"/>
          </a:p>
        </p:txBody>
      </p:sp>
      <p:sp>
        <p:nvSpPr>
          <p:cNvPr id="8" name="Shape 6"/>
          <p:cNvSpPr/>
          <p:nvPr/>
        </p:nvSpPr>
        <p:spPr>
          <a:xfrm>
            <a:off x="9692640" y="5806440"/>
            <a:ext cx="2194560" cy="777240"/>
          </a:xfrm>
          <a:prstGeom prst="roundRect">
            <a:avLst>
              <a:gd name="adj" fmla="val 11765"/>
            </a:avLst>
          </a:prstGeom>
          <a:solidFill>
            <a:srgbClr val="FFFFFF"/>
          </a:solidFill>
          <a:ln/>
        </p:spPr>
      </p:sp>
      <p:pic>
        <p:nvPicPr>
          <p:cNvPr id="9" name="Image 0" descr="/www/wwwroot/rexar/gdsolar/docs/curso/slides/assets/logo-rexar.png">    </p:cNvPr>
          <p:cNvPicPr>
            <a:picLocks noChangeAspect="1"/>
          </p:cNvPicPr>
          <p:nvPr/>
        </p:nvPicPr>
        <p:blipFill>
          <a:blip r:embed="rId1"/>
          <a:stretch>
            <a:fillRect/>
          </a:stretch>
        </p:blipFill>
        <p:spPr>
          <a:xfrm>
            <a:off x="9829800" y="5879592"/>
            <a:ext cx="1920240" cy="630936"/>
          </a:xfrm>
          <a:prstGeom prst="rect">
            <a:avLst/>
          </a:prstGeom>
        </p:spPr>
      </p:pic>
      <p:sp>
        <p:nvSpPr>
          <p:cNvPr id="10" name="Text 7"/>
          <p:cNvSpPr/>
          <p:nvPr/>
        </p:nvSpPr>
        <p:spPr>
          <a:xfrm>
            <a:off x="914400" y="5989320"/>
            <a:ext cx="8229600" cy="365760"/>
          </a:xfrm>
          <a:prstGeom prst="rect">
            <a:avLst/>
          </a:prstGeom>
          <a:noFill/>
          <a:ln/>
        </p:spPr>
        <p:txBody>
          <a:bodyPr wrap="square" rtlCol="0" anchor="ctr"/>
          <a:lstStyle/>
          <a:p>
            <a:pPr indent="0" marL="0">
              <a:buNone/>
            </a:pPr>
            <a:r>
              <a:rPr lang="en-US" sz="1200" dirty="0">
                <a:solidFill>
                  <a:srgbClr val="C9CDD2"/>
                </a:solidFill>
                <a:latin typeface="Arial" pitchFamily="34" charset="0"/>
                <a:ea typeface="Arial" pitchFamily="34" charset="-122"/>
                <a:cs typeface="Arial" pitchFamily="34" charset="-120"/>
              </a:rPr>
              <a:t>Geração distribuída compartilhada, da regulação à operação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Formação em Energia por Assinatura  ·  M1 · Aula 2 · Cena 1</a:t>
            </a:r>
            <a:endParaRPr lang="en-US" sz="1000" dirty="0"/>
          </a:p>
        </p:txBody>
      </p:sp>
      <p:pic>
        <p:nvPicPr>
          <p:cNvPr id="5" name="Image 0" descr="/www/wwwroot/rexar/gdsolar/docs/curso/slides/assets/logo-rexar.png">    </p:cNvPr>
          <p:cNvPicPr>
            <a:picLocks noChangeAspect="1"/>
          </p:cNvPicPr>
          <p:nvPr/>
        </p:nvPicPr>
        <p:blipFill>
          <a:blip r:embed="rId1"/>
          <a:stretch>
            <a:fillRect/>
          </a:stretch>
        </p:blipFill>
        <p:spPr>
          <a:xfrm>
            <a:off x="10561320" y="6327648"/>
            <a:ext cx="1234440" cy="411480"/>
          </a:xfrm>
          <a:prstGeom prst="rect">
            <a:avLst/>
          </a:prstGeom>
        </p:spPr>
      </p:pic>
      <p:sp>
        <p:nvSpPr>
          <p:cNvPr id="6" name="Shape 3"/>
          <p:cNvSpPr/>
          <p:nvPr/>
        </p:nvSpPr>
        <p:spPr>
          <a:xfrm>
            <a:off x="457200" y="4754880"/>
            <a:ext cx="11247120" cy="1280160"/>
          </a:xfrm>
          <a:prstGeom prst="rect">
            <a:avLst/>
          </a:prstGeom>
          <a:solidFill>
            <a:srgbClr val="1F7A4D"/>
          </a:solidFill>
          <a:ln/>
        </p:spPr>
      </p:sp>
      <p:sp>
        <p:nvSpPr>
          <p:cNvPr id="7" name="Shape 4"/>
          <p:cNvSpPr/>
          <p:nvPr/>
        </p:nvSpPr>
        <p:spPr>
          <a:xfrm>
            <a:off x="457200" y="4754880"/>
            <a:ext cx="137160" cy="1280160"/>
          </a:xfrm>
          <a:prstGeom prst="rect">
            <a:avLst/>
          </a:prstGeom>
          <a:solidFill>
            <a:srgbClr val="F5B700"/>
          </a:solidFill>
          <a:ln/>
        </p:spPr>
      </p:sp>
      <p:sp>
        <p:nvSpPr>
          <p:cNvPr id="8" name="Text 5"/>
          <p:cNvSpPr/>
          <p:nvPr/>
        </p:nvSpPr>
        <p:spPr>
          <a:xfrm>
            <a:off x="777240" y="4800600"/>
            <a:ext cx="10789920" cy="1188720"/>
          </a:xfrm>
          <a:prstGeom prst="rect">
            <a:avLst/>
          </a:prstGeom>
          <a:noFill/>
          <a:ln/>
        </p:spPr>
        <p:txBody>
          <a:bodyPr wrap="square" rtlCol="0" anchor="ctr">
            <a:normAutofit/>
          </a:bodyPr>
          <a:lstStyle/>
          <a:p>
            <a:pPr indent="0" marL="0">
              <a:buNone/>
            </a:pPr>
            <a:r>
              <a:rPr lang="en-US" sz="2400" b="1" dirty="0">
                <a:solidFill>
                  <a:srgbClr val="FFFFFF"/>
                </a:solidFill>
                <a:latin typeface="Arial" pitchFamily="34" charset="0"/>
                <a:ea typeface="Arial" pitchFamily="34" charset="-122"/>
                <a:cs typeface="Arial" pitchFamily="34" charset="-120"/>
              </a:rPr>
              <a:t>Da luz do sol ao kWh</a:t>
            </a:r>
            <a:endParaRPr lang="en-US" sz="2400" dirty="0"/>
          </a:p>
        </p:txBody>
      </p:sp>
      <p:sp>
        <p:nvSpPr>
          <p:cNvPr id="9" name="Text 6"/>
          <p:cNvSpPr/>
          <p:nvPr/>
        </p:nvSpPr>
        <p:spPr>
          <a:xfrm>
            <a:off x="457200" y="914400"/>
            <a:ext cx="11247120" cy="3474720"/>
          </a:xfrm>
          <a:prstGeom prst="rect">
            <a:avLst/>
          </a:prstGeom>
          <a:noFill/>
          <a:ln/>
        </p:spPr>
        <p:txBody>
          <a:bodyPr wrap="square" rtlCol="0" anchor="ctr"/>
          <a:lstStyle/>
          <a:p>
            <a:pPr algn="ctr" indent="0" marL="0">
              <a:buNone/>
            </a:pPr>
            <a:r>
              <a:rPr lang="en-US" sz="1600" dirty="0">
                <a:solidFill>
                  <a:srgbClr val="B0B6BD"/>
                </a:solidFill>
                <a:latin typeface="Arial" pitchFamily="34" charset="0"/>
                <a:ea typeface="Arial" pitchFamily="34" charset="-122"/>
                <a:cs typeface="Arial" pitchFamily="34" charset="-120"/>
              </a:rPr>
              <a:t>[ APRESENTADOR — área do vídeo ]</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Formação em Energia por Assinatura  ·  M1 · Aula 2 · Cena 2</a:t>
            </a:r>
            <a:endParaRPr lang="en-US" sz="1000" dirty="0"/>
          </a:p>
        </p:txBody>
      </p:sp>
      <p:pic>
        <p:nvPicPr>
          <p:cNvPr id="5" name="Image 0" descr="/www/wwwroot/rexar/gdsolar/docs/curso/slides/assets/logo-rexar.png">    </p:cNvPr>
          <p:cNvPicPr>
            <a:picLocks noChangeAspect="1"/>
          </p:cNvPicPr>
          <p:nvPr/>
        </p:nvPicPr>
        <p:blipFill>
          <a:blip r:embed="rId1"/>
          <a:stretch>
            <a:fillRect/>
          </a:stretch>
        </p:blipFill>
        <p:spPr>
          <a:xfrm>
            <a:off x="10561320" y="6327648"/>
            <a:ext cx="1234440" cy="411480"/>
          </a:xfrm>
          <a:prstGeom prst="rect">
            <a:avLst/>
          </a:prstGeom>
        </p:spPr>
      </p:pic>
      <p:sp>
        <p:nvSpPr>
          <p:cNvPr id="6" name="Text 3"/>
          <p:cNvSpPr/>
          <p:nvPr/>
        </p:nvSpPr>
        <p:spPr>
          <a:xfrm>
            <a:off x="457200" y="320040"/>
            <a:ext cx="11247120" cy="731520"/>
          </a:xfrm>
          <a:prstGeom prst="rect">
            <a:avLst/>
          </a:prstGeom>
          <a:noFill/>
          <a:ln/>
        </p:spPr>
        <p:txBody>
          <a:bodyPr wrap="square" rtlCol="0" anchor="ctr">
            <a:normAutofit/>
          </a:bodyPr>
          <a:lstStyle/>
          <a:p>
            <a:pPr indent="0" marL="0">
              <a:buNone/>
            </a:pPr>
            <a:r>
              <a:rPr lang="en-US" sz="2800" b="1" dirty="0">
                <a:solidFill>
                  <a:srgbClr val="2B2F33"/>
                </a:solidFill>
                <a:latin typeface="Arial" pitchFamily="34" charset="0"/>
                <a:ea typeface="Arial" pitchFamily="34" charset="-122"/>
                <a:cs typeface="Arial" pitchFamily="34" charset="-120"/>
              </a:rPr>
              <a:t>Os componentes</a:t>
            </a:r>
            <a:endParaRPr lang="en-US" sz="2800" dirty="0"/>
          </a:p>
        </p:txBody>
      </p:sp>
      <p:sp>
        <p:nvSpPr>
          <p:cNvPr id="7" name="Shape 4"/>
          <p:cNvSpPr/>
          <p:nvPr/>
        </p:nvSpPr>
        <p:spPr>
          <a:xfrm>
            <a:off x="548640" y="2377440"/>
            <a:ext cx="2457450" cy="1554480"/>
          </a:xfrm>
          <a:prstGeom prst="roundRect">
            <a:avLst>
              <a:gd name="adj" fmla="val 7059"/>
            </a:avLst>
          </a:prstGeom>
          <a:solidFill>
            <a:srgbClr val="FFFFFF"/>
          </a:solidFill>
          <a:ln w="19050">
            <a:solidFill>
              <a:srgbClr val="1F7A4D"/>
            </a:solidFill>
            <a:prstDash val="solid"/>
          </a:ln>
        </p:spPr>
      </p:sp>
      <p:sp>
        <p:nvSpPr>
          <p:cNvPr id="8" name="Text 5"/>
          <p:cNvSpPr/>
          <p:nvPr/>
        </p:nvSpPr>
        <p:spPr>
          <a:xfrm>
            <a:off x="640080" y="2377440"/>
            <a:ext cx="2274570" cy="1554480"/>
          </a:xfrm>
          <a:prstGeom prst="rect">
            <a:avLst/>
          </a:prstGeom>
          <a:noFill/>
          <a:ln/>
        </p:spPr>
        <p:txBody>
          <a:bodyPr wrap="square" rtlCol="0" anchor="ctr">
            <a:normAutofit/>
          </a:bodyPr>
          <a:lstStyle/>
          <a:p>
            <a:pPr algn="ctr" indent="0" marL="0">
              <a:buNone/>
            </a:pPr>
            <a:r>
              <a:rPr lang="en-US" sz="1600" b="1" dirty="0">
                <a:solidFill>
                  <a:srgbClr val="2B2F33"/>
                </a:solidFill>
                <a:latin typeface="Arial" pitchFamily="34" charset="0"/>
                <a:ea typeface="Arial" pitchFamily="34" charset="-122"/>
                <a:cs typeface="Arial" pitchFamily="34" charset="-120"/>
              </a:rPr>
              <a:t>Painel (CC)</a:t>
            </a:r>
            <a:endParaRPr lang="en-US" sz="1600" dirty="0"/>
          </a:p>
        </p:txBody>
      </p:sp>
      <p:sp>
        <p:nvSpPr>
          <p:cNvPr id="9" name="Text 6"/>
          <p:cNvSpPr/>
          <p:nvPr/>
        </p:nvSpPr>
        <p:spPr>
          <a:xfrm>
            <a:off x="3006090" y="2377440"/>
            <a:ext cx="411480" cy="1554480"/>
          </a:xfrm>
          <a:prstGeom prst="rect">
            <a:avLst/>
          </a:prstGeom>
          <a:noFill/>
          <a:ln/>
        </p:spPr>
        <p:txBody>
          <a:bodyPr wrap="square" rtlCol="0" anchor="ctr"/>
          <a:lstStyle/>
          <a:p>
            <a:pPr algn="ctr" indent="0" marL="0">
              <a:buNone/>
            </a:pPr>
            <a:r>
              <a:rPr lang="en-US" sz="2000" b="1" dirty="0">
                <a:solidFill>
                  <a:srgbClr val="F5B700"/>
                </a:solidFill>
                <a:latin typeface="Arial" pitchFamily="34" charset="0"/>
                <a:ea typeface="Arial" pitchFamily="34" charset="-122"/>
                <a:cs typeface="Arial" pitchFamily="34" charset="-120"/>
              </a:rPr>
              <a:t>➜</a:t>
            </a:r>
            <a:endParaRPr lang="en-US" sz="2000" dirty="0"/>
          </a:p>
        </p:txBody>
      </p:sp>
      <p:sp>
        <p:nvSpPr>
          <p:cNvPr id="10" name="Shape 7"/>
          <p:cNvSpPr/>
          <p:nvPr/>
        </p:nvSpPr>
        <p:spPr>
          <a:xfrm>
            <a:off x="3417570" y="2377440"/>
            <a:ext cx="2457450" cy="1554480"/>
          </a:xfrm>
          <a:prstGeom prst="roundRect">
            <a:avLst>
              <a:gd name="adj" fmla="val 7059"/>
            </a:avLst>
          </a:prstGeom>
          <a:solidFill>
            <a:srgbClr val="FFFFFF"/>
          </a:solidFill>
          <a:ln w="19050">
            <a:solidFill>
              <a:srgbClr val="1F7A4D"/>
            </a:solidFill>
            <a:prstDash val="solid"/>
          </a:ln>
        </p:spPr>
      </p:sp>
      <p:sp>
        <p:nvSpPr>
          <p:cNvPr id="11" name="Text 8"/>
          <p:cNvSpPr/>
          <p:nvPr/>
        </p:nvSpPr>
        <p:spPr>
          <a:xfrm>
            <a:off x="3509010" y="2377440"/>
            <a:ext cx="2274570" cy="1554480"/>
          </a:xfrm>
          <a:prstGeom prst="rect">
            <a:avLst/>
          </a:prstGeom>
          <a:noFill/>
          <a:ln/>
        </p:spPr>
        <p:txBody>
          <a:bodyPr wrap="square" rtlCol="0" anchor="ctr">
            <a:normAutofit/>
          </a:bodyPr>
          <a:lstStyle/>
          <a:p>
            <a:pPr algn="ctr" indent="0" marL="0">
              <a:buNone/>
            </a:pPr>
            <a:r>
              <a:rPr lang="en-US" sz="1600" b="1" dirty="0">
                <a:solidFill>
                  <a:srgbClr val="2B2F33"/>
                </a:solidFill>
                <a:latin typeface="Arial" pitchFamily="34" charset="0"/>
                <a:ea typeface="Arial" pitchFamily="34" charset="-122"/>
                <a:cs typeface="Arial" pitchFamily="34" charset="-120"/>
              </a:rPr>
              <a:t>Inversor (CA)</a:t>
            </a:r>
            <a:endParaRPr lang="en-US" sz="1600" dirty="0"/>
          </a:p>
        </p:txBody>
      </p:sp>
      <p:sp>
        <p:nvSpPr>
          <p:cNvPr id="12" name="Text 9"/>
          <p:cNvSpPr/>
          <p:nvPr/>
        </p:nvSpPr>
        <p:spPr>
          <a:xfrm>
            <a:off x="5875020" y="2377440"/>
            <a:ext cx="411480" cy="1554480"/>
          </a:xfrm>
          <a:prstGeom prst="rect">
            <a:avLst/>
          </a:prstGeom>
          <a:noFill/>
          <a:ln/>
        </p:spPr>
        <p:txBody>
          <a:bodyPr wrap="square" rtlCol="0" anchor="ctr"/>
          <a:lstStyle/>
          <a:p>
            <a:pPr algn="ctr" indent="0" marL="0">
              <a:buNone/>
            </a:pPr>
            <a:r>
              <a:rPr lang="en-US" sz="2000" b="1" dirty="0">
                <a:solidFill>
                  <a:srgbClr val="F5B700"/>
                </a:solidFill>
                <a:latin typeface="Arial" pitchFamily="34" charset="0"/>
                <a:ea typeface="Arial" pitchFamily="34" charset="-122"/>
                <a:cs typeface="Arial" pitchFamily="34" charset="-120"/>
              </a:rPr>
              <a:t>➜</a:t>
            </a:r>
            <a:endParaRPr lang="en-US" sz="2000" dirty="0"/>
          </a:p>
        </p:txBody>
      </p:sp>
      <p:sp>
        <p:nvSpPr>
          <p:cNvPr id="13" name="Shape 10"/>
          <p:cNvSpPr/>
          <p:nvPr/>
        </p:nvSpPr>
        <p:spPr>
          <a:xfrm>
            <a:off x="6286500" y="2377440"/>
            <a:ext cx="2457450" cy="1554480"/>
          </a:xfrm>
          <a:prstGeom prst="roundRect">
            <a:avLst>
              <a:gd name="adj" fmla="val 7059"/>
            </a:avLst>
          </a:prstGeom>
          <a:solidFill>
            <a:srgbClr val="FFFFFF"/>
          </a:solidFill>
          <a:ln w="19050">
            <a:solidFill>
              <a:srgbClr val="1F7A4D"/>
            </a:solidFill>
            <a:prstDash val="solid"/>
          </a:ln>
        </p:spPr>
      </p:sp>
      <p:sp>
        <p:nvSpPr>
          <p:cNvPr id="14" name="Text 11"/>
          <p:cNvSpPr/>
          <p:nvPr/>
        </p:nvSpPr>
        <p:spPr>
          <a:xfrm>
            <a:off x="6377940" y="2377440"/>
            <a:ext cx="2274570" cy="1554480"/>
          </a:xfrm>
          <a:prstGeom prst="rect">
            <a:avLst/>
          </a:prstGeom>
          <a:noFill/>
          <a:ln/>
        </p:spPr>
        <p:txBody>
          <a:bodyPr wrap="square" rtlCol="0" anchor="ctr">
            <a:normAutofit/>
          </a:bodyPr>
          <a:lstStyle/>
          <a:p>
            <a:pPr algn="ctr" indent="0" marL="0">
              <a:buNone/>
            </a:pPr>
            <a:r>
              <a:rPr lang="en-US" sz="1600" b="1" dirty="0">
                <a:solidFill>
                  <a:srgbClr val="2B2F33"/>
                </a:solidFill>
                <a:latin typeface="Arial" pitchFamily="34" charset="0"/>
                <a:ea typeface="Arial" pitchFamily="34" charset="-122"/>
                <a:cs typeface="Arial" pitchFamily="34" charset="-120"/>
              </a:rPr>
              <a:t>Medidor bidirecional</a:t>
            </a:r>
            <a:endParaRPr lang="en-US" sz="1600" dirty="0"/>
          </a:p>
        </p:txBody>
      </p:sp>
      <p:sp>
        <p:nvSpPr>
          <p:cNvPr id="15" name="Text 12"/>
          <p:cNvSpPr/>
          <p:nvPr/>
        </p:nvSpPr>
        <p:spPr>
          <a:xfrm>
            <a:off x="8743950" y="2377440"/>
            <a:ext cx="411480" cy="1554480"/>
          </a:xfrm>
          <a:prstGeom prst="rect">
            <a:avLst/>
          </a:prstGeom>
          <a:noFill/>
          <a:ln/>
        </p:spPr>
        <p:txBody>
          <a:bodyPr wrap="square" rtlCol="0" anchor="ctr"/>
          <a:lstStyle/>
          <a:p>
            <a:pPr algn="ctr" indent="0" marL="0">
              <a:buNone/>
            </a:pPr>
            <a:r>
              <a:rPr lang="en-US" sz="2000" b="1" dirty="0">
                <a:solidFill>
                  <a:srgbClr val="F5B700"/>
                </a:solidFill>
                <a:latin typeface="Arial" pitchFamily="34" charset="0"/>
                <a:ea typeface="Arial" pitchFamily="34" charset="-122"/>
                <a:cs typeface="Arial" pitchFamily="34" charset="-120"/>
              </a:rPr>
              <a:t>➜</a:t>
            </a:r>
            <a:endParaRPr lang="en-US" sz="2000" dirty="0"/>
          </a:p>
        </p:txBody>
      </p:sp>
      <p:sp>
        <p:nvSpPr>
          <p:cNvPr id="16" name="Shape 13"/>
          <p:cNvSpPr/>
          <p:nvPr/>
        </p:nvSpPr>
        <p:spPr>
          <a:xfrm>
            <a:off x="9155430" y="2377440"/>
            <a:ext cx="2457450" cy="1554480"/>
          </a:xfrm>
          <a:prstGeom prst="roundRect">
            <a:avLst>
              <a:gd name="adj" fmla="val 7059"/>
            </a:avLst>
          </a:prstGeom>
          <a:solidFill>
            <a:srgbClr val="1F7A4D"/>
          </a:solidFill>
          <a:ln w="19050">
            <a:solidFill>
              <a:srgbClr val="1F7A4D"/>
            </a:solidFill>
            <a:prstDash val="solid"/>
          </a:ln>
        </p:spPr>
      </p:sp>
      <p:sp>
        <p:nvSpPr>
          <p:cNvPr id="17" name="Text 14"/>
          <p:cNvSpPr/>
          <p:nvPr/>
        </p:nvSpPr>
        <p:spPr>
          <a:xfrm>
            <a:off x="9246870" y="2377440"/>
            <a:ext cx="2274570" cy="1554480"/>
          </a:xfrm>
          <a:prstGeom prst="rect">
            <a:avLst/>
          </a:prstGeom>
          <a:noFill/>
          <a:ln/>
        </p:spPr>
        <p:txBody>
          <a:bodyPr wrap="square" rtlCol="0" anchor="ctr">
            <a:normAutofit/>
          </a:bodyPr>
          <a:lstStyle/>
          <a:p>
            <a:pPr algn="ctr" indent="0" marL="0">
              <a:buNone/>
            </a:pPr>
            <a:r>
              <a:rPr lang="en-US" sz="1600" b="1" dirty="0">
                <a:solidFill>
                  <a:srgbClr val="FFFFFF"/>
                </a:solidFill>
                <a:latin typeface="Arial" pitchFamily="34" charset="0"/>
                <a:ea typeface="Arial" pitchFamily="34" charset="-122"/>
                <a:cs typeface="Arial" pitchFamily="34" charset="-120"/>
              </a:rPr>
              <a:t>Rede da distribuidora</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B2F33"/>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C9CDD2"/>
                </a:solidFill>
                <a:latin typeface="Arial" pitchFamily="34" charset="0"/>
                <a:ea typeface="Arial" pitchFamily="34" charset="-122"/>
                <a:cs typeface="Arial" pitchFamily="34" charset="-120"/>
              </a:rPr>
              <a:t>Formação em Energia por Assinatura  ·  M1 · Aula 2 · Cena 3</a:t>
            </a:r>
            <a:endParaRPr lang="en-US" sz="1000" dirty="0"/>
          </a:p>
        </p:txBody>
      </p:sp>
      <p:sp>
        <p:nvSpPr>
          <p:cNvPr id="5" name="Text 3"/>
          <p:cNvSpPr/>
          <p:nvPr/>
        </p:nvSpPr>
        <p:spPr>
          <a:xfrm>
            <a:off x="457200" y="320040"/>
            <a:ext cx="11247120" cy="731520"/>
          </a:xfrm>
          <a:prstGeom prst="rect">
            <a:avLst/>
          </a:prstGeom>
          <a:noFill/>
          <a:ln/>
        </p:spPr>
        <p:txBody>
          <a:bodyPr wrap="square" rtlCol="0" anchor="ctr">
            <a:normAutofit/>
          </a:bodyPr>
          <a:lstStyle/>
          <a:p>
            <a:pPr indent="0" marL="0">
              <a:buNone/>
            </a:pPr>
            <a:r>
              <a:rPr lang="en-US" sz="2800" b="1" dirty="0">
                <a:solidFill>
                  <a:srgbClr val="FFFFFF"/>
                </a:solidFill>
                <a:latin typeface="Arial" pitchFamily="34" charset="0"/>
                <a:ea typeface="Arial" pitchFamily="34" charset="-122"/>
                <a:cs typeface="Arial" pitchFamily="34" charset="-120"/>
              </a:rPr>
              <a:t>Quanto uma usina gera</a:t>
            </a:r>
            <a:endParaRPr lang="en-US" sz="2800" dirty="0"/>
          </a:p>
        </p:txBody>
      </p:sp>
      <p:sp>
        <p:nvSpPr>
          <p:cNvPr id="6" name="Text 4"/>
          <p:cNvSpPr/>
          <p:nvPr/>
        </p:nvSpPr>
        <p:spPr>
          <a:xfrm>
            <a:off x="731520" y="1371600"/>
            <a:ext cx="10789920" cy="4754880"/>
          </a:xfrm>
          <a:prstGeom prst="rect">
            <a:avLst/>
          </a:prstGeom>
          <a:noFill/>
          <a:ln/>
        </p:spPr>
        <p:txBody>
          <a:bodyPr wrap="square" rtlCol="0" anchor="ctr">
            <a:normAutofit/>
          </a:bodyPr>
          <a:lstStyle/>
          <a:p>
            <a:pPr indent="0" marL="0">
              <a:spcAft>
                <a:spcPts val="1000"/>
              </a:spcAft>
              <a:buNone/>
            </a:pPr>
            <a:r>
              <a:rPr lang="en-US" sz="2600" dirty="0">
                <a:solidFill>
                  <a:srgbClr val="FFFFFF"/>
                </a:solidFill>
                <a:latin typeface="Consolas" pitchFamily="34" charset="0"/>
                <a:ea typeface="Consolas" pitchFamily="34" charset="-122"/>
                <a:cs typeface="Consolas" pitchFamily="34" charset="-120"/>
              </a:rPr>
              <a:t>Geração mensal ≈ Potência (kWp) × Produtividade (kWh/kWp/mês)</a:t>
            </a:r>
            <a:endParaRPr lang="en-US" sz="2600" dirty="0"/>
          </a:p>
          <a:p>
            <a:pPr indent="0" marL="0">
              <a:spcAft>
                <a:spcPts val="1000"/>
              </a:spcAft>
              <a:buNone/>
            </a:pPr>
            <a:r>
              <a:rPr lang="en-US" sz="2600" b="1" dirty="0">
                <a:solidFill>
                  <a:srgbClr val="F5B700"/>
                </a:solidFill>
                <a:latin typeface="Consolas" pitchFamily="34" charset="0"/>
                <a:ea typeface="Consolas" pitchFamily="34" charset="-122"/>
                <a:cs typeface="Consolas" pitchFamily="34" charset="-120"/>
              </a:rPr>
              <a:t>Ex.: 500 kWp × 120 = 60.000 kWh/mês</a:t>
            </a:r>
            <a:endParaRPr lang="en-US" sz="2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Formação em Energia por Assinatura  ·  M1 · Aula 2 · Cena 4</a:t>
            </a:r>
            <a:endParaRPr lang="en-US" sz="1000" dirty="0"/>
          </a:p>
        </p:txBody>
      </p:sp>
      <p:pic>
        <p:nvPicPr>
          <p:cNvPr id="5" name="Image 0" descr="/www/wwwroot/rexar/gdsolar/docs/curso/slides/assets/logo-rexar.png">    </p:cNvPr>
          <p:cNvPicPr>
            <a:picLocks noChangeAspect="1"/>
          </p:cNvPicPr>
          <p:nvPr/>
        </p:nvPicPr>
        <p:blipFill>
          <a:blip r:embed="rId1"/>
          <a:stretch>
            <a:fillRect/>
          </a:stretch>
        </p:blipFill>
        <p:spPr>
          <a:xfrm>
            <a:off x="10561320" y="6327648"/>
            <a:ext cx="1234440" cy="411480"/>
          </a:xfrm>
          <a:prstGeom prst="rect">
            <a:avLst/>
          </a:prstGeom>
        </p:spPr>
      </p:pic>
      <p:sp>
        <p:nvSpPr>
          <p:cNvPr id="6" name="Text 3"/>
          <p:cNvSpPr/>
          <p:nvPr/>
        </p:nvSpPr>
        <p:spPr>
          <a:xfrm>
            <a:off x="457200" y="320040"/>
            <a:ext cx="11247120" cy="731520"/>
          </a:xfrm>
          <a:prstGeom prst="rect">
            <a:avLst/>
          </a:prstGeom>
          <a:noFill/>
          <a:ln/>
        </p:spPr>
        <p:txBody>
          <a:bodyPr wrap="square" rtlCol="0" anchor="ctr">
            <a:normAutofit/>
          </a:bodyPr>
          <a:lstStyle/>
          <a:p>
            <a:pPr indent="0" marL="0">
              <a:buNone/>
            </a:pPr>
            <a:r>
              <a:rPr lang="en-US" sz="2800" b="1" dirty="0">
                <a:solidFill>
                  <a:srgbClr val="2B2F33"/>
                </a:solidFill>
                <a:latin typeface="Arial" pitchFamily="34" charset="0"/>
                <a:ea typeface="Arial" pitchFamily="34" charset="-122"/>
                <a:cs typeface="Arial" pitchFamily="34" charset="-120"/>
              </a:rPr>
              <a:t>A geração varia</a:t>
            </a:r>
            <a:endParaRPr lang="en-US" sz="2800" dirty="0"/>
          </a:p>
        </p:txBody>
      </p:sp>
      <p:sp>
        <p:nvSpPr>
          <p:cNvPr id="7" name="Text 4"/>
          <p:cNvSpPr/>
          <p:nvPr/>
        </p:nvSpPr>
        <p:spPr>
          <a:xfrm>
            <a:off x="640080" y="1234440"/>
            <a:ext cx="10881360" cy="4937760"/>
          </a:xfrm>
          <a:prstGeom prst="rect">
            <a:avLst/>
          </a:prstGeom>
          <a:noFill/>
          <a:ln/>
        </p:spPr>
        <p:txBody>
          <a:bodyPr wrap="square" rtlCol="0" anchor="t">
            <a:normAutofit/>
          </a:bodyPr>
          <a:lstStyle/>
          <a:p>
            <a:pPr marL="342900" indent="-342900">
              <a:spcAft>
                <a:spcPts val="800"/>
              </a:spcAft>
              <a:buSzPct val="100000"/>
              <a:buChar char="■"/>
            </a:pPr>
            <a:r>
              <a:rPr lang="en-US" sz="2400" dirty="0">
                <a:solidFill>
                  <a:srgbClr val="2B2F33"/>
                </a:solidFill>
                <a:latin typeface="Arial" pitchFamily="34" charset="0"/>
                <a:ea typeface="Arial" pitchFamily="34" charset="-122"/>
                <a:cs typeface="Arial" pitchFamily="34" charset="-120"/>
              </a:rPr>
              <a:t>Sazonalidade</a:t>
            </a:r>
            <a:endParaRPr lang="en-US" sz="2400" dirty="0"/>
          </a:p>
          <a:p>
            <a:pPr marL="342900" indent="-342900">
              <a:spcAft>
                <a:spcPts val="800"/>
              </a:spcAft>
              <a:buSzPct val="100000"/>
              <a:buChar char="■"/>
            </a:pPr>
            <a:r>
              <a:rPr lang="en-US" sz="2400" dirty="0">
                <a:solidFill>
                  <a:srgbClr val="2B2F33"/>
                </a:solidFill>
                <a:latin typeface="Arial" pitchFamily="34" charset="0"/>
                <a:ea typeface="Arial" pitchFamily="34" charset="-122"/>
                <a:cs typeface="Arial" pitchFamily="34" charset="-120"/>
              </a:rPr>
              <a:t>Clima</a:t>
            </a:r>
            <a:endParaRPr lang="en-US" sz="2400" dirty="0"/>
          </a:p>
          <a:p>
            <a:pPr marL="342900" indent="-342900">
              <a:spcAft>
                <a:spcPts val="800"/>
              </a:spcAft>
              <a:buSzPct val="100000"/>
              <a:buChar char="■"/>
            </a:pPr>
            <a:r>
              <a:rPr lang="en-US" sz="2400" dirty="0">
                <a:solidFill>
                  <a:srgbClr val="2B2F33"/>
                </a:solidFill>
                <a:latin typeface="Arial" pitchFamily="34" charset="0"/>
                <a:ea typeface="Arial" pitchFamily="34" charset="-122"/>
                <a:cs typeface="Arial" pitchFamily="34" charset="-120"/>
              </a:rPr>
              <a:t>Sujeira</a:t>
            </a:r>
            <a:endParaRPr lang="en-US" sz="2400" dirty="0"/>
          </a:p>
          <a:p>
            <a:pPr marL="342900" indent="-342900">
              <a:spcAft>
                <a:spcPts val="800"/>
              </a:spcAft>
              <a:buSzPct val="100000"/>
              <a:buChar char="■"/>
            </a:pPr>
            <a:r>
              <a:rPr lang="en-US" sz="2400" dirty="0">
                <a:solidFill>
                  <a:srgbClr val="2B2F33"/>
                </a:solidFill>
                <a:latin typeface="Arial" pitchFamily="34" charset="0"/>
                <a:ea typeface="Arial" pitchFamily="34" charset="-122"/>
                <a:cs typeface="Arial" pitchFamily="34" charset="-120"/>
              </a:rPr>
              <a:t>Sombra</a:t>
            </a:r>
            <a:endParaRPr lang="en-US" sz="2400" dirty="0"/>
          </a:p>
          <a:p>
            <a:pPr marL="342900" indent="-342900">
              <a:spcAft>
                <a:spcPts val="800"/>
              </a:spcAft>
              <a:buSzPct val="100000"/>
              <a:buChar char="■"/>
            </a:pPr>
            <a:r>
              <a:rPr lang="en-US" sz="2400" dirty="0">
                <a:solidFill>
                  <a:srgbClr val="2B2F33"/>
                </a:solidFill>
                <a:latin typeface="Arial" pitchFamily="34" charset="0"/>
                <a:ea typeface="Arial" pitchFamily="34" charset="-122"/>
                <a:cs typeface="Arial" pitchFamily="34" charset="-120"/>
              </a:rPr>
              <a:t>Disponibilidade</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Formação em Energia por Assinatura  ·  M1 · Aula 2 · Cena 5</a:t>
            </a:r>
            <a:endParaRPr lang="en-US" sz="1000" dirty="0"/>
          </a:p>
        </p:txBody>
      </p:sp>
      <p:pic>
        <p:nvPicPr>
          <p:cNvPr id="5" name="Image 0" descr="/www/wwwroot/rexar/gdsolar/docs/curso/slides/assets/logo-rexar.png">    </p:cNvPr>
          <p:cNvPicPr>
            <a:picLocks noChangeAspect="1"/>
          </p:cNvPicPr>
          <p:nvPr/>
        </p:nvPicPr>
        <p:blipFill>
          <a:blip r:embed="rId1"/>
          <a:stretch>
            <a:fillRect/>
          </a:stretch>
        </p:blipFill>
        <p:spPr>
          <a:xfrm>
            <a:off x="10561320" y="6327648"/>
            <a:ext cx="1234440" cy="411480"/>
          </a:xfrm>
          <a:prstGeom prst="rect">
            <a:avLst/>
          </a:prstGeom>
        </p:spPr>
      </p:pic>
      <p:sp>
        <p:nvSpPr>
          <p:cNvPr id="6" name="Text 3"/>
          <p:cNvSpPr/>
          <p:nvPr/>
        </p:nvSpPr>
        <p:spPr>
          <a:xfrm>
            <a:off x="457200" y="320040"/>
            <a:ext cx="11247120" cy="731520"/>
          </a:xfrm>
          <a:prstGeom prst="rect">
            <a:avLst/>
          </a:prstGeom>
          <a:noFill/>
          <a:ln/>
        </p:spPr>
        <p:txBody>
          <a:bodyPr wrap="square" rtlCol="0" anchor="ctr">
            <a:normAutofit/>
          </a:bodyPr>
          <a:lstStyle/>
          <a:p>
            <a:pPr indent="0" marL="0">
              <a:buNone/>
            </a:pPr>
            <a:r>
              <a:rPr lang="en-US" sz="2800" b="1" dirty="0">
                <a:solidFill>
                  <a:srgbClr val="2B2F33"/>
                </a:solidFill>
                <a:latin typeface="Arial" pitchFamily="34" charset="0"/>
                <a:ea typeface="Arial" pitchFamily="34" charset="-122"/>
                <a:cs typeface="Arial" pitchFamily="34" charset="-120"/>
              </a:rPr>
              <a:t>A usina envelhece</a:t>
            </a:r>
            <a:endParaRPr lang="en-US" sz="2800" dirty="0"/>
          </a:p>
        </p:txBody>
      </p:sp>
      <p:sp>
        <p:nvSpPr>
          <p:cNvPr id="7" name="Text 4"/>
          <p:cNvSpPr/>
          <p:nvPr/>
        </p:nvSpPr>
        <p:spPr>
          <a:xfrm>
            <a:off x="731520" y="1234440"/>
            <a:ext cx="10698480" cy="4937760"/>
          </a:xfrm>
          <a:prstGeom prst="rect">
            <a:avLst/>
          </a:prstGeom>
          <a:noFill/>
          <a:ln/>
        </p:spPr>
        <p:txBody>
          <a:bodyPr wrap="square" rtlCol="0" anchor="ctr">
            <a:normAutofit/>
          </a:bodyPr>
          <a:lstStyle/>
          <a:p>
            <a:pPr algn="ctr" indent="0" marL="0">
              <a:buNone/>
            </a:pPr>
            <a:r>
              <a:rPr lang="en-US" sz="3000" b="1" dirty="0">
                <a:solidFill>
                  <a:srgbClr val="1F7A4D"/>
                </a:solidFill>
                <a:latin typeface="Arial" pitchFamily="34" charset="0"/>
                <a:ea typeface="Arial" pitchFamily="34" charset="-122"/>
                <a:cs typeface="Arial" pitchFamily="34" charset="-120"/>
              </a:rPr>
              <a:t>Degradação típica: ~0,5% a 0,8% ao ano [CONFERIR com o fabricante]</a:t>
            </a:r>
            <a:endParaRPr lang="en-US" sz="3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Formação em Energia por Assinatura  ·  M1 · Aula 2 · Cena 6</a:t>
            </a:r>
            <a:endParaRPr lang="en-US" sz="1000" dirty="0"/>
          </a:p>
        </p:txBody>
      </p:sp>
      <p:pic>
        <p:nvPicPr>
          <p:cNvPr id="5" name="Image 0" descr="/www/wwwroot/rexar/gdsolar/docs/curso/slides/assets/logo-rexar.png">    </p:cNvPr>
          <p:cNvPicPr>
            <a:picLocks noChangeAspect="1"/>
          </p:cNvPicPr>
          <p:nvPr/>
        </p:nvPicPr>
        <p:blipFill>
          <a:blip r:embed="rId1"/>
          <a:stretch>
            <a:fillRect/>
          </a:stretch>
        </p:blipFill>
        <p:spPr>
          <a:xfrm>
            <a:off x="10561320" y="6327648"/>
            <a:ext cx="1234440" cy="411480"/>
          </a:xfrm>
          <a:prstGeom prst="rect">
            <a:avLst/>
          </a:prstGeom>
        </p:spPr>
      </p:pic>
      <p:sp>
        <p:nvSpPr>
          <p:cNvPr id="6" name="Text 3"/>
          <p:cNvSpPr/>
          <p:nvPr/>
        </p:nvSpPr>
        <p:spPr>
          <a:xfrm>
            <a:off x="457200" y="320040"/>
            <a:ext cx="11247120" cy="731520"/>
          </a:xfrm>
          <a:prstGeom prst="rect">
            <a:avLst/>
          </a:prstGeom>
          <a:noFill/>
          <a:ln/>
        </p:spPr>
        <p:txBody>
          <a:bodyPr wrap="square" rtlCol="0" anchor="ctr">
            <a:normAutofit/>
          </a:bodyPr>
          <a:lstStyle/>
          <a:p>
            <a:pPr indent="0" marL="0">
              <a:buNone/>
            </a:pPr>
            <a:r>
              <a:rPr lang="en-US" sz="2800" b="1" dirty="0">
                <a:solidFill>
                  <a:srgbClr val="2B2F33"/>
                </a:solidFill>
                <a:latin typeface="Arial" pitchFamily="34" charset="0"/>
                <a:ea typeface="Arial" pitchFamily="34" charset="-122"/>
                <a:cs typeface="Arial" pitchFamily="34" charset="-120"/>
              </a:rPr>
              <a:t>Usina no solo, no telhado e o que o produtor precisa</a:t>
            </a:r>
            <a:endParaRPr lang="en-US" sz="2800" dirty="0"/>
          </a:p>
        </p:txBody>
      </p:sp>
      <p:sp>
        <p:nvSpPr>
          <p:cNvPr id="7" name="Text 4"/>
          <p:cNvSpPr/>
          <p:nvPr/>
        </p:nvSpPr>
        <p:spPr>
          <a:xfrm>
            <a:off x="640080" y="1234440"/>
            <a:ext cx="10881360" cy="4937760"/>
          </a:xfrm>
          <a:prstGeom prst="rect">
            <a:avLst/>
          </a:prstGeom>
          <a:noFill/>
          <a:ln/>
        </p:spPr>
        <p:txBody>
          <a:bodyPr wrap="square" rtlCol="0" anchor="t">
            <a:normAutofit/>
          </a:bodyPr>
          <a:lstStyle/>
          <a:p>
            <a:pPr marL="342900" indent="-342900">
              <a:spcAft>
                <a:spcPts val="800"/>
              </a:spcAft>
              <a:buSzPct val="100000"/>
              <a:buChar char="■"/>
            </a:pPr>
            <a:r>
              <a:rPr lang="en-US" sz="2400" dirty="0">
                <a:solidFill>
                  <a:srgbClr val="2B2F33"/>
                </a:solidFill>
                <a:latin typeface="Arial" pitchFamily="34" charset="0"/>
                <a:ea typeface="Arial" pitchFamily="34" charset="-122"/>
                <a:cs typeface="Arial" pitchFamily="34" charset="-120"/>
              </a:rPr>
              <a:t>Solo: maior escala</a:t>
            </a:r>
            <a:endParaRPr lang="en-US" sz="2400" dirty="0"/>
          </a:p>
          <a:p>
            <a:pPr marL="342900" indent="-342900">
              <a:spcAft>
                <a:spcPts val="800"/>
              </a:spcAft>
              <a:buSzPct val="100000"/>
              <a:buChar char="■"/>
            </a:pPr>
            <a:r>
              <a:rPr lang="en-US" sz="2400" dirty="0">
                <a:solidFill>
                  <a:srgbClr val="2B2F33"/>
                </a:solidFill>
                <a:latin typeface="Arial" pitchFamily="34" charset="0"/>
                <a:ea typeface="Arial" pitchFamily="34" charset="-122"/>
                <a:cs typeface="Arial" pitchFamily="34" charset="-120"/>
              </a:rPr>
              <a:t>Telhado: aproveita estrutura existente</a:t>
            </a:r>
            <a:endParaRPr lang="en-US" sz="2400" dirty="0"/>
          </a:p>
          <a:p>
            <a:pPr marL="342900" indent="-342900">
              <a:spcAft>
                <a:spcPts val="800"/>
              </a:spcAft>
              <a:buSzPct val="100000"/>
              <a:buChar char="■"/>
            </a:pPr>
            <a:r>
              <a:rPr lang="en-US" sz="2400" dirty="0">
                <a:solidFill>
                  <a:srgbClr val="2B2F33"/>
                </a:solidFill>
                <a:latin typeface="Arial" pitchFamily="34" charset="0"/>
                <a:ea typeface="Arial" pitchFamily="34" charset="-122"/>
                <a:cs typeface="Arial" pitchFamily="34" charset="-120"/>
              </a:rPr>
              <a:t>Ambos: precisam de conexão à rede</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Formação em Energia por Assinatura  ·  M1 · Aula 2 · Cena 7</a:t>
            </a:r>
            <a:endParaRPr lang="en-US" sz="1000" dirty="0"/>
          </a:p>
        </p:txBody>
      </p:sp>
      <p:pic>
        <p:nvPicPr>
          <p:cNvPr id="5" name="Image 0" descr="/www/wwwroot/rexar/gdsolar/docs/curso/slides/assets/logo-rexar.png">    </p:cNvPr>
          <p:cNvPicPr>
            <a:picLocks noChangeAspect="1"/>
          </p:cNvPicPr>
          <p:nvPr/>
        </p:nvPicPr>
        <p:blipFill>
          <a:blip r:embed="rId1"/>
          <a:stretch>
            <a:fillRect/>
          </a:stretch>
        </p:blipFill>
        <p:spPr>
          <a:xfrm>
            <a:off x="10561320" y="6327648"/>
            <a:ext cx="1234440" cy="411480"/>
          </a:xfrm>
          <a:prstGeom prst="rect">
            <a:avLst/>
          </a:prstGeom>
        </p:spPr>
      </p:pic>
      <p:sp>
        <p:nvSpPr>
          <p:cNvPr id="6" name="Shape 3"/>
          <p:cNvSpPr/>
          <p:nvPr/>
        </p:nvSpPr>
        <p:spPr>
          <a:xfrm>
            <a:off x="457200" y="4754880"/>
            <a:ext cx="11247120" cy="1280160"/>
          </a:xfrm>
          <a:prstGeom prst="rect">
            <a:avLst/>
          </a:prstGeom>
          <a:solidFill>
            <a:srgbClr val="1F7A4D"/>
          </a:solidFill>
          <a:ln/>
        </p:spPr>
      </p:sp>
      <p:sp>
        <p:nvSpPr>
          <p:cNvPr id="7" name="Shape 4"/>
          <p:cNvSpPr/>
          <p:nvPr/>
        </p:nvSpPr>
        <p:spPr>
          <a:xfrm>
            <a:off x="457200" y="4754880"/>
            <a:ext cx="137160" cy="1280160"/>
          </a:xfrm>
          <a:prstGeom prst="rect">
            <a:avLst/>
          </a:prstGeom>
          <a:solidFill>
            <a:srgbClr val="F5B700"/>
          </a:solidFill>
          <a:ln/>
        </p:spPr>
      </p:sp>
      <p:sp>
        <p:nvSpPr>
          <p:cNvPr id="8" name="Text 5"/>
          <p:cNvSpPr/>
          <p:nvPr/>
        </p:nvSpPr>
        <p:spPr>
          <a:xfrm>
            <a:off x="777240" y="4800600"/>
            <a:ext cx="10789920" cy="1188720"/>
          </a:xfrm>
          <a:prstGeom prst="rect">
            <a:avLst/>
          </a:prstGeom>
          <a:noFill/>
          <a:ln/>
        </p:spPr>
        <p:txBody>
          <a:bodyPr wrap="square" rtlCol="0" anchor="ctr">
            <a:normAutofit/>
          </a:bodyPr>
          <a:lstStyle/>
          <a:p>
            <a:pPr indent="0" marL="0">
              <a:buNone/>
            </a:pPr>
            <a:r>
              <a:rPr lang="en-US" sz="2400" b="1" dirty="0">
                <a:solidFill>
                  <a:srgbClr val="FFFFFF"/>
                </a:solidFill>
                <a:latin typeface="Arial" pitchFamily="34" charset="0"/>
                <a:ea typeface="Arial" pitchFamily="34" charset="-122"/>
                <a:cs typeface="Arial" pitchFamily="34" charset="-120"/>
              </a:rPr>
              <a:t>Geração ≈ kWp × produtividade  ·  Varia por mês  ·  Degrada pouco por ano  ·  Precisa estar na área da distribuidora dos clientes</a:t>
            </a:r>
            <a:endParaRPr lang="en-US" sz="2400" dirty="0"/>
          </a:p>
        </p:txBody>
      </p:sp>
      <p:sp>
        <p:nvSpPr>
          <p:cNvPr id="9" name="Text 6"/>
          <p:cNvSpPr/>
          <p:nvPr/>
        </p:nvSpPr>
        <p:spPr>
          <a:xfrm>
            <a:off x="457200" y="914400"/>
            <a:ext cx="11247120" cy="3474720"/>
          </a:xfrm>
          <a:prstGeom prst="rect">
            <a:avLst/>
          </a:prstGeom>
          <a:noFill/>
          <a:ln/>
        </p:spPr>
        <p:txBody>
          <a:bodyPr wrap="square" rtlCol="0" anchor="ctr"/>
          <a:lstStyle/>
          <a:p>
            <a:pPr algn="ctr" indent="0" marL="0">
              <a:buNone/>
            </a:pPr>
            <a:r>
              <a:rPr lang="en-US" sz="1600" dirty="0">
                <a:solidFill>
                  <a:srgbClr val="B0B6BD"/>
                </a:solidFill>
                <a:latin typeface="Arial" pitchFamily="34" charset="0"/>
                <a:ea typeface="Arial" pitchFamily="34" charset="-122"/>
                <a:cs typeface="Arial" pitchFamily="34" charset="-120"/>
              </a:rPr>
              <a:t>[ APRESENTADOR — área do vídeo ]</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Rexar Sistemas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M1 · Aula 2 — Como funciona a geração solar fotovoltaica</dc:title>
  <dc:subject>PptxGenJS Presentation</dc:subject>
  <dc:creator>PptxGenJS</dc:creator>
  <cp:lastModifiedBy>PptxGenJS</cp:lastModifiedBy>
  <cp:revision>1</cp:revision>
  <dcterms:created xsi:type="dcterms:W3CDTF">2026-10-30T10:46:06Z</dcterms:created>
  <dcterms:modified xsi:type="dcterms:W3CDTF">2026-10-30T10:46:06Z</dcterms:modified>
</cp:coreProperties>
</file>