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5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Produtor (65%)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Produtor (65%)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0.423</c:v>
                </c:pt>
                <c:pt idx="2">
                  <c:v>0.403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cinco participantes. O produtor coloca o capital na usina, os clientes querem economia e simplicidade, a distribuidora é parceira obrigatória e os parceiros constroem e mantêm. No centro está a sua empresa, a gestora, que transforma créditos em receita mensal organizada.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modelo leve, a usina é de terceiros e você é remunerado por uma taxa de administração. Exige pouco capital, mas a sua margem é uma fatia e o crescimento depende de conseguir usinas.
No modelo pesado, você investe na usina e opera. Fica com toda a margem e constrói patrimônio, mas precisa de capital e concentra o risco.
O híbrido é ideal para quem já tem empresa solar: você constrói a usina para um investidor, faz a gestão e a manutenção. São três receitas na mesma usina, duas delas recorrentes.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escolher, responda às três perguntas da tela. Muitas empresas começam leves e ganham peso com 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consórcio reúne empresas. É simples de manter, mas, em regra, não aceita pessoa física.
A cooperativa aceita pessoas físicas e dá escala com residências, mas exige governança: estatuto, assembleia e decisão coletiva. A sua empresa presta serviço a ela.
A associação civil também aceita pessoas físicas e é mais simples que a cooperativa. A gestora é remunerada por contrato de prestação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condomínio civil funciona para poucos participantes estáveis, não para uma carteira que entra e sai.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prática, muitas operações combinam estruturas: consórcio para empresas e cooperativa ou associação para residências, cada uma com as suas usinas.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produtor aluga a usina para a entidade, os clientes aderem à entidade e contribuem com os custos, e a entidade contrata a sua empresa para fazer a gestão. A mensalidade do cliente é a contribuição dele, sempre menor que a economia.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cuidados estão na tela. Em resumo: use a linguagem certa, prometa com cálculo e garanta que todo cliente no rateio participe de fato da entidade.
O cliente é consumidor. Contrato claro e cancelamento razoável geram confiança, e assinatura vive de confiança.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o pagamento do cliente se divide entre a taxa de administração e o repasse ao produtor. Na próxima aula, a conta centavo por centavo.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variáveis comandam o negócio: o valor do crédito, o desconto ao cliente e a taxa de administração, todos mostrados na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sessenta e oito centavos, vinte por cento viram economia do cliente, quinze por cento ficam com a gestora e sessenta e cinco por cento vão para o produtor. É a mesma fórmula da proposta ao produtor na plataforma.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Numa usina cheia, os valores mensais da tela aparecem para todos. Mas atenção: energia não alocada não gera receita para ninguém.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o produtor, o retorno simples fica em torno de seis anos numa usina que dura mais de vinte e cinco. É atraente, desde que a usina fique cheia de clientes que pagam. E quem garante isso é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erro comum na venda: o desconto é sobre a energia compensada, não sobre a conta inteira. No exemplo, vinte por cento de desconto viram cerca de dezesseis por cento de economia na conta total. Mostre isso ao cliente com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taxa de administração não é lucro: dela saem meio de pagamento, inadimplência e impostos. O que sobra é a margem de contribuição, que paga a estrutura fixa.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Dividindo os custos fixos pela margem por quilowatt-hora, você chega ao ponto de equilíbrio. A pergunta de todo empreendedor é: quanto tempo levo para chegar lá, e como financio a empresa até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desconto e taxa em percentual do crédito, todos perdem juntos, na mesma proporção. É uma divisão justa. E lembre: os reajustes da tarifa costumam compensar parte da queda.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Preço fixo ao cliente faz a economia dele despencar e gera cancelamentos. Economia garantida sobre a conta total joga todo o risco em você. A recomendação é a política A, com contrato transparente.
Com o produtor vale o mesmo raciocínio. Aluguel fixo transfere todo o risco para a gestora. Prefira o variável ou um misto com mínimo garantido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2029 em diante, trabalhe com cenários e proteja os contratos com cláusula de reequilíbrio regulatório.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Usinas GD um não sofrem a transição. Por isso são disputadas, e o enquadramento precisa ser verificado.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números na tela, responda como empresário: em quantos meses chego ao equilíbrio, quanto capital preciso até lá e se a empresa para de pé em 2028 e no cenário pessimista. A projeção de trinta e seis meses mostra o que a conta simples esconde: com cancelamentos, comissões e a queda do crédito, o equilíbrio do exemplo só chega perto do mês trinta e três.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Configurações Padrão: taxa de desconto do cliente, taxa de administração e redução de consumo usada na proposta ao produtor.
Preencha vinte, quinze e vinte por cento e salve. O padrão vale para cadastros novos; cada cliente pode ter o seu desconto.
Na calculadora, aba Meu modelo: informe crédito, percentuais, custos variáveis e fixos e comissão. Leia margem, ponto de equilíbrio, mês positivo e capital de giro.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negócio em GD compartilhada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GD compartilhada como negócio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Consórcio, cooperativa, associação e condomínio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Locação de usina e "assinatura de energia": o que pode e o que não pode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do kWh da distribuidora ao repasse do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Fio B na conta do negócio (2026–2029)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Configurando os parâmetros do seu negócio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a cadeia de valor (produtor/investidor, sua empresa, clientes, distribuidora, parceiros) e escolher entre os modelos asset-light, asset-heavy e híbrido.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consórcio, cooperativa, associação civil e condomínio para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a remuneração sem "vender energia" ou "vender créditos".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o unit economics do kWh: valor do crédito, desconto do cliente, taxa de administração, repasse ao produtor, custos variáveis e margem.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efeito da transição do Fio B (2026–2028) e escolher a política de desconto.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cadeia de valor e escolher entre os modelos asset-light, asset-heavy e híbrido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GD COMPARTILHADA COMO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Produtor/investidor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(você)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cinco participantes. O produtor coloca o capital na usina, os clientes querem economia e simplicidade, a distribuidora é parceira obrigatória e os parceiros constroem e mantêm. No centro está a sua empresa, a gestora, que transforma créditos em receita mensal organizada.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Asset-light: a usina é de terceiros; você capta clientes e gere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pouco capital · + escala rápida · − margem menor · − depende de conseguir usinas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modelo leve, a usina é de terceiros e você é remunerado por uma taxa de administração. Exige pouco capital, mas a sua margem é uma fatia e o crescimento depende de conseguir usinas.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Asset-heavy: você investe na usina e opera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fica com toda a margem · + ativo de longo prazo · − capital alto · − risco concentrado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modelo pesado, você investe na usina e opera. Fica com toda a margem e constrói patrimônio, mas precisa de capital e concentra o risco.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4023360"/>
            <a:ext cx="2965704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híbrido é ideal para quem já tem empresa solar: você constrói a usina para um investidor, faz a gestão e a manutenção. São três receitas na mesma usina, duas delas recorrentes.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8400288" y="2286000"/>
            <a:ext cx="2965704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Híbrido para empresas solares: constrói (EPC) + gere (assinatura) + mantém (O&amp;M) = três receitas na mesma usina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A GD COMPARTILHADA COMO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capital você tem?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a sua força: vender, construir ou investir?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risco aceita?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escolher, responda às três perguntas da tela. Muitas empresas começam leves e ganham peso com o tempo.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gestora: conecta capital, clientes e operação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Asset-light, asset-heavy ou híbrido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as formas jurídicas da geração compartilhada e entender os critérios de escolha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(Lei 6.404, arts. 278–279): reúne pessoas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registrado na Junta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consorciada mantém sua personalidade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de entrar e sair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consórcio reúne empresas. É simples de manter, mas, em regra, não aceita pessoa física.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 (Lei 5.764/1971): pessoas físicas e jurídicas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mínimo de cooperados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assembleia, conselho, estatuto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cotas-parte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democrática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cooperativa aceita pessoas físicas e dá escala com residências, mas exige governança: estatuto, assembleia e decisão coletiva. A sua empresa presta serviço a ela.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 (Código Civil): pessoas físicas e jurídicas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fins lucrativos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estatuto e assembleia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simples que cooperativa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associação civil também aceita pessoas físicas e é mais simples que a cooperativa. A gestora é remunerada por contrato de prestação de serviços.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 voluntário: copropriedade da usina por vários titulares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para poucos participantes, ruim para alta rotatividade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condomínio civil funciona para poucos participantes estáveis, não para uma carteira que entra e sai.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Consórcio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física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(em regra)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Complexidade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Entrada/saída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 para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Empresas (B3)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em escala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 pequenos negócios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Poucos participantes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prática, muitas operações combinam estruturas: consórcio para empresas e cooperativa ou associação para residências, cada uma com as suas usinas.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→ consórcio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Residências → cooperativa ou associação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 com advogado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fluxo contratual (produtor → entidade → clientes → gestora) e os limites legais da remuneração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LOCAÇÃO DE USINA E "ASSINATURA DE ENERGIA": O QUE PODE E O QUE NÃO PODE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da usina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Adesão do cliente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Serviços de parceiros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produtor aluga a usina para a entidade, os clientes aderem à entidade e contribuem com os custos, e a entidade contrata a sua empresa para fazer a gestão. A mensalidade do cliente é a contribuição dele, sempre menor que a economia.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Vender créditos ou 'energia' ao cliente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Prometer economia que depende de regra que pode mudar, sem ressalva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Incluir cliente na usina sem participação na entidade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cuidados estão na tela. Em resumo: use a linguagem certa, prometa com cálculo e garanta que todo cliente no rateio participe de fato da entidade.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claro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adequada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possível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letras miúdas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consumidor. Contrato claro e cancelamento razoável geram confiança, e assinatura vive de confiança.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LOCAÇÃO DE USINA E "ASSINATURA DE ENERGIA": O QUE PODE E O QUE NÃO PODE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583180"/>
            <a:ext cx="55961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do cliente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0" y="2583180"/>
            <a:ext cx="55961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58318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+ taxa de administração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o pagamento do cliente se divide entre a taxa de administração e o repasse ao produtor. Na próxima aula, a conta centavo por centavo.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locada à entidade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participam da entidade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é contratada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e contratos corretos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Calcular, por kWh e por usina, quanto o cliente economiza, quanto a gestora retém, quanto o produtor recebe e o ponto de equilíbrio da empresa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crédito (T): R$ 0,68/kWh (GD II, 2026, exemplo)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ao cliente (d): 20% de T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 (a): 15% de T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variáveis comandam o negócio: o valor do crédito, o desconto ao cliente e a taxa de administração, todos mostrados na tela.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508760"/>
            <a:ext cx="3514344" cy="3703320"/>
          </a:xfrm>
          <a:prstGeom prst="roundRect">
            <a:avLst>
              <a:gd name="adj" fmla="val 2602"/>
            </a:avLst>
          </a:prstGeom>
          <a:solidFill>
            <a:srgbClr val="1B3A6B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1965960"/>
            <a:ext cx="3148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R$ 0,544</a:t>
            </a:r>
            <a:endParaRPr lang="en-US" sz="4400" dirty="0"/>
          </a:p>
        </p:txBody>
      </p:sp>
      <p:sp>
        <p:nvSpPr>
          <p:cNvPr id="11" name="Shape 8"/>
          <p:cNvSpPr/>
          <p:nvPr/>
        </p:nvSpPr>
        <p:spPr>
          <a:xfrm>
            <a:off x="1940052" y="3566160"/>
            <a:ext cx="731520" cy="4572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3749040"/>
            <a:ext cx="305714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paga: 0,68 × (1 − 0,20) =  → economiza R$ 0,136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37304" y="1508760"/>
            <a:ext cx="3514344" cy="3703320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20184" y="1965960"/>
            <a:ext cx="3148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R$ 0,102</a:t>
            </a:r>
            <a:endParaRPr lang="en-US" sz="4400" dirty="0"/>
          </a:p>
        </p:txBody>
      </p:sp>
      <p:sp>
        <p:nvSpPr>
          <p:cNvPr id="15" name="Shape 12"/>
          <p:cNvSpPr/>
          <p:nvPr/>
        </p:nvSpPr>
        <p:spPr>
          <a:xfrm>
            <a:off x="5728716" y="3566160"/>
            <a:ext cx="731520" cy="4572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6" name="Text 13"/>
          <p:cNvSpPr/>
          <p:nvPr/>
        </p:nvSpPr>
        <p:spPr>
          <a:xfrm>
            <a:off x="4565904" y="3749040"/>
            <a:ext cx="305714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Gestora: 0,68 × 0,15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25968" y="1508760"/>
            <a:ext cx="3514344" cy="3703320"/>
          </a:xfrm>
          <a:prstGeom prst="roundRect">
            <a:avLst>
              <a:gd name="adj" fmla="val 2602"/>
            </a:avLst>
          </a:prstGeom>
          <a:solidFill>
            <a:srgbClr val="1B3A6B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308848" y="1965960"/>
            <a:ext cx="3148584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R$ 0,442</a:t>
            </a:r>
            <a:endParaRPr lang="en-US" sz="4400" dirty="0"/>
          </a:p>
        </p:txBody>
      </p:sp>
      <p:sp>
        <p:nvSpPr>
          <p:cNvPr id="19" name="Shape 16"/>
          <p:cNvSpPr/>
          <p:nvPr/>
        </p:nvSpPr>
        <p:spPr>
          <a:xfrm>
            <a:off x="9517380" y="3566160"/>
            <a:ext cx="731520" cy="4572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0" name="Text 17"/>
          <p:cNvSpPr/>
          <p:nvPr/>
        </p:nvSpPr>
        <p:spPr>
          <a:xfrm>
            <a:off x="8354568" y="3749040"/>
            <a:ext cx="305714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Produtor: 0,68 − 0,136 − 0,102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sessenta e oito centavos, vinte por cento viram economia do cliente, quinze por cento ficam com a gestora e sessenta e cinco por cento vão para o produtor. É a mesma fórmula da proposta ao produtor na plataforma.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UFV Sol Nascente I: 60.000 kWh/mês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 pagam: 60.000 × 0,544 = R$ 32.640/mês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Economia dos clientes: R$ 8.160/mês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Gestora: R$ 6.120/mês · Produtor: R$ 26.520/mês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usina cheia, os valores mensais da tela aparecem para todos. Mas atenção: energia não alocada não gera receita para ninguém.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Investimento (ex.): 500 kWp × R$ 3,50/Wp ≈ R$ 1,75 milhão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Receita: ~R$ 318 mil/ano − O&amp;M e seguro (~R$ 25 mil/ano)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Retorno simples ≈ 6 anos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o produtor, o retorno simples fica em torno de seis anos numa usina que dura mais de vinte e cinco. É atraente, desde que a usina fique cheia de clientes que pagam. E quem garante isso é você.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Antes: 2.500 kWh × R$ 1,04 = R$ 2.600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Depois: distribuidora ≈ R$ 478 (mínimo + Fio B não compensado) + sua cobrança ≈ R$ 1.695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R$ 2.173 → economia ≈ R$ 427 (≈ 16%)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comum na venda: o desconto é sobre a energia compensada, não sobre a conta inteira. No exemplo, vinte por cento de desconto viram cerca de dezesseis por cento de economia na conta total. Mostre isso ao cliente com números.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600200"/>
            <a:ext cx="926287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463040" y="1600200"/>
            <a:ext cx="128016" cy="342900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1" name="Text 8"/>
          <p:cNvSpPr/>
          <p:nvPr/>
        </p:nvSpPr>
        <p:spPr>
          <a:xfrm>
            <a:off x="2011680" y="1783080"/>
            <a:ext cx="84124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por usina ≈ R$ 4.000/mês (≈ R$ 0,067/kWh)</a:t>
            </a:r>
            <a:endParaRPr lang="en-US" sz="3200" dirty="0"/>
          </a:p>
        </p:txBody>
      </p:sp>
      <p:sp>
        <p:nvSpPr>
          <p:cNvPr id="12" name="Shape 9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taxa de administração não é lucro: dela saem meio de pagamento, inadimplência e impostos. O que sobra é a margem de contribuição, que paga a estrutura fixa.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Custos fixos (ex.): R$ 18.000/mês (operação, comercial fixo, plataforma, contador, jurídico, escritório)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Ponto de equilíbrio = 18.000 ÷ 0,067 ≈ 270.000 kWh/mês ≈ 4,5 usinas ≈ 540 clientes de 500 kWh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Dividindo os custos fixos pela margem por quilowatt-hora, você chega ao ponto de equilíbrio. A pergunta de todo empreendedor é: quanto tempo levo para chegar lá, e como financio a empresa até lá?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→ cliente (d) + gestora (a) + produtor (resto)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≠ taxa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em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teórica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impacto da transição do Fio B e escolher a política de desconto e de remuneração do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46520" y="1325880"/>
            <a:ext cx="5193792" cy="12801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constante (sem reajuste) — cenário de estresse</a:t>
            </a:r>
            <a:endParaRPr lang="en-US" sz="14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2697480"/>
          <a:ext cx="5193792" cy="914400"/>
        </p:xfrm>
        <a:graphic>
          <a:graphicData uri="http://schemas.openxmlformats.org/drawingml/2006/table">
            <a:tbl>
              <a:tblPr/>
              <a:tblGrid>
                <a:gridCol w="1038758"/>
                <a:gridCol w="1038758"/>
                <a:gridCol w="1038758"/>
                <a:gridCol w="1038758"/>
                <a:gridCol w="10387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Economia cliente (20%)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Gestora (15%)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Produtor (65%)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0,423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4" name="Text 9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desconto e taxa em percentual do crédito, todos perdem juntos, na mesma proporção. É uma divisão justa. E lembre: os reajustes da tarifa costumam compensar parte da queda.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% sobre o crédito — todos dividem o impacto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Preço fixo por kWh ao cliente — cliente perde economia; risco de churn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Economia garantida sobre a conta total — gestora e produtor absorvem tudo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fixo ao cliente faz a economia dele despencar e gera cancelamentos. Economia garantida sobre a conta total joga todo o risco em você. A recomendação é a política A, com contrato transparente.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fixo (R$/mês): produtor sem risco; gestora assume vacância, inadimplência e 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(% do rendimento): risco compartilhado; gestora protegida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produtor vale o mesmo raciocínio. Aluguel fixo transfere todo o risco para a gestora. Prefira o variável ou um misto com mínimo garantido baixo.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3977640"/>
          </a:xfrm>
          <a:prstGeom prst="roundRect">
            <a:avLst>
              <a:gd name="adj" fmla="val 2299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3520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Planeje 2029+ com cenários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Cláusula de reequilíbrio regulatório nos contratos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2029 em diante, trabalhe com cenários e proteja os contratos com cláusula de reequilíbrio regulatório.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GD I: crédito sem a transição até 2045 → margem maior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3977640"/>
          </a:xfrm>
          <a:prstGeom prst="roundRect">
            <a:avLst>
              <a:gd name="adj" fmla="val 1839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às condições do direito adquirido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GD um não sofrem a transição. Por isso são disputadas, e o enquadramento precisa ser verificado.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% sobre o crédito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2029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cláusula de reequilíbrio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os parâmetros do seu negócio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desconto padrão, taxa de administração e desconto usado nas propostas de produtor; fechar "A conta do meu negócio"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LABORATÓRIO: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quantos meses chego ao ponto de equilíbrio?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capital preciso até lá?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2028 (e no cenário pessimista de 2029) a empresa ainda dá lucro?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os números na tela, responda como empresário: em quantos meses chego ao equilíbrio, quanto capital preciso até lá e se a empresa para de pé em 2028 e no cenário pessimista. A projeção de trinta e seis meses mostra o que a conta simples esconde: com cancelamentos, comissões e a queda do crédito, o equilíbrio do exemplo só chega perto do mês trinta e três.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figuraco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Configurações Padrão: taxa de desconto do cliente, taxa de administração e redução de consumo usada na proposta ao produtor.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os seus valores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Preencha vinte, quinze e vinte por cento e salve. O padrão vale para cadastros novos; cada cliente pode ter o seu desconto.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aba "Meu modelo" na calculadora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calculadora, aba Meu modelo: informe crédito, percentuais, custos variáveis e fixos e comissão. Leia margem, ponto de equilíbrio, mês positivo e capital de giro.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modelo asset-light, a empresa: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gere usinas de terceiros e é remunerada por taxa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constrói e é dona das usinas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vende painéis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 energia no mercado livre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consórcio empresarial (Lei 6.404) reúne: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qualquer pessoa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 jurídicas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pessoas físicas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cooperativas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 exige, em regra: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sócios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mínimo de cooperados e assembleia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 R$ 1 milhão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autorização da ANEEL para cada cliente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Créditos de energia podem ser vendidos a terceiros?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Sim, livremente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— o que se remunera é a participação, a locação e a gestão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no mercado livre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pela distribuidora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o repasse por kWh ao produtor é: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− desconto do cliente − taxa de administração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cheia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do cliente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desconto de 20% sobre a energia compensada significa, na conta total do cliente: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exatamente 20% de economia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economia menor que 20%, porque parte da conta continua sendo paga à distribuidora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de 20%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economia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7–8 DE 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crédito caindo por causa do Fio B, quem absorve a queda se o desconto é percentual sobre o crédito?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cliente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proporcionalmente: cliente, empresa e produtor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distribuidora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Ninguém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=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÷ clientes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fixos ÷ margem de contribuição por kWh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× tarifa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geração × tarifa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gere usinas de terceiros e é remunerada por taxa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pessoas jurídicas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número mínimo de cooperados e assembleia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548640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Não — o que se remunera é a participação, a locação e a gestão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4322064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21564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crédito − desconto do cliente − taxa de administração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8095488" y="303276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321564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3215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14248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uma economia menor que 20%, porque parte da conta continua sendo paga à distribuidora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548640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31520" y="492252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35" name="Text 32"/>
          <p:cNvSpPr/>
          <p:nvPr/>
        </p:nvSpPr>
        <p:spPr>
          <a:xfrm>
            <a:off x="731520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1325880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Todos proporcionalmente: cliente, empresa e produtor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4322064" y="4739640"/>
            <a:ext cx="3544824" cy="1478280"/>
          </a:xfrm>
          <a:prstGeom prst="roundRect">
            <a:avLst>
              <a:gd name="adj" fmla="val 4948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4504944" y="492252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9" name="Text 36"/>
          <p:cNvSpPr/>
          <p:nvPr/>
        </p:nvSpPr>
        <p:spPr>
          <a:xfrm>
            <a:off x="4504944" y="4922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5099304" y="4849368"/>
            <a:ext cx="2630424" cy="12588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custos fixos ÷ margem de contribuição por kWh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Crédito R$ 0,68; desconto 20%; taxa 15%. Quanto o cliente paga, a empresa retém e o produtor recebe por kWh?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Custos fixos de R$ 18.000/mês e margem de contribuição de R$ 0,08/kWh: ponto de equilíbrio?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 o crédito caindo de 0,68 para 0,62, quanto cai a receita da taxa de administração por kWh?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 (aba "Meu modelo" da calculadora): modelo escolhido (asset-light/heavy/híbrido), estrutura jurídica pretendida, desconto ao cliente, taxa de administração, repasse ao produtor, custos fixos mensais, ponto de equilíbrio em kWh e em número de clientes, cenário 2026/2027/2028.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— Modelos de negócio em GD compartilhada</dc:title>
  <dc:subject>PptxGenJS Presentation</dc:subject>
  <dc:creator>PptxGenJS</dc:creator>
  <cp:lastModifiedBy>PptxGenJS</cp:lastModifiedBy>
  <cp:revision>1</cp:revision>
  <dcterms:created xsi:type="dcterms:W3CDTF">2026-10-30T13:46:36Z</dcterms:created>
  <dcterms:modified xsi:type="dcterms:W3CDTF">2026-10-30T13:46:36Z</dcterms:modified>
</cp:coreProperties>
</file>