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5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64748B"/>
                </a:solidFill>
                <a:latin typeface="Arial"/>
              </a:rPr>
              <a:t>Produtor (65%)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Produtor (65%)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.##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3A6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0.442</c:v>
                </c:pt>
                <c:pt idx="1">
                  <c:v>0.423</c:v>
                </c:pt>
                <c:pt idx="2">
                  <c:v>0.403</c:v>
                </c:pt>
              </c:numCache>
            </c:numRef>
          </c:val>
        </c:ser>
        <c:dLbls>
          <c:numFmt formatCode="#,##0.##" sourceLinked="0"/>
          <c:txPr>
            <a:bodyPr/>
            <a:lstStyle/>
            <a:p>
              <a:pPr>
                <a:defRPr b="1" i="0" strike="noStrike" sz="1100" u="none">
                  <a:solidFill>
                    <a:srgbClr val="1B3A6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cinco participantes. O produtor coloca o capital na usina, os clientes querem economia e simplicidade, a distribuidora é parceira obrigatória e os parceiros constroem e mantêm. No centro está a sua empresa, a gestora, que transforma créditos em receita mensal organizada.
No modelo leve, a usina é de terceiros e você é remunerado por uma taxa de administração. Exige pouco capital, mas a sua margem é uma fatia e o crescimento depende de conseguir usinas.
No modelo pesado, você investe na usina e opera. Fica com toda a margem e constrói patrimônio, mas precisa de capital e concentra o risco.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híbrido é ideal para quem já tem empresa solar: você constrói a usina para um investidor, faz a gestão e a manutenção. São três receitas na mesma usina, duas delas recorrentes.
Para escolher, responda às três perguntas da tela. Muitas empresas começam leves e ganham peso com 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consórcio reúne empresas. É simples de manter, mas, em regra, não aceita pessoa física.
A cooperativa aceita pessoas físicas e dá escala com residências, mas exige governança: estatuto, assembleia e decisão coletiva. A sua empresa presta serviço a ela.
A associação civil também aceita pessoas físicas e é mais simples que a cooperativa. A gestora é remunerada por contrato de prestação de serviços.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condomínio civil funciona para poucos participantes estáveis, não para uma carteira que entra e sai.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prática, muitas operações combinam estruturas: consórcio para empresas e cooperativa ou associação para residências, cada uma com as suas usinas.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produtor aluga a usina para a entidade, os clientes aderem à entidade e contribuem com os custos, e a entidade contrata a sua empresa para fazer a gestão. A mensalidade do cliente é a contribuição dele, sempre menor que a economia.
Os cuidados estão na tela. Em resumo: use a linguagem certa, prometa com cálculo e garanta que todo cliente no rateio participe de fato da entidade.
O cliente é consumidor. Contrato claro e cancelamento razoável geram confiança, e assinatura vive de confiança.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 plataforma, o pagamento do cliente se divide entre a taxa de administração e o repasse ao produtor. Na próxima aula, a conta centavo por centavo.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variáveis comandam o negócio: o valor do crédito, o desconto ao cliente e a taxa de administração, todos mostrados na tela.
Dos sessenta e oito centavos, vinte por cento viram economia do cliente, quinze por cento ficam com a gestora e sessenta e cinco por cento vão para o produtor. É a mesma fórmula da proposta ao produtor na 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Numa usina cheia, os valores mensais da tela aparecem para todos. Mas atenção: energia não alocada não gera receita para ninguém.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o produtor, o retorno simples fica em torno de seis anos numa usina que dura mais de vinte e cinco. É atraente, desde que a usina fique cheia de clientes que pagam. E quem garante isso é você.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erro comum na venda: o desconto é sobre a energia compensada, não sobre a conta inteira. No exemplo, vinte por cento de desconto viram cerca de dezesseis por cento de economia na conta total. Mostre isso ao cliente com números.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taxa de administração não é lucro: dela saem meio de pagamento, inadimplência e impostos. O que sobra é a margem de contribuição, que paga a estrutura fixa.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Dividindo os custos fixos pela margem por quilowatt-hora, você chega ao ponto de equilíbrio. A pergunta de todo empreendedor é: quanto tempo levo para chegar lá, e como financio a empresa até lá?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desconto e taxa em percentual do crédito, todos perdem juntos, na mesma proporção. É uma divisão justa. E lembre: os reajustes da tarifa costumam compensar parte da queda.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Preço fixo ao cliente faz a economia dele despencar e gera cancelamentos. Economia garantida sobre a conta total joga todo o risco em você. A recomendação é a política A, com contrato transparente.
Com o produtor vale o mesmo raciocínio. Aluguel fixo transfere todo o risco para a gestora. Prefira o variável ou um misto com mínimo garantido baixo.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2029 em diante, trabalhe com cenários e proteja os contratos com cláusula de reequilíbrio regulatório.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Usinas GD um não sofrem a transição. Por isso são disputadas, e o enquadramento precisa ser verificado.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números na tela, responda como empresário: em quantos meses chego ao equilíbrio, quanto capital preciso até lá e se a empresa para de pé em 2028 e no cenário pessimista. A projeção de trinta e seis meses mostra o que a conta simples esconde: com cancelamentos, comissões e a queda do crédito, o equilíbrio do exemplo só chega perto do mês trinta e três.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Configurações, Configurações Padrão: taxa de desconto do cliente, taxa de administração e redução de consumo usada na proposta ao produtor.
Preencha vinte, quinze e vinte por cento e salve. O padrão vale para cadastros novos; cada cliente pode ter o seu desconto.
Na calculadora, aba Meu modelo: informe crédito, percentuais, custos variáveis e fixos e comissão. Leia margem, ponto de equilíbrio, mês positivo e capital de giro.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5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7A23B"/>
          </a:solidFill>
          <a:ln/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566928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
</a:t>
            </a:r>
            <a:pPr indent="0" marL="0">
              <a:buNone/>
            </a:pPr>
            <a:r>
              <a:rPr lang="en-US" sz="13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 ·  ETAPA 2 · REGULAÇÃO E NEGÓCIO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3317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negócio em GD compartilhada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657600"/>
            <a:ext cx="658368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 GD compartilhada como negócio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Consórcio, cooperativa, associação e condomínio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Locação de usina e "assinatura de energia": o que pode e o que não pode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Unit economics: do kWh da distribuidora ao repasse do produtor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O Fio B na conta do negócio (2026–2029)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configurando os parâmetros do seu negócio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589520" y="3657600"/>
            <a:ext cx="3977640" cy="2743200"/>
          </a:xfrm>
          <a:prstGeom prst="roundRect">
            <a:avLst>
              <a:gd name="adj" fmla="val 3333"/>
            </a:avLst>
          </a:prstGeom>
          <a:solidFill>
            <a:srgbClr val="11396F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0" y="3749040"/>
            <a:ext cx="361188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final do módulo
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Mapear a cadeia de valor (produtor/investidor, sua empresa, clientes, distribuidora, parceiros) e escolher entre os modelos asset-light, asset-heavy e híbrido.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consórcio, cooperativa, associação civil e condomínio para a geração compartilhada.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Estruturar a remuneração sem "vender energia" ou "vender créditos".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Calcular o unit economics do kWh: valor do crédito, desconto do cliente, taxa de administração, repasse ao produtor, custos variáveis e margem.</a:t>
            </a:r>
            <a:endParaRPr lang="en-US" sz="1300" dirty="0"/>
          </a:p>
          <a:p>
            <a:pPr marL="342900" indent="-342900">
              <a:buSzPct val="100000"/>
              <a:buChar char="✔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Simular o efeito da transição do Fio B (2026–2028) e escolher a política de desconto.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Etapa 2 · Regulação e negócio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GD compartilhada como negócio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a cadeia de valor e escolher entre os modelos asset-light, asset-heavy e híbrido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cadeia de valor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asset-light: gestora de usinas de terceiros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asset-heavy: dono das usinas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híbrido e o caminho da empresa solar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escolher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GD compartilhada como negócio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25880"/>
            <a:ext cx="3514344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cadeia de valor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286000"/>
            <a:ext cx="2965704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Produtor/investidor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Gestora (você)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Distribuidora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Parceiros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22960" y="4663440"/>
            <a:ext cx="2965704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754880"/>
            <a:ext cx="2965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São cinco participantes. O produtor coloca o capital na usina, os clientes querem economia e simplicidade, a distribuidora é parceira obrigatória e os parceiros constroem e mantêm. No centro está a sua empresa, a gestora, que transforma créditos em receita mensal organizada.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337304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37304" y="1325880"/>
            <a:ext cx="3514344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7" name="Text 14"/>
          <p:cNvSpPr/>
          <p:nvPr/>
        </p:nvSpPr>
        <p:spPr>
          <a:xfrm>
            <a:off x="4611624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asset-light: gestora de usinas de terceiros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11624" y="2286000"/>
            <a:ext cx="2965704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Asset-light: a usina é de terceiros; você capta clientes e gere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pouco capital · + escala rápida · − margem menor · − depende de conseguir usinas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4611624" y="4663440"/>
            <a:ext cx="2965704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20" name="Text 17"/>
          <p:cNvSpPr/>
          <p:nvPr/>
        </p:nvSpPr>
        <p:spPr>
          <a:xfrm>
            <a:off x="4611624" y="4754880"/>
            <a:ext cx="2965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modelo leve, a usina é de terceiros e você é remunerado por uma taxa de administração. Exige pouco capital, mas a sua margem é uma fatia e o crescimento depende de conseguir usinas.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125968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25968" y="1325880"/>
            <a:ext cx="3514344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3" name="Text 20"/>
          <p:cNvSpPr/>
          <p:nvPr/>
        </p:nvSpPr>
        <p:spPr>
          <a:xfrm>
            <a:off x="8400288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asset-heavy: dono das usinas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400288" y="2286000"/>
            <a:ext cx="2965704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Asset-heavy: você investe na usina e opera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fica com toda a margem · + ativo de longo prazo · − capital alto · − risco concentrado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8400288" y="4663440"/>
            <a:ext cx="2965704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26" name="Text 23"/>
          <p:cNvSpPr/>
          <p:nvPr/>
        </p:nvSpPr>
        <p:spPr>
          <a:xfrm>
            <a:off x="8400288" y="4754880"/>
            <a:ext cx="2965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modelo pesado, você investe na usina e opera. Fica com toda a margem e constrói patrimônio, mas precisa de capital e concentra o risco.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GD compartilhada como negócio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0867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25880"/>
            <a:ext cx="5408676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554480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 híbrido e o caminho da empresa solar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4023360"/>
            <a:ext cx="4860036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híbrido é ideal para quem já tem empresa solar: você constrói a usina para um investidor, faz a gestão e a manutenção. São três receitas na mesma usina, duas delas recorrentes.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2286000"/>
            <a:ext cx="4860036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Híbrido para empresas solares: constrói (EPC) + gere (assinatura) + mantém (O&amp;M) = três receitas na mesma usina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231636" y="1325880"/>
            <a:ext cx="540867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231636" y="1325880"/>
            <a:ext cx="5408676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6" name="Text 13"/>
          <p:cNvSpPr/>
          <p:nvPr/>
        </p:nvSpPr>
        <p:spPr>
          <a:xfrm>
            <a:off x="6505956" y="1554480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escolher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05956" y="2286000"/>
            <a:ext cx="4860036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Quanto capital você tem?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Qual a sua força: vender, construir ou investir?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Quanto risco aceita?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6505956" y="4663440"/>
            <a:ext cx="4860036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19" name="Text 16"/>
          <p:cNvSpPr/>
          <p:nvPr/>
        </p:nvSpPr>
        <p:spPr>
          <a:xfrm>
            <a:off x="6505956" y="4754880"/>
            <a:ext cx="48600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escolher, responda às três perguntas da tela. Muitas empresas começam leves e ganham peso com o tempo.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1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31536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4517136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é a gestora: conecta capital, clientes e operação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08776" y="1325880"/>
            <a:ext cx="5431536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91656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391656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86016" y="1435608"/>
            <a:ext cx="4517136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Asset-light, asset-heavy ou híbrido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Etapa 2 · Regulação e negócio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Consórcio, cooperativa, associação e condomínio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Comparar as formas jurídicas da geração compartilhada e entender os critérios de escolha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Consórcio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Cooperativa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Associação civil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Condomínio civil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Comparando e escolhendo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Consórcio, cooperativa, associação e condomínio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25880"/>
            <a:ext cx="3514344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Consórcio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286000"/>
            <a:ext cx="2965704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Consórcio (Lei 6.404, arts. 278–279): reúne pessoas jurídicas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registrado na Junta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consorciada mantém sua personalidade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 de entrar e sair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2960" y="4663440"/>
            <a:ext cx="2965704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754880"/>
            <a:ext cx="2965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consórcio reúne empresas. É simples de manter, mas, em regra, não aceita pessoa física.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337304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37304" y="1325880"/>
            <a:ext cx="3514344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7" name="Text 14"/>
          <p:cNvSpPr/>
          <p:nvPr/>
        </p:nvSpPr>
        <p:spPr>
          <a:xfrm>
            <a:off x="4611624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Cooperativa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11624" y="2286000"/>
            <a:ext cx="2965704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Cooperativa (Lei 5.764/1971): pessoas físicas e jurídicas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 mínimo de cooperados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assembleia, conselho, estatuto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cotas-parte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 democrática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611624" y="4663440"/>
            <a:ext cx="2965704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20" name="Text 17"/>
          <p:cNvSpPr/>
          <p:nvPr/>
        </p:nvSpPr>
        <p:spPr>
          <a:xfrm>
            <a:off x="4611624" y="4754880"/>
            <a:ext cx="2965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cooperativa aceita pessoas físicas e dá escala com residências, mas exige governança: estatuto, assembleia e decisão coletiva. A sua empresa presta serviço a ela.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125968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25968" y="1325880"/>
            <a:ext cx="3514344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3" name="Text 20"/>
          <p:cNvSpPr/>
          <p:nvPr/>
        </p:nvSpPr>
        <p:spPr>
          <a:xfrm>
            <a:off x="8400288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Associação civil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400288" y="2286000"/>
            <a:ext cx="2965704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Associação civil (Código Civil): pessoas físicas e jurídicas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fins lucrativos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estatuto e assembleia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simples que cooperativa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8400288" y="4663440"/>
            <a:ext cx="2965704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26" name="Text 23"/>
          <p:cNvSpPr/>
          <p:nvPr/>
        </p:nvSpPr>
        <p:spPr>
          <a:xfrm>
            <a:off x="8400288" y="4754880"/>
            <a:ext cx="2965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associação civil também aceita pessoas físicas e é mais simples que a cooperativa. A gestora é remunerada por contrato de prestação de serviços.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· CONSÓRCIO, COOPERATIVA, ASSOCIAÇÃO E CONDOMÍNIO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Condomínio civil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31536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4517136" cy="3758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Condomínio civil voluntário: copropriedade da usina por vários titulares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08776" y="1325880"/>
            <a:ext cx="5431536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91656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391656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86016" y="1435608"/>
            <a:ext cx="4517136" cy="3758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bom para poucos participantes, ruim para alta rotatividade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condomínio civil funciona para poucos participantes estáveis, não para uma carteira que entra e sai.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· CONSÓRCIO, COOPERATIVA, ASSOCIAÇÃO E CONDOMÍNIO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Comparando e escolhendo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Consórcio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Cooperativa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Associação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Condomínio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Pessoa física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Não (em regra)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Complexidade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Baixa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Entrada/saída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estatuto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 estatuto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Complexa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 para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Empresas (B3)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Residências em escala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Residências e pequenos negócios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Poucos participantes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2" name="Text 8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prática, muitas operações combinam estruturas: consórcio para empresas e cooperativa ou associação para residências, cada uma com as suas usinas.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2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Empresas → consórcio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Residências → cooperativa ou associação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Valide com advogado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Etapa 2 · Regulação e negócio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Locação de usina e "assinatura de energia": o que pode e o que não pode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Entender o fluxo contratual (produtor → entidade → clientes → gestora) e os limites legais da remuneração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fluxo dos contratos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pode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é consumidor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remuneração aparece na plataforma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Locação de usina e "assinatura de energia": o que pode e o que não pode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25880"/>
            <a:ext cx="3514344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fluxo dos contratos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286000"/>
            <a:ext cx="2965704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Locação da usina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Adesão do cliente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Gestão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Serviços de parceiros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22960" y="4663440"/>
            <a:ext cx="2965704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754880"/>
            <a:ext cx="2965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produtor aluga a usina para a entidade, os clientes aderem à entidade e contribuem com os custos, e a entidade contrata a sua empresa para fazer a gestão. A mensalidade do cliente é a contribuição dele, sempre menor que a economia.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37304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337304" y="1325880"/>
            <a:ext cx="3514344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7" name="Text 14"/>
          <p:cNvSpPr/>
          <p:nvPr/>
        </p:nvSpPr>
        <p:spPr>
          <a:xfrm>
            <a:off x="4611624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pode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11624" y="2286000"/>
            <a:ext cx="2965704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Vender créditos ou 'energia' ao cliente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Prometer economia que depende de regra que pode mudar, sem ressalva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Incluir cliente na usina sem participação na entidade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611624" y="4663440"/>
            <a:ext cx="2965704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20" name="Text 17"/>
          <p:cNvSpPr/>
          <p:nvPr/>
        </p:nvSpPr>
        <p:spPr>
          <a:xfrm>
            <a:off x="4611624" y="4754880"/>
            <a:ext cx="2965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cuidados estão na tela. Em resumo: use a linguagem certa, prometa com cálculo e garanta que todo cliente no rateio participe de fato da entidade.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125968" y="1325880"/>
            <a:ext cx="3514344" cy="4937760"/>
          </a:xfrm>
          <a:prstGeom prst="roundRect">
            <a:avLst>
              <a:gd name="adj" fmla="val 2082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25968" y="1325880"/>
            <a:ext cx="3514344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3" name="Text 20"/>
          <p:cNvSpPr/>
          <p:nvPr/>
        </p:nvSpPr>
        <p:spPr>
          <a:xfrm>
            <a:off x="8400288" y="1554480"/>
            <a:ext cx="2965704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é consumidor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400288" y="2286000"/>
            <a:ext cx="2965704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 claro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informação adequada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cancelamento possível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de letras miúdas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8400288" y="4663440"/>
            <a:ext cx="2965704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26" name="Text 23"/>
          <p:cNvSpPr/>
          <p:nvPr/>
        </p:nvSpPr>
        <p:spPr>
          <a:xfrm>
            <a:off x="8400288" y="4754880"/>
            <a:ext cx="2965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cliente é consumidor. Contrato claro e cancelamento razoável geram confiança, e assinatura vive de confiança.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· LOCAÇÃO DE USINA E "ASSINATURA DE ENERGIA": O QUE PODE E O QUE NÃO PODE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a remuneração aparece na plataforma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2583180"/>
            <a:ext cx="5596128" cy="1463040"/>
          </a:xfrm>
          <a:prstGeom prst="chevron">
            <a:avLst/>
          </a:prstGeom>
          <a:solidFill>
            <a:srgbClr val="1B3A6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583180"/>
            <a:ext cx="507492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Pagamento do cliente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035040" y="2583180"/>
            <a:ext cx="5596128" cy="1463040"/>
          </a:xfrm>
          <a:prstGeom prst="chevron">
            <a:avLst/>
          </a:prstGeom>
          <a:solidFill>
            <a:srgbClr val="11396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5080" y="2583180"/>
            <a:ext cx="507492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repasse ao produtor + taxa de administração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plataforma, o pagamento do cliente se divide entre a taxa de administração e o repasse ao produtor. Na próxima aula, a conta centavo por centavo.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3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 locada à entidade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08776" y="132588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91656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391656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86016" y="143560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participam da entidade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388620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25880" y="399592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gestora é contratada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208776" y="388620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91656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6391656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986016" y="399592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linguagem e contratos corretos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Etapa 2 · Regulação e negócio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economics: do kWh da distribuidora ao repasse do produtor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Calcular, por kWh e por usina, quanto o cliente economiza, quanto a gestora retém, quanto o produtor recebe e o ponto de equilíbrio da empresa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três variáveis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divisão do quilowatt-hora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Escalando para uma usina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visão do produtor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visão do cliente: o desconto na conta total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Custos e margem de contribuição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equilíbrio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economics: do kWh da distribuidora ao repasse do produtor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0867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25880"/>
            <a:ext cx="5408676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554480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três variáveis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286000"/>
            <a:ext cx="4860036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do crédito (T): R$ 0,68/kWh (GD II, 2026, exemplo)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Desconto ao cliente (d): 20% de 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administração (a): 15% de T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22960" y="4663440"/>
            <a:ext cx="4860036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754880"/>
            <a:ext cx="48600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variáveis comandam o negócio: o valor do crédito, o desconto ao cliente e a taxa de administração, todos mostrados na tela.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31636" y="1325880"/>
            <a:ext cx="540867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31636" y="1325880"/>
            <a:ext cx="5408676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7" name="Text 14"/>
          <p:cNvSpPr/>
          <p:nvPr/>
        </p:nvSpPr>
        <p:spPr>
          <a:xfrm>
            <a:off x="6505956" y="1554480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divisão do quilowatt-hora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05956" y="2286000"/>
            <a:ext cx="4860036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paga: 0,68 × (1 − 0,20) = R$ 0,544 → economiza R$ 0,136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Gestora: 0,68 × 0,15 = R$ 0,102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Produtor: 0,68 − 0,136 − 0,102 = R$ 0,442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505956" y="4663440"/>
            <a:ext cx="4860036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20" name="Text 17"/>
          <p:cNvSpPr/>
          <p:nvPr/>
        </p:nvSpPr>
        <p:spPr>
          <a:xfrm>
            <a:off x="6505956" y="4754880"/>
            <a:ext cx="48600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sessenta e oito centavos, vinte por cento viram economia do cliente, quinze por cento ficam com a gestora e sessenta e cinco por cento vão para o produtor. É a mesma fórmula da proposta ao produtor na plataforma.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UNIT ECONOMICS: DO KWH DA DISTRIBUIDORA AO REPASSE DO PRODUTOR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Escalando para uma usina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11091672" cy="3977640"/>
          </a:xfrm>
          <a:prstGeom prst="roundRect">
            <a:avLst>
              <a:gd name="adj" fmla="val 2299"/>
            </a:avLst>
          </a:prstGeom>
          <a:solidFill>
            <a:srgbClr val="0B1F3A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554480"/>
            <a:ext cx="10360152" cy="3520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UFV Sol Nascente I: 60.000 kWh/mês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 pagam: 60.000 × 0,544 = R$ 32.640/mês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Economia dos clientes: R$ 8.160/mês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Gestora: R$ 6.120/mês · Produtor: R$ 26.520/mês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Numa usina cheia, os valores mensais da tela aparecem para todos. Mas atenção: energia não alocada não gera receita para ninguém.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UNIT ECONOMICS: DO KWH DA DISTRIBUIDORA AO REPASSE DO PRODUTOR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visão do produtor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11091672" cy="3977640"/>
          </a:xfrm>
          <a:prstGeom prst="roundRect">
            <a:avLst>
              <a:gd name="adj" fmla="val 2299"/>
            </a:avLst>
          </a:prstGeom>
          <a:solidFill>
            <a:srgbClr val="0B1F3A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554480"/>
            <a:ext cx="10360152" cy="3520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Investimento (ex.): 500 kWp × R$ 3,50/Wp ≈ R$ 1,75 milhão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Receita: ~R$ 318 mil/ano − O&amp;M e seguro (~R$ 25 mil/ano)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Retorno simples ≈ 6 anos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o produtor, o retorno simples fica em torno de seis anos numa usina que dura mais de vinte e cinco. É atraente, desde que a usina fique cheia de clientes que pagam. E quem garante isso é você.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UNIT ECONOMICS: DO KWH DA DISTRIBUIDORA AO REPASSE DO PRODUTOR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visão do cliente: o desconto na conta total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11091672" cy="3977640"/>
          </a:xfrm>
          <a:prstGeom prst="roundRect">
            <a:avLst>
              <a:gd name="adj" fmla="val 2299"/>
            </a:avLst>
          </a:prstGeom>
          <a:solidFill>
            <a:srgbClr val="0B1F3A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554480"/>
            <a:ext cx="10360152" cy="3520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Antes: 2.500 kWh × R$ 1,04 = R$ 2.600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Depois: distribuidora ≈ R$ 478 (mínimo + Fio B não compensado) + sua cobrança ≈ R$ 1.695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≈ R$ 2.173 → economia ≈ R$ 427 (≈ 16%)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erro comum na venda: o desconto é sobre a energia compensada, não sobre a conta inteira. No exemplo, vinte por cento de desconto viram cerca de dezesseis por cento de economia na conta total. Mostre isso ao cliente com números.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UNIT ECONOMICS: DO KWH DA DISTRIBUIDORA AO REPASSE DO PRODUTOR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Custos e margem de contribuição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11091672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10177272" cy="3758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de contribuição por usina ≈ R$ 4.000/mês (≈ R$ 0,067/kWh)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taxa de administração não é lucro: dela saem meio de pagamento, inadimplência e impostos. O que sobra é a margem de contribuição, que paga a estrutura fixa.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UNIT ECONOMICS: DO KWH DA DISTRIBUIDORA AO REPASSE DO PRODUTOR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equilíbrio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11091672" cy="3977640"/>
          </a:xfrm>
          <a:prstGeom prst="roundRect">
            <a:avLst>
              <a:gd name="adj" fmla="val 2299"/>
            </a:avLst>
          </a:prstGeom>
          <a:solidFill>
            <a:srgbClr val="0B1F3A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554480"/>
            <a:ext cx="10360152" cy="3520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Custos fixos (ex.): R$ 18.000/mês (operação, comercial fixo, plataforma, contador, jurídico, escritório)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Ponto de equilíbrio = 18.000 ÷ 0,067 ≈ 270.000 kWh/mês ≈ 4,5 usinas ≈ 540 clientes de 500 kWh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Dividindo os custos fixos pela margem por quilowatt-hora, você chega ao ponto de equilíbrio. A pergunta de todo empreendedor é: quanto tempo levo para chegar lá, e como financio a empresa até lá?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4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→ cliente (d) + gestora (a) + produtor (resto)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≠ taxa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48920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46725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equilíbrio em kWh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Etapa 2 · Regulação e negócio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Fio B na conta do negócio (2026–2029)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Simular o impacto da transição do Fio B e escolher a política de desconto e de remuneração do produtor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efeito na divisão percentual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políticas de desconto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 produtor? Aluguel fixo ou variável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 em diante: cenários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as usinas GD I?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· O FIO B NA CONTA DO NEGÓCIO (2026–2029)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efeito na divisão percentual</a:t>
            </a:r>
            <a:endParaRPr lang="en-US" sz="26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325880"/>
          <a:ext cx="566928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/>
          <p:nvPr/>
        </p:nvSpPr>
        <p:spPr>
          <a:xfrm>
            <a:off x="6446520" y="1325880"/>
            <a:ext cx="5193792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Tarifa constante (sem reajuste) — cenário de estresse</a:t>
            </a:r>
            <a:endParaRPr lang="en-US" sz="1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2697480"/>
          <a:ext cx="5193792" cy="914400"/>
        </p:xfrm>
        <a:graphic>
          <a:graphicData uri="http://schemas.openxmlformats.org/drawingml/2006/table">
            <a:tbl>
              <a:tblPr/>
              <a:tblGrid>
                <a:gridCol w="1038758"/>
                <a:gridCol w="1038758"/>
                <a:gridCol w="1038758"/>
                <a:gridCol w="1038758"/>
                <a:gridCol w="10387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Crédito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Economia cliente (20%)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Gestora (15%)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Produtor (65%)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0,136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0,102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0,442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0,098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0,423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0,093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0,403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4" name="Text 9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desconto e taxa em percentual do crédito, todos perdem juntos, na mesma proporção. É uma divisão justa. E lembre: os reajustes da tarifa costumam compensar parte da queda.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Fio B na conta do negócio (2026–2029)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0867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325880"/>
            <a:ext cx="5408676" cy="10972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1554480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políticas de desconto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" y="2286000"/>
            <a:ext cx="4860036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% sobre o crédito — todos dividem o impacto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Preço fixo por kWh ao cliente — cliente perde economia; risco de churn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Economia garantida sobre a conta total — gestora e produtor absorvem tudo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822960" y="4663440"/>
            <a:ext cx="4860036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4754880"/>
            <a:ext cx="48600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fixo ao cliente faz a economia dele despencar e gera cancelamentos. Economia garantida sobre a conta total joga todo o risco em você. A recomendação é a política A, com contrato transparente.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31636" y="1325880"/>
            <a:ext cx="5408676" cy="493776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231636" y="1325880"/>
            <a:ext cx="5408676" cy="10972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7" name="Text 14"/>
          <p:cNvSpPr/>
          <p:nvPr/>
        </p:nvSpPr>
        <p:spPr>
          <a:xfrm>
            <a:off x="6505956" y="1554480"/>
            <a:ext cx="4860036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o produtor? Aluguel fixo ou variável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05956" y="2286000"/>
            <a:ext cx="4860036" cy="2286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Aluguel fixo (R$/mês): produtor sem risco; gestora assume vacância, inadimplência e Fio B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Aluguel variável (% do rendimento): risco compartilhado; gestora protegida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6505956" y="4663440"/>
            <a:ext cx="4860036" cy="18288"/>
          </a:xfrm>
          <a:prstGeom prst="rect">
            <a:avLst/>
          </a:prstGeom>
          <a:solidFill>
            <a:srgbClr val="D8E0EC"/>
          </a:solidFill>
          <a:ln/>
        </p:spPr>
      </p:sp>
      <p:sp>
        <p:nvSpPr>
          <p:cNvPr id="20" name="Text 17"/>
          <p:cNvSpPr/>
          <p:nvPr/>
        </p:nvSpPr>
        <p:spPr>
          <a:xfrm>
            <a:off x="6505956" y="4754880"/>
            <a:ext cx="486003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produtor vale o mesmo raciocínio. Aluguel fixo transfere todo o risco para a gestora. Prefira o variável ou um misto com mínimo garantido baixo.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· O FIO B NA CONTA DO NEGÓCIO (2026–2029)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 em diante: cenários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11091672" cy="3977640"/>
          </a:xfrm>
          <a:prstGeom prst="roundRect">
            <a:avLst>
              <a:gd name="adj" fmla="val 2299"/>
            </a:avLst>
          </a:prstGeom>
          <a:solidFill>
            <a:srgbClr val="0B1F3A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554480"/>
            <a:ext cx="10360152" cy="3520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Planeje 2029+ com cenários</a:t>
            </a:r>
            <a:endParaRPr lang="en-US" sz="2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F7A2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Cláusula de reequilíbrio regulatório nos contratos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2029 em diante, trabalhe com cenários e proteja os contratos com cláusula de reequilíbrio regulatório.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· O FIO B NA CONTA DO NEGÓCIO (2026–2029)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as usinas GD I?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31536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4517136" cy="3758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 GD I: crédito sem a transição até 2045 → margem maior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08776" y="1325880"/>
            <a:ext cx="5431536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91656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391656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86016" y="1435608"/>
            <a:ext cx="4517136" cy="3758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atenção às condições do direito adquirido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Usinas GD um não sofrem a transição. Por isso são disputadas, e o enquadramento precisa ser verificado.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5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5 · RESUMO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 desta aula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Desconto % sobre o crédito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208776" y="132588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91656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6391656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986016" y="143560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aluguel variável ou misto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388620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73152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25880" y="399592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cenários 2029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6208776" y="3886200"/>
            <a:ext cx="5431536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91656" y="406908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6391656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986016" y="3995928"/>
            <a:ext cx="4517136" cy="21122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cláusula de reequilíbrio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48640"/>
            <a:ext cx="3474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139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Etapa 2 · Regulação e negócio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Prática na plataforma</a:t>
            </a:r>
            <a:endParaRPr lang="en-US" sz="1400" dirty="0"/>
          </a:p>
        </p:txBody>
      </p:sp>
      <p:pic>
        <p:nvPicPr>
          <p:cNvPr id="7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822960"/>
            <a:ext cx="7132320" cy="1463040"/>
          </a:xfrm>
          <a:prstGeom prst="rect">
            <a:avLst/>
          </a:prstGeom>
          <a:noFill/>
          <a:ln/>
        </p:spPr>
        <p:txBody>
          <a:bodyPr wrap="square" rtlCol="0" anchor="b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configurando os parâmetros do seu negócio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4663440" y="237744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7D2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desconto padrão, taxa de administração e desconto usado nas propostas de produtor; fechar "A conta do meu negócio"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663440" y="3383280"/>
            <a:ext cx="713232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Lendo o resultado como empresário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▸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 · LABORATÓRIO: CONFIGURANDO OS PARÂMETROS DO SEU NEGÓCIO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Lendo o resultado como empresário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39776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3758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quantos meses chego ao ponto de equilíbrio?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39776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3758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capital preciso até lá?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3977640"/>
          </a:xfrm>
          <a:prstGeom prst="roundRect">
            <a:avLst>
              <a:gd name="adj" fmla="val 2064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3758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2028 (e no cenário pessimista de 2029) a empresa ainda dá lucro?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548640" y="5413248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EF3FA"/>
          </a:solidFill>
          <a:ln w="6350">
            <a:solidFill>
              <a:srgbClr val="D8E0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8640" y="5413248"/>
            <a:ext cx="91440" cy="868680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777240" y="5458968"/>
            <a:ext cx="10744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os números na tela, responda como empresário: em quantos meses chego ao equilíbrio, quanto capital preciso até lá e se a empresa para de pé em 2028 e no cenário pessimista. A projeção de trinta e seis meses mostra o que a conta simples esconde: com cancelamentos, comissões e a queda do crédito, o equilíbrio do exemplo só chega perto do mês trinta e três.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Aula 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6 · CONFIGURANDO OS PARÂMETROS DO SEU NEGÓCIO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a passo na plataforma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420624" y="1289304"/>
            <a:ext cx="7114032" cy="4033647"/>
          </a:xfrm>
          <a:prstGeom prst="roundRect">
            <a:avLst>
              <a:gd name="adj" fmla="val 1360"/>
            </a:avLst>
          </a:prstGeom>
          <a:solidFill>
            <a:srgbClr val="FFFFFF"/>
          </a:solidFill>
          <a:ln w="12700">
            <a:solidFill>
              <a:srgbClr val="D8E0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0" name="Image 1" descr="/www/wwwroot/rexar/gdsolar/docs/curso/slides/telas/configuracoe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7040880" cy="396049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" y="5332095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Configurações padrão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7818120" y="1325880"/>
            <a:ext cx="397764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Configurações Padrão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Configurações, Configurações Padrão: taxa de desconto do cliente, taxa de administração e redução de consumo usada na proposta ao produtor.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Definindo os seus valores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Preencha vinte, quinze e vinte por cento e salve. O padrão vale para cadastros novos; cada cliente pode ter o seu desconto.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</a:t>
            </a:r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aba "Meu modelo" na calculadora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calculadora, aba Meu modelo: informe crédito, percentuais, custos variáveis e fixos e comissão. Leia margem, ponto de equilíbrio, mês positivo e capital de giro.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Teste rápido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QUESTÕES 1–2 DE 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rápido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12801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modelo asset-light, a empresa: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 usinas de terceiros e é remunerada por taxa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378708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15868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15868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constrói e é dona das usinas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08776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45936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45936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 painéis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038844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76004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76004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 energia no mercado livre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34440" y="3794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consórcio empresarial (Lei 6.404) reúne: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48640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85800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qualquer pessoa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3378708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515868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515868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 jurídicas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6208776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45936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345936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pessoas físicas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9038844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76004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9176004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cooperativas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Teste rápido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QUESTÕES 3–4 DE 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rápido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12801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Cooperativa exige, em regra: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sócios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378708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15868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15868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número mínimo de cooperados e assembleia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08776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45936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45936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de R$ 1 milhão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038844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76004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76004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autorização da ANEEL para cada cliente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34440" y="3794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Créditos de energia podem ser vendidos a terceiros?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48640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85800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Sim, livremente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3378708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515868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515868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— o que se remunera é a participação, a locação e a gestão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6208776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45936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345936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no mercado livre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9038844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76004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9176004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pela distribuidora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Teste rápido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QUESTÕES 5–6 DE 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rápido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12801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plataforma, o repasse por kWh ao produtor é: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crédito − desconto do cliente − taxa de administração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378708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15868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15868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tarifa cheia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08776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45936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45936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taxa de administração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038844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76004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76004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desconto do cliente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34440" y="3794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desconto de 20% sobre a energia compensada significa, na conta total do cliente: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48640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85800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exatamente 20% de economia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3378708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515868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515868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economia menor que 20%, porque parte da conta continua sendo paga à distribuidora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208776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45936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345936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de 20%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9038844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76004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9176004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nenhuma economia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Teste rápido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QUESTÕES 7–8 DE 8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 rápido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34440" y="12801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o crédito caindo por causa do Fio B, quem absorve a queda se o desconto é percentual sobre o crédito?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580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85800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o cliente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3378708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15868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15868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Todos proporcionalmente: cliente, empresa e produtor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6208776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45936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345936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 a distribuidora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038844" y="20574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76004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176004" y="25146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234440" y="37947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equilíbrio =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48640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8580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85800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÷ clientes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3378708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515868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3515868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custos fixos ÷ margem de contribuição por kWh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6208776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45936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345936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desconto × tarifa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9038844" y="4572000"/>
            <a:ext cx="2601468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76004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9176004" y="5029200"/>
            <a:ext cx="232714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× tarifa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EF3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Teste rápido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CONFIRA SUAS RESPOSTAS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Gabarito do teste rápido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325880"/>
            <a:ext cx="3544824" cy="1478280"/>
          </a:xfrm>
          <a:prstGeom prst="roundRect">
            <a:avLst>
              <a:gd name="adj" fmla="val 4948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1435608"/>
            <a:ext cx="2630424" cy="12588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gere usinas de terceiros e é remunerada por taxa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322064" y="1325880"/>
            <a:ext cx="3544824" cy="1478280"/>
          </a:xfrm>
          <a:prstGeom prst="roundRect">
            <a:avLst>
              <a:gd name="adj" fmla="val 4948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04944" y="150876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15" name="Text 12"/>
          <p:cNvSpPr/>
          <p:nvPr/>
        </p:nvSpPr>
        <p:spPr>
          <a:xfrm>
            <a:off x="450494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099304" y="1435608"/>
            <a:ext cx="2630424" cy="12588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pessoas jurídicas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8095488" y="1325880"/>
            <a:ext cx="3544824" cy="1478280"/>
          </a:xfrm>
          <a:prstGeom prst="roundRect">
            <a:avLst>
              <a:gd name="adj" fmla="val 4948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278368" y="150876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9" name="Text 16"/>
          <p:cNvSpPr/>
          <p:nvPr/>
        </p:nvSpPr>
        <p:spPr>
          <a:xfrm>
            <a:off x="8278368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72728" y="1435608"/>
            <a:ext cx="2630424" cy="12588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número mínimo de cooperados e assembleia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548640" y="3032760"/>
            <a:ext cx="3544824" cy="1478280"/>
          </a:xfrm>
          <a:prstGeom prst="roundRect">
            <a:avLst>
              <a:gd name="adj" fmla="val 4948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1520" y="321564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215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25880" y="3142488"/>
            <a:ext cx="2630424" cy="12588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Não — o que se remunera é a participação, a locação e a gestão</a:t>
            </a:r>
            <a:endParaRPr lang="en-US" sz="1700" dirty="0"/>
          </a:p>
        </p:txBody>
      </p:sp>
      <p:sp>
        <p:nvSpPr>
          <p:cNvPr id="25" name="Shape 22"/>
          <p:cNvSpPr/>
          <p:nvPr/>
        </p:nvSpPr>
        <p:spPr>
          <a:xfrm>
            <a:off x="4322064" y="3032760"/>
            <a:ext cx="3544824" cy="1478280"/>
          </a:xfrm>
          <a:prstGeom prst="roundRect">
            <a:avLst>
              <a:gd name="adj" fmla="val 4948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04944" y="321564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27" name="Text 24"/>
          <p:cNvSpPr/>
          <p:nvPr/>
        </p:nvSpPr>
        <p:spPr>
          <a:xfrm>
            <a:off x="4504944" y="3215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099304" y="3142488"/>
            <a:ext cx="2630424" cy="12588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crédito − desconto do cliente − taxa de administração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8095488" y="3032760"/>
            <a:ext cx="3544824" cy="1478280"/>
          </a:xfrm>
          <a:prstGeom prst="roundRect">
            <a:avLst>
              <a:gd name="adj" fmla="val 4948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278368" y="321564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31" name="Text 28"/>
          <p:cNvSpPr/>
          <p:nvPr/>
        </p:nvSpPr>
        <p:spPr>
          <a:xfrm>
            <a:off x="8278368" y="3215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872728" y="3142488"/>
            <a:ext cx="2630424" cy="12588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uma economia menor que 20%, porque parte da conta continua sendo paga à distribuidora</a:t>
            </a:r>
            <a:endParaRPr lang="en-US" sz="1700" dirty="0"/>
          </a:p>
        </p:txBody>
      </p:sp>
      <p:sp>
        <p:nvSpPr>
          <p:cNvPr id="33" name="Shape 30"/>
          <p:cNvSpPr/>
          <p:nvPr/>
        </p:nvSpPr>
        <p:spPr>
          <a:xfrm>
            <a:off x="548640" y="4739640"/>
            <a:ext cx="3544824" cy="1478280"/>
          </a:xfrm>
          <a:prstGeom prst="roundRect">
            <a:avLst>
              <a:gd name="adj" fmla="val 4948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31520" y="4922520"/>
            <a:ext cx="457200" cy="45720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35" name="Text 32"/>
          <p:cNvSpPr/>
          <p:nvPr/>
        </p:nvSpPr>
        <p:spPr>
          <a:xfrm>
            <a:off x="731520" y="4922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1325880" y="4849368"/>
            <a:ext cx="2630424" cy="12588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Todos proporcionalmente: cliente, empresa e produtor</a:t>
            </a:r>
            <a:endParaRPr lang="en-US" sz="1700" dirty="0"/>
          </a:p>
        </p:txBody>
      </p:sp>
      <p:sp>
        <p:nvSpPr>
          <p:cNvPr id="37" name="Shape 34"/>
          <p:cNvSpPr/>
          <p:nvPr/>
        </p:nvSpPr>
        <p:spPr>
          <a:xfrm>
            <a:off x="4322064" y="4739640"/>
            <a:ext cx="3544824" cy="1478280"/>
          </a:xfrm>
          <a:prstGeom prst="roundRect">
            <a:avLst>
              <a:gd name="adj" fmla="val 4948"/>
            </a:avLst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504944" y="4922520"/>
            <a:ext cx="457200" cy="457200"/>
          </a:xfrm>
          <a:prstGeom prst="ellipse">
            <a:avLst/>
          </a:prstGeom>
          <a:solidFill>
            <a:srgbClr val="F7A23B"/>
          </a:solidFill>
          <a:ln/>
        </p:spPr>
      </p:sp>
      <p:sp>
        <p:nvSpPr>
          <p:cNvPr id="39" name="Text 36"/>
          <p:cNvSpPr/>
          <p:nvPr/>
        </p:nvSpPr>
        <p:spPr>
          <a:xfrm>
            <a:off x="4504944" y="4922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5099304" y="4849368"/>
            <a:ext cx="2630424" cy="12588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custos fixos ÷ margem de contribuição por kWh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</p:sp>
      <p:pic>
        <p:nvPicPr>
          <p:cNvPr id="3" name="Image 0" descr="/www/wwwroot/rexar/gdsolar/docs/curso/slides/assets/logo-gdso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471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86968" y="6528816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 Solar  ·  Formação em Energia por Assinatura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132320" y="652881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 · Fechamento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84048"/>
            <a:ext cx="82296" cy="658368"/>
          </a:xfrm>
          <a:prstGeom prst="rect">
            <a:avLst/>
          </a:prstGeom>
          <a:solidFill>
            <a:srgbClr val="F7A23B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29260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FECHAMENTO DO MÓDULO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53035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Pratique e entregue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48640" y="13258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1783080"/>
            <a:ext cx="5394960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Crédito R$ 0,68; desconto 20%; taxa 15%. Quanto o cliente paga, a empresa retém e o produtor recebe por kWh?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Custos fixos de R$ 18.000/mês e margem de contribuição de R$ 0,08/kWh: ponto de equilíbrio?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 o crédito caindo de 0,68 para 0,62, quanto cai a receita da taxa de administração por kWh?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72200" y="1325880"/>
            <a:ext cx="5468112" cy="4937760"/>
          </a:xfrm>
          <a:prstGeom prst="roundRect">
            <a:avLst>
              <a:gd name="adj" fmla="val 1852"/>
            </a:avLst>
          </a:prstGeom>
          <a:solidFill>
            <a:srgbClr val="1B3A6B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1554480"/>
            <a:ext cx="4828032" cy="4480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7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ENTREGÁVEL DO MÓDULO
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conta do meu negócio (aba "Meu modelo" da calculadora): modelo escolhido (asset-light/heavy/híbrido), estrutura jurídica pretendida, desconto ao cliente, taxa de administração, repasse ao produtor, custos fixos mensais, ponto de equilíbrio em kWh e em número de clientes, cenário 2026/2027/2028.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1B3A6B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1" lang="en-US"/>
              <a:t>37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GD Solar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M3 — Modelos de negócio em GD compartilhada</dc:title>
  <dc:subject>PptxGenJS Presentation</dc:subject>
  <dc:creator>PptxGenJS</dc:creator>
  <cp:lastModifiedBy>PptxGenJS</cp:lastModifiedBy>
  <cp:revision>1</cp:revision>
  <dcterms:created xsi:type="dcterms:W3CDTF">2026-10-30T13:18:26Z</dcterms:created>
  <dcterms:modified xsi:type="dcterms:W3CDTF">2026-10-30T13:18:26Z</dcterms:modified>
</cp:coreProperties>
</file>