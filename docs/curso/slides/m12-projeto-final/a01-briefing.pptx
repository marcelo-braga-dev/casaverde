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[APRESENTADOR] Abertura (0:00–0:50)
Visual: APRESENTADOR.
Narração:
Você chegou ao último módulo. O projeto final não é uma prova: é a sua empresa de assinatura funcionando no laboratório, com os documentos que um sócio ou investidor pediria. Se você fez os entregáveis dos módulos, metade do trabalho já está pronta. Agora, vamos completar e apresentar.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O que entregar no laboratório (0:50–4:40)
Visual: SLIDE com checklist.
Narração:
No laboratório, a sua empresa precisa ter: a identidade visual aplicada; duas usinas — a do módulo 4 e uma nova —, cada uma com produtor, proposta e três meses de geração; mais de vinte clientes, misturando empresas e residências, cada um com unidade consumidora, proposta, contrato, vínculo e convite; ocupação entre noventa e noventa e oito por cento em cada usina, sem nenhum cliente com vinte e cinco por cento ou mais; três meses de faturas revisadas e aprovadas, com as pendências resolvidas e justificadas; três meses de cobranças, emitidas e pagas, com pelo menos um ajuste e uma cobrança vencida tratada; e os alertas críticos zerados no fechamento de cada mês. O laboratório tem o checkpoint do módulo 9 para quem precisar de uma base.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O que entregar em documento (4:40–7:20)
Visual: SLIDE com a lista de documentos.
Narração:
Em documento, entregue: o plano de negócio em uma página; a conta do negócio, com os cenários de 2026 a 2028 e 2029; o relatório executivo do trimestre, com os doze indicadores nos três meses e um comentário; o relatório de um produtor e três relatórios de economia de clientes; o SOP, a régua de cobrança e a matriz de riscos. E, na turma com acompanhamento, um vídeo de até cinco minutos apresentando a sua empresa, como se fosse para um investidor.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Como organizar o trabalho (7:20–9:20)
Visual: SLIDE com cronograma de duas semanas.
Narração:
Organize em duas semanas. Na primeira, o laboratório: segunda usina, clientes novos e o terceiro mês de operação. Na segunda, os documentos: relatórios, plano, vídeo, e uma revisão final usando a rubrica, que é o assunto da próxima aula. Use a comunidade: é permitido — e incentivado — trocar ideias com os colegas, desde que cada um entregue a própria empresa.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[APRESENTADOR] Encerramento (9:20–10:00)
Visual: APRESENTADOR.
Narração:
Na próxima aula, você vê exatamente como o projeto será avaliado, critério por critério. Depois, eu mostro um exemplo resolvido. Bom trabalho.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B2F33"/>
        </a:solidFill>
      </p:bgPr>
    </p:bg>
    <p:spTree>
      <p:nvGrpSpPr>
        <p:cNvPr id="1" name=""/>
        <p:cNvGrpSpPr/>
        <p:nvPr/>
      </p:nvGrpSpPr>
      <p:grpSpPr>
        <a:xfrm>
          <a:off x="0" y="0"/>
          <a:ext cx="0" cy="0"/>
          <a:chOff x="0" y="0"/>
          <a:chExt cx="0" cy="0"/>
        </a:xfrm>
      </p:grpSpPr>
      <p:sp>
        <p:nvSpPr>
          <p:cNvPr id="2" name="Shape 0"/>
          <p:cNvSpPr/>
          <p:nvPr/>
        </p:nvSpPr>
        <p:spPr>
          <a:xfrm>
            <a:off x="0" y="0"/>
            <a:ext cx="320040" cy="6858000"/>
          </a:xfrm>
          <a:prstGeom prst="rect">
            <a:avLst/>
          </a:prstGeom>
          <a:solidFill>
            <a:srgbClr val="1F7A4D"/>
          </a:solidFill>
          <a:ln/>
        </p:spPr>
      </p:sp>
      <p:sp>
        <p:nvSpPr>
          <p:cNvPr id="3" name="Shape 1"/>
          <p:cNvSpPr/>
          <p:nvPr/>
        </p:nvSpPr>
        <p:spPr>
          <a:xfrm>
            <a:off x="320040" y="0"/>
            <a:ext cx="109728" cy="6858000"/>
          </a:xfrm>
          <a:prstGeom prst="rect">
            <a:avLst/>
          </a:prstGeom>
          <a:solidFill>
            <a:srgbClr val="F5B700"/>
          </a:solidFill>
          <a:ln/>
        </p:spPr>
      </p:sp>
      <p:sp>
        <p:nvSpPr>
          <p:cNvPr id="4" name="Text 2"/>
          <p:cNvSpPr/>
          <p:nvPr/>
        </p:nvSpPr>
        <p:spPr>
          <a:xfrm>
            <a:off x="914400" y="640080"/>
            <a:ext cx="10058400" cy="457200"/>
          </a:xfrm>
          <a:prstGeom prst="rect">
            <a:avLst/>
          </a:prstGeom>
          <a:noFill/>
          <a:ln/>
        </p:spPr>
        <p:txBody>
          <a:bodyPr wrap="square" rtlCol="0" anchor="ctr"/>
          <a:lstStyle/>
          <a:p>
            <a:pPr indent="0" marL="0">
              <a:buNone/>
            </a:pPr>
            <a:r>
              <a:rPr lang="en-US" sz="1600" b="1" spc="200" kern="0" dirty="0">
                <a:solidFill>
                  <a:srgbClr val="F5B700"/>
                </a:solidFill>
                <a:latin typeface="Arial" pitchFamily="34" charset="0"/>
                <a:ea typeface="Arial" pitchFamily="34" charset="-122"/>
                <a:cs typeface="Arial" pitchFamily="34" charset="-120"/>
              </a:rPr>
              <a:t>FORMAÇÃO EM ENERGIA POR ASSINATURA</a:t>
            </a:r>
            <a:endParaRPr lang="en-US" sz="1600" dirty="0"/>
          </a:p>
        </p:txBody>
      </p:sp>
      <p:sp>
        <p:nvSpPr>
          <p:cNvPr id="5" name="Text 3"/>
          <p:cNvSpPr/>
          <p:nvPr/>
        </p:nvSpPr>
        <p:spPr>
          <a:xfrm>
            <a:off x="914400" y="1828800"/>
            <a:ext cx="10058400" cy="548640"/>
          </a:xfrm>
          <a:prstGeom prst="rect">
            <a:avLst/>
          </a:prstGeom>
          <a:noFill/>
          <a:ln/>
        </p:spPr>
        <p:txBody>
          <a:bodyPr wrap="square" rtlCol="0" anchor="ctr"/>
          <a:lstStyle/>
          <a:p>
            <a:pPr indent="0" marL="0">
              <a:buNone/>
            </a:pPr>
            <a:r>
              <a:rPr lang="en-US" sz="2200" dirty="0">
                <a:solidFill>
                  <a:srgbClr val="C9CDD2"/>
                </a:solidFill>
                <a:latin typeface="Arial" pitchFamily="34" charset="0"/>
                <a:ea typeface="Arial" pitchFamily="34" charset="-122"/>
                <a:cs typeface="Arial" pitchFamily="34" charset="-120"/>
              </a:rPr>
              <a:t>M12 · Aula 1</a:t>
            </a:r>
            <a:endParaRPr lang="en-US" sz="2200" dirty="0"/>
          </a:p>
        </p:txBody>
      </p:sp>
      <p:sp>
        <p:nvSpPr>
          <p:cNvPr id="6" name="Text 4"/>
          <p:cNvSpPr/>
          <p:nvPr/>
        </p:nvSpPr>
        <p:spPr>
          <a:xfrm>
            <a:off x="914400" y="2377440"/>
            <a:ext cx="10332720" cy="1737360"/>
          </a:xfrm>
          <a:prstGeom prst="rect">
            <a:avLst/>
          </a:prstGeom>
          <a:noFill/>
          <a:ln/>
        </p:spPr>
        <p:txBody>
          <a:bodyPr wrap="square" rtlCol="0" anchor="t">
            <a:normAutofit/>
          </a:bodyPr>
          <a:lstStyle/>
          <a:p>
            <a:pPr indent="0" marL="0">
              <a:buNone/>
            </a:pPr>
            <a:r>
              <a:rPr lang="en-US" sz="4000" b="1" dirty="0">
                <a:solidFill>
                  <a:srgbClr val="FFFFFF"/>
                </a:solidFill>
                <a:latin typeface="Arial" pitchFamily="34" charset="0"/>
                <a:ea typeface="Arial" pitchFamily="34" charset="-122"/>
                <a:cs typeface="Arial" pitchFamily="34" charset="-120"/>
              </a:rPr>
              <a:t>Briefing do projeto final</a:t>
            </a:r>
            <a:endParaRPr lang="en-US" sz="4000" dirty="0"/>
          </a:p>
        </p:txBody>
      </p:sp>
      <p:sp>
        <p:nvSpPr>
          <p:cNvPr id="7" name="Text 5"/>
          <p:cNvSpPr/>
          <p:nvPr/>
        </p:nvSpPr>
        <p:spPr>
          <a:xfrm>
            <a:off x="914400" y="4297680"/>
            <a:ext cx="10332720" cy="914400"/>
          </a:xfrm>
          <a:prstGeom prst="rect">
            <a:avLst/>
          </a:prstGeom>
          <a:noFill/>
          <a:ln/>
        </p:spPr>
        <p:txBody>
          <a:bodyPr wrap="square" rtlCol="0" anchor="t">
            <a:normAutofit/>
          </a:bodyPr>
          <a:lstStyle/>
          <a:p>
            <a:pPr indent="0" marL="0">
              <a:buNone/>
            </a:pPr>
            <a:r>
              <a:rPr lang="en-US" sz="1800" dirty="0">
                <a:solidFill>
                  <a:srgbClr val="C9CDD2"/>
                </a:solidFill>
                <a:latin typeface="Arial" pitchFamily="34" charset="0"/>
                <a:ea typeface="Arial" pitchFamily="34" charset="-122"/>
                <a:cs typeface="Arial" pitchFamily="34" charset="-120"/>
              </a:rPr>
              <a:t>Apresentar o que o projeto final exige e como organizar o trabalho</a:t>
            </a:r>
            <a:endParaRPr lang="en-US" sz="1800" dirty="0"/>
          </a:p>
        </p:txBody>
      </p:sp>
      <p:sp>
        <p:nvSpPr>
          <p:cNvPr id="8" name="Shape 6"/>
          <p:cNvSpPr/>
          <p:nvPr/>
        </p:nvSpPr>
        <p:spPr>
          <a:xfrm>
            <a:off x="9692640" y="5806440"/>
            <a:ext cx="2194560" cy="777240"/>
          </a:xfrm>
          <a:prstGeom prst="roundRect">
            <a:avLst>
              <a:gd name="adj" fmla="val 11765"/>
            </a:avLst>
          </a:prstGeom>
          <a:solidFill>
            <a:srgbClr val="FFFFFF"/>
          </a:solidFill>
          <a:ln/>
        </p:spPr>
      </p:sp>
      <p:pic>
        <p:nvPicPr>
          <p:cNvPr id="9" name="Image 0" descr="/www/wwwroot/rexar/gdsolar/docs/curso/slides/assets/logo-rexar.png">    </p:cNvPr>
          <p:cNvPicPr>
            <a:picLocks noChangeAspect="1"/>
          </p:cNvPicPr>
          <p:nvPr/>
        </p:nvPicPr>
        <p:blipFill>
          <a:blip r:embed="rId1"/>
          <a:stretch>
            <a:fillRect/>
          </a:stretch>
        </p:blipFill>
        <p:spPr>
          <a:xfrm>
            <a:off x="9829800" y="5879592"/>
            <a:ext cx="1920240" cy="630936"/>
          </a:xfrm>
          <a:prstGeom prst="rect">
            <a:avLst/>
          </a:prstGeom>
        </p:spPr>
      </p:pic>
      <p:sp>
        <p:nvSpPr>
          <p:cNvPr id="10" name="Text 7"/>
          <p:cNvSpPr/>
          <p:nvPr/>
        </p:nvSpPr>
        <p:spPr>
          <a:xfrm>
            <a:off x="914400" y="5989320"/>
            <a:ext cx="8229600" cy="365760"/>
          </a:xfrm>
          <a:prstGeom prst="rect">
            <a:avLst/>
          </a:prstGeom>
          <a:noFill/>
          <a:ln/>
        </p:spPr>
        <p:txBody>
          <a:bodyPr wrap="square" rtlCol="0" anchor="ctr"/>
          <a:lstStyle/>
          <a:p>
            <a:pPr indent="0" marL="0">
              <a:buNone/>
            </a:pPr>
            <a:r>
              <a:rPr lang="en-US" sz="1200" dirty="0">
                <a:solidFill>
                  <a:srgbClr val="C9CDD2"/>
                </a:solidFill>
                <a:latin typeface="Arial" pitchFamily="34" charset="0"/>
                <a:ea typeface="Arial" pitchFamily="34" charset="-122"/>
                <a:cs typeface="Arial" pitchFamily="34" charset="-120"/>
              </a:rPr>
              <a:t>Geração distribuída compartilhada, da regulação à operação</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8F5"/>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1F7A4D"/>
          </a:solidFill>
          <a:ln/>
        </p:spPr>
      </p:sp>
      <p:sp>
        <p:nvSpPr>
          <p:cNvPr id="3" name="Shape 1"/>
          <p:cNvSpPr/>
          <p:nvPr/>
        </p:nvSpPr>
        <p:spPr>
          <a:xfrm>
            <a:off x="0" y="109728"/>
            <a:ext cx="2011680" cy="54864"/>
          </a:xfrm>
          <a:prstGeom prst="rect">
            <a:avLst/>
          </a:prstGeom>
          <a:solidFill>
            <a:srgbClr val="F5B700"/>
          </a:solidFill>
          <a:ln/>
        </p:spPr>
      </p:sp>
      <p:sp>
        <p:nvSpPr>
          <p:cNvPr id="4" name="Text 2"/>
          <p:cNvSpPr/>
          <p:nvPr/>
        </p:nvSpPr>
        <p:spPr>
          <a:xfrm>
            <a:off x="457200" y="6446520"/>
            <a:ext cx="8686800" cy="274320"/>
          </a:xfrm>
          <a:prstGeom prst="rect">
            <a:avLst/>
          </a:prstGeom>
          <a:noFill/>
          <a:ln/>
        </p:spPr>
        <p:txBody>
          <a:bodyPr wrap="square" rtlCol="0" anchor="ctr"/>
          <a:lstStyle/>
          <a:p>
            <a:pPr indent="0" marL="0">
              <a:buNone/>
            </a:pPr>
            <a:r>
              <a:rPr lang="en-US" sz="1000" dirty="0">
                <a:solidFill>
                  <a:srgbClr val="6B7280"/>
                </a:solidFill>
                <a:latin typeface="Arial" pitchFamily="34" charset="0"/>
                <a:ea typeface="Arial" pitchFamily="34" charset="-122"/>
                <a:cs typeface="Arial" pitchFamily="34" charset="-120"/>
              </a:rPr>
              <a:t>Formação em Energia por Assinatura  ·  M12 · Aula 1 · Cena 1</a:t>
            </a:r>
            <a:endParaRPr lang="en-US" sz="1000" dirty="0"/>
          </a:p>
        </p:txBody>
      </p:sp>
      <p:pic>
        <p:nvPicPr>
          <p:cNvPr id="5" name="Image 0" descr="/www/wwwroot/rexar/gdsolar/docs/curso/slides/assets/logo-rexar.png">    </p:cNvPr>
          <p:cNvPicPr>
            <a:picLocks noChangeAspect="1"/>
          </p:cNvPicPr>
          <p:nvPr/>
        </p:nvPicPr>
        <p:blipFill>
          <a:blip r:embed="rId1"/>
          <a:stretch>
            <a:fillRect/>
          </a:stretch>
        </p:blipFill>
        <p:spPr>
          <a:xfrm>
            <a:off x="10561320" y="6327648"/>
            <a:ext cx="1234440" cy="411480"/>
          </a:xfrm>
          <a:prstGeom prst="rect">
            <a:avLst/>
          </a:prstGeom>
        </p:spPr>
      </p:pic>
      <p:sp>
        <p:nvSpPr>
          <p:cNvPr id="6" name="Shape 3"/>
          <p:cNvSpPr/>
          <p:nvPr/>
        </p:nvSpPr>
        <p:spPr>
          <a:xfrm>
            <a:off x="457200" y="4754880"/>
            <a:ext cx="11247120" cy="1280160"/>
          </a:xfrm>
          <a:prstGeom prst="rect">
            <a:avLst/>
          </a:prstGeom>
          <a:solidFill>
            <a:srgbClr val="1F7A4D"/>
          </a:solidFill>
          <a:ln/>
        </p:spPr>
      </p:sp>
      <p:sp>
        <p:nvSpPr>
          <p:cNvPr id="7" name="Shape 4"/>
          <p:cNvSpPr/>
          <p:nvPr/>
        </p:nvSpPr>
        <p:spPr>
          <a:xfrm>
            <a:off x="457200" y="4754880"/>
            <a:ext cx="137160" cy="1280160"/>
          </a:xfrm>
          <a:prstGeom prst="rect">
            <a:avLst/>
          </a:prstGeom>
          <a:solidFill>
            <a:srgbClr val="F5B700"/>
          </a:solidFill>
          <a:ln/>
        </p:spPr>
      </p:sp>
      <p:sp>
        <p:nvSpPr>
          <p:cNvPr id="8" name="Text 5"/>
          <p:cNvSpPr/>
          <p:nvPr/>
        </p:nvSpPr>
        <p:spPr>
          <a:xfrm>
            <a:off x="777240" y="4800600"/>
            <a:ext cx="10789920" cy="1188720"/>
          </a:xfrm>
          <a:prstGeom prst="rect">
            <a:avLst/>
          </a:prstGeom>
          <a:noFill/>
          <a:ln/>
        </p:spPr>
        <p:txBody>
          <a:bodyPr wrap="square" rtlCol="0" anchor="ctr">
            <a:normAutofit/>
          </a:bodyPr>
          <a:lstStyle/>
          <a:p>
            <a:pPr indent="0" marL="0">
              <a:buNone/>
            </a:pPr>
            <a:r>
              <a:rPr lang="en-US" sz="2400" b="1" dirty="0">
                <a:solidFill>
                  <a:srgbClr val="FFFFFF"/>
                </a:solidFill>
                <a:latin typeface="Arial" pitchFamily="34" charset="0"/>
                <a:ea typeface="Arial" pitchFamily="34" charset="-122"/>
                <a:cs typeface="Arial" pitchFamily="34" charset="-120"/>
              </a:rPr>
              <a:t>Projeto final: a sua empresa funcionando</a:t>
            </a:r>
            <a:endParaRPr lang="en-US" sz="2400" dirty="0"/>
          </a:p>
        </p:txBody>
      </p:sp>
      <p:sp>
        <p:nvSpPr>
          <p:cNvPr id="9" name="Text 6"/>
          <p:cNvSpPr/>
          <p:nvPr/>
        </p:nvSpPr>
        <p:spPr>
          <a:xfrm>
            <a:off x="457200" y="914400"/>
            <a:ext cx="11247120" cy="3474720"/>
          </a:xfrm>
          <a:prstGeom prst="rect">
            <a:avLst/>
          </a:prstGeom>
          <a:noFill/>
          <a:ln/>
        </p:spPr>
        <p:txBody>
          <a:bodyPr wrap="square" rtlCol="0" anchor="ctr"/>
          <a:lstStyle/>
          <a:p>
            <a:pPr algn="ctr" indent="0" marL="0">
              <a:buNone/>
            </a:pPr>
            <a:r>
              <a:rPr lang="en-US" sz="1600" dirty="0">
                <a:solidFill>
                  <a:srgbClr val="B0B6BD"/>
                </a:solidFill>
                <a:latin typeface="Arial" pitchFamily="34" charset="0"/>
                <a:ea typeface="Arial" pitchFamily="34" charset="-122"/>
                <a:cs typeface="Arial" pitchFamily="34" charset="-120"/>
              </a:rPr>
              <a:t>[ APRESENTADOR — área do vídeo ]</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8F5"/>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1F7A4D"/>
          </a:solidFill>
          <a:ln/>
        </p:spPr>
      </p:sp>
      <p:sp>
        <p:nvSpPr>
          <p:cNvPr id="3" name="Shape 1"/>
          <p:cNvSpPr/>
          <p:nvPr/>
        </p:nvSpPr>
        <p:spPr>
          <a:xfrm>
            <a:off x="0" y="109728"/>
            <a:ext cx="2011680" cy="54864"/>
          </a:xfrm>
          <a:prstGeom prst="rect">
            <a:avLst/>
          </a:prstGeom>
          <a:solidFill>
            <a:srgbClr val="F5B700"/>
          </a:solidFill>
          <a:ln/>
        </p:spPr>
      </p:sp>
      <p:sp>
        <p:nvSpPr>
          <p:cNvPr id="4" name="Text 2"/>
          <p:cNvSpPr/>
          <p:nvPr/>
        </p:nvSpPr>
        <p:spPr>
          <a:xfrm>
            <a:off x="457200" y="6446520"/>
            <a:ext cx="8686800" cy="274320"/>
          </a:xfrm>
          <a:prstGeom prst="rect">
            <a:avLst/>
          </a:prstGeom>
          <a:noFill/>
          <a:ln/>
        </p:spPr>
        <p:txBody>
          <a:bodyPr wrap="square" rtlCol="0" anchor="ctr"/>
          <a:lstStyle/>
          <a:p>
            <a:pPr indent="0" marL="0">
              <a:buNone/>
            </a:pPr>
            <a:r>
              <a:rPr lang="en-US" sz="1000" dirty="0">
                <a:solidFill>
                  <a:srgbClr val="6B7280"/>
                </a:solidFill>
                <a:latin typeface="Arial" pitchFamily="34" charset="0"/>
                <a:ea typeface="Arial" pitchFamily="34" charset="-122"/>
                <a:cs typeface="Arial" pitchFamily="34" charset="-120"/>
              </a:rPr>
              <a:t>Formação em Energia por Assinatura  ·  M12 · Aula 1 · Cena 2</a:t>
            </a:r>
            <a:endParaRPr lang="en-US" sz="1000" dirty="0"/>
          </a:p>
        </p:txBody>
      </p:sp>
      <p:pic>
        <p:nvPicPr>
          <p:cNvPr id="5" name="Image 0" descr="/www/wwwroot/rexar/gdsolar/docs/curso/slides/assets/logo-rexar.png">    </p:cNvPr>
          <p:cNvPicPr>
            <a:picLocks noChangeAspect="1"/>
          </p:cNvPicPr>
          <p:nvPr/>
        </p:nvPicPr>
        <p:blipFill>
          <a:blip r:embed="rId1"/>
          <a:stretch>
            <a:fillRect/>
          </a:stretch>
        </p:blipFill>
        <p:spPr>
          <a:xfrm>
            <a:off x="10561320" y="6327648"/>
            <a:ext cx="1234440" cy="411480"/>
          </a:xfrm>
          <a:prstGeom prst="rect">
            <a:avLst/>
          </a:prstGeom>
        </p:spPr>
      </p:pic>
      <p:sp>
        <p:nvSpPr>
          <p:cNvPr id="6" name="Text 3"/>
          <p:cNvSpPr/>
          <p:nvPr/>
        </p:nvSpPr>
        <p:spPr>
          <a:xfrm>
            <a:off x="457200" y="320040"/>
            <a:ext cx="11247120" cy="731520"/>
          </a:xfrm>
          <a:prstGeom prst="rect">
            <a:avLst/>
          </a:prstGeom>
          <a:noFill/>
          <a:ln/>
        </p:spPr>
        <p:txBody>
          <a:bodyPr wrap="square" rtlCol="0" anchor="ctr">
            <a:normAutofit/>
          </a:bodyPr>
          <a:lstStyle/>
          <a:p>
            <a:pPr indent="0" marL="0">
              <a:buNone/>
            </a:pPr>
            <a:r>
              <a:rPr lang="en-US" sz="2800" b="1" dirty="0">
                <a:solidFill>
                  <a:srgbClr val="2B2F33"/>
                </a:solidFill>
                <a:latin typeface="Arial" pitchFamily="34" charset="0"/>
                <a:ea typeface="Arial" pitchFamily="34" charset="-122"/>
                <a:cs typeface="Arial" pitchFamily="34" charset="-120"/>
              </a:rPr>
              <a:t>O que entregar no laboratório</a:t>
            </a:r>
            <a:endParaRPr lang="en-US" sz="2800" dirty="0"/>
          </a:p>
        </p:txBody>
      </p:sp>
      <p:sp>
        <p:nvSpPr>
          <p:cNvPr id="7" name="Text 4"/>
          <p:cNvSpPr/>
          <p:nvPr/>
        </p:nvSpPr>
        <p:spPr>
          <a:xfrm>
            <a:off x="640080" y="1234440"/>
            <a:ext cx="10881360" cy="4937760"/>
          </a:xfrm>
          <a:prstGeom prst="rect">
            <a:avLst/>
          </a:prstGeom>
          <a:noFill/>
          <a:ln/>
        </p:spPr>
        <p:txBody>
          <a:bodyPr wrap="square" rtlCol="0" anchor="t">
            <a:normAutofit/>
          </a:bodyPr>
          <a:lstStyle/>
          <a:p>
            <a:pPr indent="0" marL="0">
              <a:spcAft>
                <a:spcPts val="800"/>
              </a:spcAft>
              <a:buNone/>
            </a:pPr>
            <a:r>
              <a:rPr lang="en-US" sz="1300" dirty="0">
                <a:solidFill>
                  <a:srgbClr val="2B2F33"/>
                </a:solidFill>
                <a:latin typeface="Arial" pitchFamily="34" charset="0"/>
                <a:ea typeface="Arial" pitchFamily="34" charset="-122"/>
                <a:cs typeface="Arial" pitchFamily="34" charset="-120"/>
              </a:rPr>
              <a:t>☐ Identidade visual da sua empresa aplicada</a:t>
            </a:r>
            <a:endParaRPr lang="en-US" sz="1300" dirty="0"/>
          </a:p>
          <a:p>
            <a:pPr indent="0" marL="0">
              <a:spcAft>
                <a:spcPts val="800"/>
              </a:spcAft>
              <a:buNone/>
            </a:pPr>
            <a:r>
              <a:rPr lang="en-US" sz="1300" dirty="0">
                <a:solidFill>
                  <a:srgbClr val="2B2F33"/>
                </a:solidFill>
                <a:latin typeface="Arial" pitchFamily="34" charset="0"/>
                <a:ea typeface="Arial" pitchFamily="34" charset="-122"/>
                <a:cs typeface="Arial" pitchFamily="34" charset="-120"/>
              </a:rPr>
              <a:t>☐ 2 usinas (a do M4 + uma nova), com produtor, proposta e 3 meses de geração</a:t>
            </a:r>
            <a:endParaRPr lang="en-US" sz="1300" dirty="0"/>
          </a:p>
          <a:p>
            <a:pPr indent="0" marL="0">
              <a:spcAft>
                <a:spcPts val="800"/>
              </a:spcAft>
              <a:buNone/>
            </a:pPr>
            <a:r>
              <a:rPr lang="en-US" sz="1300" dirty="0">
                <a:solidFill>
                  <a:srgbClr val="2B2F33"/>
                </a:solidFill>
                <a:latin typeface="Arial" pitchFamily="34" charset="0"/>
                <a:ea typeface="Arial" pitchFamily="34" charset="-122"/>
                <a:cs typeface="Arial" pitchFamily="34" charset="-120"/>
              </a:rPr>
              <a:t>☐ 20+ clientes (empresas e residências) com UC, proposta, contrato, vínculo e convite</a:t>
            </a:r>
            <a:endParaRPr lang="en-US" sz="1300" dirty="0"/>
          </a:p>
          <a:p>
            <a:pPr indent="0" marL="0">
              <a:spcAft>
                <a:spcPts val="800"/>
              </a:spcAft>
              <a:buNone/>
            </a:pPr>
            <a:r>
              <a:rPr lang="en-US" sz="1300" dirty="0">
                <a:solidFill>
                  <a:srgbClr val="2B2F33"/>
                </a:solidFill>
                <a:latin typeface="Arial" pitchFamily="34" charset="0"/>
                <a:ea typeface="Arial" pitchFamily="34" charset="-122"/>
                <a:cs typeface="Arial" pitchFamily="34" charset="-120"/>
              </a:rPr>
              <a:t>☐ Ocupação de 90–98% em cada usina; nenhum cliente ≥ 25%</a:t>
            </a:r>
            <a:endParaRPr lang="en-US" sz="1300" dirty="0"/>
          </a:p>
          <a:p>
            <a:pPr indent="0" marL="0">
              <a:spcAft>
                <a:spcPts val="800"/>
              </a:spcAft>
              <a:buNone/>
            </a:pPr>
            <a:r>
              <a:rPr lang="en-US" sz="1300" dirty="0">
                <a:solidFill>
                  <a:srgbClr val="2B2F33"/>
                </a:solidFill>
                <a:latin typeface="Arial" pitchFamily="34" charset="0"/>
                <a:ea typeface="Arial" pitchFamily="34" charset="-122"/>
                <a:cs typeface="Arial" pitchFamily="34" charset="-120"/>
              </a:rPr>
              <a:t>☐ 3 meses de faturas revisadas e aprovadas (com pendências resolvidas e justificadas)</a:t>
            </a:r>
            <a:endParaRPr lang="en-US" sz="1300" dirty="0"/>
          </a:p>
          <a:p>
            <a:pPr indent="0" marL="0">
              <a:spcAft>
                <a:spcPts val="800"/>
              </a:spcAft>
              <a:buNone/>
            </a:pPr>
            <a:r>
              <a:rPr lang="en-US" sz="1300" dirty="0">
                <a:solidFill>
                  <a:srgbClr val="2B2F33"/>
                </a:solidFill>
                <a:latin typeface="Arial" pitchFamily="34" charset="0"/>
                <a:ea typeface="Arial" pitchFamily="34" charset="-122"/>
                <a:cs typeface="Arial" pitchFamily="34" charset="-120"/>
              </a:rPr>
              <a:t>☐ 3 meses de cobranças: emitidas, pagas, 1+ ajuste, 1+ vencida tratada</a:t>
            </a:r>
            <a:endParaRPr lang="en-US" sz="1300" dirty="0"/>
          </a:p>
          <a:p>
            <a:pPr indent="0" marL="0">
              <a:spcAft>
                <a:spcPts val="800"/>
              </a:spcAft>
              <a:buNone/>
            </a:pPr>
            <a:r>
              <a:rPr lang="en-US" sz="1300" dirty="0">
                <a:solidFill>
                  <a:srgbClr val="2B2F33"/>
                </a:solidFill>
                <a:latin typeface="Arial" pitchFamily="34" charset="0"/>
                <a:ea typeface="Arial" pitchFamily="34" charset="-122"/>
                <a:cs typeface="Arial" pitchFamily="34" charset="-120"/>
              </a:rPr>
              <a:t>☐ Alertas críticos zerados no fechamento de cada mês</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8F5"/>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1F7A4D"/>
          </a:solidFill>
          <a:ln/>
        </p:spPr>
      </p:sp>
      <p:sp>
        <p:nvSpPr>
          <p:cNvPr id="3" name="Shape 1"/>
          <p:cNvSpPr/>
          <p:nvPr/>
        </p:nvSpPr>
        <p:spPr>
          <a:xfrm>
            <a:off x="0" y="109728"/>
            <a:ext cx="2011680" cy="54864"/>
          </a:xfrm>
          <a:prstGeom prst="rect">
            <a:avLst/>
          </a:prstGeom>
          <a:solidFill>
            <a:srgbClr val="F5B700"/>
          </a:solidFill>
          <a:ln/>
        </p:spPr>
      </p:sp>
      <p:sp>
        <p:nvSpPr>
          <p:cNvPr id="4" name="Text 2"/>
          <p:cNvSpPr/>
          <p:nvPr/>
        </p:nvSpPr>
        <p:spPr>
          <a:xfrm>
            <a:off x="457200" y="6446520"/>
            <a:ext cx="8686800" cy="274320"/>
          </a:xfrm>
          <a:prstGeom prst="rect">
            <a:avLst/>
          </a:prstGeom>
          <a:noFill/>
          <a:ln/>
        </p:spPr>
        <p:txBody>
          <a:bodyPr wrap="square" rtlCol="0" anchor="ctr"/>
          <a:lstStyle/>
          <a:p>
            <a:pPr indent="0" marL="0">
              <a:buNone/>
            </a:pPr>
            <a:r>
              <a:rPr lang="en-US" sz="1000" dirty="0">
                <a:solidFill>
                  <a:srgbClr val="6B7280"/>
                </a:solidFill>
                <a:latin typeface="Arial" pitchFamily="34" charset="0"/>
                <a:ea typeface="Arial" pitchFamily="34" charset="-122"/>
                <a:cs typeface="Arial" pitchFamily="34" charset="-120"/>
              </a:rPr>
              <a:t>Formação em Energia por Assinatura  ·  M12 · Aula 1 · Cena 3</a:t>
            </a:r>
            <a:endParaRPr lang="en-US" sz="1000" dirty="0"/>
          </a:p>
        </p:txBody>
      </p:sp>
      <p:pic>
        <p:nvPicPr>
          <p:cNvPr id="5" name="Image 0" descr="/www/wwwroot/rexar/gdsolar/docs/curso/slides/assets/logo-rexar.png">    </p:cNvPr>
          <p:cNvPicPr>
            <a:picLocks noChangeAspect="1"/>
          </p:cNvPicPr>
          <p:nvPr/>
        </p:nvPicPr>
        <p:blipFill>
          <a:blip r:embed="rId1"/>
          <a:stretch>
            <a:fillRect/>
          </a:stretch>
        </p:blipFill>
        <p:spPr>
          <a:xfrm>
            <a:off x="10561320" y="6327648"/>
            <a:ext cx="1234440" cy="411480"/>
          </a:xfrm>
          <a:prstGeom prst="rect">
            <a:avLst/>
          </a:prstGeom>
        </p:spPr>
      </p:pic>
      <p:sp>
        <p:nvSpPr>
          <p:cNvPr id="6" name="Text 3"/>
          <p:cNvSpPr/>
          <p:nvPr/>
        </p:nvSpPr>
        <p:spPr>
          <a:xfrm>
            <a:off x="457200" y="320040"/>
            <a:ext cx="11247120" cy="731520"/>
          </a:xfrm>
          <a:prstGeom prst="rect">
            <a:avLst/>
          </a:prstGeom>
          <a:noFill/>
          <a:ln/>
        </p:spPr>
        <p:txBody>
          <a:bodyPr wrap="square" rtlCol="0" anchor="ctr">
            <a:normAutofit/>
          </a:bodyPr>
          <a:lstStyle/>
          <a:p>
            <a:pPr indent="0" marL="0">
              <a:buNone/>
            </a:pPr>
            <a:r>
              <a:rPr lang="en-US" sz="2800" b="1" dirty="0">
                <a:solidFill>
                  <a:srgbClr val="2B2F33"/>
                </a:solidFill>
                <a:latin typeface="Arial" pitchFamily="34" charset="0"/>
                <a:ea typeface="Arial" pitchFamily="34" charset="-122"/>
                <a:cs typeface="Arial" pitchFamily="34" charset="-120"/>
              </a:rPr>
              <a:t>O que entregar em documento</a:t>
            </a:r>
            <a:endParaRPr lang="en-US" sz="2800" dirty="0"/>
          </a:p>
        </p:txBody>
      </p:sp>
      <p:sp>
        <p:nvSpPr>
          <p:cNvPr id="7" name="Text 4"/>
          <p:cNvSpPr/>
          <p:nvPr/>
        </p:nvSpPr>
        <p:spPr>
          <a:xfrm>
            <a:off x="640080" y="1234440"/>
            <a:ext cx="10881360" cy="4937760"/>
          </a:xfrm>
          <a:prstGeom prst="rect">
            <a:avLst/>
          </a:prstGeom>
          <a:noFill/>
          <a:ln/>
        </p:spPr>
        <p:txBody>
          <a:bodyPr wrap="square" rtlCol="0" anchor="t">
            <a:normAutofit/>
          </a:bodyPr>
          <a:lstStyle/>
          <a:p>
            <a:pPr indent="0" marL="0">
              <a:spcAft>
                <a:spcPts val="800"/>
              </a:spcAft>
              <a:buNone/>
            </a:pPr>
            <a:r>
              <a:rPr lang="en-US" sz="1500" dirty="0">
                <a:solidFill>
                  <a:srgbClr val="2B2F33"/>
                </a:solidFill>
                <a:latin typeface="Arial" pitchFamily="34" charset="0"/>
                <a:ea typeface="Arial" pitchFamily="34" charset="-122"/>
                <a:cs typeface="Arial" pitchFamily="34" charset="-120"/>
              </a:rPr>
              <a:t>1. Plano de negócio em uma página (M11)</a:t>
            </a:r>
            <a:endParaRPr lang="en-US" sz="1500" dirty="0"/>
          </a:p>
          <a:p>
            <a:pPr indent="0" marL="0">
              <a:spcAft>
                <a:spcPts val="800"/>
              </a:spcAft>
              <a:buNone/>
            </a:pPr>
            <a:r>
              <a:rPr lang="en-US" sz="1500" dirty="0">
                <a:solidFill>
                  <a:srgbClr val="2B2F33"/>
                </a:solidFill>
                <a:latin typeface="Arial" pitchFamily="34" charset="0"/>
                <a:ea typeface="Arial" pitchFamily="34" charset="-122"/>
                <a:cs typeface="Arial" pitchFamily="34" charset="-120"/>
              </a:rPr>
              <a:t>2. A conta do meu negócio, com cenários 2026–2028 e 2029 (M3)</a:t>
            </a:r>
            <a:endParaRPr lang="en-US" sz="1500" dirty="0"/>
          </a:p>
          <a:p>
            <a:pPr indent="0" marL="0">
              <a:spcAft>
                <a:spcPts val="800"/>
              </a:spcAft>
              <a:buNone/>
            </a:pPr>
            <a:r>
              <a:rPr lang="en-US" sz="1500" dirty="0">
                <a:solidFill>
                  <a:srgbClr val="2B2F33"/>
                </a:solidFill>
                <a:latin typeface="Arial" pitchFamily="34" charset="0"/>
                <a:ea typeface="Arial" pitchFamily="34" charset="-122"/>
                <a:cs typeface="Arial" pitchFamily="34" charset="-120"/>
              </a:rPr>
              <a:t>3. Relatório executivo do trimestre: 12 indicadores × 3 meses + comentário</a:t>
            </a:r>
            <a:endParaRPr lang="en-US" sz="1500" dirty="0"/>
          </a:p>
          <a:p>
            <a:pPr indent="0" marL="0">
              <a:spcAft>
                <a:spcPts val="800"/>
              </a:spcAft>
              <a:buNone/>
            </a:pPr>
            <a:r>
              <a:rPr lang="en-US" sz="1500" dirty="0">
                <a:solidFill>
                  <a:srgbClr val="2B2F33"/>
                </a:solidFill>
                <a:latin typeface="Arial" pitchFamily="34" charset="0"/>
                <a:ea typeface="Arial" pitchFamily="34" charset="-122"/>
                <a:cs typeface="Arial" pitchFamily="34" charset="-120"/>
              </a:rPr>
              <a:t>4. Relatório do produtor (1 usina) e 3 relatórios de economia</a:t>
            </a:r>
            <a:endParaRPr lang="en-US" sz="1500" dirty="0"/>
          </a:p>
          <a:p>
            <a:pPr indent="0" marL="0">
              <a:spcAft>
                <a:spcPts val="800"/>
              </a:spcAft>
              <a:buNone/>
            </a:pPr>
            <a:r>
              <a:rPr lang="en-US" sz="1500" dirty="0">
                <a:solidFill>
                  <a:srgbClr val="2B2F33"/>
                </a:solidFill>
                <a:latin typeface="Arial" pitchFamily="34" charset="0"/>
                <a:ea typeface="Arial" pitchFamily="34" charset="-122"/>
                <a:cs typeface="Arial" pitchFamily="34" charset="-120"/>
              </a:rPr>
              <a:t>5. SOP, régua de cobrança e matriz de riscos</a:t>
            </a:r>
            <a:endParaRPr lang="en-US" sz="1500" dirty="0"/>
          </a:p>
          <a:p>
            <a:pPr indent="0" marL="0">
              <a:spcAft>
                <a:spcPts val="800"/>
              </a:spcAft>
              <a:buNone/>
            </a:pPr>
            <a:r>
              <a:rPr lang="en-US" sz="1500" dirty="0">
                <a:solidFill>
                  <a:srgbClr val="2B2F33"/>
                </a:solidFill>
                <a:latin typeface="Arial" pitchFamily="34" charset="0"/>
                <a:ea typeface="Arial" pitchFamily="34" charset="-122"/>
                <a:cs typeface="Arial" pitchFamily="34" charset="-120"/>
              </a:rPr>
              <a:t>6. Vídeo de até 5 minutos apresentando a empresa (opcional no autoestudo)</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8F5"/>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1F7A4D"/>
          </a:solidFill>
          <a:ln/>
        </p:spPr>
      </p:sp>
      <p:sp>
        <p:nvSpPr>
          <p:cNvPr id="3" name="Shape 1"/>
          <p:cNvSpPr/>
          <p:nvPr/>
        </p:nvSpPr>
        <p:spPr>
          <a:xfrm>
            <a:off x="0" y="109728"/>
            <a:ext cx="2011680" cy="54864"/>
          </a:xfrm>
          <a:prstGeom prst="rect">
            <a:avLst/>
          </a:prstGeom>
          <a:solidFill>
            <a:srgbClr val="F5B700"/>
          </a:solidFill>
          <a:ln/>
        </p:spPr>
      </p:sp>
      <p:sp>
        <p:nvSpPr>
          <p:cNvPr id="4" name="Text 2"/>
          <p:cNvSpPr/>
          <p:nvPr/>
        </p:nvSpPr>
        <p:spPr>
          <a:xfrm>
            <a:off x="457200" y="6446520"/>
            <a:ext cx="8686800" cy="274320"/>
          </a:xfrm>
          <a:prstGeom prst="rect">
            <a:avLst/>
          </a:prstGeom>
          <a:noFill/>
          <a:ln/>
        </p:spPr>
        <p:txBody>
          <a:bodyPr wrap="square" rtlCol="0" anchor="ctr"/>
          <a:lstStyle/>
          <a:p>
            <a:pPr indent="0" marL="0">
              <a:buNone/>
            </a:pPr>
            <a:r>
              <a:rPr lang="en-US" sz="1000" dirty="0">
                <a:solidFill>
                  <a:srgbClr val="6B7280"/>
                </a:solidFill>
                <a:latin typeface="Arial" pitchFamily="34" charset="0"/>
                <a:ea typeface="Arial" pitchFamily="34" charset="-122"/>
                <a:cs typeface="Arial" pitchFamily="34" charset="-120"/>
              </a:rPr>
              <a:t>Formação em Energia por Assinatura  ·  M12 · Aula 1 · Cena 4</a:t>
            </a:r>
            <a:endParaRPr lang="en-US" sz="1000" dirty="0"/>
          </a:p>
        </p:txBody>
      </p:sp>
      <p:pic>
        <p:nvPicPr>
          <p:cNvPr id="5" name="Image 0" descr="/www/wwwroot/rexar/gdsolar/docs/curso/slides/assets/logo-rexar.png">    </p:cNvPr>
          <p:cNvPicPr>
            <a:picLocks noChangeAspect="1"/>
          </p:cNvPicPr>
          <p:nvPr/>
        </p:nvPicPr>
        <p:blipFill>
          <a:blip r:embed="rId1"/>
          <a:stretch>
            <a:fillRect/>
          </a:stretch>
        </p:blipFill>
        <p:spPr>
          <a:xfrm>
            <a:off x="10561320" y="6327648"/>
            <a:ext cx="1234440" cy="411480"/>
          </a:xfrm>
          <a:prstGeom prst="rect">
            <a:avLst/>
          </a:prstGeom>
        </p:spPr>
      </p:pic>
      <p:sp>
        <p:nvSpPr>
          <p:cNvPr id="6" name="Text 3"/>
          <p:cNvSpPr/>
          <p:nvPr/>
        </p:nvSpPr>
        <p:spPr>
          <a:xfrm>
            <a:off x="457200" y="320040"/>
            <a:ext cx="11247120" cy="731520"/>
          </a:xfrm>
          <a:prstGeom prst="rect">
            <a:avLst/>
          </a:prstGeom>
          <a:noFill/>
          <a:ln/>
        </p:spPr>
        <p:txBody>
          <a:bodyPr wrap="square" rtlCol="0" anchor="ctr">
            <a:normAutofit/>
          </a:bodyPr>
          <a:lstStyle/>
          <a:p>
            <a:pPr indent="0" marL="0">
              <a:buNone/>
            </a:pPr>
            <a:r>
              <a:rPr lang="en-US" sz="2800" b="1" dirty="0">
                <a:solidFill>
                  <a:srgbClr val="2B2F33"/>
                </a:solidFill>
                <a:latin typeface="Arial" pitchFamily="34" charset="0"/>
                <a:ea typeface="Arial" pitchFamily="34" charset="-122"/>
                <a:cs typeface="Arial" pitchFamily="34" charset="-120"/>
              </a:rPr>
              <a:t>Como organizar o trabalho</a:t>
            </a:r>
            <a:endParaRPr lang="en-US" sz="2800" dirty="0"/>
          </a:p>
        </p:txBody>
      </p:sp>
      <p:sp>
        <p:nvSpPr>
          <p:cNvPr id="7" name="Text 4"/>
          <p:cNvSpPr/>
          <p:nvPr/>
        </p:nvSpPr>
        <p:spPr>
          <a:xfrm>
            <a:off x="640080" y="1234440"/>
            <a:ext cx="10881360" cy="4937760"/>
          </a:xfrm>
          <a:prstGeom prst="rect">
            <a:avLst/>
          </a:prstGeom>
          <a:noFill/>
          <a:ln/>
        </p:spPr>
        <p:txBody>
          <a:bodyPr wrap="square" rtlCol="0" anchor="t">
            <a:normAutofit/>
          </a:bodyPr>
          <a:lstStyle/>
          <a:p>
            <a:pPr marL="342900" indent="-342900">
              <a:spcAft>
                <a:spcPts val="800"/>
              </a:spcAft>
              <a:buSzPct val="100000"/>
              <a:buChar char="■"/>
            </a:pPr>
            <a:r>
              <a:rPr lang="en-US" sz="2000" dirty="0">
                <a:solidFill>
                  <a:srgbClr val="2B2F33"/>
                </a:solidFill>
                <a:latin typeface="Arial" pitchFamily="34" charset="0"/>
                <a:ea typeface="Arial" pitchFamily="34" charset="-122"/>
                <a:cs typeface="Arial" pitchFamily="34" charset="-120"/>
              </a:rPr>
              <a:t>Semana 1: usina 2, clientes novos, mês 3 no laboratório</a:t>
            </a:r>
            <a:endParaRPr lang="en-US" sz="2000" dirty="0"/>
          </a:p>
          <a:p>
            <a:pPr marL="342900" indent="-342900">
              <a:spcAft>
                <a:spcPts val="800"/>
              </a:spcAft>
              <a:buSzPct val="100000"/>
              <a:buChar char="■"/>
            </a:pPr>
            <a:r>
              <a:rPr lang="en-US" sz="2000" dirty="0">
                <a:solidFill>
                  <a:srgbClr val="2B2F33"/>
                </a:solidFill>
                <a:latin typeface="Arial" pitchFamily="34" charset="0"/>
                <a:ea typeface="Arial" pitchFamily="34" charset="-122"/>
                <a:cs typeface="Arial" pitchFamily="34" charset="-120"/>
              </a:rPr>
              <a:t>Semana 2: relatórios, documentos, vídeo, revisão pela rubrica</a:t>
            </a:r>
            <a:endParaRPr lang="en-US" sz="2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8F5"/>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1F7A4D"/>
          </a:solidFill>
          <a:ln/>
        </p:spPr>
      </p:sp>
      <p:sp>
        <p:nvSpPr>
          <p:cNvPr id="3" name="Shape 1"/>
          <p:cNvSpPr/>
          <p:nvPr/>
        </p:nvSpPr>
        <p:spPr>
          <a:xfrm>
            <a:off x="0" y="109728"/>
            <a:ext cx="2011680" cy="54864"/>
          </a:xfrm>
          <a:prstGeom prst="rect">
            <a:avLst/>
          </a:prstGeom>
          <a:solidFill>
            <a:srgbClr val="F5B700"/>
          </a:solidFill>
          <a:ln/>
        </p:spPr>
      </p:sp>
      <p:sp>
        <p:nvSpPr>
          <p:cNvPr id="4" name="Text 2"/>
          <p:cNvSpPr/>
          <p:nvPr/>
        </p:nvSpPr>
        <p:spPr>
          <a:xfrm>
            <a:off x="457200" y="6446520"/>
            <a:ext cx="8686800" cy="274320"/>
          </a:xfrm>
          <a:prstGeom prst="rect">
            <a:avLst/>
          </a:prstGeom>
          <a:noFill/>
          <a:ln/>
        </p:spPr>
        <p:txBody>
          <a:bodyPr wrap="square" rtlCol="0" anchor="ctr"/>
          <a:lstStyle/>
          <a:p>
            <a:pPr indent="0" marL="0">
              <a:buNone/>
            </a:pPr>
            <a:r>
              <a:rPr lang="en-US" sz="1000" dirty="0">
                <a:solidFill>
                  <a:srgbClr val="6B7280"/>
                </a:solidFill>
                <a:latin typeface="Arial" pitchFamily="34" charset="0"/>
                <a:ea typeface="Arial" pitchFamily="34" charset="-122"/>
                <a:cs typeface="Arial" pitchFamily="34" charset="-120"/>
              </a:rPr>
              <a:t>Formação em Energia por Assinatura  ·  M12 · Aula 1 · Cena 5</a:t>
            </a:r>
            <a:endParaRPr lang="en-US" sz="1000" dirty="0"/>
          </a:p>
        </p:txBody>
      </p:sp>
      <p:pic>
        <p:nvPicPr>
          <p:cNvPr id="5" name="Image 0" descr="/www/wwwroot/rexar/gdsolar/docs/curso/slides/assets/logo-rexar.png">    </p:cNvPr>
          <p:cNvPicPr>
            <a:picLocks noChangeAspect="1"/>
          </p:cNvPicPr>
          <p:nvPr/>
        </p:nvPicPr>
        <p:blipFill>
          <a:blip r:embed="rId1"/>
          <a:stretch>
            <a:fillRect/>
          </a:stretch>
        </p:blipFill>
        <p:spPr>
          <a:xfrm>
            <a:off x="10561320" y="6327648"/>
            <a:ext cx="1234440" cy="411480"/>
          </a:xfrm>
          <a:prstGeom prst="rect">
            <a:avLst/>
          </a:prstGeom>
        </p:spPr>
      </p:pic>
      <p:sp>
        <p:nvSpPr>
          <p:cNvPr id="6" name="Shape 3"/>
          <p:cNvSpPr/>
          <p:nvPr/>
        </p:nvSpPr>
        <p:spPr>
          <a:xfrm>
            <a:off x="457200" y="4754880"/>
            <a:ext cx="11247120" cy="1280160"/>
          </a:xfrm>
          <a:prstGeom prst="rect">
            <a:avLst/>
          </a:prstGeom>
          <a:solidFill>
            <a:srgbClr val="1F7A4D"/>
          </a:solidFill>
          <a:ln/>
        </p:spPr>
      </p:sp>
      <p:sp>
        <p:nvSpPr>
          <p:cNvPr id="7" name="Shape 4"/>
          <p:cNvSpPr/>
          <p:nvPr/>
        </p:nvSpPr>
        <p:spPr>
          <a:xfrm>
            <a:off x="457200" y="4754880"/>
            <a:ext cx="137160" cy="1280160"/>
          </a:xfrm>
          <a:prstGeom prst="rect">
            <a:avLst/>
          </a:prstGeom>
          <a:solidFill>
            <a:srgbClr val="F5B700"/>
          </a:solidFill>
          <a:ln/>
        </p:spPr>
      </p:sp>
      <p:sp>
        <p:nvSpPr>
          <p:cNvPr id="8" name="Text 5"/>
          <p:cNvSpPr/>
          <p:nvPr/>
        </p:nvSpPr>
        <p:spPr>
          <a:xfrm>
            <a:off x="777240" y="4800600"/>
            <a:ext cx="10789920" cy="1188720"/>
          </a:xfrm>
          <a:prstGeom prst="rect">
            <a:avLst/>
          </a:prstGeom>
          <a:noFill/>
          <a:ln/>
        </p:spPr>
        <p:txBody>
          <a:bodyPr wrap="square" rtlCol="0" anchor="ctr">
            <a:normAutofit/>
          </a:bodyPr>
          <a:lstStyle/>
          <a:p>
            <a:pPr indent="0" marL="0">
              <a:buNone/>
            </a:pPr>
            <a:r>
              <a:rPr lang="en-US" sz="2400" b="1" dirty="0">
                <a:solidFill>
                  <a:srgbClr val="FFFFFF"/>
                </a:solidFill>
                <a:latin typeface="Arial" pitchFamily="34" charset="0"/>
                <a:ea typeface="Arial" pitchFamily="34" charset="-122"/>
                <a:cs typeface="Arial" pitchFamily="34" charset="-120"/>
              </a:rPr>
              <a:t>Próxima aula: como o projeto será avaliado</a:t>
            </a:r>
            <a:endParaRPr lang="en-US" sz="2400" dirty="0"/>
          </a:p>
        </p:txBody>
      </p:sp>
      <p:sp>
        <p:nvSpPr>
          <p:cNvPr id="9" name="Text 6"/>
          <p:cNvSpPr/>
          <p:nvPr/>
        </p:nvSpPr>
        <p:spPr>
          <a:xfrm>
            <a:off x="457200" y="914400"/>
            <a:ext cx="11247120" cy="3474720"/>
          </a:xfrm>
          <a:prstGeom prst="rect">
            <a:avLst/>
          </a:prstGeom>
          <a:noFill/>
          <a:ln/>
        </p:spPr>
        <p:txBody>
          <a:bodyPr wrap="square" rtlCol="0" anchor="ctr"/>
          <a:lstStyle/>
          <a:p>
            <a:pPr algn="ctr" indent="0" marL="0">
              <a:buNone/>
            </a:pPr>
            <a:r>
              <a:rPr lang="en-US" sz="1600" dirty="0">
                <a:solidFill>
                  <a:srgbClr val="B0B6BD"/>
                </a:solidFill>
                <a:latin typeface="Arial" pitchFamily="34" charset="0"/>
                <a:ea typeface="Arial" pitchFamily="34" charset="-122"/>
                <a:cs typeface="Arial" pitchFamily="34" charset="-120"/>
              </a:rPr>
              <a:t>[ APRESENTADOR — área do vídeo ]</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Rexar Sistemas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M12 · Aula 1 — Briefing do projeto final</dc:title>
  <dc:subject>PptxGenJS Presentation</dc:subject>
  <dc:creator>PptxGenJS</dc:creator>
  <cp:lastModifiedBy>PptxGenJS</cp:lastModifiedBy>
  <cp:revision>1</cp:revision>
  <dcterms:created xsi:type="dcterms:W3CDTF">2026-10-30T10:46:07Z</dcterms:created>
  <dcterms:modified xsi:type="dcterms:W3CDTF">2026-10-30T10:46:07Z</dcterms:modified>
</cp:coreProperties>
</file>