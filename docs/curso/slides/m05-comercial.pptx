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São cinco critérios. Primeiro, ser do grupo B e estar na área da sua distribuidora, porque é lá que a sua usina está. Segundo, consumo alto e estável. No comércio e nos serviços, algo entre mil e dez mil quilowatts-hora por mês é a faixa ideal: uma venda já ocupa uma boa fatia da usina. Nas residências, a partir de uns trezentos quilowatts-hora; abaixo disso, a economia em reais é pequena, o cliente dá o mesmo trabalho e a sua margem por cliente cai muito. Terceiro, ser bom pagador: um negócio estabelecido há anos, uma família com histórico. Quarto, não ter planos de mudar de endereço ou de instalar um sistema próprio no curto prazo. E quinto, decisor acessível: no comércio, o dono; não um processo de compras de três meses.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 prática, alguns segmentos funcionam muito bem: padarias e restaurantes, com fornos e refrigeração; clínicas e consultórios, com ar-condicionado e equipamentos; academias; escolas particulares; farmácias; pousadas; escritórios; mercados de bairro; igrejas. E residências de alto consumo, com ar-condicionado e piscina. Escolha dois ou três segmentos para começar e fique especialista neles: você aprende a linguagem, as objeções e o consumo típico, e um cliente indica outro do mesmo setor.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 quem evitar, pelo menos no começo? Clientes com consumo muito baixo. Famílias com tarifa social, que já têm desconto na tarifa e podem ter uma economia pequena — avalie caso a caso. Clientes do grupo A, cuja proposta é mais complexa, por causa da demanda; deixe para quando a operação estiver madura. Quem vai mudar de endereço em breve. E quem já tem um sistema solar próprio que cobre o consumo.
Agora, onde encontrar esses clientes. Indicação é o canal mais barato: cada cliente satisfeito conhece outros. Crie um programa de indicação desde o primeiro dia. Parceiros: contadores, que conhecem as contas de luz dos clientes; associações comerciais; imobiliárias. Prospecção ativa no comércio, com visita e a conta de luz na mão. Anúncios locais, segmentados por região. E aqui vai um ouro para quem já tem empresa solar: os leads que não compraram sistema. Pense em quantos orçamentos você fez para gente que não tinha telhado adequado, que mora de aluguel, que não tinha capital ou não conseguiu financiamento. Todos eles queriam economizar na conta de luz. Para eles, a assinatura é a resposta perfeita: economia sem investimento e sem obra. A sua base de orçamentos perdidos pode ser a sua primeira carteira de assinantes.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Resumindo: o cliente ideal é do grupo B, na sua distribuidora, com consumo alto e estável, bom pagador e decisor acessível. Escolha dois ou três segmentos e use indicação, parceiros e, se você já é do setor solar, os seus leads perdidos. Defina o seu ICP no entregável. Na próxima aula, vamos dimensionar a cota de cada cliente.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 conta de luz mais recente, você tira: o número da unidade consumidora, o titular, a classe, o tipo de ligação e, principalmente, o histórico de consumo dos últimos doze meses, que quase toda distribuidora imprime na conta, em gráfico ou tabela. Se o histórico não aparece, peça as doze últimas contas, ou o cliente pode baixá-las no aplicativo da distribuidora. Confirme também que o titular da conta é quem vai assinar o contrato. Se a conta está no nome do antigo inquilino ou de um parente, resolva isso antes: a troca de titularidade na distribuidora é responsabilidade do cliente.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 o histórico, calcule a média de doze meses. A clínica do nosso exemplo tem média de quatro mil quilowatts-hora e é trifásica. A cota é a média menos o custo de disponibilidade, cem quilowatts-hora, vezes uma margem de segurança de noventa e cinco por cento: cerca de três mil, setecentos e cinco quilowatts-hora por mês. Na usina Sol Nascente I, isso representa seis vírgula dois por cento da geração. Olhe também o mês a mês: se a clínica tem um pico no verão por causa do ar-condicionado e consome bem menos no inverno, confirme que a cota não vai gerar sobras recorrentes nos meses baixos.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Agora, a economia — na conta total, como aprendemos no módulo 3. Hoje, a clínica paga perto de quatro mil, cento e cinquenta e seis reais por mês. Com a assinatura, ela vai pagar duas coisas. Para a distribuidora: o consumo que ficou fora da cota — duzentos e noventa e cinco quilowatts-hora, o que já cobre o mínimo trifásico — e a parcela do Fio B que não é compensada sobre os quilowatts-hora compensados. E, para a sua empresa, o valor da energia compensada com o desconto. A calculadora do curso faz essa conta com os valores da sua distribuidora; aqui, com os números ilustrativos, a distribuidora fica em uns oitocentos e oitenta reais, a sua cobrança em uns dois mil, seiscentos e vinte, e a soma em torno de três mil e quinhentos reais: uma economia de uns seiscentos e cinquenta reais por mês, quase sete mil e novecentos reais por ano, cerca de dezesseis por cento da conta. Para um dono de clínica, "quase oito mil reais por ano, sem investir nada e sem obra" é uma frase muito mais forte do que "vinte por cento de desconto". Use sempre o valor em reais, por mês e por ano. E nunca arredonde para cima: prometa o que a conta mostra.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Alguns casos especiais. Cliente com várias unidades consumidoras, como uma rede de farmácias: cada unidade tem a sua cota e o seu percentual no rateio, e a plataforma trata cada uma separadamente. Cliente que está crescendo: dimensione pelo histórico e combine uma revisão em seis meses — aumentar a cota depois é fácil, reduzir pode gerar atrito. E cliente que já tem um sistema solar próprio que cobre só uma parte do consumo: a cota é sobre o que sobra, olhando o consumo líquido nas contas.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Resumindo: peça a conta, pegue o histórico de doze meses, calcule a cota com margem de segurança e apresente a economia em reais, na conta total, por mês e por ano. Na próxima aula, vamos colocar isso numa proposta que convence.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 boa proposta responde a cinco perguntas, nesta ordem. Primeira: quanto eu economizo? Em reais, por mês e por ano, como você calculou. Segunda: quanto eu preciso investir? Zero — sem obra, sem painel, sem trocar o medidor. Terceira: como funciona? Uma usina na região injeta energia na rede, os créditos vão para a conta do cliente e ele passa a pagar duas contas menores em vez de uma maior. Quarta: é seguro? Explique que é regulado por lei, que o fornecimento continua com a distribuidora, apresente a sua empresa e o contrato. Quinta: o que eu preciso fazer? A lista de documentos e o próximo passo, com data.
A maior fonte de confusão, e de cancelamento nos primeiros meses, é o cliente não entender que vai pagar duas contas. Ele recebe a conta da distribuidora bem menor, fica feliz, e depois chega a cobrança da sua empresa e ele pensa: "mas eu não ia economizar?". Por isso, a proposta precisa mostrar isso visualmente. Hoje, uma conta de quatro mil, cento e cinquenta e seis reais. Depois, duas contas: a da distribuidora, de uns oitocentos e oitenta, e a da sua empresa, de uns dois mil e seiscentos. A soma, três mil e quinhentos, é menor. A diferença, perto de seiscentos e cinquenta reais por mês, é a economia. Repita isso na reunião, coloque na proposta e repita no e-mail de boas-vindas. Cliente que entende as duas contas não cancela por susto.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Algumas condições precisam aparecer na proposta, sem letras miúdas. O prazo do contrato. A data prevista para os créditos começarem — normalmente um a três ciclos de faturamento depois da assinatura, porque depende da lista de rateio na distribuidora. Como o valor da sua cobrança é calculado todo mês: a energia compensada na fatura, com o desconto contratado. Que o valor do crédito acompanha a tarifa e as regras da distribuidora. As condições de cancelamento. E a validade da proposta. Transparência na proposta evita reclamação depois.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proposta é apresentada, não só enviada. Um roteiro de quinze minutos funciona bem. Nos três primeiros, fale da conta dele hoje: quanto paga, quanto pagou no ano — deixe ele sentir o tamanho do gasto. Do minuto três ao sete, explique como funciona e as duas contas. Do sete ao dez, mostre a economia em reais e as provas: a lei, a sua empresa, os clientes que você já atende. Do dez ao treze, dúvidas e objeções, que é o tema da próxima aula. E nos dois últimos, o próximo passo: quais documentos, quando assina, quando começam os créditos. Saia da reunião sempre com um próximo passo marcado.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Resumindo: a proposta responde às cinco perguntas, mostra as duas contas, deixa as condições claras e é apresentada numa reunião curta, com próximo passo. A plataforma gera o PDF com os números; você vai fazer isso no laboratório desta etapa. Na próxima aula, as objeções.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primeiro bloco é de confiança. "Isso é golpe?" A resposta: é um modelo previsto em lei, a Lei 14.300 de 2022; você continua cliente da distribuidora, recebendo a conta dela normalmente; nós somos uma empresa com CNPJ, com contrato por escrito; e aqui estão clientes que já atendemos — se puder, dê o contato de um cliente que aceite ser referência. "A distribuidora vai cortar a minha luz?" Não. O fornecimento continua exatamente o mesmo, pela mesma rede. A única diferença é que parte da sua energia passa a ser compensada por créditos de uma usina. "Preciso trocar o medidor ou fazer alguma obra?" Não. Nada muda na sua casa ou no seu estabelecimento.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segundo bloco é de entendimento. "Vou pagar duas contas?" Sim — e é por isso que você vai economizar: duas contas menores que, somadas, ficam abaixo da de hoje. Mostre a conta, com os números dele. "Por que não vinte por cento na conta toda?" Porque o desconto é sobre a energia compensada; uma parte da conta continua sendo da distribuidora — o mínimo e o uso da rede —, e a sua economia real é de tantos reais por mês. Seja direto e mostre o número. "E se a usina gerar menos num mês?" Você recebe proporcionalmente menos créditos e paga proporcionalmente menos para nós, porque a cobrança é calculada sobre o que foi efetivamente compensado na sua fatura. Você nunca paga por energia que não recebeu. Essa resposta é verdadeira por causa da forma como a cobrança é calculada na plataforma: ela parte da energia compensada na fatura da distribuidora.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terceiro bloco é de compromisso. "Tem fidelidade? E multa?" Responda exatamente o que o seu contrato diz: o prazo, o aviso prévio para cancelar, e se há alguma condição. Contratos com cancelamento simples, com aviso prévio de um ou dois ciclos, para que dê tempo de ajustar o rateio, vendem mais e geram menos reclamação do que multas pesadas. "E se eu mudar de endereço?" Se o novo endereço estiver na área da mesma distribuidora, a cota pode ser transferida para a nova unidade consumidora; se não, o contrato é encerrado nas condições previstas. "E essa história de Fio B, de mudança de regra?" Seja honesto: a economia acompanha as regras e a tarifa da distribuidora; a lei prevê uma transição, e nós mostramos a conta todo mês no seu relatório de economia; o contrato prevê como funciona um eventual ajuste.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 a décima, a mais comum: "vou pensar". Não pressione, mas descubra o que falta: "Claro. Para eu te ajudar: o que falta para você decidir?" Muitas vezes, a resposta revela a objeção real — confiança, entendimento, sócio que precisa aprovar. Combine uma data de retorno e envie um resumo por escrito, com a economia anual em destaque. A frase "você está deixando de economizar tantos reais por mês" funciona melhor do que qualquer pressão.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Resumindo: as objeções se dividem em confiança, entendimento, compromisso e timing. Responda curto, com verdade e com o número do cliente na mão. A lista completa, com as respostas, está nos materiais: adapte ao seu contrato e treine com o seu time. Na próxima aula, como organizar o funil e a carteira dos vendedores.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funil da assinatura tem estas etapas. O lead, que é o contato inicial. A conta de luz recebida — esse é o primeiro sinal real de interesse. A proposta apresentada. O aceite. O contrato assinado com os documentos. A inclusão no rateio da usina. E a primeira cobrança paga, que é quando a venda de fato aconteceu. Os percentuais na tela são ilustrativos, mas mostram uma lógica: de cada cem leads, talvez metade envie a conta, e, no fim, uns catorze viram clientes pagantes. Meça as suas taxas reais desde o primeiro mês; elas vão dizer onde o funil está vazando.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Agora, ligue o funil ao seu plano. No módulo 3, o ponto de equilíbrio do exemplo era de uns quinhentos e quarenta clientes. Se você quer chegar lá em dezoito meses, precisa de trinta clientes novos por mês. Com uma conversão de catorze por cento, são cerca de duzentos e quinze leads por mês. Se um consultor fecha, em média, seis clientes por mês, você precisa de cinco consultores. Esses números mostram, logo de cara, se o seu plano é realista e quanto você precisa investir em marketing e em equipe. E lembre: clientes empresariais trazem mais quilowatts-hora por venda, o que reduz o número de vendas necessárias.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comissão define o comportamento do time. Se você paga por contrato assinado, o vendedor fecha qualquer cliente — o que consome pouco, o que vai mudar, o que não entendeu as duas contas. Se você paga depois da primeira cobrança paga, ele se preocupa com o cliente certo e com a explicação correta. Um modelo que funciona bem: uma comissão equivalente a uma mensalidade depois da primeira cobrança paga, mais uma pequena recorrência enquanto o cliente permanecer ativo. Assim, o vendedor também ganha com a retenção.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 plataforma, cada consultor trabalha na própria carteira: vê só os clientes, produtores e propostas dele. As propostas têm status — rascunho, emitida, enviada, aprovada, recusada, expirada, convertida —, que correspondem às etapas do funil. Toda semana, olhe com cada consultor as propostas enviadas e não respondidas e as que vão expirar. Como administrador, você vê todos os consultores, e os relatórios mostram o desempenho de cada 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Resumindo: meça o funil, derive a meta de vendas do seu ponto de equilíbrio, pague comissão sobre cliente pagante e faça a revisão semanal das propostas. No laboratório a seguir, você cadastra os primeiros clientes e as propostas da sua empresa.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Abra Cliente Consumidor e depois Clientes. Clique para cadastrar um novo cliente. Vamos usar uma academia fictícia: pessoa jurídica, com o CNPJ da lista de documentos do curso. Preencha a razão social, o nome fantasia e os contatos — e-mail e celular são importantes, porque é por eles que o cliente vai receber o convite do portal e os avisos de cobrança. Salve. O cliente recebe um código e já entra com o desconto padrão da sua empresa, aquele que você configurou no módulo 3. Como no produtor, a plataforma valida os dígitos do CPF ou CNPJ e não deixa cadastrar o mesmo documento duas vezes.
Agora, a unidade consumidora. Na ficha do cliente, abra a aba de unidades consumidoras e cadastre uma nova. O código da UC é o número da instalação que aparece na conta de luz; pode digitar com pontos e traços, a plataforma guarda só os dígitos. Dê um rótulo que ajude a identificar, como "Academia — Centro". Escolha a concessionária — a mesma da sua usina. E informe o consumo previsto mensal: a média de doze meses, seis mil e duzentos quilowatts-hora. Salve. Repare: a combinação de código da UC e concessionária é única no sistema. Se alguém tentar cadastrar a mesma UC de novo, a plataforma impede. Isso é fundamental, porque é pela UC que as faturas da distribuidora vão ser associadas ao cliente certo no módulo 7.
Agora abra Cliente Consumidor, Propostas, e crie uma nova. Selecione a academia. Escolha a concessionária e a unidade consumidora. Informe a média de consumo e o valor médio da conta, em reais — é com eles que a proposta calcula a economia. A taxa de redução já vem com o desconto do cliente; ajuste se você negociou algo diferente. Preencha o prazo e a validade da proposta e, nas observações, o que for específico, como a data prevista de início dos créditos. Salve. A proposta nasce com o status de emitida. Quando você enviar ao cliente, mude para enviada; quando ele aceitar, aprovada. Esses status alimentam o funil que você viu na aula anterior.
Gere o PDF. A proposta sai com a identidade visual da sua empresa, a economia estimada e as condições. Confira os números com a sua calculadora: se a economia mostrada for diferente da que você calculou na conta total, entenda o porquê antes de enviar — por exemplo, se o valor médio informado inclui iluminação pública ou bandeira. O link do PDF é temporário; para enviar, baixe o arquivo ou use a opção de enviar ao cliente, que gera uma mensagem pronta no WhatsApp com o seu número de consultor. O envio continua sendo um clique humano: nada sai sozinho.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jp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jp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2191695" cy="128016"/>
          </a:xfrm>
          <a:prstGeom prst="rect">
            <a:avLst/>
          </a:prstGeom>
          <a:solidFill>
            <a:srgbClr val="F7A23B"/>
          </a:solidFill>
          <a:ln/>
        </p:spPr>
      </p:sp>
      <p:pic>
        <p:nvPicPr>
          <p:cNvPr id="3" name="Image 0" descr="/www/wwwroot/rexar/gdsolar/docs/curso/slides/assets/logo-gdsolar.png">    </p:cNvPr>
          <p:cNvPicPr>
            <a:picLocks noChangeAspect="1"/>
          </p:cNvPicPr>
          <p:nvPr/>
        </p:nvPicPr>
        <p:blipFill>
          <a:blip r:embed="rId1"/>
          <a:stretch>
            <a:fillRect/>
          </a:stretch>
        </p:blipFill>
        <p:spPr>
          <a:xfrm>
            <a:off x="640080" y="594360"/>
            <a:ext cx="822960" cy="822960"/>
          </a:xfrm>
          <a:prstGeom prst="rect">
            <a:avLst/>
          </a:prstGeom>
        </p:spPr>
      </p:pic>
      <p:sp>
        <p:nvSpPr>
          <p:cNvPr id="4" name="Text 1"/>
          <p:cNvSpPr/>
          <p:nvPr/>
        </p:nvSpPr>
        <p:spPr>
          <a:xfrm>
            <a:off x="1600200" y="566928"/>
            <a:ext cx="7315200" cy="868680"/>
          </a:xfrm>
          <a:prstGeom prst="rect">
            <a:avLst/>
          </a:prstGeom>
          <a:noFill/>
          <a:ln/>
        </p:spPr>
        <p:txBody>
          <a:bodyPr wrap="square" rtlCol="0" anchor="ctr"/>
          <a:lstStyle/>
          <a:p>
            <a:pPr indent="0" marL="0">
              <a:buNone/>
            </a:pPr>
            <a:r>
              <a:rPr lang="en-US" sz="1800" b="1" dirty="0">
                <a:solidFill>
                  <a:srgbClr val="FFFFFF"/>
                </a:solidFill>
                <a:latin typeface="Arial" pitchFamily="34" charset="0"/>
                <a:ea typeface="Arial" pitchFamily="34" charset="-122"/>
                <a:cs typeface="Arial" pitchFamily="34" charset="-120"/>
              </a:rPr>
              <a:t>GD Solar
</a:t>
            </a:r>
            <a:pPr indent="0" marL="0">
              <a:buNone/>
            </a:pPr>
            <a:r>
              <a:rPr lang="en-US" sz="1300" dirty="0">
                <a:solidFill>
                  <a:srgbClr val="C7D2E3"/>
                </a:solidFill>
                <a:latin typeface="Arial" pitchFamily="34" charset="0"/>
                <a:ea typeface="Arial" pitchFamily="34" charset="-122"/>
                <a:cs typeface="Arial" pitchFamily="34" charset="-120"/>
              </a:rPr>
              <a:t>Formação em Energia por Assinatura</a:t>
            </a:r>
            <a:endParaRPr lang="en-US" sz="1800" dirty="0"/>
          </a:p>
        </p:txBody>
      </p:sp>
      <p:sp>
        <p:nvSpPr>
          <p:cNvPr id="5" name="Text 2"/>
          <p:cNvSpPr/>
          <p:nvPr/>
        </p:nvSpPr>
        <p:spPr>
          <a:xfrm>
            <a:off x="640080" y="1920240"/>
            <a:ext cx="10972800" cy="411480"/>
          </a:xfrm>
          <a:prstGeom prst="rect">
            <a:avLst/>
          </a:prstGeom>
          <a:noFill/>
          <a:ln/>
        </p:spPr>
        <p:txBody>
          <a:bodyPr wrap="square" rtlCol="0" anchor="ctr"/>
          <a:lstStyle/>
          <a:p>
            <a:pPr indent="0" marL="0">
              <a:buNone/>
            </a:pPr>
            <a:r>
              <a:rPr lang="en-US" sz="1400" b="1" spc="100" kern="0" dirty="0">
                <a:solidFill>
                  <a:srgbClr val="F7A23B"/>
                </a:solidFill>
                <a:latin typeface="Arial" pitchFamily="34" charset="0"/>
                <a:ea typeface="Arial" pitchFamily="34" charset="-122"/>
                <a:cs typeface="Arial" pitchFamily="34" charset="-120"/>
              </a:rPr>
              <a:t>M5  ·  ETAPA 3 · OPERAÇÃO PONTA A PONTA</a:t>
            </a:r>
            <a:endParaRPr lang="en-US" sz="1400" dirty="0"/>
          </a:p>
        </p:txBody>
      </p:sp>
      <p:sp>
        <p:nvSpPr>
          <p:cNvPr id="6" name="Text 3"/>
          <p:cNvSpPr/>
          <p:nvPr/>
        </p:nvSpPr>
        <p:spPr>
          <a:xfrm>
            <a:off x="640080" y="2331720"/>
            <a:ext cx="10972800" cy="1188720"/>
          </a:xfrm>
          <a:prstGeom prst="rect">
            <a:avLst/>
          </a:prstGeom>
          <a:noFill/>
          <a:ln/>
        </p:spPr>
        <p:txBody>
          <a:bodyPr wrap="square" rtlCol="0" anchor="t">
            <a:normAutofit/>
          </a:bodyPr>
          <a:lstStyle/>
          <a:p>
            <a:pPr indent="0" marL="0">
              <a:buNone/>
            </a:pPr>
            <a:r>
              <a:rPr lang="en-US" sz="4000" b="1" dirty="0">
                <a:solidFill>
                  <a:srgbClr val="FFFFFF"/>
                </a:solidFill>
                <a:latin typeface="Arial" pitchFamily="34" charset="0"/>
                <a:ea typeface="Arial" pitchFamily="34" charset="-122"/>
                <a:cs typeface="Arial" pitchFamily="34" charset="-120"/>
              </a:rPr>
              <a:t>Comercial: do lead à proposta</a:t>
            </a:r>
            <a:endParaRPr lang="en-US" sz="4000" dirty="0"/>
          </a:p>
        </p:txBody>
      </p:sp>
      <p:sp>
        <p:nvSpPr>
          <p:cNvPr id="7" name="Text 4"/>
          <p:cNvSpPr/>
          <p:nvPr/>
        </p:nvSpPr>
        <p:spPr>
          <a:xfrm>
            <a:off x="640080" y="3657600"/>
            <a:ext cx="6583680" cy="2743200"/>
          </a:xfrm>
          <a:prstGeom prst="rect">
            <a:avLst/>
          </a:prstGeom>
          <a:noFill/>
          <a:ln/>
        </p:spPr>
        <p:txBody>
          <a:bodyPr wrap="square" rtlCol="0" anchor="t">
            <a:normAutofit/>
          </a:bodyPr>
          <a:lstStyle/>
          <a:p>
            <a:pPr indent="0" marL="0">
              <a:spcAft>
                <a:spcPts val="400"/>
              </a:spcAft>
              <a:buNone/>
            </a:pPr>
            <a:r>
              <a:rPr lang="en-US" sz="1400" dirty="0">
                <a:solidFill>
                  <a:srgbClr val="C7D2E3"/>
                </a:solidFill>
                <a:latin typeface="Arial" pitchFamily="34" charset="0"/>
                <a:ea typeface="Arial" pitchFamily="34" charset="-122"/>
                <a:cs typeface="Arial" pitchFamily="34" charset="-120"/>
              </a:rPr>
              <a:t>1. Quem é o cliente ideal de GD compartilhada</a:t>
            </a:r>
            <a:endParaRPr lang="en-US" sz="1400" dirty="0"/>
          </a:p>
          <a:p>
            <a:pPr indent="0" marL="0">
              <a:spcAft>
                <a:spcPts val="400"/>
              </a:spcAft>
              <a:buNone/>
            </a:pPr>
            <a:r>
              <a:rPr lang="en-US" sz="1400" dirty="0">
                <a:solidFill>
                  <a:srgbClr val="C7D2E3"/>
                </a:solidFill>
                <a:latin typeface="Arial" pitchFamily="34" charset="0"/>
                <a:ea typeface="Arial" pitchFamily="34" charset="-122"/>
                <a:cs typeface="Arial" pitchFamily="34" charset="-120"/>
              </a:rPr>
              <a:t>2. Dimensionando a cota do cliente</a:t>
            </a:r>
            <a:endParaRPr lang="en-US" sz="1400" dirty="0"/>
          </a:p>
          <a:p>
            <a:pPr indent="0" marL="0">
              <a:spcAft>
                <a:spcPts val="400"/>
              </a:spcAft>
              <a:buNone/>
            </a:pPr>
            <a:r>
              <a:rPr lang="en-US" sz="1400" dirty="0">
                <a:solidFill>
                  <a:srgbClr val="C7D2E3"/>
                </a:solidFill>
                <a:latin typeface="Arial" pitchFamily="34" charset="0"/>
                <a:ea typeface="Arial" pitchFamily="34" charset="-122"/>
                <a:cs typeface="Arial" pitchFamily="34" charset="-120"/>
              </a:rPr>
              <a:t>3. A proposta comercial que converte</a:t>
            </a:r>
            <a:endParaRPr lang="en-US" sz="1400" dirty="0"/>
          </a:p>
          <a:p>
            <a:pPr indent="0" marL="0">
              <a:spcAft>
                <a:spcPts val="400"/>
              </a:spcAft>
              <a:buNone/>
            </a:pPr>
            <a:r>
              <a:rPr lang="en-US" sz="1400" dirty="0">
                <a:solidFill>
                  <a:srgbClr val="C7D2E3"/>
                </a:solidFill>
                <a:latin typeface="Arial" pitchFamily="34" charset="0"/>
                <a:ea typeface="Arial" pitchFamily="34" charset="-122"/>
                <a:cs typeface="Arial" pitchFamily="34" charset="-120"/>
              </a:rPr>
              <a:t>4. Objeções e argumentos</a:t>
            </a:r>
            <a:endParaRPr lang="en-US" sz="1400" dirty="0"/>
          </a:p>
          <a:p>
            <a:pPr indent="0" marL="0">
              <a:spcAft>
                <a:spcPts val="400"/>
              </a:spcAft>
              <a:buNone/>
            </a:pPr>
            <a:r>
              <a:rPr lang="en-US" sz="1400" dirty="0">
                <a:solidFill>
                  <a:srgbClr val="C7D2E3"/>
                </a:solidFill>
                <a:latin typeface="Arial" pitchFamily="34" charset="0"/>
                <a:ea typeface="Arial" pitchFamily="34" charset="-122"/>
                <a:cs typeface="Arial" pitchFamily="34" charset="-120"/>
              </a:rPr>
              <a:t>5. Funil e carteira do consultor</a:t>
            </a:r>
            <a:endParaRPr lang="en-US" sz="1400" dirty="0"/>
          </a:p>
          <a:p>
            <a:pPr indent="0" marL="0">
              <a:spcAft>
                <a:spcPts val="400"/>
              </a:spcAft>
              <a:buNone/>
            </a:pPr>
            <a:r>
              <a:rPr lang="en-US" sz="1400" dirty="0">
                <a:solidFill>
                  <a:srgbClr val="C7D2E3"/>
                </a:solidFill>
                <a:latin typeface="Arial" pitchFamily="34" charset="0"/>
                <a:ea typeface="Arial" pitchFamily="34" charset="-122"/>
                <a:cs typeface="Arial" pitchFamily="34" charset="-120"/>
              </a:rPr>
              <a:t>6. cliente, unidade consumidora e proposta comercial</a:t>
            </a:r>
            <a:endParaRPr lang="en-US" sz="1400" dirty="0"/>
          </a:p>
        </p:txBody>
      </p:sp>
      <p:sp>
        <p:nvSpPr>
          <p:cNvPr id="8" name="Shape 5"/>
          <p:cNvSpPr/>
          <p:nvPr/>
        </p:nvSpPr>
        <p:spPr>
          <a:xfrm>
            <a:off x="7589520" y="3657600"/>
            <a:ext cx="3977640" cy="2743200"/>
          </a:xfrm>
          <a:prstGeom prst="roundRect">
            <a:avLst>
              <a:gd name="adj" fmla="val 3333"/>
            </a:avLst>
          </a:prstGeom>
          <a:solidFill>
            <a:srgbClr val="11396F"/>
          </a:solidFill>
          <a:ln/>
        </p:spPr>
      </p:sp>
      <p:sp>
        <p:nvSpPr>
          <p:cNvPr id="9" name="Text 6"/>
          <p:cNvSpPr/>
          <p:nvPr/>
        </p:nvSpPr>
        <p:spPr>
          <a:xfrm>
            <a:off x="7772400" y="3749040"/>
            <a:ext cx="3611880" cy="2560320"/>
          </a:xfrm>
          <a:prstGeom prst="rect">
            <a:avLst/>
          </a:prstGeom>
          <a:noFill/>
          <a:ln/>
        </p:spPr>
        <p:txBody>
          <a:bodyPr wrap="square" rtlCol="0" anchor="t">
            <a:normAutofit/>
          </a:bodyPr>
          <a:lstStyle/>
          <a:p>
            <a:pPr indent="0" marL="0">
              <a:buNone/>
            </a:pPr>
            <a:r>
              <a:rPr lang="en-US" sz="1300" b="1" dirty="0">
                <a:solidFill>
                  <a:srgbClr val="F7A23B"/>
                </a:solidFill>
                <a:latin typeface="Arial" pitchFamily="34" charset="0"/>
                <a:ea typeface="Arial" pitchFamily="34" charset="-122"/>
                <a:cs typeface="Arial" pitchFamily="34" charset="-120"/>
              </a:rPr>
              <a:t>Ao final do módulo
</a:t>
            </a:r>
            <a:endParaRPr lang="en-US" sz="1300" dirty="0"/>
          </a:p>
          <a:p>
            <a:pPr marL="342900" indent="-342900">
              <a:buSzPct val="100000"/>
              <a:buChar char="✔"/>
            </a:pPr>
            <a:r>
              <a:rPr lang="en-US" sz="1100" dirty="0">
                <a:solidFill>
                  <a:srgbClr val="FFFFFF"/>
                </a:solidFill>
                <a:latin typeface="Arial" pitchFamily="34" charset="0"/>
                <a:ea typeface="Arial" pitchFamily="34" charset="-122"/>
                <a:cs typeface="Arial" pitchFamily="34" charset="-120"/>
              </a:rPr>
              <a:t>Definir o cliente ideal (ICP) e os canais de aquisição — incluindo os leads perdidos de sistema solar, para quem já tem empresa solar.</a:t>
            </a:r>
            <a:endParaRPr lang="en-US" sz="1300" dirty="0"/>
          </a:p>
          <a:p>
            <a:pPr marL="342900" indent="-342900">
              <a:buSzPct val="100000"/>
              <a:buChar char="✔"/>
            </a:pPr>
            <a:r>
              <a:rPr lang="en-US" sz="1100" dirty="0">
                <a:solidFill>
                  <a:srgbClr val="FFFFFF"/>
                </a:solidFill>
                <a:latin typeface="Arial" pitchFamily="34" charset="0"/>
                <a:ea typeface="Arial" pitchFamily="34" charset="-122"/>
                <a:cs typeface="Arial" pitchFamily="34" charset="-120"/>
              </a:rPr>
              <a:t>Dimensionar a cota do cliente e estimar a economia real (na conta total).</a:t>
            </a:r>
            <a:endParaRPr lang="en-US" sz="1300" dirty="0"/>
          </a:p>
          <a:p>
            <a:pPr marL="342900" indent="-342900">
              <a:buSzPct val="100000"/>
              <a:buChar char="✔"/>
            </a:pPr>
            <a:r>
              <a:rPr lang="en-US" sz="1100" dirty="0">
                <a:solidFill>
                  <a:srgbClr val="FFFFFF"/>
                </a:solidFill>
                <a:latin typeface="Arial" pitchFamily="34" charset="0"/>
                <a:ea typeface="Arial" pitchFamily="34" charset="-122"/>
                <a:cs typeface="Arial" pitchFamily="34" charset="-120"/>
              </a:rPr>
              <a:t>Montar uma proposta comercial clara, que explique as "duas contas".</a:t>
            </a:r>
            <a:endParaRPr lang="en-US" sz="1300" dirty="0"/>
          </a:p>
          <a:p>
            <a:pPr marL="342900" indent="-342900">
              <a:buSzPct val="100000"/>
              <a:buChar char="✔"/>
            </a:pPr>
            <a:r>
              <a:rPr lang="en-US" sz="1100" dirty="0">
                <a:solidFill>
                  <a:srgbClr val="FFFFFF"/>
                </a:solidFill>
                <a:latin typeface="Arial" pitchFamily="34" charset="0"/>
                <a:ea typeface="Arial" pitchFamily="34" charset="-122"/>
                <a:cs typeface="Arial" pitchFamily="34" charset="-120"/>
              </a:rPr>
              <a:t>Responder às principais objeções.</a:t>
            </a:r>
            <a:endParaRPr lang="en-US" sz="1300" dirty="0"/>
          </a:p>
          <a:p>
            <a:pPr marL="342900" indent="-342900">
              <a:buSzPct val="100000"/>
              <a:buChar char="✔"/>
            </a:pPr>
            <a:r>
              <a:rPr lang="en-US" sz="1100" dirty="0">
                <a:solidFill>
                  <a:srgbClr val="FFFFFF"/>
                </a:solidFill>
                <a:latin typeface="Arial" pitchFamily="34" charset="0"/>
                <a:ea typeface="Arial" pitchFamily="34" charset="-122"/>
                <a:cs typeface="Arial" pitchFamily="34" charset="-120"/>
              </a:rPr>
              <a:t>Organizar funil, metas, comissão e carteira por consultor.</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1</a:t>
            </a:r>
            <a:endParaRPr lang="en-US" sz="1800" dirty="0"/>
          </a:p>
        </p:txBody>
      </p:sp>
      <p:sp>
        <p:nvSpPr>
          <p:cNvPr id="4" name="Text 2"/>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Aula</a:t>
            </a:r>
            <a:endParaRPr lang="en-US" sz="1400" dirty="0"/>
          </a:p>
        </p:txBody>
      </p:sp>
      <p:pic>
        <p:nvPicPr>
          <p:cNvPr id="5"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6" name="Text 3"/>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Quem é o cliente ideal de GD compartilhada</a:t>
            </a:r>
            <a:endParaRPr lang="en-US" sz="3200" dirty="0"/>
          </a:p>
        </p:txBody>
      </p:sp>
      <p:sp>
        <p:nvSpPr>
          <p:cNvPr id="7" name="Text 4"/>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Definir o ICP da empresa e os canais de aquisição</a:t>
            </a:r>
            <a:endParaRPr lang="en-US" sz="1500" dirty="0"/>
          </a:p>
        </p:txBody>
      </p:sp>
      <p:sp>
        <p:nvSpPr>
          <p:cNvPr id="8" name="Text 5"/>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Os critérios do cliente ideal</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Segmentos que funcionam</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Quem evitar</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Os canais de aquisição</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M5 · Aula 1</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1 · QUEM É O CLIENTE IDEAL DE GD COMPARTILHADA</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Os critérios do cliente ideal</a:t>
            </a:r>
            <a:endParaRPr lang="en-US" sz="2600" dirty="0"/>
          </a:p>
        </p:txBody>
      </p:sp>
      <p:sp>
        <p:nvSpPr>
          <p:cNvPr id="9" name="Shape 6"/>
          <p:cNvSpPr/>
          <p:nvPr/>
        </p:nvSpPr>
        <p:spPr>
          <a:xfrm>
            <a:off x="411480" y="132588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594360" y="1508760"/>
            <a:ext cx="457200" cy="457200"/>
          </a:xfrm>
          <a:prstGeom prst="ellipse">
            <a:avLst/>
          </a:prstGeom>
          <a:solidFill>
            <a:srgbClr val="1B3A6B"/>
          </a:solidFill>
          <a:ln/>
        </p:spPr>
      </p:sp>
      <p:sp>
        <p:nvSpPr>
          <p:cNvPr id="11" name="Text 8"/>
          <p:cNvSpPr/>
          <p:nvPr/>
        </p:nvSpPr>
        <p:spPr>
          <a:xfrm>
            <a:off x="59436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188720" y="143560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Grupo B, na área da sua distribuidora</a:t>
            </a:r>
            <a:endParaRPr lang="en-US" sz="1800" dirty="0"/>
          </a:p>
        </p:txBody>
      </p:sp>
      <p:sp>
        <p:nvSpPr>
          <p:cNvPr id="13" name="Shape 10"/>
          <p:cNvSpPr/>
          <p:nvPr/>
        </p:nvSpPr>
        <p:spPr>
          <a:xfrm>
            <a:off x="4282440" y="132588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465320" y="1508760"/>
            <a:ext cx="457200" cy="457200"/>
          </a:xfrm>
          <a:prstGeom prst="ellipse">
            <a:avLst/>
          </a:prstGeom>
          <a:solidFill>
            <a:srgbClr val="F7A23B"/>
          </a:solidFill>
          <a:ln/>
        </p:spPr>
      </p:sp>
      <p:sp>
        <p:nvSpPr>
          <p:cNvPr id="15" name="Text 12"/>
          <p:cNvSpPr/>
          <p:nvPr/>
        </p:nvSpPr>
        <p:spPr>
          <a:xfrm>
            <a:off x="44653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5059680" y="143560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Consumo alto e estável (comércio: 1.000–10.000 kWh; residência: ≥ 300 kWh)</a:t>
            </a:r>
            <a:endParaRPr lang="en-US" sz="1800" dirty="0"/>
          </a:p>
        </p:txBody>
      </p:sp>
      <p:sp>
        <p:nvSpPr>
          <p:cNvPr id="17" name="Shape 14"/>
          <p:cNvSpPr/>
          <p:nvPr/>
        </p:nvSpPr>
        <p:spPr>
          <a:xfrm>
            <a:off x="8153400" y="132588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336280" y="1508760"/>
            <a:ext cx="457200" cy="457200"/>
          </a:xfrm>
          <a:prstGeom prst="ellipse">
            <a:avLst/>
          </a:prstGeom>
          <a:solidFill>
            <a:srgbClr val="1B3A6B"/>
          </a:solidFill>
          <a:ln/>
        </p:spPr>
      </p:sp>
      <p:sp>
        <p:nvSpPr>
          <p:cNvPr id="19" name="Text 16"/>
          <p:cNvSpPr/>
          <p:nvPr/>
        </p:nvSpPr>
        <p:spPr>
          <a:xfrm>
            <a:off x="833628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8930640" y="143560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Bom pagador / negócio estabelecido</a:t>
            </a:r>
            <a:endParaRPr lang="en-US" sz="1800" dirty="0"/>
          </a:p>
        </p:txBody>
      </p:sp>
      <p:sp>
        <p:nvSpPr>
          <p:cNvPr id="21" name="Shape 18"/>
          <p:cNvSpPr/>
          <p:nvPr/>
        </p:nvSpPr>
        <p:spPr>
          <a:xfrm>
            <a:off x="411480" y="388620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2" name="Shape 19"/>
          <p:cNvSpPr/>
          <p:nvPr/>
        </p:nvSpPr>
        <p:spPr>
          <a:xfrm>
            <a:off x="594360" y="4069080"/>
            <a:ext cx="457200" cy="457200"/>
          </a:xfrm>
          <a:prstGeom prst="ellipse">
            <a:avLst/>
          </a:prstGeom>
          <a:solidFill>
            <a:srgbClr val="F7A23B"/>
          </a:solidFill>
          <a:ln/>
        </p:spPr>
      </p:sp>
      <p:sp>
        <p:nvSpPr>
          <p:cNvPr id="23" name="Text 20"/>
          <p:cNvSpPr/>
          <p:nvPr/>
        </p:nvSpPr>
        <p:spPr>
          <a:xfrm>
            <a:off x="59436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4" name="Text 21"/>
          <p:cNvSpPr/>
          <p:nvPr/>
        </p:nvSpPr>
        <p:spPr>
          <a:xfrm>
            <a:off x="1188720" y="399592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Sem planos de mudança ou de sistema próprio</a:t>
            </a:r>
            <a:endParaRPr lang="en-US" sz="1800" dirty="0"/>
          </a:p>
        </p:txBody>
      </p:sp>
      <p:sp>
        <p:nvSpPr>
          <p:cNvPr id="25" name="Shape 22"/>
          <p:cNvSpPr/>
          <p:nvPr/>
        </p:nvSpPr>
        <p:spPr>
          <a:xfrm>
            <a:off x="4282440" y="388620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6" name="Shape 23"/>
          <p:cNvSpPr/>
          <p:nvPr/>
        </p:nvSpPr>
        <p:spPr>
          <a:xfrm>
            <a:off x="4465320" y="4069080"/>
            <a:ext cx="457200" cy="457200"/>
          </a:xfrm>
          <a:prstGeom prst="ellipse">
            <a:avLst/>
          </a:prstGeom>
          <a:solidFill>
            <a:srgbClr val="1B3A6B"/>
          </a:solidFill>
          <a:ln/>
        </p:spPr>
      </p:sp>
      <p:sp>
        <p:nvSpPr>
          <p:cNvPr id="27" name="Text 24"/>
          <p:cNvSpPr/>
          <p:nvPr/>
        </p:nvSpPr>
        <p:spPr>
          <a:xfrm>
            <a:off x="446532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8" name="Text 25"/>
          <p:cNvSpPr/>
          <p:nvPr/>
        </p:nvSpPr>
        <p:spPr>
          <a:xfrm>
            <a:off x="5059680" y="399592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Decisor acessível</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M5 · Aula 1</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1 · QUEM É O CLIENTE IDEAL DE GD COMPARTILHADA</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Segmentos que funcionam</a:t>
            </a:r>
            <a:endParaRPr lang="en-US" sz="2600" dirty="0"/>
          </a:p>
        </p:txBody>
      </p:sp>
      <p:sp>
        <p:nvSpPr>
          <p:cNvPr id="9" name="Text 6"/>
          <p:cNvSpPr/>
          <p:nvPr/>
        </p:nvSpPr>
        <p:spPr>
          <a:xfrm>
            <a:off x="548640" y="1325880"/>
            <a:ext cx="11155680" cy="4937760"/>
          </a:xfrm>
          <a:prstGeom prst="rect">
            <a:avLst/>
          </a:prstGeom>
          <a:noFill/>
          <a:ln/>
        </p:spPr>
        <p:txBody>
          <a:bodyPr wrap="square" rtlCol="0" anchor="t">
            <a:normAutofit/>
          </a:bodyPr>
          <a:lstStyle/>
          <a:p>
            <a:pPr marL="342900" indent="-342900">
              <a:spcAft>
                <a:spcPts val="600"/>
              </a:spcAft>
              <a:buSzPct val="100000"/>
              <a:buChar char="●"/>
            </a:pPr>
            <a:r>
              <a:rPr lang="en-US" sz="1800" dirty="0">
                <a:solidFill>
                  <a:srgbClr val="1F2937"/>
                </a:solidFill>
                <a:latin typeface="Arial" pitchFamily="34" charset="0"/>
                <a:ea typeface="Arial" pitchFamily="34" charset="-122"/>
                <a:cs typeface="Arial" pitchFamily="34" charset="-120"/>
              </a:rPr>
              <a:t>Padarias</a:t>
            </a:r>
            <a:endParaRPr lang="en-US" sz="1800" dirty="0"/>
          </a:p>
          <a:p>
            <a:pPr marL="342900" indent="-342900">
              <a:spcAft>
                <a:spcPts val="600"/>
              </a:spcAft>
              <a:buSzPct val="100000"/>
              <a:buChar char="●"/>
            </a:pPr>
            <a:r>
              <a:rPr lang="en-US" sz="1800" dirty="0">
                <a:solidFill>
                  <a:srgbClr val="1F2937"/>
                </a:solidFill>
                <a:latin typeface="Arial" pitchFamily="34" charset="0"/>
                <a:ea typeface="Arial" pitchFamily="34" charset="-122"/>
                <a:cs typeface="Arial" pitchFamily="34" charset="-120"/>
              </a:rPr>
              <a:t>restaurantes</a:t>
            </a:r>
            <a:endParaRPr lang="en-US" sz="1800" dirty="0"/>
          </a:p>
          <a:p>
            <a:pPr marL="342900" indent="-342900">
              <a:spcAft>
                <a:spcPts val="600"/>
              </a:spcAft>
              <a:buSzPct val="100000"/>
              <a:buChar char="●"/>
            </a:pPr>
            <a:r>
              <a:rPr lang="en-US" sz="1800" dirty="0">
                <a:solidFill>
                  <a:srgbClr val="1F2937"/>
                </a:solidFill>
                <a:latin typeface="Arial" pitchFamily="34" charset="0"/>
                <a:ea typeface="Arial" pitchFamily="34" charset="-122"/>
                <a:cs typeface="Arial" pitchFamily="34" charset="-120"/>
              </a:rPr>
              <a:t>clínicas e consultórios</a:t>
            </a:r>
            <a:endParaRPr lang="en-US" sz="1800" dirty="0"/>
          </a:p>
          <a:p>
            <a:pPr marL="342900" indent="-342900">
              <a:spcAft>
                <a:spcPts val="600"/>
              </a:spcAft>
              <a:buSzPct val="100000"/>
              <a:buChar char="●"/>
            </a:pPr>
            <a:r>
              <a:rPr lang="en-US" sz="1800" dirty="0">
                <a:solidFill>
                  <a:srgbClr val="1F2937"/>
                </a:solidFill>
                <a:latin typeface="Arial" pitchFamily="34" charset="0"/>
                <a:ea typeface="Arial" pitchFamily="34" charset="-122"/>
                <a:cs typeface="Arial" pitchFamily="34" charset="-120"/>
              </a:rPr>
              <a:t>academias</a:t>
            </a:r>
            <a:endParaRPr lang="en-US" sz="1800" dirty="0"/>
          </a:p>
          <a:p>
            <a:pPr marL="342900" indent="-342900">
              <a:spcAft>
                <a:spcPts val="600"/>
              </a:spcAft>
              <a:buSzPct val="100000"/>
              <a:buChar char="●"/>
            </a:pPr>
            <a:r>
              <a:rPr lang="en-US" sz="1800" dirty="0">
                <a:solidFill>
                  <a:srgbClr val="1F2937"/>
                </a:solidFill>
                <a:latin typeface="Arial" pitchFamily="34" charset="0"/>
                <a:ea typeface="Arial" pitchFamily="34" charset="-122"/>
                <a:cs typeface="Arial" pitchFamily="34" charset="-120"/>
              </a:rPr>
              <a:t>escolas</a:t>
            </a:r>
            <a:endParaRPr lang="en-US" sz="1800" dirty="0"/>
          </a:p>
          <a:p>
            <a:pPr marL="342900" indent="-342900">
              <a:spcAft>
                <a:spcPts val="600"/>
              </a:spcAft>
              <a:buSzPct val="100000"/>
              <a:buChar char="●"/>
            </a:pPr>
            <a:r>
              <a:rPr lang="en-US" sz="1800" dirty="0">
                <a:solidFill>
                  <a:srgbClr val="1F2937"/>
                </a:solidFill>
                <a:latin typeface="Arial" pitchFamily="34" charset="0"/>
                <a:ea typeface="Arial" pitchFamily="34" charset="-122"/>
                <a:cs typeface="Arial" pitchFamily="34" charset="-120"/>
              </a:rPr>
              <a:t>farmácias</a:t>
            </a:r>
            <a:endParaRPr lang="en-US" sz="1800" dirty="0"/>
          </a:p>
          <a:p>
            <a:pPr marL="342900" indent="-342900">
              <a:spcAft>
                <a:spcPts val="600"/>
              </a:spcAft>
              <a:buSzPct val="100000"/>
              <a:buChar char="●"/>
            </a:pPr>
            <a:r>
              <a:rPr lang="en-US" sz="1800" dirty="0">
                <a:solidFill>
                  <a:srgbClr val="1F2937"/>
                </a:solidFill>
                <a:latin typeface="Arial" pitchFamily="34" charset="0"/>
                <a:ea typeface="Arial" pitchFamily="34" charset="-122"/>
                <a:cs typeface="Arial" pitchFamily="34" charset="-120"/>
              </a:rPr>
              <a:t>pousadas</a:t>
            </a:r>
            <a:endParaRPr lang="en-US" sz="1800" dirty="0"/>
          </a:p>
          <a:p>
            <a:pPr marL="342900" indent="-342900">
              <a:spcAft>
                <a:spcPts val="600"/>
              </a:spcAft>
              <a:buSzPct val="100000"/>
              <a:buChar char="●"/>
            </a:pPr>
            <a:r>
              <a:rPr lang="en-US" sz="1800" dirty="0">
                <a:solidFill>
                  <a:srgbClr val="1F2937"/>
                </a:solidFill>
                <a:latin typeface="Arial" pitchFamily="34" charset="0"/>
                <a:ea typeface="Arial" pitchFamily="34" charset="-122"/>
                <a:cs typeface="Arial" pitchFamily="34" charset="-120"/>
              </a:rPr>
              <a:t>escritórios</a:t>
            </a:r>
            <a:endParaRPr lang="en-US" sz="1800" dirty="0"/>
          </a:p>
          <a:p>
            <a:pPr marL="342900" indent="-342900">
              <a:spcAft>
                <a:spcPts val="600"/>
              </a:spcAft>
              <a:buSzPct val="100000"/>
              <a:buChar char="●"/>
            </a:pPr>
            <a:r>
              <a:rPr lang="en-US" sz="1800" dirty="0">
                <a:solidFill>
                  <a:srgbClr val="1F2937"/>
                </a:solidFill>
                <a:latin typeface="Arial" pitchFamily="34" charset="0"/>
                <a:ea typeface="Arial" pitchFamily="34" charset="-122"/>
                <a:cs typeface="Arial" pitchFamily="34" charset="-120"/>
              </a:rPr>
              <a:t>mercados de bairro</a:t>
            </a:r>
            <a:endParaRPr lang="en-US" sz="1800" dirty="0"/>
          </a:p>
          <a:p>
            <a:pPr marL="342900" indent="-342900">
              <a:spcAft>
                <a:spcPts val="600"/>
              </a:spcAft>
              <a:buSzPct val="100000"/>
              <a:buChar char="●"/>
            </a:pPr>
            <a:r>
              <a:rPr lang="en-US" sz="1800" dirty="0">
                <a:solidFill>
                  <a:srgbClr val="1F2937"/>
                </a:solidFill>
                <a:latin typeface="Arial" pitchFamily="34" charset="0"/>
                <a:ea typeface="Arial" pitchFamily="34" charset="-122"/>
                <a:cs typeface="Arial" pitchFamily="34" charset="-120"/>
              </a:rPr>
              <a:t>igrejas</a:t>
            </a:r>
            <a:endParaRPr lang="en-US" sz="1800" dirty="0"/>
          </a:p>
          <a:p>
            <a:pPr marL="342900" indent="-342900">
              <a:spcAft>
                <a:spcPts val="600"/>
              </a:spcAft>
              <a:buSzPct val="100000"/>
              <a:buChar char="●"/>
            </a:pPr>
            <a:r>
              <a:rPr lang="en-US" sz="1800" dirty="0">
                <a:solidFill>
                  <a:srgbClr val="1F2937"/>
                </a:solidFill>
                <a:latin typeface="Arial" pitchFamily="34" charset="0"/>
                <a:ea typeface="Arial" pitchFamily="34" charset="-122"/>
                <a:cs typeface="Arial" pitchFamily="34" charset="-120"/>
              </a:rPr>
              <a:t>residências de alto consumo</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M5 · Aula 1</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1</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Quem é o cliente ideal de GD compartilhada</a:t>
            </a:r>
            <a:endParaRPr lang="en-US" sz="2600" dirty="0"/>
          </a:p>
        </p:txBody>
      </p:sp>
      <p:sp>
        <p:nvSpPr>
          <p:cNvPr id="9" name="Shape 6"/>
          <p:cNvSpPr/>
          <p:nvPr/>
        </p:nvSpPr>
        <p:spPr>
          <a:xfrm>
            <a:off x="411480" y="1325880"/>
            <a:ext cx="5554980" cy="4937760"/>
          </a:xfrm>
          <a:prstGeom prst="roundRect">
            <a:avLst>
              <a:gd name="adj" fmla="val 1481"/>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411480" y="1325880"/>
            <a:ext cx="5554980" cy="109728"/>
          </a:xfrm>
          <a:prstGeom prst="rect">
            <a:avLst/>
          </a:prstGeom>
          <a:solidFill>
            <a:srgbClr val="1B3A6B"/>
          </a:solidFill>
          <a:ln/>
        </p:spPr>
      </p:sp>
      <p:sp>
        <p:nvSpPr>
          <p:cNvPr id="11" name="Text 8"/>
          <p:cNvSpPr/>
          <p:nvPr/>
        </p:nvSpPr>
        <p:spPr>
          <a:xfrm>
            <a:off x="685800" y="1554480"/>
            <a:ext cx="5006340"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Quem evitar</a:t>
            </a:r>
            <a:endParaRPr lang="en-US" sz="1600" dirty="0"/>
          </a:p>
        </p:txBody>
      </p:sp>
      <p:sp>
        <p:nvSpPr>
          <p:cNvPr id="12" name="Text 9"/>
          <p:cNvSpPr/>
          <p:nvPr/>
        </p:nvSpPr>
        <p:spPr>
          <a:xfrm>
            <a:off x="685800" y="2286000"/>
            <a:ext cx="5006340" cy="3749040"/>
          </a:xfrm>
          <a:prstGeom prst="rect">
            <a:avLst/>
          </a:prstGeom>
          <a:noFill/>
          <a:ln/>
        </p:spPr>
        <p:txBody>
          <a:bodyPr wrap="square" rtlCol="0" anchor="t">
            <a:normAutofit/>
          </a:bodyPr>
          <a:lstStyle/>
          <a:p>
            <a:pPr marL="342900" indent="-342900">
              <a:spcAft>
                <a:spcPts val="600"/>
              </a:spcAft>
              <a:buSzPct val="100000"/>
              <a:buChar char="●"/>
            </a:pPr>
            <a:r>
              <a:rPr lang="en-US" sz="1600" dirty="0">
                <a:solidFill>
                  <a:srgbClr val="1F2937"/>
                </a:solidFill>
                <a:latin typeface="Arial" pitchFamily="34" charset="0"/>
                <a:ea typeface="Arial" pitchFamily="34" charset="-122"/>
                <a:cs typeface="Arial" pitchFamily="34" charset="-120"/>
              </a:rPr>
              <a:t>Consumo muito baixo</a:t>
            </a:r>
            <a:endParaRPr lang="en-US" sz="1600" dirty="0"/>
          </a:p>
          <a:p>
            <a:pPr marL="342900" indent="-342900">
              <a:spcAft>
                <a:spcPts val="600"/>
              </a:spcAft>
              <a:buSzPct val="100000"/>
              <a:buChar char="●"/>
            </a:pPr>
            <a:r>
              <a:rPr lang="en-US" sz="1600" dirty="0">
                <a:solidFill>
                  <a:srgbClr val="1F2937"/>
                </a:solidFill>
                <a:latin typeface="Arial" pitchFamily="34" charset="0"/>
                <a:ea typeface="Arial" pitchFamily="34" charset="-122"/>
                <a:cs typeface="Arial" pitchFamily="34" charset="-120"/>
              </a:rPr>
              <a:t>tarifa social (avaliar caso a caso)</a:t>
            </a:r>
            <a:endParaRPr lang="en-US" sz="1600" dirty="0"/>
          </a:p>
          <a:p>
            <a:pPr marL="342900" indent="-342900">
              <a:spcAft>
                <a:spcPts val="600"/>
              </a:spcAft>
              <a:buSzPct val="100000"/>
              <a:buChar char="●"/>
            </a:pPr>
            <a:r>
              <a:rPr lang="en-US" sz="1600" dirty="0">
                <a:solidFill>
                  <a:srgbClr val="1F2937"/>
                </a:solidFill>
                <a:latin typeface="Arial" pitchFamily="34" charset="0"/>
                <a:ea typeface="Arial" pitchFamily="34" charset="-122"/>
                <a:cs typeface="Arial" pitchFamily="34" charset="-120"/>
              </a:rPr>
              <a:t>grupo A (proposta complexa)</a:t>
            </a:r>
            <a:endParaRPr lang="en-US" sz="1600" dirty="0"/>
          </a:p>
          <a:p>
            <a:pPr marL="342900" indent="-342900">
              <a:spcAft>
                <a:spcPts val="600"/>
              </a:spcAft>
              <a:buSzPct val="100000"/>
              <a:buChar char="●"/>
            </a:pPr>
            <a:r>
              <a:rPr lang="en-US" sz="1600" dirty="0">
                <a:solidFill>
                  <a:srgbClr val="1F2937"/>
                </a:solidFill>
                <a:latin typeface="Arial" pitchFamily="34" charset="0"/>
                <a:ea typeface="Arial" pitchFamily="34" charset="-122"/>
                <a:cs typeface="Arial" pitchFamily="34" charset="-120"/>
              </a:rPr>
              <a:t>quem vai mudar</a:t>
            </a:r>
            <a:endParaRPr lang="en-US" sz="1600" dirty="0"/>
          </a:p>
          <a:p>
            <a:pPr marL="342900" indent="-342900">
              <a:spcAft>
                <a:spcPts val="600"/>
              </a:spcAft>
              <a:buSzPct val="100000"/>
              <a:buChar char="●"/>
            </a:pPr>
            <a:r>
              <a:rPr lang="en-US" sz="1600" dirty="0">
                <a:solidFill>
                  <a:srgbClr val="1F2937"/>
                </a:solidFill>
                <a:latin typeface="Arial" pitchFamily="34" charset="0"/>
                <a:ea typeface="Arial" pitchFamily="34" charset="-122"/>
                <a:cs typeface="Arial" pitchFamily="34" charset="-120"/>
              </a:rPr>
              <a:t>quem já tem sistema próprio dimensionado</a:t>
            </a:r>
            <a:endParaRPr lang="en-US" sz="1600" dirty="0"/>
          </a:p>
        </p:txBody>
      </p:sp>
      <p:sp>
        <p:nvSpPr>
          <p:cNvPr id="13" name="Shape 10"/>
          <p:cNvSpPr/>
          <p:nvPr/>
        </p:nvSpPr>
        <p:spPr>
          <a:xfrm>
            <a:off x="6240780" y="1325880"/>
            <a:ext cx="5554980" cy="4937760"/>
          </a:xfrm>
          <a:prstGeom prst="roundRect">
            <a:avLst>
              <a:gd name="adj" fmla="val 1481"/>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6240780" y="1325880"/>
            <a:ext cx="5554980" cy="109728"/>
          </a:xfrm>
          <a:prstGeom prst="rect">
            <a:avLst/>
          </a:prstGeom>
          <a:solidFill>
            <a:srgbClr val="F7A23B"/>
          </a:solidFill>
          <a:ln/>
        </p:spPr>
      </p:sp>
      <p:sp>
        <p:nvSpPr>
          <p:cNvPr id="15" name="Text 12"/>
          <p:cNvSpPr/>
          <p:nvPr/>
        </p:nvSpPr>
        <p:spPr>
          <a:xfrm>
            <a:off x="6515100" y="1554480"/>
            <a:ext cx="5006340"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Os canais de aquisição</a:t>
            </a:r>
            <a:endParaRPr lang="en-US" sz="1600" dirty="0"/>
          </a:p>
        </p:txBody>
      </p:sp>
      <p:sp>
        <p:nvSpPr>
          <p:cNvPr id="16" name="Text 13"/>
          <p:cNvSpPr/>
          <p:nvPr/>
        </p:nvSpPr>
        <p:spPr>
          <a:xfrm>
            <a:off x="6515100" y="2286000"/>
            <a:ext cx="5006340" cy="3749040"/>
          </a:xfrm>
          <a:prstGeom prst="rect">
            <a:avLst/>
          </a:prstGeom>
          <a:noFill/>
          <a:ln/>
        </p:spPr>
        <p:txBody>
          <a:bodyPr wrap="square" rtlCol="0" anchor="t">
            <a:normAutofit/>
          </a:bodyPr>
          <a:lstStyle/>
          <a:p>
            <a:pPr marL="342900" indent="-342900">
              <a:spcAft>
                <a:spcPts val="600"/>
              </a:spcAft>
              <a:buSzPct val="100000"/>
              <a:buChar char="●"/>
            </a:pPr>
            <a:r>
              <a:rPr lang="en-US" sz="1600" dirty="0">
                <a:solidFill>
                  <a:srgbClr val="1F2937"/>
                </a:solidFill>
                <a:latin typeface="Arial" pitchFamily="34" charset="0"/>
                <a:ea typeface="Arial" pitchFamily="34" charset="-122"/>
                <a:cs typeface="Arial" pitchFamily="34" charset="-120"/>
              </a:rPr>
              <a:t>Indicação</a:t>
            </a:r>
            <a:endParaRPr lang="en-US" sz="1600" dirty="0"/>
          </a:p>
          <a:p>
            <a:pPr marL="342900" indent="-342900">
              <a:spcAft>
                <a:spcPts val="600"/>
              </a:spcAft>
              <a:buSzPct val="100000"/>
              <a:buChar char="●"/>
            </a:pPr>
            <a:r>
              <a:rPr lang="en-US" sz="1600" dirty="0">
                <a:solidFill>
                  <a:srgbClr val="1F2937"/>
                </a:solidFill>
                <a:latin typeface="Arial" pitchFamily="34" charset="0"/>
                <a:ea typeface="Arial" pitchFamily="34" charset="-122"/>
                <a:cs typeface="Arial" pitchFamily="34" charset="-120"/>
              </a:rPr>
              <a:t>parceiros (contadores, associações comerciais, imobiliárias)</a:t>
            </a:r>
            <a:endParaRPr lang="en-US" sz="1600" dirty="0"/>
          </a:p>
          <a:p>
            <a:pPr marL="342900" indent="-342900">
              <a:spcAft>
                <a:spcPts val="600"/>
              </a:spcAft>
              <a:buSzPct val="100000"/>
              <a:buChar char="●"/>
            </a:pPr>
            <a:r>
              <a:rPr lang="en-US" sz="1600" dirty="0">
                <a:solidFill>
                  <a:srgbClr val="1F2937"/>
                </a:solidFill>
                <a:latin typeface="Arial" pitchFamily="34" charset="0"/>
                <a:ea typeface="Arial" pitchFamily="34" charset="-122"/>
                <a:cs typeface="Arial" pitchFamily="34" charset="-120"/>
              </a:rPr>
              <a:t>porta a porta no comércio</a:t>
            </a:r>
            <a:endParaRPr lang="en-US" sz="1600" dirty="0"/>
          </a:p>
          <a:p>
            <a:pPr marL="342900" indent="-342900">
              <a:spcAft>
                <a:spcPts val="600"/>
              </a:spcAft>
              <a:buSzPct val="100000"/>
              <a:buChar char="●"/>
            </a:pPr>
            <a:r>
              <a:rPr lang="en-US" sz="1600" dirty="0">
                <a:solidFill>
                  <a:srgbClr val="1F2937"/>
                </a:solidFill>
                <a:latin typeface="Arial" pitchFamily="34" charset="0"/>
                <a:ea typeface="Arial" pitchFamily="34" charset="-122"/>
                <a:cs typeface="Arial" pitchFamily="34" charset="-120"/>
              </a:rPr>
              <a:t>anúncios locais</a:t>
            </a:r>
            <a:endParaRPr lang="en-US" sz="1600" dirty="0"/>
          </a:p>
          <a:p>
            <a:pPr marL="342900" indent="-342900">
              <a:spcAft>
                <a:spcPts val="600"/>
              </a:spcAft>
              <a:buSzPct val="100000"/>
              <a:buChar char="●"/>
            </a:pPr>
            <a:r>
              <a:rPr lang="en-US" sz="1600" dirty="0">
                <a:solidFill>
                  <a:srgbClr val="1F2937"/>
                </a:solidFill>
                <a:latin typeface="Arial" pitchFamily="34" charset="0"/>
                <a:ea typeface="Arial" pitchFamily="34" charset="-122"/>
                <a:cs typeface="Arial" pitchFamily="34" charset="-120"/>
              </a:rPr>
              <a:t>⭐ leads de sistema solar que não compraram</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EF3FA"/>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M5 · Aula 1</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1 · RESUMO</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Para levar desta aula</a:t>
            </a:r>
            <a:endParaRPr lang="en-US" sz="2600" dirty="0"/>
          </a:p>
        </p:txBody>
      </p:sp>
      <p:sp>
        <p:nvSpPr>
          <p:cNvPr id="9" name="Shape 6"/>
          <p:cNvSpPr/>
          <p:nvPr/>
        </p:nvSpPr>
        <p:spPr>
          <a:xfrm>
            <a:off x="411480" y="1325880"/>
            <a:ext cx="3642360" cy="4892040"/>
          </a:xfrm>
          <a:prstGeom prst="roundRect">
            <a:avLst>
              <a:gd name="adj" fmla="val 2008"/>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594360" y="1508760"/>
            <a:ext cx="457200" cy="457200"/>
          </a:xfrm>
          <a:prstGeom prst="ellipse">
            <a:avLst/>
          </a:prstGeom>
          <a:solidFill>
            <a:srgbClr val="1B3A6B"/>
          </a:solidFill>
          <a:ln/>
        </p:spPr>
      </p:sp>
      <p:sp>
        <p:nvSpPr>
          <p:cNvPr id="11" name="Text 8"/>
          <p:cNvSpPr/>
          <p:nvPr/>
        </p:nvSpPr>
        <p:spPr>
          <a:xfrm>
            <a:off x="59436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188720" y="1435608"/>
            <a:ext cx="2727960"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ICP: grupo B, consumo alto e estável, bom pagador, decisor acessível</a:t>
            </a:r>
            <a:endParaRPr lang="en-US" sz="1800" dirty="0"/>
          </a:p>
        </p:txBody>
      </p:sp>
      <p:sp>
        <p:nvSpPr>
          <p:cNvPr id="13" name="Shape 10"/>
          <p:cNvSpPr/>
          <p:nvPr/>
        </p:nvSpPr>
        <p:spPr>
          <a:xfrm>
            <a:off x="4282440" y="1325880"/>
            <a:ext cx="3642360" cy="4892040"/>
          </a:xfrm>
          <a:prstGeom prst="roundRect">
            <a:avLst>
              <a:gd name="adj" fmla="val 2008"/>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465320" y="1508760"/>
            <a:ext cx="457200" cy="457200"/>
          </a:xfrm>
          <a:prstGeom prst="ellipse">
            <a:avLst/>
          </a:prstGeom>
          <a:solidFill>
            <a:srgbClr val="F7A23B"/>
          </a:solidFill>
          <a:ln/>
        </p:spPr>
      </p:sp>
      <p:sp>
        <p:nvSpPr>
          <p:cNvPr id="15" name="Text 12"/>
          <p:cNvSpPr/>
          <p:nvPr/>
        </p:nvSpPr>
        <p:spPr>
          <a:xfrm>
            <a:off x="44653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5059680" y="1435608"/>
            <a:ext cx="2727960"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2–3 segmentos</a:t>
            </a:r>
            <a:endParaRPr lang="en-US" sz="1800" dirty="0"/>
          </a:p>
        </p:txBody>
      </p:sp>
      <p:sp>
        <p:nvSpPr>
          <p:cNvPr id="17" name="Shape 14"/>
          <p:cNvSpPr/>
          <p:nvPr/>
        </p:nvSpPr>
        <p:spPr>
          <a:xfrm>
            <a:off x="8153400" y="1325880"/>
            <a:ext cx="3642360" cy="4892040"/>
          </a:xfrm>
          <a:prstGeom prst="roundRect">
            <a:avLst>
              <a:gd name="adj" fmla="val 2008"/>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336280" y="1508760"/>
            <a:ext cx="457200" cy="457200"/>
          </a:xfrm>
          <a:prstGeom prst="ellipse">
            <a:avLst/>
          </a:prstGeom>
          <a:solidFill>
            <a:srgbClr val="1B3A6B"/>
          </a:solidFill>
          <a:ln/>
        </p:spPr>
      </p:sp>
      <p:sp>
        <p:nvSpPr>
          <p:cNvPr id="19" name="Text 16"/>
          <p:cNvSpPr/>
          <p:nvPr/>
        </p:nvSpPr>
        <p:spPr>
          <a:xfrm>
            <a:off x="833628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8930640" y="1435608"/>
            <a:ext cx="2727960"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indicação e leads perdidos</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2</a:t>
            </a:r>
            <a:endParaRPr lang="en-US" sz="1800" dirty="0"/>
          </a:p>
        </p:txBody>
      </p:sp>
      <p:sp>
        <p:nvSpPr>
          <p:cNvPr id="4" name="Text 2"/>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Aula</a:t>
            </a:r>
            <a:endParaRPr lang="en-US" sz="1400" dirty="0"/>
          </a:p>
        </p:txBody>
      </p:sp>
      <p:pic>
        <p:nvPicPr>
          <p:cNvPr id="5"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6" name="Text 3"/>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Dimensionando a cota do cliente</a:t>
            </a:r>
            <a:endParaRPr lang="en-US" sz="3200" dirty="0"/>
          </a:p>
        </p:txBody>
      </p:sp>
      <p:sp>
        <p:nvSpPr>
          <p:cNvPr id="7" name="Text 4"/>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Coletar o histórico, calcular a cota e estimar a economia mensal e anual na conta total</a:t>
            </a:r>
            <a:endParaRPr lang="en-US" sz="1500" dirty="0"/>
          </a:p>
        </p:txBody>
      </p:sp>
      <p:sp>
        <p:nvSpPr>
          <p:cNvPr id="8" name="Text 5"/>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Coletando o histórico</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Calculando a cota</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Estimando a economia real</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Casos especiais</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M5 · Aula 2</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2 · DIMENSIONANDO A COTA DO CLIENTE</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Coletando o histórico</a:t>
            </a:r>
            <a:endParaRPr lang="en-US" sz="2600" dirty="0"/>
          </a:p>
        </p:txBody>
      </p:sp>
      <p:sp>
        <p:nvSpPr>
          <p:cNvPr id="9" name="Shape 6"/>
          <p:cNvSpPr/>
          <p:nvPr/>
        </p:nvSpPr>
        <p:spPr>
          <a:xfrm>
            <a:off x="411480" y="132588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594360" y="1508760"/>
            <a:ext cx="457200" cy="457200"/>
          </a:xfrm>
          <a:prstGeom prst="ellipse">
            <a:avLst/>
          </a:prstGeom>
          <a:solidFill>
            <a:srgbClr val="1B3A6B"/>
          </a:solidFill>
          <a:ln/>
        </p:spPr>
      </p:sp>
      <p:sp>
        <p:nvSpPr>
          <p:cNvPr id="11" name="Text 8"/>
          <p:cNvSpPr/>
          <p:nvPr/>
        </p:nvSpPr>
        <p:spPr>
          <a:xfrm>
            <a:off x="59436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188720" y="143560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Na conta: UC</a:t>
            </a:r>
            <a:endParaRPr lang="en-US" sz="1800" dirty="0"/>
          </a:p>
        </p:txBody>
      </p:sp>
      <p:sp>
        <p:nvSpPr>
          <p:cNvPr id="13" name="Shape 10"/>
          <p:cNvSpPr/>
          <p:nvPr/>
        </p:nvSpPr>
        <p:spPr>
          <a:xfrm>
            <a:off x="4282440" y="132588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465320" y="1508760"/>
            <a:ext cx="457200" cy="457200"/>
          </a:xfrm>
          <a:prstGeom prst="ellipse">
            <a:avLst/>
          </a:prstGeom>
          <a:solidFill>
            <a:srgbClr val="F7A23B"/>
          </a:solidFill>
          <a:ln/>
        </p:spPr>
      </p:sp>
      <p:sp>
        <p:nvSpPr>
          <p:cNvPr id="15" name="Text 12"/>
          <p:cNvSpPr/>
          <p:nvPr/>
        </p:nvSpPr>
        <p:spPr>
          <a:xfrm>
            <a:off x="44653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5059680" y="143560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titular</a:t>
            </a:r>
            <a:endParaRPr lang="en-US" sz="1800" dirty="0"/>
          </a:p>
        </p:txBody>
      </p:sp>
      <p:sp>
        <p:nvSpPr>
          <p:cNvPr id="17" name="Shape 14"/>
          <p:cNvSpPr/>
          <p:nvPr/>
        </p:nvSpPr>
        <p:spPr>
          <a:xfrm>
            <a:off x="8153400" y="132588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336280" y="1508760"/>
            <a:ext cx="457200" cy="457200"/>
          </a:xfrm>
          <a:prstGeom prst="ellipse">
            <a:avLst/>
          </a:prstGeom>
          <a:solidFill>
            <a:srgbClr val="1B3A6B"/>
          </a:solidFill>
          <a:ln/>
        </p:spPr>
      </p:sp>
      <p:sp>
        <p:nvSpPr>
          <p:cNvPr id="19" name="Text 16"/>
          <p:cNvSpPr/>
          <p:nvPr/>
        </p:nvSpPr>
        <p:spPr>
          <a:xfrm>
            <a:off x="833628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8930640" y="143560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classe</a:t>
            </a:r>
            <a:endParaRPr lang="en-US" sz="1800" dirty="0"/>
          </a:p>
        </p:txBody>
      </p:sp>
      <p:sp>
        <p:nvSpPr>
          <p:cNvPr id="21" name="Shape 18"/>
          <p:cNvSpPr/>
          <p:nvPr/>
        </p:nvSpPr>
        <p:spPr>
          <a:xfrm>
            <a:off x="411480" y="388620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2" name="Shape 19"/>
          <p:cNvSpPr/>
          <p:nvPr/>
        </p:nvSpPr>
        <p:spPr>
          <a:xfrm>
            <a:off x="594360" y="4069080"/>
            <a:ext cx="457200" cy="457200"/>
          </a:xfrm>
          <a:prstGeom prst="ellipse">
            <a:avLst/>
          </a:prstGeom>
          <a:solidFill>
            <a:srgbClr val="F7A23B"/>
          </a:solidFill>
          <a:ln/>
        </p:spPr>
      </p:sp>
      <p:sp>
        <p:nvSpPr>
          <p:cNvPr id="23" name="Text 20"/>
          <p:cNvSpPr/>
          <p:nvPr/>
        </p:nvSpPr>
        <p:spPr>
          <a:xfrm>
            <a:off x="59436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4" name="Text 21"/>
          <p:cNvSpPr/>
          <p:nvPr/>
        </p:nvSpPr>
        <p:spPr>
          <a:xfrm>
            <a:off x="1188720" y="399592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ligação</a:t>
            </a:r>
            <a:endParaRPr lang="en-US" sz="1800" dirty="0"/>
          </a:p>
        </p:txBody>
      </p:sp>
      <p:sp>
        <p:nvSpPr>
          <p:cNvPr id="25" name="Shape 22"/>
          <p:cNvSpPr/>
          <p:nvPr/>
        </p:nvSpPr>
        <p:spPr>
          <a:xfrm>
            <a:off x="4282440" y="388620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6" name="Shape 23"/>
          <p:cNvSpPr/>
          <p:nvPr/>
        </p:nvSpPr>
        <p:spPr>
          <a:xfrm>
            <a:off x="4465320" y="4069080"/>
            <a:ext cx="457200" cy="457200"/>
          </a:xfrm>
          <a:prstGeom prst="ellipse">
            <a:avLst/>
          </a:prstGeom>
          <a:solidFill>
            <a:srgbClr val="1B3A6B"/>
          </a:solidFill>
          <a:ln/>
        </p:spPr>
      </p:sp>
      <p:sp>
        <p:nvSpPr>
          <p:cNvPr id="27" name="Text 24"/>
          <p:cNvSpPr/>
          <p:nvPr/>
        </p:nvSpPr>
        <p:spPr>
          <a:xfrm>
            <a:off x="446532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8" name="Text 25"/>
          <p:cNvSpPr/>
          <p:nvPr/>
        </p:nvSpPr>
        <p:spPr>
          <a:xfrm>
            <a:off x="5059680" y="399592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histórico de 12 meses</a:t>
            </a:r>
            <a:endParaRPr lang="en-US" sz="1800" dirty="0"/>
          </a:p>
        </p:txBody>
      </p:sp>
      <p:sp>
        <p:nvSpPr>
          <p:cNvPr id="29" name="Shape 26"/>
          <p:cNvSpPr/>
          <p:nvPr/>
        </p:nvSpPr>
        <p:spPr>
          <a:xfrm>
            <a:off x="8153400" y="388620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30" name="Shape 27"/>
          <p:cNvSpPr/>
          <p:nvPr/>
        </p:nvSpPr>
        <p:spPr>
          <a:xfrm>
            <a:off x="8336280" y="4069080"/>
            <a:ext cx="457200" cy="457200"/>
          </a:xfrm>
          <a:prstGeom prst="ellipse">
            <a:avLst/>
          </a:prstGeom>
          <a:solidFill>
            <a:srgbClr val="F7A23B"/>
          </a:solidFill>
          <a:ln/>
        </p:spPr>
      </p:sp>
      <p:sp>
        <p:nvSpPr>
          <p:cNvPr id="31" name="Text 28"/>
          <p:cNvSpPr/>
          <p:nvPr/>
        </p:nvSpPr>
        <p:spPr>
          <a:xfrm>
            <a:off x="833628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a:t>
            </a:r>
            <a:endParaRPr lang="en-US" sz="1400" dirty="0"/>
          </a:p>
        </p:txBody>
      </p:sp>
      <p:sp>
        <p:nvSpPr>
          <p:cNvPr id="32" name="Text 29"/>
          <p:cNvSpPr/>
          <p:nvPr/>
        </p:nvSpPr>
        <p:spPr>
          <a:xfrm>
            <a:off x="8930640" y="399592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valor e tarifa</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M5 · Aula 2</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2 · DIMENSIONANDO A COTA DO CLIENTE</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Calculando a cota</a:t>
            </a:r>
            <a:endParaRPr lang="en-US" sz="2600" dirty="0"/>
          </a:p>
        </p:txBody>
      </p:sp>
      <p:sp>
        <p:nvSpPr>
          <p:cNvPr id="9" name="Shape 6"/>
          <p:cNvSpPr/>
          <p:nvPr/>
        </p:nvSpPr>
        <p:spPr>
          <a:xfrm>
            <a:off x="411480" y="1325880"/>
            <a:ext cx="11384280" cy="4937760"/>
          </a:xfrm>
          <a:prstGeom prst="roundRect">
            <a:avLst>
              <a:gd name="adj" fmla="val 1852"/>
            </a:avLst>
          </a:prstGeom>
          <a:solidFill>
            <a:srgbClr val="0B1F3A"/>
          </a:solidFill>
          <a:ln/>
        </p:spPr>
      </p:sp>
      <p:sp>
        <p:nvSpPr>
          <p:cNvPr id="10" name="Text 7"/>
          <p:cNvSpPr/>
          <p:nvPr/>
        </p:nvSpPr>
        <p:spPr>
          <a:xfrm>
            <a:off x="777240" y="1554480"/>
            <a:ext cx="10652760" cy="4480560"/>
          </a:xfrm>
          <a:prstGeom prst="rect">
            <a:avLst/>
          </a:prstGeom>
          <a:noFill/>
          <a:ln/>
        </p:spPr>
        <p:txBody>
          <a:bodyPr wrap="square" rtlCol="0" anchor="ctr">
            <a:normAutofit/>
          </a:bodyPr>
          <a:lstStyle/>
          <a:p>
            <a:pPr indent="0" marL="0">
              <a:spcAft>
                <a:spcPts val="1000"/>
              </a:spcAft>
              <a:buNone/>
            </a:pPr>
            <a:r>
              <a:rPr lang="en-US" sz="1800" b="1" dirty="0">
                <a:solidFill>
                  <a:srgbClr val="FFFFFF"/>
                </a:solidFill>
                <a:latin typeface="Consolas" pitchFamily="34" charset="0"/>
                <a:ea typeface="Consolas" pitchFamily="34" charset="-122"/>
                <a:cs typeface="Consolas" pitchFamily="34" charset="-120"/>
              </a:rPr>
              <a:t>Clínica (trifásica): média 12 meses = 4.000 kWh</a:t>
            </a:r>
            <a:endParaRPr lang="en-US" sz="1800" dirty="0"/>
          </a:p>
          <a:p>
            <a:pPr indent="0" marL="0">
              <a:spcAft>
                <a:spcPts val="1000"/>
              </a:spcAft>
              <a:buNone/>
            </a:pPr>
            <a:r>
              <a:rPr lang="en-US" sz="1800" dirty="0">
                <a:solidFill>
                  <a:srgbClr val="FFFFFF"/>
                </a:solidFill>
                <a:latin typeface="Consolas" pitchFamily="34" charset="0"/>
                <a:ea typeface="Consolas" pitchFamily="34" charset="-122"/>
                <a:cs typeface="Consolas" pitchFamily="34" charset="-120"/>
              </a:rPr>
              <a:t>Cota = (4.000 − 100) × 95% ≈ 3.705 kWh/mês</a:t>
            </a:r>
            <a:endParaRPr lang="en-US" sz="1800" dirty="0"/>
          </a:p>
          <a:p>
            <a:pPr indent="0" marL="0">
              <a:spcAft>
                <a:spcPts val="1000"/>
              </a:spcAft>
              <a:buNone/>
            </a:pPr>
            <a:r>
              <a:rPr lang="en-US" sz="1800" b="1" dirty="0">
                <a:solidFill>
                  <a:srgbClr val="F7A23B"/>
                </a:solidFill>
                <a:latin typeface="Consolas" pitchFamily="34" charset="0"/>
                <a:ea typeface="Consolas" pitchFamily="34" charset="-122"/>
                <a:cs typeface="Consolas" pitchFamily="34" charset="-120"/>
              </a:rPr>
              <a:t>% na Sol Nascente I = 3.705 ÷ 60.000 ≈ 6,2%</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M5 · Aula 2</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2 · DIMENSIONANDO A COTA DO CLIENTE</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Estimando a economia real</a:t>
            </a:r>
            <a:endParaRPr lang="en-US" sz="2600" dirty="0"/>
          </a:p>
        </p:txBody>
      </p:sp>
      <p:sp>
        <p:nvSpPr>
          <p:cNvPr id="9" name="Shape 6"/>
          <p:cNvSpPr/>
          <p:nvPr/>
        </p:nvSpPr>
        <p:spPr>
          <a:xfrm>
            <a:off x="411480" y="1325880"/>
            <a:ext cx="11384280" cy="4937760"/>
          </a:xfrm>
          <a:prstGeom prst="roundRect">
            <a:avLst>
              <a:gd name="adj" fmla="val 1852"/>
            </a:avLst>
          </a:prstGeom>
          <a:solidFill>
            <a:srgbClr val="0B1F3A"/>
          </a:solidFill>
          <a:ln/>
        </p:spPr>
      </p:sp>
      <p:sp>
        <p:nvSpPr>
          <p:cNvPr id="10" name="Text 7"/>
          <p:cNvSpPr/>
          <p:nvPr/>
        </p:nvSpPr>
        <p:spPr>
          <a:xfrm>
            <a:off x="777240" y="1554480"/>
            <a:ext cx="10652760" cy="4480560"/>
          </a:xfrm>
          <a:prstGeom prst="rect">
            <a:avLst/>
          </a:prstGeom>
          <a:noFill/>
          <a:ln/>
        </p:spPr>
        <p:txBody>
          <a:bodyPr wrap="square" rtlCol="0" anchor="ctr">
            <a:normAutofit/>
          </a:bodyPr>
          <a:lstStyle/>
          <a:p>
            <a:pPr indent="0" marL="0">
              <a:spcAft>
                <a:spcPts val="1000"/>
              </a:spcAft>
              <a:buNone/>
            </a:pPr>
            <a:r>
              <a:rPr lang="en-US" sz="1600" b="1" dirty="0">
                <a:solidFill>
                  <a:srgbClr val="FFFFFF"/>
                </a:solidFill>
                <a:latin typeface="Consolas" pitchFamily="34" charset="0"/>
                <a:ea typeface="Consolas" pitchFamily="34" charset="-122"/>
                <a:cs typeface="Consolas" pitchFamily="34" charset="-120"/>
              </a:rPr>
              <a:t>Hoje: 4.000 kWh × R$ 1,039 ≈ R$ 4.156/mês</a:t>
            </a:r>
            <a:endParaRPr lang="en-US" sz="1600" dirty="0"/>
          </a:p>
          <a:p>
            <a:pPr indent="0" marL="0">
              <a:spcAft>
                <a:spcPts val="1000"/>
              </a:spcAft>
              <a:buNone/>
            </a:pPr>
            <a:r>
              <a:rPr lang="en-US" sz="1600" dirty="0">
                <a:solidFill>
                  <a:srgbClr val="FFFFFF"/>
                </a:solidFill>
                <a:latin typeface="Consolas" pitchFamily="34" charset="0"/>
                <a:ea typeface="Consolas" pitchFamily="34" charset="-122"/>
                <a:cs typeface="Consolas" pitchFamily="34" charset="-120"/>
              </a:rPr>
              <a:t>Com assinatura: distribuidora ≈ R$ 306 (295 kWh fora da cota) + R$ 577 (Fio B não compensado) = R$ 884 · sua cobrança ≈ R$ 2.618</a:t>
            </a:r>
            <a:endParaRPr lang="en-US" sz="1600" dirty="0"/>
          </a:p>
          <a:p>
            <a:pPr indent="0" marL="0">
              <a:spcAft>
                <a:spcPts val="1000"/>
              </a:spcAft>
              <a:buNone/>
            </a:pPr>
            <a:r>
              <a:rPr lang="en-US" sz="1600" b="1" dirty="0">
                <a:solidFill>
                  <a:srgbClr val="F7A23B"/>
                </a:solidFill>
                <a:latin typeface="Consolas" pitchFamily="34" charset="0"/>
                <a:ea typeface="Consolas" pitchFamily="34" charset="-122"/>
                <a:cs typeface="Consolas" pitchFamily="34" charset="-120"/>
              </a:rPr>
              <a:t>Total ≈ R$ 3.501 → economia ≈ R$ 654/mês ≈ R$ 7.850/ano (≈ 16% da conta)</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M5 · Aula 2</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2 · DIMENSIONANDO A COTA DO CLIENTE</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Casos especiais</a:t>
            </a:r>
            <a:endParaRPr lang="en-US" sz="2600" dirty="0"/>
          </a:p>
        </p:txBody>
      </p:sp>
      <p:sp>
        <p:nvSpPr>
          <p:cNvPr id="9" name="Shape 6"/>
          <p:cNvSpPr/>
          <p:nvPr/>
        </p:nvSpPr>
        <p:spPr>
          <a:xfrm>
            <a:off x="411480" y="1325880"/>
            <a:ext cx="3642360" cy="4892040"/>
          </a:xfrm>
          <a:prstGeom prst="roundRect">
            <a:avLst>
              <a:gd name="adj" fmla="val 2008"/>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594360" y="1508760"/>
            <a:ext cx="457200" cy="457200"/>
          </a:xfrm>
          <a:prstGeom prst="ellipse">
            <a:avLst/>
          </a:prstGeom>
          <a:solidFill>
            <a:srgbClr val="1B3A6B"/>
          </a:solidFill>
          <a:ln/>
        </p:spPr>
      </p:sp>
      <p:sp>
        <p:nvSpPr>
          <p:cNvPr id="11" name="Text 8"/>
          <p:cNvSpPr/>
          <p:nvPr/>
        </p:nvSpPr>
        <p:spPr>
          <a:xfrm>
            <a:off x="59436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188720" y="1435608"/>
            <a:ext cx="2727960"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Várias UCs do mesmo cliente → uma cota por UC</a:t>
            </a:r>
            <a:endParaRPr lang="en-US" sz="1800" dirty="0"/>
          </a:p>
        </p:txBody>
      </p:sp>
      <p:sp>
        <p:nvSpPr>
          <p:cNvPr id="13" name="Shape 10"/>
          <p:cNvSpPr/>
          <p:nvPr/>
        </p:nvSpPr>
        <p:spPr>
          <a:xfrm>
            <a:off x="4282440" y="1325880"/>
            <a:ext cx="3642360" cy="4892040"/>
          </a:xfrm>
          <a:prstGeom prst="roundRect">
            <a:avLst>
              <a:gd name="adj" fmla="val 2008"/>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465320" y="1508760"/>
            <a:ext cx="457200" cy="457200"/>
          </a:xfrm>
          <a:prstGeom prst="ellipse">
            <a:avLst/>
          </a:prstGeom>
          <a:solidFill>
            <a:srgbClr val="F7A23B"/>
          </a:solidFill>
          <a:ln/>
        </p:spPr>
      </p:sp>
      <p:sp>
        <p:nvSpPr>
          <p:cNvPr id="15" name="Text 12"/>
          <p:cNvSpPr/>
          <p:nvPr/>
        </p:nvSpPr>
        <p:spPr>
          <a:xfrm>
            <a:off x="44653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5059680" y="1435608"/>
            <a:ext cx="2727960"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Consumo crescendo (ampliação) → dimensione pelo histórico, revise em 6 meses</a:t>
            </a:r>
            <a:endParaRPr lang="en-US" sz="1800" dirty="0"/>
          </a:p>
        </p:txBody>
      </p:sp>
      <p:sp>
        <p:nvSpPr>
          <p:cNvPr id="17" name="Shape 14"/>
          <p:cNvSpPr/>
          <p:nvPr/>
        </p:nvSpPr>
        <p:spPr>
          <a:xfrm>
            <a:off x="8153400" y="1325880"/>
            <a:ext cx="3642360" cy="4892040"/>
          </a:xfrm>
          <a:prstGeom prst="roundRect">
            <a:avLst>
              <a:gd name="adj" fmla="val 2008"/>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336280" y="1508760"/>
            <a:ext cx="457200" cy="457200"/>
          </a:xfrm>
          <a:prstGeom prst="ellipse">
            <a:avLst/>
          </a:prstGeom>
          <a:solidFill>
            <a:srgbClr val="1B3A6B"/>
          </a:solidFill>
          <a:ln/>
        </p:spPr>
      </p:sp>
      <p:sp>
        <p:nvSpPr>
          <p:cNvPr id="19" name="Text 16"/>
          <p:cNvSpPr/>
          <p:nvPr/>
        </p:nvSpPr>
        <p:spPr>
          <a:xfrm>
            <a:off x="833628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8930640" y="1435608"/>
            <a:ext cx="2727960"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Cliente com sistema próprio parcial → cota sobre o consumo que sobra</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EF3FA"/>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M5 · Aula 2</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2 · RESUMO</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Para levar desta aula</a:t>
            </a:r>
            <a:endParaRPr lang="en-US" sz="2600" dirty="0"/>
          </a:p>
        </p:txBody>
      </p:sp>
      <p:sp>
        <p:nvSpPr>
          <p:cNvPr id="9" name="Shape 6"/>
          <p:cNvSpPr/>
          <p:nvPr/>
        </p:nvSpPr>
        <p:spPr>
          <a:xfrm>
            <a:off x="411480" y="1325880"/>
            <a:ext cx="11384280" cy="4892040"/>
          </a:xfrm>
          <a:prstGeom prst="roundRect">
            <a:avLst>
              <a:gd name="adj" fmla="val 1495"/>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594360" y="1508760"/>
            <a:ext cx="457200" cy="457200"/>
          </a:xfrm>
          <a:prstGeom prst="ellipse">
            <a:avLst/>
          </a:prstGeom>
          <a:solidFill>
            <a:srgbClr val="1B3A6B"/>
          </a:solidFill>
          <a:ln/>
        </p:spPr>
      </p:sp>
      <p:sp>
        <p:nvSpPr>
          <p:cNvPr id="11" name="Text 8"/>
          <p:cNvSpPr/>
          <p:nvPr/>
        </p:nvSpPr>
        <p:spPr>
          <a:xfrm>
            <a:off x="59436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188720" y="1435608"/>
            <a:ext cx="10469880"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Histórico de 12 meses → cota com margem → economia em R$ na conta total</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3</a:t>
            </a:r>
            <a:endParaRPr lang="en-US" sz="1800" dirty="0"/>
          </a:p>
        </p:txBody>
      </p:sp>
      <p:sp>
        <p:nvSpPr>
          <p:cNvPr id="4" name="Text 2"/>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Aula</a:t>
            </a:r>
            <a:endParaRPr lang="en-US" sz="1400" dirty="0"/>
          </a:p>
        </p:txBody>
      </p:sp>
      <p:pic>
        <p:nvPicPr>
          <p:cNvPr id="5"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6" name="Text 3"/>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A proposta comercial que converte</a:t>
            </a:r>
            <a:endParaRPr lang="en-US" sz="3200" dirty="0"/>
          </a:p>
        </p:txBody>
      </p:sp>
      <p:sp>
        <p:nvSpPr>
          <p:cNvPr id="7" name="Text 4"/>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Estruturar a proposta e a apresentação ao cliente, explicando as "duas contas"</a:t>
            </a:r>
            <a:endParaRPr lang="en-US" sz="1500" dirty="0"/>
          </a:p>
        </p:txBody>
      </p:sp>
      <p:sp>
        <p:nvSpPr>
          <p:cNvPr id="8" name="Text 5"/>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As cinco perguntas do cliente</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A explicação das duas contas</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Condições que precisam estar claras</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A reunião de apresentação</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M5 · Aula 3</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3</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A proposta comercial que converte</a:t>
            </a:r>
            <a:endParaRPr lang="en-US" sz="2600" dirty="0"/>
          </a:p>
        </p:txBody>
      </p:sp>
      <p:sp>
        <p:nvSpPr>
          <p:cNvPr id="9" name="Shape 6"/>
          <p:cNvSpPr/>
          <p:nvPr/>
        </p:nvSpPr>
        <p:spPr>
          <a:xfrm>
            <a:off x="411480" y="1325880"/>
            <a:ext cx="5554980" cy="4937760"/>
          </a:xfrm>
          <a:prstGeom prst="roundRect">
            <a:avLst>
              <a:gd name="adj" fmla="val 1481"/>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411480" y="1325880"/>
            <a:ext cx="5554980" cy="109728"/>
          </a:xfrm>
          <a:prstGeom prst="rect">
            <a:avLst/>
          </a:prstGeom>
          <a:solidFill>
            <a:srgbClr val="1B3A6B"/>
          </a:solidFill>
          <a:ln/>
        </p:spPr>
      </p:sp>
      <p:sp>
        <p:nvSpPr>
          <p:cNvPr id="11" name="Text 8"/>
          <p:cNvSpPr/>
          <p:nvPr/>
        </p:nvSpPr>
        <p:spPr>
          <a:xfrm>
            <a:off x="685800" y="1554480"/>
            <a:ext cx="5006340"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As cinco perguntas do cliente</a:t>
            </a:r>
            <a:endParaRPr lang="en-US" sz="1600" dirty="0"/>
          </a:p>
        </p:txBody>
      </p:sp>
      <p:sp>
        <p:nvSpPr>
          <p:cNvPr id="12" name="Text 9"/>
          <p:cNvSpPr/>
          <p:nvPr/>
        </p:nvSpPr>
        <p:spPr>
          <a:xfrm>
            <a:off x="685800" y="2286000"/>
            <a:ext cx="5006340" cy="3749040"/>
          </a:xfrm>
          <a:prstGeom prst="rect">
            <a:avLst/>
          </a:prstGeom>
          <a:noFill/>
          <a:ln/>
        </p:spPr>
        <p:txBody>
          <a:bodyPr wrap="square" rtlCol="0" anchor="t">
            <a:normAutofit/>
          </a:bodyPr>
          <a:lstStyle/>
          <a:p>
            <a:pPr indent="0" marL="0">
              <a:spcAft>
                <a:spcPts val="600"/>
              </a:spcAft>
              <a:buNone/>
            </a:pPr>
            <a:r>
              <a:rPr lang="en-US" sz="1300" dirty="0">
                <a:solidFill>
                  <a:srgbClr val="1F2937"/>
                </a:solidFill>
                <a:latin typeface="Arial" pitchFamily="34" charset="0"/>
                <a:ea typeface="Arial" pitchFamily="34" charset="-122"/>
                <a:cs typeface="Arial" pitchFamily="34" charset="-120"/>
              </a:rPr>
              <a:t>1. Quanto eu economizo? → economia em R$/mês e R$/ano</a:t>
            </a:r>
            <a:endParaRPr lang="en-US" sz="1300" dirty="0"/>
          </a:p>
          <a:p>
            <a:pPr indent="0" marL="0">
              <a:spcAft>
                <a:spcPts val="600"/>
              </a:spcAft>
              <a:buNone/>
            </a:pPr>
            <a:r>
              <a:rPr lang="en-US" sz="1300" dirty="0">
                <a:solidFill>
                  <a:srgbClr val="1F2937"/>
                </a:solidFill>
                <a:latin typeface="Arial" pitchFamily="34" charset="0"/>
                <a:ea typeface="Arial" pitchFamily="34" charset="-122"/>
                <a:cs typeface="Arial" pitchFamily="34" charset="-120"/>
              </a:rPr>
              <a:t>2. Quanto eu invisto? → zero, sem obra, sem trocar medidor</a:t>
            </a:r>
            <a:endParaRPr lang="en-US" sz="1300" dirty="0"/>
          </a:p>
          <a:p>
            <a:pPr indent="0" marL="0">
              <a:spcAft>
                <a:spcPts val="600"/>
              </a:spcAft>
              <a:buNone/>
            </a:pPr>
            <a:r>
              <a:rPr lang="en-US" sz="1300" dirty="0">
                <a:solidFill>
                  <a:srgbClr val="1F2937"/>
                </a:solidFill>
                <a:latin typeface="Arial" pitchFamily="34" charset="0"/>
                <a:ea typeface="Arial" pitchFamily="34" charset="-122"/>
                <a:cs typeface="Arial" pitchFamily="34" charset="-120"/>
              </a:rPr>
              <a:t>3. Como funciona? → usina + créditos + duas contas</a:t>
            </a:r>
            <a:endParaRPr lang="en-US" sz="1300" dirty="0"/>
          </a:p>
          <a:p>
            <a:pPr indent="0" marL="0">
              <a:spcAft>
                <a:spcPts val="600"/>
              </a:spcAft>
              <a:buNone/>
            </a:pPr>
            <a:r>
              <a:rPr lang="en-US" sz="1300" dirty="0">
                <a:solidFill>
                  <a:srgbClr val="1F2937"/>
                </a:solidFill>
                <a:latin typeface="Arial" pitchFamily="34" charset="0"/>
                <a:ea typeface="Arial" pitchFamily="34" charset="-122"/>
                <a:cs typeface="Arial" pitchFamily="34" charset="-120"/>
              </a:rPr>
              <a:t>4. É seguro? → Lei 14.300, empresa, contrato</a:t>
            </a:r>
            <a:endParaRPr lang="en-US" sz="1300" dirty="0"/>
          </a:p>
          <a:p>
            <a:pPr indent="0" marL="0">
              <a:spcAft>
                <a:spcPts val="600"/>
              </a:spcAft>
              <a:buNone/>
            </a:pPr>
            <a:r>
              <a:rPr lang="en-US" sz="1300" dirty="0">
                <a:solidFill>
                  <a:srgbClr val="1F2937"/>
                </a:solidFill>
                <a:latin typeface="Arial" pitchFamily="34" charset="0"/>
                <a:ea typeface="Arial" pitchFamily="34" charset="-122"/>
                <a:cs typeface="Arial" pitchFamily="34" charset="-120"/>
              </a:rPr>
              <a:t>5. O que eu preciso fazer? → documentos e próximo passo</a:t>
            </a:r>
            <a:endParaRPr lang="en-US" sz="1300" dirty="0"/>
          </a:p>
        </p:txBody>
      </p:sp>
      <p:sp>
        <p:nvSpPr>
          <p:cNvPr id="13" name="Shape 10"/>
          <p:cNvSpPr/>
          <p:nvPr/>
        </p:nvSpPr>
        <p:spPr>
          <a:xfrm>
            <a:off x="6240780" y="1325880"/>
            <a:ext cx="5554980" cy="4937760"/>
          </a:xfrm>
          <a:prstGeom prst="roundRect">
            <a:avLst>
              <a:gd name="adj" fmla="val 1481"/>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6240780" y="1325880"/>
            <a:ext cx="5554980" cy="109728"/>
          </a:xfrm>
          <a:prstGeom prst="rect">
            <a:avLst/>
          </a:prstGeom>
          <a:solidFill>
            <a:srgbClr val="F7A23B"/>
          </a:solidFill>
          <a:ln/>
        </p:spPr>
      </p:sp>
      <p:sp>
        <p:nvSpPr>
          <p:cNvPr id="15" name="Text 12"/>
          <p:cNvSpPr/>
          <p:nvPr/>
        </p:nvSpPr>
        <p:spPr>
          <a:xfrm>
            <a:off x="6515100" y="1554480"/>
            <a:ext cx="5006340"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A explicação das duas contas</a:t>
            </a:r>
            <a:endParaRPr lang="en-US" sz="1600" dirty="0"/>
          </a:p>
        </p:txBody>
      </p:sp>
      <p:sp>
        <p:nvSpPr>
          <p:cNvPr id="16" name="Text 13"/>
          <p:cNvSpPr/>
          <p:nvPr/>
        </p:nvSpPr>
        <p:spPr>
          <a:xfrm>
            <a:off x="6515100" y="2286000"/>
            <a:ext cx="5006340" cy="3749040"/>
          </a:xfrm>
          <a:prstGeom prst="rect">
            <a:avLst/>
          </a:prstGeom>
          <a:noFill/>
          <a:ln/>
        </p:spPr>
        <p:txBody>
          <a:bodyPr wrap="square" rtlCol="0" anchor="t">
            <a:normAutofit/>
          </a:bodyPr>
          <a:lstStyle/>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Antes: 1 conta grande</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Depois: 2 contas menores</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Soma menor = economia</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M5 · Aula 3</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3 · A PROPOSTA COMERCIAL QUE CONVERTE</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Condições que precisam estar claras</a:t>
            </a:r>
            <a:endParaRPr lang="en-US" sz="2600" dirty="0"/>
          </a:p>
        </p:txBody>
      </p:sp>
      <p:sp>
        <p:nvSpPr>
          <p:cNvPr id="9" name="Shape 6"/>
          <p:cNvSpPr/>
          <p:nvPr/>
        </p:nvSpPr>
        <p:spPr>
          <a:xfrm>
            <a:off x="411480" y="132588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594360" y="1508760"/>
            <a:ext cx="457200" cy="457200"/>
          </a:xfrm>
          <a:prstGeom prst="ellipse">
            <a:avLst/>
          </a:prstGeom>
          <a:solidFill>
            <a:srgbClr val="1B3A6B"/>
          </a:solidFill>
          <a:ln/>
        </p:spPr>
      </p:sp>
      <p:sp>
        <p:nvSpPr>
          <p:cNvPr id="11" name="Text 8"/>
          <p:cNvSpPr/>
          <p:nvPr/>
        </p:nvSpPr>
        <p:spPr>
          <a:xfrm>
            <a:off x="59436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188720" y="143560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Prazo</a:t>
            </a:r>
            <a:endParaRPr lang="en-US" sz="1800" dirty="0"/>
          </a:p>
        </p:txBody>
      </p:sp>
      <p:sp>
        <p:nvSpPr>
          <p:cNvPr id="13" name="Shape 10"/>
          <p:cNvSpPr/>
          <p:nvPr/>
        </p:nvSpPr>
        <p:spPr>
          <a:xfrm>
            <a:off x="4282440" y="132588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465320" y="1508760"/>
            <a:ext cx="457200" cy="457200"/>
          </a:xfrm>
          <a:prstGeom prst="ellipse">
            <a:avLst/>
          </a:prstGeom>
          <a:solidFill>
            <a:srgbClr val="F7A23B"/>
          </a:solidFill>
          <a:ln/>
        </p:spPr>
      </p:sp>
      <p:sp>
        <p:nvSpPr>
          <p:cNvPr id="15" name="Text 12"/>
          <p:cNvSpPr/>
          <p:nvPr/>
        </p:nvSpPr>
        <p:spPr>
          <a:xfrm>
            <a:off x="44653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5059680" y="143560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início previsto dos créditos</a:t>
            </a:r>
            <a:endParaRPr lang="en-US" sz="1800" dirty="0"/>
          </a:p>
        </p:txBody>
      </p:sp>
      <p:sp>
        <p:nvSpPr>
          <p:cNvPr id="17" name="Shape 14"/>
          <p:cNvSpPr/>
          <p:nvPr/>
        </p:nvSpPr>
        <p:spPr>
          <a:xfrm>
            <a:off x="8153400" y="132588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336280" y="1508760"/>
            <a:ext cx="457200" cy="457200"/>
          </a:xfrm>
          <a:prstGeom prst="ellipse">
            <a:avLst/>
          </a:prstGeom>
          <a:solidFill>
            <a:srgbClr val="1B3A6B"/>
          </a:solidFill>
          <a:ln/>
        </p:spPr>
      </p:sp>
      <p:sp>
        <p:nvSpPr>
          <p:cNvPr id="19" name="Text 16"/>
          <p:cNvSpPr/>
          <p:nvPr/>
        </p:nvSpPr>
        <p:spPr>
          <a:xfrm>
            <a:off x="833628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8930640" y="143560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como o valor é calculado todo mês</a:t>
            </a:r>
            <a:endParaRPr lang="en-US" sz="1800" dirty="0"/>
          </a:p>
        </p:txBody>
      </p:sp>
      <p:sp>
        <p:nvSpPr>
          <p:cNvPr id="21" name="Shape 18"/>
          <p:cNvSpPr/>
          <p:nvPr/>
        </p:nvSpPr>
        <p:spPr>
          <a:xfrm>
            <a:off x="411480" y="388620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2" name="Shape 19"/>
          <p:cNvSpPr/>
          <p:nvPr/>
        </p:nvSpPr>
        <p:spPr>
          <a:xfrm>
            <a:off x="594360" y="4069080"/>
            <a:ext cx="457200" cy="457200"/>
          </a:xfrm>
          <a:prstGeom prst="ellipse">
            <a:avLst/>
          </a:prstGeom>
          <a:solidFill>
            <a:srgbClr val="F7A23B"/>
          </a:solidFill>
          <a:ln/>
        </p:spPr>
      </p:sp>
      <p:sp>
        <p:nvSpPr>
          <p:cNvPr id="23" name="Text 20"/>
          <p:cNvSpPr/>
          <p:nvPr/>
        </p:nvSpPr>
        <p:spPr>
          <a:xfrm>
            <a:off x="59436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4" name="Text 21"/>
          <p:cNvSpPr/>
          <p:nvPr/>
        </p:nvSpPr>
        <p:spPr>
          <a:xfrm>
            <a:off x="1188720" y="399592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reajuste e regras da distribuidora</a:t>
            </a:r>
            <a:endParaRPr lang="en-US" sz="1800" dirty="0"/>
          </a:p>
        </p:txBody>
      </p:sp>
      <p:sp>
        <p:nvSpPr>
          <p:cNvPr id="25" name="Shape 22"/>
          <p:cNvSpPr/>
          <p:nvPr/>
        </p:nvSpPr>
        <p:spPr>
          <a:xfrm>
            <a:off x="4282440" y="388620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6" name="Shape 23"/>
          <p:cNvSpPr/>
          <p:nvPr/>
        </p:nvSpPr>
        <p:spPr>
          <a:xfrm>
            <a:off x="4465320" y="4069080"/>
            <a:ext cx="457200" cy="457200"/>
          </a:xfrm>
          <a:prstGeom prst="ellipse">
            <a:avLst/>
          </a:prstGeom>
          <a:solidFill>
            <a:srgbClr val="1B3A6B"/>
          </a:solidFill>
          <a:ln/>
        </p:spPr>
      </p:sp>
      <p:sp>
        <p:nvSpPr>
          <p:cNvPr id="27" name="Text 24"/>
          <p:cNvSpPr/>
          <p:nvPr/>
        </p:nvSpPr>
        <p:spPr>
          <a:xfrm>
            <a:off x="446532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8" name="Text 25"/>
          <p:cNvSpPr/>
          <p:nvPr/>
        </p:nvSpPr>
        <p:spPr>
          <a:xfrm>
            <a:off x="5059680" y="399592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cancelamento</a:t>
            </a:r>
            <a:endParaRPr lang="en-US" sz="1800" dirty="0"/>
          </a:p>
        </p:txBody>
      </p:sp>
      <p:sp>
        <p:nvSpPr>
          <p:cNvPr id="29" name="Shape 26"/>
          <p:cNvSpPr/>
          <p:nvPr/>
        </p:nvSpPr>
        <p:spPr>
          <a:xfrm>
            <a:off x="8153400" y="388620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30" name="Shape 27"/>
          <p:cNvSpPr/>
          <p:nvPr/>
        </p:nvSpPr>
        <p:spPr>
          <a:xfrm>
            <a:off x="8336280" y="4069080"/>
            <a:ext cx="457200" cy="457200"/>
          </a:xfrm>
          <a:prstGeom prst="ellipse">
            <a:avLst/>
          </a:prstGeom>
          <a:solidFill>
            <a:srgbClr val="F7A23B"/>
          </a:solidFill>
          <a:ln/>
        </p:spPr>
      </p:sp>
      <p:sp>
        <p:nvSpPr>
          <p:cNvPr id="31" name="Text 28"/>
          <p:cNvSpPr/>
          <p:nvPr/>
        </p:nvSpPr>
        <p:spPr>
          <a:xfrm>
            <a:off x="833628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a:t>
            </a:r>
            <a:endParaRPr lang="en-US" sz="1400" dirty="0"/>
          </a:p>
        </p:txBody>
      </p:sp>
      <p:sp>
        <p:nvSpPr>
          <p:cNvPr id="32" name="Text 29"/>
          <p:cNvSpPr/>
          <p:nvPr/>
        </p:nvSpPr>
        <p:spPr>
          <a:xfrm>
            <a:off x="8930640" y="399592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validade da proposta</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M5 · Aula 3</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3 · A PROPOSTA COMERCIAL QUE CONVERTE</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A reunião de apresentação</a:t>
            </a:r>
            <a:endParaRPr lang="en-US" sz="2600" dirty="0"/>
          </a:p>
        </p:txBody>
      </p:sp>
      <p:sp>
        <p:nvSpPr>
          <p:cNvPr id="9" name="Shape 6"/>
          <p:cNvSpPr/>
          <p:nvPr/>
        </p:nvSpPr>
        <p:spPr>
          <a:xfrm>
            <a:off x="411480" y="132588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594360" y="1508760"/>
            <a:ext cx="457200" cy="457200"/>
          </a:xfrm>
          <a:prstGeom prst="ellipse">
            <a:avLst/>
          </a:prstGeom>
          <a:solidFill>
            <a:srgbClr val="1B3A6B"/>
          </a:solidFill>
          <a:ln/>
        </p:spPr>
      </p:sp>
      <p:sp>
        <p:nvSpPr>
          <p:cNvPr id="11" name="Text 8"/>
          <p:cNvSpPr/>
          <p:nvPr/>
        </p:nvSpPr>
        <p:spPr>
          <a:xfrm>
            <a:off x="59436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188720" y="143560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0–3 min: a conta dele hoje (dor)</a:t>
            </a:r>
            <a:endParaRPr lang="en-US" sz="1800" dirty="0"/>
          </a:p>
        </p:txBody>
      </p:sp>
      <p:sp>
        <p:nvSpPr>
          <p:cNvPr id="13" name="Shape 10"/>
          <p:cNvSpPr/>
          <p:nvPr/>
        </p:nvSpPr>
        <p:spPr>
          <a:xfrm>
            <a:off x="4282440" y="132588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465320" y="1508760"/>
            <a:ext cx="457200" cy="457200"/>
          </a:xfrm>
          <a:prstGeom prst="ellipse">
            <a:avLst/>
          </a:prstGeom>
          <a:solidFill>
            <a:srgbClr val="F7A23B"/>
          </a:solidFill>
          <a:ln/>
        </p:spPr>
      </p:sp>
      <p:sp>
        <p:nvSpPr>
          <p:cNvPr id="15" name="Text 12"/>
          <p:cNvSpPr/>
          <p:nvPr/>
        </p:nvSpPr>
        <p:spPr>
          <a:xfrm>
            <a:off x="44653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5059680" y="143560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3–7 min: como funciona + duas contas</a:t>
            </a:r>
            <a:endParaRPr lang="en-US" sz="1800" dirty="0"/>
          </a:p>
        </p:txBody>
      </p:sp>
      <p:sp>
        <p:nvSpPr>
          <p:cNvPr id="17" name="Shape 14"/>
          <p:cNvSpPr/>
          <p:nvPr/>
        </p:nvSpPr>
        <p:spPr>
          <a:xfrm>
            <a:off x="8153400" y="132588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336280" y="1508760"/>
            <a:ext cx="457200" cy="457200"/>
          </a:xfrm>
          <a:prstGeom prst="ellipse">
            <a:avLst/>
          </a:prstGeom>
          <a:solidFill>
            <a:srgbClr val="1B3A6B"/>
          </a:solidFill>
          <a:ln/>
        </p:spPr>
      </p:sp>
      <p:sp>
        <p:nvSpPr>
          <p:cNvPr id="19" name="Text 16"/>
          <p:cNvSpPr/>
          <p:nvPr/>
        </p:nvSpPr>
        <p:spPr>
          <a:xfrm>
            <a:off x="833628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8930640" y="143560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7–10 min: economia em R$ e prova (lei, empresa, clientes)</a:t>
            </a:r>
            <a:endParaRPr lang="en-US" sz="1800" dirty="0"/>
          </a:p>
        </p:txBody>
      </p:sp>
      <p:sp>
        <p:nvSpPr>
          <p:cNvPr id="21" name="Shape 18"/>
          <p:cNvSpPr/>
          <p:nvPr/>
        </p:nvSpPr>
        <p:spPr>
          <a:xfrm>
            <a:off x="411480" y="388620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2" name="Shape 19"/>
          <p:cNvSpPr/>
          <p:nvPr/>
        </p:nvSpPr>
        <p:spPr>
          <a:xfrm>
            <a:off x="594360" y="4069080"/>
            <a:ext cx="457200" cy="457200"/>
          </a:xfrm>
          <a:prstGeom prst="ellipse">
            <a:avLst/>
          </a:prstGeom>
          <a:solidFill>
            <a:srgbClr val="F7A23B"/>
          </a:solidFill>
          <a:ln/>
        </p:spPr>
      </p:sp>
      <p:sp>
        <p:nvSpPr>
          <p:cNvPr id="23" name="Text 20"/>
          <p:cNvSpPr/>
          <p:nvPr/>
        </p:nvSpPr>
        <p:spPr>
          <a:xfrm>
            <a:off x="59436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4" name="Text 21"/>
          <p:cNvSpPr/>
          <p:nvPr/>
        </p:nvSpPr>
        <p:spPr>
          <a:xfrm>
            <a:off x="1188720" y="399592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10–13 min: dúvidas e objeções</a:t>
            </a:r>
            <a:endParaRPr lang="en-US" sz="1800" dirty="0"/>
          </a:p>
        </p:txBody>
      </p:sp>
      <p:sp>
        <p:nvSpPr>
          <p:cNvPr id="25" name="Shape 22"/>
          <p:cNvSpPr/>
          <p:nvPr/>
        </p:nvSpPr>
        <p:spPr>
          <a:xfrm>
            <a:off x="4282440" y="388620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6" name="Shape 23"/>
          <p:cNvSpPr/>
          <p:nvPr/>
        </p:nvSpPr>
        <p:spPr>
          <a:xfrm>
            <a:off x="4465320" y="4069080"/>
            <a:ext cx="457200" cy="457200"/>
          </a:xfrm>
          <a:prstGeom prst="ellipse">
            <a:avLst/>
          </a:prstGeom>
          <a:solidFill>
            <a:srgbClr val="1B3A6B"/>
          </a:solidFill>
          <a:ln/>
        </p:spPr>
      </p:sp>
      <p:sp>
        <p:nvSpPr>
          <p:cNvPr id="27" name="Text 24"/>
          <p:cNvSpPr/>
          <p:nvPr/>
        </p:nvSpPr>
        <p:spPr>
          <a:xfrm>
            <a:off x="446532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8" name="Text 25"/>
          <p:cNvSpPr/>
          <p:nvPr/>
        </p:nvSpPr>
        <p:spPr>
          <a:xfrm>
            <a:off x="5059680" y="399592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13–15 min: próximo passo e documentos</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EF3FA"/>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M5 · Aula 3</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3 · RESUMO</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Para levar desta aula</a:t>
            </a:r>
            <a:endParaRPr lang="en-US" sz="2600" dirty="0"/>
          </a:p>
        </p:txBody>
      </p:sp>
      <p:sp>
        <p:nvSpPr>
          <p:cNvPr id="9" name="Shape 6"/>
          <p:cNvSpPr/>
          <p:nvPr/>
        </p:nvSpPr>
        <p:spPr>
          <a:xfrm>
            <a:off x="411480" y="1325880"/>
            <a:ext cx="557784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594360" y="1508760"/>
            <a:ext cx="457200" cy="457200"/>
          </a:xfrm>
          <a:prstGeom prst="ellipse">
            <a:avLst/>
          </a:prstGeom>
          <a:solidFill>
            <a:srgbClr val="1B3A6B"/>
          </a:solidFill>
          <a:ln/>
        </p:spPr>
      </p:sp>
      <p:sp>
        <p:nvSpPr>
          <p:cNvPr id="11" name="Text 8"/>
          <p:cNvSpPr/>
          <p:nvPr/>
        </p:nvSpPr>
        <p:spPr>
          <a:xfrm>
            <a:off x="59436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188720" y="1435608"/>
            <a:ext cx="466344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5 perguntas</a:t>
            </a:r>
            <a:endParaRPr lang="en-US" sz="1800" dirty="0"/>
          </a:p>
        </p:txBody>
      </p:sp>
      <p:sp>
        <p:nvSpPr>
          <p:cNvPr id="13" name="Shape 10"/>
          <p:cNvSpPr/>
          <p:nvPr/>
        </p:nvSpPr>
        <p:spPr>
          <a:xfrm>
            <a:off x="6217920" y="1325880"/>
            <a:ext cx="557784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6400800" y="1508760"/>
            <a:ext cx="457200" cy="457200"/>
          </a:xfrm>
          <a:prstGeom prst="ellipse">
            <a:avLst/>
          </a:prstGeom>
          <a:solidFill>
            <a:srgbClr val="F7A23B"/>
          </a:solidFill>
          <a:ln/>
        </p:spPr>
      </p:sp>
      <p:sp>
        <p:nvSpPr>
          <p:cNvPr id="15" name="Text 12"/>
          <p:cNvSpPr/>
          <p:nvPr/>
        </p:nvSpPr>
        <p:spPr>
          <a:xfrm>
            <a:off x="640080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6995160" y="1435608"/>
            <a:ext cx="466344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duas contas</a:t>
            </a:r>
            <a:endParaRPr lang="en-US" sz="1800" dirty="0"/>
          </a:p>
        </p:txBody>
      </p:sp>
      <p:sp>
        <p:nvSpPr>
          <p:cNvPr id="17" name="Shape 14"/>
          <p:cNvSpPr/>
          <p:nvPr/>
        </p:nvSpPr>
        <p:spPr>
          <a:xfrm>
            <a:off x="411480" y="3886200"/>
            <a:ext cx="557784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594360" y="4069080"/>
            <a:ext cx="457200" cy="457200"/>
          </a:xfrm>
          <a:prstGeom prst="ellipse">
            <a:avLst/>
          </a:prstGeom>
          <a:solidFill>
            <a:srgbClr val="1B3A6B"/>
          </a:solidFill>
          <a:ln/>
        </p:spPr>
      </p:sp>
      <p:sp>
        <p:nvSpPr>
          <p:cNvPr id="19" name="Text 16"/>
          <p:cNvSpPr/>
          <p:nvPr/>
        </p:nvSpPr>
        <p:spPr>
          <a:xfrm>
            <a:off x="59436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1188720" y="3995928"/>
            <a:ext cx="466344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condições claras</a:t>
            </a:r>
            <a:endParaRPr lang="en-US" sz="1800" dirty="0"/>
          </a:p>
        </p:txBody>
      </p:sp>
      <p:sp>
        <p:nvSpPr>
          <p:cNvPr id="21" name="Shape 18"/>
          <p:cNvSpPr/>
          <p:nvPr/>
        </p:nvSpPr>
        <p:spPr>
          <a:xfrm>
            <a:off x="6217920" y="3886200"/>
            <a:ext cx="557784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2" name="Shape 19"/>
          <p:cNvSpPr/>
          <p:nvPr/>
        </p:nvSpPr>
        <p:spPr>
          <a:xfrm>
            <a:off x="6400800" y="4069080"/>
            <a:ext cx="457200" cy="457200"/>
          </a:xfrm>
          <a:prstGeom prst="ellipse">
            <a:avLst/>
          </a:prstGeom>
          <a:solidFill>
            <a:srgbClr val="F7A23B"/>
          </a:solidFill>
          <a:ln/>
        </p:spPr>
      </p:sp>
      <p:sp>
        <p:nvSpPr>
          <p:cNvPr id="23" name="Text 20"/>
          <p:cNvSpPr/>
          <p:nvPr/>
        </p:nvSpPr>
        <p:spPr>
          <a:xfrm>
            <a:off x="640080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4" name="Text 21"/>
          <p:cNvSpPr/>
          <p:nvPr/>
        </p:nvSpPr>
        <p:spPr>
          <a:xfrm>
            <a:off x="6995160" y="3995928"/>
            <a:ext cx="466344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reunião de 15 min com próximo passo</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4</a:t>
            </a:r>
            <a:endParaRPr lang="en-US" sz="1800" dirty="0"/>
          </a:p>
        </p:txBody>
      </p:sp>
      <p:sp>
        <p:nvSpPr>
          <p:cNvPr id="4" name="Text 2"/>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Aula</a:t>
            </a:r>
            <a:endParaRPr lang="en-US" sz="1400" dirty="0"/>
          </a:p>
        </p:txBody>
      </p:sp>
      <p:pic>
        <p:nvPicPr>
          <p:cNvPr id="5"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6" name="Text 3"/>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Objeções e argumentos</a:t>
            </a:r>
            <a:endParaRPr lang="en-US" sz="3200" dirty="0"/>
          </a:p>
        </p:txBody>
      </p:sp>
      <p:sp>
        <p:nvSpPr>
          <p:cNvPr id="7" name="Text 4"/>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Responder com segurança e honestidade às objeções mais comuns</a:t>
            </a:r>
            <a:endParaRPr lang="en-US" sz="1500" dirty="0"/>
          </a:p>
        </p:txBody>
      </p:sp>
      <p:sp>
        <p:nvSpPr>
          <p:cNvPr id="8" name="Text 5"/>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Confiança</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Entendimento</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Compromisso</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Timing</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M5 · Aula 4</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4 · OBJEÇÕES E ARGUMENTOS</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Confiança</a:t>
            </a:r>
            <a:endParaRPr lang="en-US" sz="2600" dirty="0"/>
          </a:p>
        </p:txBody>
      </p:sp>
      <p:sp>
        <p:nvSpPr>
          <p:cNvPr id="9" name="Text 6"/>
          <p:cNvSpPr/>
          <p:nvPr/>
        </p:nvSpPr>
        <p:spPr>
          <a:xfrm>
            <a:off x="548640" y="1325880"/>
            <a:ext cx="11155680" cy="4937760"/>
          </a:xfrm>
          <a:prstGeom prst="rect">
            <a:avLst/>
          </a:prstGeom>
          <a:noFill/>
          <a:ln/>
        </p:spPr>
        <p:txBody>
          <a:bodyPr wrap="square" rtlCol="0" anchor="t">
            <a:normAutofit/>
          </a:bodyPr>
          <a:lstStyle/>
          <a:p>
            <a:pPr indent="0" marL="0">
              <a:spcAft>
                <a:spcPts val="600"/>
              </a:spcAft>
              <a:buNone/>
            </a:pPr>
            <a:r>
              <a:rPr lang="en-US" sz="1400" dirty="0">
                <a:solidFill>
                  <a:srgbClr val="1F2937"/>
                </a:solidFill>
                <a:latin typeface="Arial" pitchFamily="34" charset="0"/>
                <a:ea typeface="Arial" pitchFamily="34" charset="-122"/>
                <a:cs typeface="Arial" pitchFamily="34" charset="-120"/>
              </a:rPr>
              <a:t>1. 'Isso é golpe?' → É regulado pela Lei 14.300/2022; você continua cliente da distribuidora; contrato com CNPJ; clientes que já atendemos.</a:t>
            </a:r>
            <a:endParaRPr lang="en-US" sz="1400" dirty="0"/>
          </a:p>
          <a:p>
            <a:pPr indent="0" marL="0">
              <a:spcAft>
                <a:spcPts val="600"/>
              </a:spcAft>
              <a:buNone/>
            </a:pPr>
            <a:r>
              <a:rPr lang="en-US" sz="1400" dirty="0">
                <a:solidFill>
                  <a:srgbClr val="1F2937"/>
                </a:solidFill>
                <a:latin typeface="Arial" pitchFamily="34" charset="0"/>
                <a:ea typeface="Arial" pitchFamily="34" charset="-122"/>
                <a:cs typeface="Arial" pitchFamily="34" charset="-120"/>
              </a:rPr>
              <a:t>2. 'A distribuidora vai cortar minha luz?' → Não. O fornecimento é o mesmo; só muda a forma de pagar parte da energia.</a:t>
            </a:r>
            <a:endParaRPr lang="en-US" sz="1400" dirty="0"/>
          </a:p>
          <a:p>
            <a:pPr indent="0" marL="0">
              <a:spcAft>
                <a:spcPts val="600"/>
              </a:spcAft>
              <a:buNone/>
            </a:pPr>
            <a:r>
              <a:rPr lang="en-US" sz="1400" dirty="0">
                <a:solidFill>
                  <a:srgbClr val="1F2937"/>
                </a:solidFill>
                <a:latin typeface="Arial" pitchFamily="34" charset="0"/>
                <a:ea typeface="Arial" pitchFamily="34" charset="-122"/>
                <a:cs typeface="Arial" pitchFamily="34" charset="-120"/>
              </a:rPr>
              <a:t>3. 'Preciso trocar medidor ou fazer obra?' → Não. Nada muda na sua instalação.</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M5 · Aula 4</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4 · OBJEÇÕES E ARGUMENTOS</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Entendimento</a:t>
            </a:r>
            <a:endParaRPr lang="en-US" sz="2600" dirty="0"/>
          </a:p>
        </p:txBody>
      </p:sp>
      <p:sp>
        <p:nvSpPr>
          <p:cNvPr id="9" name="Text 6"/>
          <p:cNvSpPr/>
          <p:nvPr/>
        </p:nvSpPr>
        <p:spPr>
          <a:xfrm>
            <a:off x="548640" y="1325880"/>
            <a:ext cx="11155680" cy="4937760"/>
          </a:xfrm>
          <a:prstGeom prst="rect">
            <a:avLst/>
          </a:prstGeom>
          <a:noFill/>
          <a:ln/>
        </p:spPr>
        <p:txBody>
          <a:bodyPr wrap="square" rtlCol="0" anchor="t">
            <a:normAutofit/>
          </a:bodyPr>
          <a:lstStyle/>
          <a:p>
            <a:pPr indent="0" marL="0">
              <a:spcAft>
                <a:spcPts val="600"/>
              </a:spcAft>
              <a:buNone/>
            </a:pPr>
            <a:r>
              <a:rPr lang="en-US" sz="1300" dirty="0">
                <a:solidFill>
                  <a:srgbClr val="1F2937"/>
                </a:solidFill>
                <a:latin typeface="Arial" pitchFamily="34" charset="0"/>
                <a:ea typeface="Arial" pitchFamily="34" charset="-122"/>
                <a:cs typeface="Arial" pitchFamily="34" charset="-120"/>
              </a:rPr>
              <a:t>4. 'Vou pagar duas contas?' → Sim, duas contas menores que somam menos que a de hoje. (mostrar a conta)</a:t>
            </a:r>
            <a:endParaRPr lang="en-US" sz="1300" dirty="0"/>
          </a:p>
          <a:p>
            <a:pPr indent="0" marL="0">
              <a:spcAft>
                <a:spcPts val="600"/>
              </a:spcAft>
              <a:buNone/>
            </a:pPr>
            <a:r>
              <a:rPr lang="en-US" sz="1300" dirty="0">
                <a:solidFill>
                  <a:srgbClr val="1F2937"/>
                </a:solidFill>
                <a:latin typeface="Arial" pitchFamily="34" charset="0"/>
                <a:ea typeface="Arial" pitchFamily="34" charset="-122"/>
                <a:cs typeface="Arial" pitchFamily="34" charset="-120"/>
              </a:rPr>
              <a:t>5. 'Por que não 20% na conta toda?' → O desconto é sobre a energia compensada; uma parte da conta é da distribuidora (mínimo e uso da rede). Sua economia real é R$ X.</a:t>
            </a:r>
            <a:endParaRPr lang="en-US" sz="1300" dirty="0"/>
          </a:p>
          <a:p>
            <a:pPr indent="0" marL="0">
              <a:spcAft>
                <a:spcPts val="600"/>
              </a:spcAft>
              <a:buNone/>
            </a:pPr>
            <a:r>
              <a:rPr lang="en-US" sz="1300" dirty="0">
                <a:solidFill>
                  <a:srgbClr val="1F2937"/>
                </a:solidFill>
                <a:latin typeface="Arial" pitchFamily="34" charset="0"/>
                <a:ea typeface="Arial" pitchFamily="34" charset="-122"/>
                <a:cs typeface="Arial" pitchFamily="34" charset="-120"/>
              </a:rPr>
              <a:t>6. 'E se a usina gerar menos?' → Você recebe proporcionalmente menos créditos e paga proporcionalmente menos para nós; nunca paga por energia que não recebeu.</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M5 · Aula 4</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4 · OBJEÇÕES E ARGUMENTOS</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Compromisso</a:t>
            </a:r>
            <a:endParaRPr lang="en-US" sz="2600" dirty="0"/>
          </a:p>
        </p:txBody>
      </p:sp>
      <p:sp>
        <p:nvSpPr>
          <p:cNvPr id="9" name="Text 6"/>
          <p:cNvSpPr/>
          <p:nvPr/>
        </p:nvSpPr>
        <p:spPr>
          <a:xfrm>
            <a:off x="548640" y="1325880"/>
            <a:ext cx="11155680" cy="4937760"/>
          </a:xfrm>
          <a:prstGeom prst="rect">
            <a:avLst/>
          </a:prstGeom>
          <a:noFill/>
          <a:ln/>
        </p:spPr>
        <p:txBody>
          <a:bodyPr wrap="square" rtlCol="0" anchor="t">
            <a:normAutofit/>
          </a:bodyPr>
          <a:lstStyle/>
          <a:p>
            <a:pPr indent="0" marL="0">
              <a:spcAft>
                <a:spcPts val="600"/>
              </a:spcAft>
              <a:buNone/>
            </a:pPr>
            <a:r>
              <a:rPr lang="en-US" sz="1400" dirty="0">
                <a:solidFill>
                  <a:srgbClr val="1F2937"/>
                </a:solidFill>
                <a:latin typeface="Arial" pitchFamily="34" charset="0"/>
                <a:ea typeface="Arial" pitchFamily="34" charset="-122"/>
                <a:cs typeface="Arial" pitchFamily="34" charset="-120"/>
              </a:rPr>
              <a:t>7. 'Tem fidelidade? E multa?' → Prazo X; cancelamento com aviso de Y dias; condições no contrato.</a:t>
            </a:r>
            <a:endParaRPr lang="en-US" sz="1400" dirty="0"/>
          </a:p>
          <a:p>
            <a:pPr indent="0" marL="0">
              <a:spcAft>
                <a:spcPts val="600"/>
              </a:spcAft>
              <a:buNone/>
            </a:pPr>
            <a:r>
              <a:rPr lang="en-US" sz="1400" dirty="0">
                <a:solidFill>
                  <a:srgbClr val="1F2937"/>
                </a:solidFill>
                <a:latin typeface="Arial" pitchFamily="34" charset="0"/>
                <a:ea typeface="Arial" pitchFamily="34" charset="-122"/>
                <a:cs typeface="Arial" pitchFamily="34" charset="-120"/>
              </a:rPr>
              <a:t>8. 'E se eu mudar de endereço?' → Transferimos a cota para a nova UC, se estiver na mesma distribuidora; senão, encerramos conforme contrato.</a:t>
            </a:r>
            <a:endParaRPr lang="en-US" sz="1400" dirty="0"/>
          </a:p>
          <a:p>
            <a:pPr indent="0" marL="0">
              <a:spcAft>
                <a:spcPts val="600"/>
              </a:spcAft>
              <a:buNone/>
            </a:pPr>
            <a:r>
              <a:rPr lang="en-US" sz="1400" dirty="0">
                <a:solidFill>
                  <a:srgbClr val="1F2937"/>
                </a:solidFill>
                <a:latin typeface="Arial" pitchFamily="34" charset="0"/>
                <a:ea typeface="Arial" pitchFamily="34" charset="-122"/>
                <a:cs typeface="Arial" pitchFamily="34" charset="-120"/>
              </a:rPr>
              <a:t>9. 'E essa história de Fio B / mudança de regra?' → A economia acompanha as regras e a tarifa; mostramos a conta; contrato prevê o ajuste.</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M5 · Aula 4</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4 · OBJEÇÕES E ARGUMENTOS</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Timing</a:t>
            </a:r>
            <a:endParaRPr lang="en-US" sz="2600" dirty="0"/>
          </a:p>
        </p:txBody>
      </p:sp>
      <p:sp>
        <p:nvSpPr>
          <p:cNvPr id="9" name="Shape 6"/>
          <p:cNvSpPr/>
          <p:nvPr/>
        </p:nvSpPr>
        <p:spPr>
          <a:xfrm>
            <a:off x="411480" y="2651760"/>
            <a:ext cx="5779008" cy="1463040"/>
          </a:xfrm>
          <a:prstGeom prst="chevron">
            <a:avLst/>
          </a:prstGeom>
          <a:solidFill>
            <a:srgbClr val="1B3A6B"/>
          </a:solidFill>
          <a:ln w="25400">
            <a:solidFill>
              <a:srgbClr val="FFFFFF"/>
            </a:solidFill>
            <a:prstDash val="solid"/>
          </a:ln>
        </p:spPr>
      </p:sp>
      <p:sp>
        <p:nvSpPr>
          <p:cNvPr id="10" name="Text 7"/>
          <p:cNvSpPr/>
          <p:nvPr/>
        </p:nvSpPr>
        <p:spPr>
          <a:xfrm>
            <a:off x="731520" y="2651760"/>
            <a:ext cx="5257800" cy="1463040"/>
          </a:xfrm>
          <a:prstGeom prst="rect">
            <a:avLst/>
          </a:prstGeom>
          <a:noFill/>
          <a:ln/>
        </p:spPr>
        <p:txBody>
          <a:bodyPr wrap="square" rtlCol="0" anchor="ctr">
            <a:normAutofit/>
          </a:bodyPr>
          <a:lstStyle/>
          <a:p>
            <a:pPr algn="ctr" indent="0" marL="0">
              <a:buNone/>
            </a:pPr>
            <a:r>
              <a:rPr lang="en-US" sz="1500" b="1" dirty="0">
                <a:solidFill>
                  <a:srgbClr val="FFFFFF"/>
                </a:solidFill>
                <a:latin typeface="Arial" pitchFamily="34" charset="0"/>
                <a:ea typeface="Arial" pitchFamily="34" charset="-122"/>
                <a:cs typeface="Arial" pitchFamily="34" charset="-120"/>
              </a:rPr>
              <a:t>10. 'Vou pensar.'</a:t>
            </a:r>
            <a:endParaRPr lang="en-US" sz="1500" dirty="0"/>
          </a:p>
        </p:txBody>
      </p:sp>
      <p:sp>
        <p:nvSpPr>
          <p:cNvPr id="11" name="Shape 8"/>
          <p:cNvSpPr/>
          <p:nvPr/>
        </p:nvSpPr>
        <p:spPr>
          <a:xfrm>
            <a:off x="6080760" y="2651760"/>
            <a:ext cx="5779008" cy="1463040"/>
          </a:xfrm>
          <a:prstGeom prst="chevron">
            <a:avLst/>
          </a:prstGeom>
          <a:solidFill>
            <a:srgbClr val="11396F"/>
          </a:solidFill>
          <a:ln w="25400">
            <a:solidFill>
              <a:srgbClr val="FFFFFF"/>
            </a:solidFill>
            <a:prstDash val="solid"/>
          </a:ln>
        </p:spPr>
      </p:sp>
      <p:sp>
        <p:nvSpPr>
          <p:cNvPr id="12" name="Text 9"/>
          <p:cNvSpPr/>
          <p:nvPr/>
        </p:nvSpPr>
        <p:spPr>
          <a:xfrm>
            <a:off x="6400800" y="2651760"/>
            <a:ext cx="5257800" cy="1463040"/>
          </a:xfrm>
          <a:prstGeom prst="rect">
            <a:avLst/>
          </a:prstGeom>
          <a:noFill/>
          <a:ln/>
        </p:spPr>
        <p:txBody>
          <a:bodyPr wrap="square" rtlCol="0" anchor="ctr">
            <a:normAutofit/>
          </a:bodyPr>
          <a:lstStyle/>
          <a:p>
            <a:pPr algn="ctr" indent="0" marL="0">
              <a:buNone/>
            </a:pPr>
            <a:r>
              <a:rPr lang="en-US" sz="1500" b="1" dirty="0">
                <a:solidFill>
                  <a:srgbClr val="FFFFFF"/>
                </a:solidFill>
                <a:latin typeface="Arial" pitchFamily="34" charset="0"/>
                <a:ea typeface="Arial" pitchFamily="34" charset="-122"/>
                <a:cs typeface="Arial" pitchFamily="34" charset="-120"/>
              </a:rPr>
              <a:t>'Claro. O que falta para decidir?' + data de retorno + resumo por escrito com a economia anual.</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EEF3FA"/>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M5 · Aula 4</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4 · RESUMO</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Para levar desta aula</a:t>
            </a:r>
            <a:endParaRPr lang="en-US" sz="2600" dirty="0"/>
          </a:p>
        </p:txBody>
      </p:sp>
      <p:sp>
        <p:nvSpPr>
          <p:cNvPr id="9" name="Shape 6"/>
          <p:cNvSpPr/>
          <p:nvPr/>
        </p:nvSpPr>
        <p:spPr>
          <a:xfrm>
            <a:off x="411480" y="1325880"/>
            <a:ext cx="557784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594360" y="1508760"/>
            <a:ext cx="457200" cy="457200"/>
          </a:xfrm>
          <a:prstGeom prst="ellipse">
            <a:avLst/>
          </a:prstGeom>
          <a:solidFill>
            <a:srgbClr val="1B3A6B"/>
          </a:solidFill>
          <a:ln/>
        </p:spPr>
      </p:sp>
      <p:sp>
        <p:nvSpPr>
          <p:cNvPr id="11" name="Text 8"/>
          <p:cNvSpPr/>
          <p:nvPr/>
        </p:nvSpPr>
        <p:spPr>
          <a:xfrm>
            <a:off x="59436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188720" y="1435608"/>
            <a:ext cx="466344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Confiança</a:t>
            </a:r>
            <a:endParaRPr lang="en-US" sz="1800" dirty="0"/>
          </a:p>
        </p:txBody>
      </p:sp>
      <p:sp>
        <p:nvSpPr>
          <p:cNvPr id="13" name="Shape 10"/>
          <p:cNvSpPr/>
          <p:nvPr/>
        </p:nvSpPr>
        <p:spPr>
          <a:xfrm>
            <a:off x="6217920" y="1325880"/>
            <a:ext cx="557784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6400800" y="1508760"/>
            <a:ext cx="457200" cy="457200"/>
          </a:xfrm>
          <a:prstGeom prst="ellipse">
            <a:avLst/>
          </a:prstGeom>
          <a:solidFill>
            <a:srgbClr val="F7A23B"/>
          </a:solidFill>
          <a:ln/>
        </p:spPr>
      </p:sp>
      <p:sp>
        <p:nvSpPr>
          <p:cNvPr id="15" name="Text 12"/>
          <p:cNvSpPr/>
          <p:nvPr/>
        </p:nvSpPr>
        <p:spPr>
          <a:xfrm>
            <a:off x="640080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6995160" y="1435608"/>
            <a:ext cx="466344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entendimento</a:t>
            </a:r>
            <a:endParaRPr lang="en-US" sz="1800" dirty="0"/>
          </a:p>
        </p:txBody>
      </p:sp>
      <p:sp>
        <p:nvSpPr>
          <p:cNvPr id="17" name="Shape 14"/>
          <p:cNvSpPr/>
          <p:nvPr/>
        </p:nvSpPr>
        <p:spPr>
          <a:xfrm>
            <a:off x="411480" y="3886200"/>
            <a:ext cx="557784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594360" y="4069080"/>
            <a:ext cx="457200" cy="457200"/>
          </a:xfrm>
          <a:prstGeom prst="ellipse">
            <a:avLst/>
          </a:prstGeom>
          <a:solidFill>
            <a:srgbClr val="1B3A6B"/>
          </a:solidFill>
          <a:ln/>
        </p:spPr>
      </p:sp>
      <p:sp>
        <p:nvSpPr>
          <p:cNvPr id="19" name="Text 16"/>
          <p:cNvSpPr/>
          <p:nvPr/>
        </p:nvSpPr>
        <p:spPr>
          <a:xfrm>
            <a:off x="59436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1188720" y="3995928"/>
            <a:ext cx="466344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compromisso</a:t>
            </a:r>
            <a:endParaRPr lang="en-US" sz="1800" dirty="0"/>
          </a:p>
        </p:txBody>
      </p:sp>
      <p:sp>
        <p:nvSpPr>
          <p:cNvPr id="21" name="Shape 18"/>
          <p:cNvSpPr/>
          <p:nvPr/>
        </p:nvSpPr>
        <p:spPr>
          <a:xfrm>
            <a:off x="6217920" y="3886200"/>
            <a:ext cx="557784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2" name="Shape 19"/>
          <p:cNvSpPr/>
          <p:nvPr/>
        </p:nvSpPr>
        <p:spPr>
          <a:xfrm>
            <a:off x="6400800" y="4069080"/>
            <a:ext cx="457200" cy="457200"/>
          </a:xfrm>
          <a:prstGeom prst="ellipse">
            <a:avLst/>
          </a:prstGeom>
          <a:solidFill>
            <a:srgbClr val="F7A23B"/>
          </a:solidFill>
          <a:ln/>
        </p:spPr>
      </p:sp>
      <p:sp>
        <p:nvSpPr>
          <p:cNvPr id="23" name="Text 20"/>
          <p:cNvSpPr/>
          <p:nvPr/>
        </p:nvSpPr>
        <p:spPr>
          <a:xfrm>
            <a:off x="640080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4" name="Text 21"/>
          <p:cNvSpPr/>
          <p:nvPr/>
        </p:nvSpPr>
        <p:spPr>
          <a:xfrm>
            <a:off x="6995160" y="3995928"/>
            <a:ext cx="466344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timing — respostas curtas, verdadeiras e com o número do cliente</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5</a:t>
            </a:r>
            <a:endParaRPr lang="en-US" sz="1800" dirty="0"/>
          </a:p>
        </p:txBody>
      </p:sp>
      <p:sp>
        <p:nvSpPr>
          <p:cNvPr id="4" name="Text 2"/>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Aula</a:t>
            </a:r>
            <a:endParaRPr lang="en-US" sz="1400" dirty="0"/>
          </a:p>
        </p:txBody>
      </p:sp>
      <p:pic>
        <p:nvPicPr>
          <p:cNvPr id="5"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6" name="Text 3"/>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Funil e carteira do consultor</a:t>
            </a:r>
            <a:endParaRPr lang="en-US" sz="3200" dirty="0"/>
          </a:p>
        </p:txBody>
      </p:sp>
      <p:sp>
        <p:nvSpPr>
          <p:cNvPr id="7" name="Text 4"/>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Estruturar funil, metas, comissão e carteira para o time comercial</a:t>
            </a:r>
            <a:endParaRPr lang="en-US" sz="1500" dirty="0"/>
          </a:p>
        </p:txBody>
      </p:sp>
      <p:sp>
        <p:nvSpPr>
          <p:cNvPr id="8" name="Text 5"/>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O funil da assinatura</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Da meta de negócio à meta de vendas</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Comissão que premia o certo</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Passo a passo na plataforma</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M5 · Aula 5</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5 · FUNIL E CARTEIRA DO CONSULTOR</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O funil da assinatura</a:t>
            </a:r>
            <a:endParaRPr lang="en-US" sz="2600" dirty="0"/>
          </a:p>
        </p:txBody>
      </p:sp>
      <p:sp>
        <p:nvSpPr>
          <p:cNvPr id="9" name="Shape 6"/>
          <p:cNvSpPr/>
          <p:nvPr/>
        </p:nvSpPr>
        <p:spPr>
          <a:xfrm>
            <a:off x="411480" y="2651760"/>
            <a:ext cx="1999488" cy="1463040"/>
          </a:xfrm>
          <a:prstGeom prst="chevron">
            <a:avLst/>
          </a:prstGeom>
          <a:solidFill>
            <a:srgbClr val="1B3A6B"/>
          </a:solidFill>
          <a:ln w="25400">
            <a:solidFill>
              <a:srgbClr val="FFFFFF"/>
            </a:solidFill>
            <a:prstDash val="solid"/>
          </a:ln>
        </p:spPr>
      </p:sp>
      <p:sp>
        <p:nvSpPr>
          <p:cNvPr id="10" name="Text 7"/>
          <p:cNvSpPr/>
          <p:nvPr/>
        </p:nvSpPr>
        <p:spPr>
          <a:xfrm>
            <a:off x="731520" y="2651760"/>
            <a:ext cx="1478280" cy="1463040"/>
          </a:xfrm>
          <a:prstGeom prst="rect">
            <a:avLst/>
          </a:prstGeom>
          <a:noFill/>
          <a:ln/>
        </p:spPr>
        <p:txBody>
          <a:bodyPr wrap="square" rtlCol="0" anchor="ctr">
            <a:normAutofit/>
          </a:bodyPr>
          <a:lstStyle/>
          <a:p>
            <a:pPr algn="ctr" indent="0" marL="0">
              <a:buNone/>
            </a:pPr>
            <a:r>
              <a:rPr lang="en-US" sz="1200" b="1" dirty="0">
                <a:solidFill>
                  <a:srgbClr val="FFFFFF"/>
                </a:solidFill>
                <a:latin typeface="Arial" pitchFamily="34" charset="0"/>
                <a:ea typeface="Arial" pitchFamily="34" charset="-122"/>
                <a:cs typeface="Arial" pitchFamily="34" charset="-120"/>
              </a:rPr>
              <a:t>Lead</a:t>
            </a:r>
            <a:endParaRPr lang="en-US" sz="1200" dirty="0"/>
          </a:p>
        </p:txBody>
      </p:sp>
      <p:sp>
        <p:nvSpPr>
          <p:cNvPr id="11" name="Shape 8"/>
          <p:cNvSpPr/>
          <p:nvPr/>
        </p:nvSpPr>
        <p:spPr>
          <a:xfrm>
            <a:off x="2301240" y="2651760"/>
            <a:ext cx="1999488" cy="1463040"/>
          </a:xfrm>
          <a:prstGeom prst="chevron">
            <a:avLst/>
          </a:prstGeom>
          <a:solidFill>
            <a:srgbClr val="11396F"/>
          </a:solidFill>
          <a:ln w="25400">
            <a:solidFill>
              <a:srgbClr val="FFFFFF"/>
            </a:solidFill>
            <a:prstDash val="solid"/>
          </a:ln>
        </p:spPr>
      </p:sp>
      <p:sp>
        <p:nvSpPr>
          <p:cNvPr id="12" name="Text 9"/>
          <p:cNvSpPr/>
          <p:nvPr/>
        </p:nvSpPr>
        <p:spPr>
          <a:xfrm>
            <a:off x="2621280" y="2651760"/>
            <a:ext cx="1478280" cy="1463040"/>
          </a:xfrm>
          <a:prstGeom prst="rect">
            <a:avLst/>
          </a:prstGeom>
          <a:noFill/>
          <a:ln/>
        </p:spPr>
        <p:txBody>
          <a:bodyPr wrap="square" rtlCol="0" anchor="ctr">
            <a:normAutofit/>
          </a:bodyPr>
          <a:lstStyle/>
          <a:p>
            <a:pPr algn="ctr" indent="0" marL="0">
              <a:buNone/>
            </a:pPr>
            <a:r>
              <a:rPr lang="en-US" sz="1200" b="1" dirty="0">
                <a:solidFill>
                  <a:srgbClr val="FFFFFF"/>
                </a:solidFill>
                <a:latin typeface="Arial" pitchFamily="34" charset="0"/>
                <a:ea typeface="Arial" pitchFamily="34" charset="-122"/>
                <a:cs typeface="Arial" pitchFamily="34" charset="-120"/>
              </a:rPr>
              <a:t>Conta de luz recebida (50%)</a:t>
            </a:r>
            <a:endParaRPr lang="en-US" sz="1200" dirty="0"/>
          </a:p>
        </p:txBody>
      </p:sp>
      <p:sp>
        <p:nvSpPr>
          <p:cNvPr id="13" name="Shape 10"/>
          <p:cNvSpPr/>
          <p:nvPr/>
        </p:nvSpPr>
        <p:spPr>
          <a:xfrm>
            <a:off x="4191000" y="2651760"/>
            <a:ext cx="1999488" cy="1463040"/>
          </a:xfrm>
          <a:prstGeom prst="chevron">
            <a:avLst/>
          </a:prstGeom>
          <a:solidFill>
            <a:srgbClr val="1B3A6B"/>
          </a:solidFill>
          <a:ln w="25400">
            <a:solidFill>
              <a:srgbClr val="FFFFFF"/>
            </a:solidFill>
            <a:prstDash val="solid"/>
          </a:ln>
        </p:spPr>
      </p:sp>
      <p:sp>
        <p:nvSpPr>
          <p:cNvPr id="14" name="Text 11"/>
          <p:cNvSpPr/>
          <p:nvPr/>
        </p:nvSpPr>
        <p:spPr>
          <a:xfrm>
            <a:off x="4511040" y="2651760"/>
            <a:ext cx="1478280" cy="1463040"/>
          </a:xfrm>
          <a:prstGeom prst="rect">
            <a:avLst/>
          </a:prstGeom>
          <a:noFill/>
          <a:ln/>
        </p:spPr>
        <p:txBody>
          <a:bodyPr wrap="square" rtlCol="0" anchor="ctr">
            <a:normAutofit/>
          </a:bodyPr>
          <a:lstStyle/>
          <a:p>
            <a:pPr algn="ctr" indent="0" marL="0">
              <a:buNone/>
            </a:pPr>
            <a:r>
              <a:rPr lang="en-US" sz="1200" b="1" dirty="0">
                <a:solidFill>
                  <a:srgbClr val="FFFFFF"/>
                </a:solidFill>
                <a:latin typeface="Arial" pitchFamily="34" charset="0"/>
                <a:ea typeface="Arial" pitchFamily="34" charset="-122"/>
                <a:cs typeface="Arial" pitchFamily="34" charset="-120"/>
              </a:rPr>
              <a:t>Proposta apresentada (80%)</a:t>
            </a:r>
            <a:endParaRPr lang="en-US" sz="1200" dirty="0"/>
          </a:p>
        </p:txBody>
      </p:sp>
      <p:sp>
        <p:nvSpPr>
          <p:cNvPr id="15" name="Shape 12"/>
          <p:cNvSpPr/>
          <p:nvPr/>
        </p:nvSpPr>
        <p:spPr>
          <a:xfrm>
            <a:off x="6080760" y="2651760"/>
            <a:ext cx="1999488" cy="1463040"/>
          </a:xfrm>
          <a:prstGeom prst="chevron">
            <a:avLst/>
          </a:prstGeom>
          <a:solidFill>
            <a:srgbClr val="11396F"/>
          </a:solidFill>
          <a:ln w="25400">
            <a:solidFill>
              <a:srgbClr val="FFFFFF"/>
            </a:solidFill>
            <a:prstDash val="solid"/>
          </a:ln>
        </p:spPr>
      </p:sp>
      <p:sp>
        <p:nvSpPr>
          <p:cNvPr id="16" name="Text 13"/>
          <p:cNvSpPr/>
          <p:nvPr/>
        </p:nvSpPr>
        <p:spPr>
          <a:xfrm>
            <a:off x="6400800" y="2651760"/>
            <a:ext cx="1478280" cy="1463040"/>
          </a:xfrm>
          <a:prstGeom prst="rect">
            <a:avLst/>
          </a:prstGeom>
          <a:noFill/>
          <a:ln/>
        </p:spPr>
        <p:txBody>
          <a:bodyPr wrap="square" rtlCol="0" anchor="ctr">
            <a:normAutofit/>
          </a:bodyPr>
          <a:lstStyle/>
          <a:p>
            <a:pPr algn="ctr" indent="0" marL="0">
              <a:buNone/>
            </a:pPr>
            <a:r>
              <a:rPr lang="en-US" sz="1200" b="1" dirty="0">
                <a:solidFill>
                  <a:srgbClr val="FFFFFF"/>
                </a:solidFill>
                <a:latin typeface="Arial" pitchFamily="34" charset="0"/>
                <a:ea typeface="Arial" pitchFamily="34" charset="-122"/>
                <a:cs typeface="Arial" pitchFamily="34" charset="-120"/>
              </a:rPr>
              <a:t>Aceite (40%)</a:t>
            </a:r>
            <a:endParaRPr lang="en-US" sz="1200" dirty="0"/>
          </a:p>
        </p:txBody>
      </p:sp>
      <p:sp>
        <p:nvSpPr>
          <p:cNvPr id="17" name="Shape 14"/>
          <p:cNvSpPr/>
          <p:nvPr/>
        </p:nvSpPr>
        <p:spPr>
          <a:xfrm>
            <a:off x="7970520" y="2651760"/>
            <a:ext cx="1999488" cy="1463040"/>
          </a:xfrm>
          <a:prstGeom prst="chevron">
            <a:avLst/>
          </a:prstGeom>
          <a:solidFill>
            <a:srgbClr val="1B3A6B"/>
          </a:solidFill>
          <a:ln w="25400">
            <a:solidFill>
              <a:srgbClr val="FFFFFF"/>
            </a:solidFill>
            <a:prstDash val="solid"/>
          </a:ln>
        </p:spPr>
      </p:sp>
      <p:sp>
        <p:nvSpPr>
          <p:cNvPr id="18" name="Text 15"/>
          <p:cNvSpPr/>
          <p:nvPr/>
        </p:nvSpPr>
        <p:spPr>
          <a:xfrm>
            <a:off x="8290560" y="2651760"/>
            <a:ext cx="1478280" cy="1463040"/>
          </a:xfrm>
          <a:prstGeom prst="rect">
            <a:avLst/>
          </a:prstGeom>
          <a:noFill/>
          <a:ln/>
        </p:spPr>
        <p:txBody>
          <a:bodyPr wrap="square" rtlCol="0" anchor="ctr">
            <a:normAutofit/>
          </a:bodyPr>
          <a:lstStyle/>
          <a:p>
            <a:pPr algn="ctr" indent="0" marL="0">
              <a:buNone/>
            </a:pPr>
            <a:r>
              <a:rPr lang="en-US" sz="1200" b="1" dirty="0">
                <a:solidFill>
                  <a:srgbClr val="FFFFFF"/>
                </a:solidFill>
                <a:latin typeface="Arial" pitchFamily="34" charset="0"/>
                <a:ea typeface="Arial" pitchFamily="34" charset="-122"/>
                <a:cs typeface="Arial" pitchFamily="34" charset="-120"/>
              </a:rPr>
              <a:t>Contrato e documentos (90%)</a:t>
            </a:r>
            <a:endParaRPr lang="en-US" sz="1200" dirty="0"/>
          </a:p>
        </p:txBody>
      </p:sp>
      <p:sp>
        <p:nvSpPr>
          <p:cNvPr id="19" name="Shape 16"/>
          <p:cNvSpPr/>
          <p:nvPr/>
        </p:nvSpPr>
        <p:spPr>
          <a:xfrm>
            <a:off x="9860280" y="2651760"/>
            <a:ext cx="1999488" cy="1463040"/>
          </a:xfrm>
          <a:prstGeom prst="chevron">
            <a:avLst/>
          </a:prstGeom>
          <a:solidFill>
            <a:srgbClr val="11396F"/>
          </a:solidFill>
          <a:ln w="25400">
            <a:solidFill>
              <a:srgbClr val="FFFFFF"/>
            </a:solidFill>
            <a:prstDash val="solid"/>
          </a:ln>
        </p:spPr>
      </p:sp>
      <p:sp>
        <p:nvSpPr>
          <p:cNvPr id="20" name="Text 17"/>
          <p:cNvSpPr/>
          <p:nvPr/>
        </p:nvSpPr>
        <p:spPr>
          <a:xfrm>
            <a:off x="10180320" y="2651760"/>
            <a:ext cx="1478280" cy="1463040"/>
          </a:xfrm>
          <a:prstGeom prst="rect">
            <a:avLst/>
          </a:prstGeom>
          <a:noFill/>
          <a:ln/>
        </p:spPr>
        <p:txBody>
          <a:bodyPr wrap="square" rtlCol="0" anchor="ctr">
            <a:normAutofit/>
          </a:bodyPr>
          <a:lstStyle/>
          <a:p>
            <a:pPr algn="ctr" indent="0" marL="0">
              <a:buNone/>
            </a:pPr>
            <a:r>
              <a:rPr lang="en-US" sz="1200" b="1" dirty="0">
                <a:solidFill>
                  <a:srgbClr val="FFFFFF"/>
                </a:solidFill>
                <a:latin typeface="Arial" pitchFamily="34" charset="0"/>
                <a:ea typeface="Arial" pitchFamily="34" charset="-122"/>
                <a:cs typeface="Arial" pitchFamily="34" charset="-120"/>
              </a:rPr>
              <a:t>No rateio</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M5 · Aula 5</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5 · FUNIL E CARTEIRA DO CONSULTOR</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Da meta de negócio à meta de vendas</a:t>
            </a:r>
            <a:endParaRPr lang="en-US" sz="2600" dirty="0"/>
          </a:p>
        </p:txBody>
      </p:sp>
      <p:sp>
        <p:nvSpPr>
          <p:cNvPr id="9" name="Shape 6"/>
          <p:cNvSpPr/>
          <p:nvPr/>
        </p:nvSpPr>
        <p:spPr>
          <a:xfrm>
            <a:off x="411480" y="1325880"/>
            <a:ext cx="11384280" cy="4937760"/>
          </a:xfrm>
          <a:prstGeom prst="roundRect">
            <a:avLst>
              <a:gd name="adj" fmla="val 1852"/>
            </a:avLst>
          </a:prstGeom>
          <a:solidFill>
            <a:srgbClr val="0B1F3A"/>
          </a:solidFill>
          <a:ln/>
        </p:spPr>
      </p:sp>
      <p:sp>
        <p:nvSpPr>
          <p:cNvPr id="10" name="Text 7"/>
          <p:cNvSpPr/>
          <p:nvPr/>
        </p:nvSpPr>
        <p:spPr>
          <a:xfrm>
            <a:off x="777240" y="1554480"/>
            <a:ext cx="10652760" cy="4480560"/>
          </a:xfrm>
          <a:prstGeom prst="rect">
            <a:avLst/>
          </a:prstGeom>
          <a:noFill/>
          <a:ln/>
        </p:spPr>
        <p:txBody>
          <a:bodyPr wrap="square" rtlCol="0" anchor="ctr">
            <a:normAutofit/>
          </a:bodyPr>
          <a:lstStyle/>
          <a:p>
            <a:pPr indent="0" marL="0">
              <a:spcAft>
                <a:spcPts val="1000"/>
              </a:spcAft>
              <a:buNone/>
            </a:pPr>
            <a:r>
              <a:rPr lang="en-US" sz="1800" b="1" dirty="0">
                <a:solidFill>
                  <a:srgbClr val="FFFFFF"/>
                </a:solidFill>
                <a:latin typeface="Consolas" pitchFamily="34" charset="0"/>
                <a:ea typeface="Consolas" pitchFamily="34" charset="-122"/>
                <a:cs typeface="Consolas" pitchFamily="34" charset="-120"/>
              </a:rPr>
              <a:t>Meta: 540 clientes em 18 meses → 30 clientes/mês</a:t>
            </a:r>
            <a:endParaRPr lang="en-US" sz="1800" dirty="0"/>
          </a:p>
          <a:p>
            <a:pPr indent="0" marL="0">
              <a:spcAft>
                <a:spcPts val="1000"/>
              </a:spcAft>
              <a:buNone/>
            </a:pPr>
            <a:r>
              <a:rPr lang="en-US" sz="1800" dirty="0">
                <a:solidFill>
                  <a:srgbClr val="FFFFFF"/>
                </a:solidFill>
                <a:latin typeface="Consolas" pitchFamily="34" charset="0"/>
                <a:ea typeface="Consolas" pitchFamily="34" charset="-122"/>
                <a:cs typeface="Consolas" pitchFamily="34" charset="-120"/>
              </a:rPr>
              <a:t>Conversão lead → cliente ≈ 14% → ~215 leads/mês</a:t>
            </a:r>
            <a:endParaRPr lang="en-US" sz="1800" dirty="0"/>
          </a:p>
          <a:p>
            <a:pPr indent="0" marL="0">
              <a:spcAft>
                <a:spcPts val="1000"/>
              </a:spcAft>
              <a:buNone/>
            </a:pPr>
            <a:r>
              <a:rPr lang="en-US" sz="1800" b="1" dirty="0">
                <a:solidFill>
                  <a:srgbClr val="F7A23B"/>
                </a:solidFill>
                <a:latin typeface="Consolas" pitchFamily="34" charset="0"/>
                <a:ea typeface="Consolas" pitchFamily="34" charset="-122"/>
                <a:cs typeface="Consolas" pitchFamily="34" charset="-120"/>
              </a:rPr>
              <a:t>Por consultor (6 clientes/mês) → 5 consultores</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M5 · Aula 5</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5 · FUNIL E CARTEIRA DO CONSULTOR</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Comissão que premia o certo</a:t>
            </a:r>
            <a:endParaRPr lang="en-US" sz="2600" dirty="0"/>
          </a:p>
        </p:txBody>
      </p:sp>
      <p:sp>
        <p:nvSpPr>
          <p:cNvPr id="9" name="Text 6"/>
          <p:cNvSpPr/>
          <p:nvPr/>
        </p:nvSpPr>
        <p:spPr>
          <a:xfrm>
            <a:off x="548640" y="1325880"/>
            <a:ext cx="11155680" cy="4937760"/>
          </a:xfrm>
          <a:prstGeom prst="rect">
            <a:avLst/>
          </a:prstGeom>
          <a:noFill/>
          <a:ln/>
        </p:spPr>
        <p:txBody>
          <a:bodyPr wrap="square" rtlCol="0" anchor="t">
            <a:normAutofit/>
          </a:bodyPr>
          <a:lstStyle/>
          <a:p>
            <a:pPr marL="342900" indent="-342900">
              <a:spcAft>
                <a:spcPts val="600"/>
              </a:spcAft>
              <a:buSzPct val="100000"/>
              <a:buChar char="●"/>
            </a:pPr>
            <a:r>
              <a:rPr lang="en-US" sz="1800" dirty="0">
                <a:solidFill>
                  <a:srgbClr val="1F2937"/>
                </a:solidFill>
                <a:latin typeface="Arial" pitchFamily="34" charset="0"/>
                <a:ea typeface="Arial" pitchFamily="34" charset="-122"/>
                <a:cs typeface="Arial" pitchFamily="34" charset="-120"/>
              </a:rPr>
              <a:t>✗ Comissão por proposta ou por contrato assinado</a:t>
            </a:r>
            <a:endParaRPr lang="en-US" sz="1800" dirty="0"/>
          </a:p>
          <a:p>
            <a:pPr marL="342900" indent="-342900">
              <a:spcAft>
                <a:spcPts val="600"/>
              </a:spcAft>
              <a:buSzPct val="100000"/>
              <a:buChar char="●"/>
            </a:pPr>
            <a:r>
              <a:rPr lang="en-US" sz="1800" dirty="0">
                <a:solidFill>
                  <a:srgbClr val="1F2937"/>
                </a:solidFill>
                <a:latin typeface="Arial" pitchFamily="34" charset="0"/>
                <a:ea typeface="Arial" pitchFamily="34" charset="-122"/>
                <a:cs typeface="Arial" pitchFamily="34" charset="-120"/>
              </a:rPr>
              <a:t>✓ Comissão após a 1ª cobrança paga (ex.: 1 mensalidade) + pequena recorrência enquanto o cliente fica (ex.: 2–5% da taxa)</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M5 · Aula 5</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5 · FUNIL E CARTEIRA DO CONSULTOR</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Passo a passo na plataforma</a:t>
            </a:r>
            <a:endParaRPr lang="en-US" sz="2600" dirty="0"/>
          </a:p>
        </p:txBody>
      </p:sp>
      <p:sp>
        <p:nvSpPr>
          <p:cNvPr id="9" name="Shape 6"/>
          <p:cNvSpPr/>
          <p:nvPr/>
        </p:nvSpPr>
        <p:spPr>
          <a:xfrm>
            <a:off x="411480" y="1325880"/>
            <a:ext cx="11384280" cy="4937760"/>
          </a:xfrm>
          <a:prstGeom prst="roundRect">
            <a:avLst>
              <a:gd name="adj" fmla="val 1481"/>
            </a:avLst>
          </a:prstGeom>
          <a:solidFill>
            <a:srgbClr val="FFFFFF"/>
          </a:solidFill>
          <a:ln w="9525">
            <a:solidFill>
              <a:srgbClr val="D8E0EC"/>
            </a:solidFill>
            <a:prstDash val="solid"/>
          </a:ln>
        </p:spPr>
      </p:sp>
      <p:sp>
        <p:nvSpPr>
          <p:cNvPr id="10" name="Shape 7"/>
          <p:cNvSpPr/>
          <p:nvPr/>
        </p:nvSpPr>
        <p:spPr>
          <a:xfrm>
            <a:off x="594360" y="1508760"/>
            <a:ext cx="822960" cy="384048"/>
          </a:xfrm>
          <a:prstGeom prst="roundRect">
            <a:avLst>
              <a:gd name="adj" fmla="val 47619"/>
            </a:avLst>
          </a:prstGeom>
          <a:solidFill>
            <a:srgbClr val="F7A23B"/>
          </a:solidFill>
          <a:ln/>
        </p:spPr>
      </p:sp>
      <p:sp>
        <p:nvSpPr>
          <p:cNvPr id="11" name="Text 8"/>
          <p:cNvSpPr/>
          <p:nvPr/>
        </p:nvSpPr>
        <p:spPr>
          <a:xfrm>
            <a:off x="594360" y="1508760"/>
            <a:ext cx="822960" cy="384048"/>
          </a:xfrm>
          <a:prstGeom prst="rect">
            <a:avLst/>
          </a:prstGeom>
          <a:noFill/>
          <a:ln/>
        </p:spPr>
        <p:txBody>
          <a:bodyPr wrap="square"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PASSO 1</a:t>
            </a:r>
            <a:endParaRPr lang="en-US" sz="1000" dirty="0"/>
          </a:p>
        </p:txBody>
      </p:sp>
      <p:sp>
        <p:nvSpPr>
          <p:cNvPr id="12" name="Text 9"/>
          <p:cNvSpPr/>
          <p:nvPr/>
        </p:nvSpPr>
        <p:spPr>
          <a:xfrm>
            <a:off x="1508760" y="1463040"/>
            <a:ext cx="10149840" cy="502920"/>
          </a:xfrm>
          <a:prstGeom prst="rect">
            <a:avLst/>
          </a:prstGeom>
          <a:noFill/>
          <a:ln/>
        </p:spPr>
        <p:txBody>
          <a:bodyPr wrap="square" rtlCol="0" anchor="ctr">
            <a:normAutofit/>
          </a:bodyPr>
          <a:lstStyle/>
          <a:p>
            <a:pPr indent="0" marL="0">
              <a:buNone/>
            </a:pPr>
            <a:r>
              <a:rPr lang="en-US" sz="1400" b="1" dirty="0">
                <a:solidFill>
                  <a:srgbClr val="1B3A6B"/>
                </a:solidFill>
                <a:latin typeface="Arial" pitchFamily="34" charset="0"/>
                <a:ea typeface="Arial" pitchFamily="34" charset="-122"/>
                <a:cs typeface="Arial" pitchFamily="34" charset="-120"/>
              </a:rPr>
              <a:t>Carteira e propostas na plataforma</a:t>
            </a:r>
            <a:endParaRPr lang="en-US" sz="1400" dirty="0"/>
          </a:p>
        </p:txBody>
      </p:sp>
      <p:sp>
        <p:nvSpPr>
          <p:cNvPr id="13" name="Text 10"/>
          <p:cNvSpPr/>
          <p:nvPr/>
        </p:nvSpPr>
        <p:spPr>
          <a:xfrm>
            <a:off x="640080" y="2057400"/>
            <a:ext cx="10927080" cy="4069080"/>
          </a:xfrm>
          <a:prstGeom prst="rect">
            <a:avLst/>
          </a:prstGeom>
          <a:noFill/>
          <a:ln/>
        </p:spPr>
        <p:txBody>
          <a:bodyPr wrap="square" rtlCol="0" anchor="t">
            <a:normAutofit/>
          </a:bodyPr>
          <a:lstStyle/>
          <a:p>
            <a:pPr indent="0" marL="0">
              <a:buNone/>
            </a:pPr>
            <a:r>
              <a:rPr lang="en-US" sz="1500" dirty="0">
                <a:solidFill>
                  <a:srgbClr val="1F2937"/>
                </a:solidFill>
                <a:latin typeface="Arial" pitchFamily="34" charset="0"/>
                <a:ea typeface="Arial" pitchFamily="34" charset="-122"/>
                <a:cs typeface="Arial" pitchFamily="34" charset="-120"/>
              </a:rPr>
              <a:t>Cada consultor vê só a própria carteira</a:t>
            </a:r>
            <a:endParaRPr lang="en-US" sz="1500" dirty="0"/>
          </a:p>
          <a:p>
            <a:pPr indent="0" marL="0">
              <a:buNone/>
            </a:pPr>
            <a:r>
              <a:rPr lang="en-US" sz="1500" dirty="0">
                <a:solidFill>
                  <a:srgbClr val="1F2937"/>
                </a:solidFill>
                <a:latin typeface="Arial" pitchFamily="34" charset="0"/>
                <a:ea typeface="Arial" pitchFamily="34" charset="-122"/>
                <a:cs typeface="Arial" pitchFamily="34" charset="-120"/>
              </a:rPr>
              <a:t>status da proposta = etapa do funil</a:t>
            </a:r>
            <a:endParaRPr lang="en-US"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EEF3FA"/>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M5 · Aula 5</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5 · RESUMO</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Para levar desta aula</a:t>
            </a:r>
            <a:endParaRPr lang="en-US" sz="2600" dirty="0"/>
          </a:p>
        </p:txBody>
      </p:sp>
      <p:sp>
        <p:nvSpPr>
          <p:cNvPr id="9" name="Shape 6"/>
          <p:cNvSpPr/>
          <p:nvPr/>
        </p:nvSpPr>
        <p:spPr>
          <a:xfrm>
            <a:off x="411480" y="1325880"/>
            <a:ext cx="557784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594360" y="1508760"/>
            <a:ext cx="457200" cy="457200"/>
          </a:xfrm>
          <a:prstGeom prst="ellipse">
            <a:avLst/>
          </a:prstGeom>
          <a:solidFill>
            <a:srgbClr val="1B3A6B"/>
          </a:solidFill>
          <a:ln/>
        </p:spPr>
      </p:sp>
      <p:sp>
        <p:nvSpPr>
          <p:cNvPr id="11" name="Text 8"/>
          <p:cNvSpPr/>
          <p:nvPr/>
        </p:nvSpPr>
        <p:spPr>
          <a:xfrm>
            <a:off x="59436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188720" y="1435608"/>
            <a:ext cx="466344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Funil medido</a:t>
            </a:r>
            <a:endParaRPr lang="en-US" sz="1800" dirty="0"/>
          </a:p>
        </p:txBody>
      </p:sp>
      <p:sp>
        <p:nvSpPr>
          <p:cNvPr id="13" name="Shape 10"/>
          <p:cNvSpPr/>
          <p:nvPr/>
        </p:nvSpPr>
        <p:spPr>
          <a:xfrm>
            <a:off x="6217920" y="1325880"/>
            <a:ext cx="557784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6400800" y="1508760"/>
            <a:ext cx="457200" cy="457200"/>
          </a:xfrm>
          <a:prstGeom prst="ellipse">
            <a:avLst/>
          </a:prstGeom>
          <a:solidFill>
            <a:srgbClr val="F7A23B"/>
          </a:solidFill>
          <a:ln/>
        </p:spPr>
      </p:sp>
      <p:sp>
        <p:nvSpPr>
          <p:cNvPr id="15" name="Text 12"/>
          <p:cNvSpPr/>
          <p:nvPr/>
        </p:nvSpPr>
        <p:spPr>
          <a:xfrm>
            <a:off x="640080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6995160" y="1435608"/>
            <a:ext cx="466344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meta a partir do ponto de equilíbrio</a:t>
            </a:r>
            <a:endParaRPr lang="en-US" sz="1800" dirty="0"/>
          </a:p>
        </p:txBody>
      </p:sp>
      <p:sp>
        <p:nvSpPr>
          <p:cNvPr id="17" name="Shape 14"/>
          <p:cNvSpPr/>
          <p:nvPr/>
        </p:nvSpPr>
        <p:spPr>
          <a:xfrm>
            <a:off x="411480" y="3886200"/>
            <a:ext cx="557784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594360" y="4069080"/>
            <a:ext cx="457200" cy="457200"/>
          </a:xfrm>
          <a:prstGeom prst="ellipse">
            <a:avLst/>
          </a:prstGeom>
          <a:solidFill>
            <a:srgbClr val="1B3A6B"/>
          </a:solidFill>
          <a:ln/>
        </p:spPr>
      </p:sp>
      <p:sp>
        <p:nvSpPr>
          <p:cNvPr id="19" name="Text 16"/>
          <p:cNvSpPr/>
          <p:nvPr/>
        </p:nvSpPr>
        <p:spPr>
          <a:xfrm>
            <a:off x="59436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1188720" y="3995928"/>
            <a:ext cx="466344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comissão após a 1ª cobrança paga</a:t>
            </a:r>
            <a:endParaRPr lang="en-US" sz="1800" dirty="0"/>
          </a:p>
        </p:txBody>
      </p:sp>
      <p:sp>
        <p:nvSpPr>
          <p:cNvPr id="21" name="Shape 18"/>
          <p:cNvSpPr/>
          <p:nvPr/>
        </p:nvSpPr>
        <p:spPr>
          <a:xfrm>
            <a:off x="6217920" y="3886200"/>
            <a:ext cx="557784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2" name="Shape 19"/>
          <p:cNvSpPr/>
          <p:nvPr/>
        </p:nvSpPr>
        <p:spPr>
          <a:xfrm>
            <a:off x="6400800" y="4069080"/>
            <a:ext cx="457200" cy="457200"/>
          </a:xfrm>
          <a:prstGeom prst="ellipse">
            <a:avLst/>
          </a:prstGeom>
          <a:solidFill>
            <a:srgbClr val="F7A23B"/>
          </a:solidFill>
          <a:ln/>
        </p:spPr>
      </p:sp>
      <p:sp>
        <p:nvSpPr>
          <p:cNvPr id="23" name="Text 20"/>
          <p:cNvSpPr/>
          <p:nvPr/>
        </p:nvSpPr>
        <p:spPr>
          <a:xfrm>
            <a:off x="640080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4" name="Text 21"/>
          <p:cNvSpPr/>
          <p:nvPr/>
        </p:nvSpPr>
        <p:spPr>
          <a:xfrm>
            <a:off x="6995160" y="3995928"/>
            <a:ext cx="466344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revisão semanal</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6</a:t>
            </a:r>
            <a:endParaRPr lang="en-US" sz="1800" dirty="0"/>
          </a:p>
        </p:txBody>
      </p:sp>
      <p:sp>
        <p:nvSpPr>
          <p:cNvPr id="4" name="Text 2"/>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Prática na plataforma</a:t>
            </a:r>
            <a:endParaRPr lang="en-US" sz="1400" dirty="0"/>
          </a:p>
        </p:txBody>
      </p:sp>
      <p:pic>
        <p:nvPicPr>
          <p:cNvPr id="5"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6" name="Text 3"/>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cliente, unidade consumidora e proposta comercial</a:t>
            </a:r>
            <a:endParaRPr lang="en-US" sz="3200" dirty="0"/>
          </a:p>
        </p:txBody>
      </p:sp>
      <p:sp>
        <p:nvSpPr>
          <p:cNvPr id="7" name="Text 4"/>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Cadastrar cliente (PF e PJ), unidade consumidora e proposta comercial com PDF</a:t>
            </a:r>
            <a:endParaRPr lang="en-US" sz="1500" dirty="0"/>
          </a:p>
        </p:txBody>
      </p:sp>
      <p:sp>
        <p:nvSpPr>
          <p:cNvPr id="8" name="Text 5"/>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Passo a passo na plataforma</a:t>
            </a:r>
            <a:endParaRPr lang="en-US" sz="15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M5 · Aula 6</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6 · CLIENTE, UNIDADE CONSUMIDORA E PROPOSTA COMERCIAL</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Passo a passo na plataforma</a:t>
            </a:r>
            <a:endParaRPr lang="en-US" sz="2600" dirty="0"/>
          </a:p>
        </p:txBody>
      </p:sp>
      <p:sp>
        <p:nvSpPr>
          <p:cNvPr id="9" name="Shape 6"/>
          <p:cNvSpPr/>
          <p:nvPr/>
        </p:nvSpPr>
        <p:spPr>
          <a:xfrm>
            <a:off x="420624" y="1289304"/>
            <a:ext cx="7114032" cy="4033647"/>
          </a:xfrm>
          <a:prstGeom prst="roundRect">
            <a:avLst>
              <a:gd name="adj" fmla="val 1360"/>
            </a:avLst>
          </a:prstGeom>
          <a:solidFill>
            <a:srgbClr val="FFFFFF"/>
          </a:solidFill>
          <a:ln w="12700">
            <a:solidFill>
              <a:srgbClr val="D8E0EC"/>
            </a:solidFill>
            <a:prstDash val="solid"/>
          </a:ln>
          <a:effectLst>
            <a:outerShdw sx="100000" sy="100000" kx="0" ky="0" algn="bl" rotWithShape="0" blurRad="76200" dist="25400" dir="5400000">
              <a:srgbClr val="000000">
                <a:alpha val="15000"/>
              </a:srgbClr>
            </a:outerShdw>
          </a:effectLst>
        </p:spPr>
      </p:sp>
      <p:pic>
        <p:nvPicPr>
          <p:cNvPr id="10" name="Image 1" descr="/www/wwwroot/rexar/gdsolar/docs/curso/slides/telas/clientes.jpg">    </p:cNvPr>
          <p:cNvPicPr>
            <a:picLocks noChangeAspect="1"/>
          </p:cNvPicPr>
          <p:nvPr/>
        </p:nvPicPr>
        <p:blipFill>
          <a:blip r:embed="rId2"/>
          <a:stretch>
            <a:fillRect/>
          </a:stretch>
        </p:blipFill>
        <p:spPr>
          <a:xfrm>
            <a:off x="457200" y="1325880"/>
            <a:ext cx="7040880" cy="3960495"/>
          </a:xfrm>
          <a:prstGeom prst="rect">
            <a:avLst/>
          </a:prstGeom>
        </p:spPr>
      </p:pic>
      <p:sp>
        <p:nvSpPr>
          <p:cNvPr id="11" name="Text 7"/>
          <p:cNvSpPr/>
          <p:nvPr/>
        </p:nvSpPr>
        <p:spPr>
          <a:xfrm>
            <a:off x="457200" y="5332095"/>
            <a:ext cx="7040880" cy="320040"/>
          </a:xfrm>
          <a:prstGeom prst="rect">
            <a:avLst/>
          </a:prstGeom>
          <a:noFill/>
          <a:ln/>
        </p:spPr>
        <p:txBody>
          <a:bodyPr wrap="square" rtlCol="0" anchor="ctr"/>
          <a:lstStyle/>
          <a:p>
            <a:pPr algn="ctr" indent="0" marL="0">
              <a:buNone/>
            </a:pPr>
            <a:r>
              <a:rPr lang="en-US" sz="1100" i="1" dirty="0">
                <a:solidFill>
                  <a:srgbClr val="64748B"/>
                </a:solidFill>
                <a:latin typeface="Arial" pitchFamily="34" charset="0"/>
                <a:ea typeface="Arial" pitchFamily="34" charset="-122"/>
                <a:cs typeface="Arial" pitchFamily="34" charset="-120"/>
              </a:rPr>
              <a:t>Clientes</a:t>
            </a:r>
            <a:endParaRPr lang="en-US" sz="1100" dirty="0"/>
          </a:p>
        </p:txBody>
      </p:sp>
      <p:sp>
        <p:nvSpPr>
          <p:cNvPr id="12" name="Text 8"/>
          <p:cNvSpPr/>
          <p:nvPr/>
        </p:nvSpPr>
        <p:spPr>
          <a:xfrm>
            <a:off x="7818120" y="1325880"/>
            <a:ext cx="3977640" cy="4937760"/>
          </a:xfrm>
          <a:prstGeom prst="rect">
            <a:avLst/>
          </a:prstGeom>
          <a:noFill/>
          <a:ln/>
        </p:spPr>
        <p:txBody>
          <a:bodyPr wrap="square" rtlCol="0" anchor="t">
            <a:normAutofit/>
          </a:bodyPr>
          <a:lstStyle/>
          <a:p>
            <a:pPr indent="0" marL="0">
              <a:buNone/>
            </a:pPr>
            <a:r>
              <a:rPr lang="en-US" sz="1500" b="1" dirty="0">
                <a:solidFill>
                  <a:srgbClr val="F7A23B"/>
                </a:solidFill>
                <a:latin typeface="Arial" pitchFamily="34" charset="0"/>
                <a:ea typeface="Arial" pitchFamily="34" charset="-122"/>
                <a:cs typeface="Arial" pitchFamily="34" charset="-120"/>
              </a:rPr>
              <a:t>1  </a:t>
            </a:r>
            <a:pPr indent="0" marL="0">
              <a:buNone/>
            </a:pPr>
            <a:r>
              <a:rPr lang="en-US" sz="1400" b="1" dirty="0">
                <a:solidFill>
                  <a:srgbClr val="1B3A6B"/>
                </a:solidFill>
                <a:latin typeface="Arial" pitchFamily="34" charset="0"/>
                <a:ea typeface="Arial" pitchFamily="34" charset="-122"/>
                <a:cs typeface="Arial" pitchFamily="34" charset="-120"/>
              </a:rPr>
              <a:t>Cadastrando o cliente</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Cliente Consumidor → Clientes → Novo · CPF/CNPJ validado · sem duplicidade</a:t>
            </a:r>
            <a:endParaRPr lang="en-US" sz="1500" dirty="0"/>
          </a:p>
          <a:p>
            <a:pPr indent="0" marL="0">
              <a:buNone/>
            </a:pPr>
            <a:r>
              <a:rPr lang="en-US" sz="1500" b="1" dirty="0">
                <a:solidFill>
                  <a:srgbClr val="F7A23B"/>
                </a:solidFill>
                <a:latin typeface="Arial" pitchFamily="34" charset="0"/>
                <a:ea typeface="Arial" pitchFamily="34" charset="-122"/>
                <a:cs typeface="Arial" pitchFamily="34" charset="-120"/>
              </a:rPr>
              <a:t>2  </a:t>
            </a:r>
            <a:pPr indent="0" marL="0">
              <a:buNone/>
            </a:pPr>
            <a:r>
              <a:rPr lang="en-US" sz="1400" b="1" dirty="0">
                <a:solidFill>
                  <a:srgbClr val="1B3A6B"/>
                </a:solidFill>
                <a:latin typeface="Arial" pitchFamily="34" charset="0"/>
                <a:ea typeface="Arial" pitchFamily="34" charset="-122"/>
                <a:cs typeface="Arial" pitchFamily="34" charset="-120"/>
              </a:rPr>
              <a:t>A unidade consumidora</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UC = número da instalação na conta · código + concessionária são únicos</a:t>
            </a:r>
            <a:endParaRPr lang="en-US" sz="1500" dirty="0"/>
          </a:p>
          <a:p>
            <a:pPr indent="0" marL="0">
              <a:buNone/>
            </a:pPr>
            <a:r>
              <a:rPr lang="en-US" sz="1500" b="1" dirty="0">
                <a:solidFill>
                  <a:srgbClr val="F7A23B"/>
                </a:solidFill>
                <a:latin typeface="Arial" pitchFamily="34" charset="0"/>
                <a:ea typeface="Arial" pitchFamily="34" charset="-122"/>
                <a:cs typeface="Arial" pitchFamily="34" charset="-120"/>
              </a:rPr>
              <a:t>3  </a:t>
            </a:r>
            <a:pPr indent="0" marL="0">
              <a:buNone/>
            </a:pPr>
            <a:r>
              <a:rPr lang="en-US" sz="1400" b="1" dirty="0">
                <a:solidFill>
                  <a:srgbClr val="1B3A6B"/>
                </a:solidFill>
                <a:latin typeface="Arial" pitchFamily="34" charset="0"/>
                <a:ea typeface="Arial" pitchFamily="34" charset="-122"/>
                <a:cs typeface="Arial" pitchFamily="34" charset="-120"/>
              </a:rPr>
              <a:t>A proposta comercial</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Propostas → Nova · Média de Consumo · Valor Médio · Taxa de Redução · Prazo · Validade</a:t>
            </a:r>
            <a:endParaRPr lang="en-US" sz="1500" dirty="0"/>
          </a:p>
          <a:p>
            <a:pPr indent="0" marL="0">
              <a:buNone/>
            </a:pPr>
            <a:r>
              <a:rPr lang="en-US" sz="1500" b="1" dirty="0">
                <a:solidFill>
                  <a:srgbClr val="F7A23B"/>
                </a:solidFill>
                <a:latin typeface="Arial" pitchFamily="34" charset="0"/>
                <a:ea typeface="Arial" pitchFamily="34" charset="-122"/>
                <a:cs typeface="Arial" pitchFamily="34" charset="-120"/>
              </a:rPr>
              <a:t>4  </a:t>
            </a:r>
            <a:pPr indent="0" marL="0">
              <a:buNone/>
            </a:pPr>
            <a:r>
              <a:rPr lang="en-US" sz="1400" b="1" dirty="0">
                <a:solidFill>
                  <a:srgbClr val="1B3A6B"/>
                </a:solidFill>
                <a:latin typeface="Arial" pitchFamily="34" charset="0"/>
                <a:ea typeface="Arial" pitchFamily="34" charset="-122"/>
                <a:cs typeface="Arial" pitchFamily="34" charset="-120"/>
              </a:rPr>
              <a:t>O PDF e o envio</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PDF com a marca da sua empresa · link temporário · envio por WhatsApp/e-mail</a:t>
            </a:r>
            <a:endParaRPr lang="en-US" sz="15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M5 · Aula 6</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6 · NA PLATAFORMA</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Proposta comercial</a:t>
            </a:r>
            <a:endParaRPr lang="en-US" sz="2600" dirty="0"/>
          </a:p>
        </p:txBody>
      </p:sp>
      <p:sp>
        <p:nvSpPr>
          <p:cNvPr id="9" name="Shape 6"/>
          <p:cNvSpPr/>
          <p:nvPr/>
        </p:nvSpPr>
        <p:spPr>
          <a:xfrm>
            <a:off x="1380744" y="1225296"/>
            <a:ext cx="9400032" cy="5319522"/>
          </a:xfrm>
          <a:prstGeom prst="roundRect">
            <a:avLst>
              <a:gd name="adj" fmla="val 1031"/>
            </a:avLst>
          </a:prstGeom>
          <a:solidFill>
            <a:srgbClr val="FFFFFF"/>
          </a:solidFill>
          <a:ln w="12700">
            <a:solidFill>
              <a:srgbClr val="D8E0EC"/>
            </a:solidFill>
            <a:prstDash val="solid"/>
          </a:ln>
          <a:effectLst>
            <a:outerShdw sx="100000" sy="100000" kx="0" ky="0" algn="bl" rotWithShape="0" blurRad="76200" dist="25400" dir="5400000">
              <a:srgbClr val="000000">
                <a:alpha val="15000"/>
              </a:srgbClr>
            </a:outerShdw>
          </a:effectLst>
        </p:spPr>
      </p:sp>
      <p:pic>
        <p:nvPicPr>
          <p:cNvPr id="10" name="Image 1" descr="/www/wwwroot/rexar/gdsolar/docs/curso/slides/telas/proposta_cliente.jpg">    </p:cNvPr>
          <p:cNvPicPr>
            <a:picLocks noChangeAspect="1"/>
          </p:cNvPicPr>
          <p:nvPr/>
        </p:nvPicPr>
        <p:blipFill>
          <a:blip r:embed="rId2"/>
          <a:stretch>
            <a:fillRect/>
          </a:stretch>
        </p:blipFill>
        <p:spPr>
          <a:xfrm>
            <a:off x="1417320" y="1261872"/>
            <a:ext cx="9326880" cy="5246370"/>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M5 · Fechamento</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FECHAMENTO DO MÓDULO</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Pratique e entregue</a:t>
            </a:r>
            <a:endParaRPr lang="en-US" sz="2600" dirty="0"/>
          </a:p>
        </p:txBody>
      </p:sp>
      <p:sp>
        <p:nvSpPr>
          <p:cNvPr id="9" name="Text 6"/>
          <p:cNvSpPr/>
          <p:nvPr/>
        </p:nvSpPr>
        <p:spPr>
          <a:xfrm>
            <a:off x="411480" y="1325880"/>
            <a:ext cx="5577840" cy="411480"/>
          </a:xfrm>
          <a:prstGeom prst="rect">
            <a:avLst/>
          </a:prstGeom>
          <a:noFill/>
          <a:ln/>
        </p:spPr>
        <p:txBody>
          <a:bodyPr wrap="square" rtlCol="0" anchor="ctr"/>
          <a:lstStyle/>
          <a:p>
            <a:pPr indent="0" marL="0">
              <a:buNone/>
            </a:pPr>
            <a:r>
              <a:rPr lang="en-US" sz="1600" b="1" dirty="0">
                <a:solidFill>
                  <a:srgbClr val="1B3A6B"/>
                </a:solidFill>
                <a:latin typeface="Arial" pitchFamily="34" charset="0"/>
                <a:ea typeface="Arial" pitchFamily="34" charset="-122"/>
                <a:cs typeface="Arial" pitchFamily="34" charset="-120"/>
              </a:rPr>
              <a:t>Exercícios</a:t>
            </a:r>
            <a:endParaRPr lang="en-US" sz="1600" dirty="0"/>
          </a:p>
        </p:txBody>
      </p:sp>
      <p:sp>
        <p:nvSpPr>
          <p:cNvPr id="10" name="Text 7"/>
          <p:cNvSpPr/>
          <p:nvPr/>
        </p:nvSpPr>
        <p:spPr>
          <a:xfrm>
            <a:off x="411480" y="1783080"/>
            <a:ext cx="5577840" cy="4480560"/>
          </a:xfrm>
          <a:prstGeom prst="rect">
            <a:avLst/>
          </a:prstGeom>
          <a:noFill/>
          <a:ln/>
        </p:spPr>
        <p:txBody>
          <a:bodyPr wrap="square" rtlCol="0" anchor="t">
            <a:normAutofit/>
          </a:bodyPr>
          <a:lstStyle/>
          <a:p>
            <a:pPr indent="0" marL="0">
              <a:spcAft>
                <a:spcPts val="800"/>
              </a:spcAft>
              <a:buNone/>
            </a:pPr>
            <a:r>
              <a:rPr lang="en-US" sz="1600" dirty="0">
                <a:solidFill>
                  <a:srgbClr val="1F2937"/>
                </a:solidFill>
                <a:latin typeface="Arial" pitchFamily="34" charset="0"/>
                <a:ea typeface="Arial" pitchFamily="34" charset="-122"/>
                <a:cs typeface="Arial" pitchFamily="34" charset="-120"/>
              </a:rPr>
              <a:t>1. Uma academia trifásica com média de 6.200 kWh/mês: cota ideal com margem de 95%? (R: (6.200 − 100) × 0,95 ≈ 5.795 kWh)</a:t>
            </a:r>
            <a:endParaRPr lang="en-US" sz="1600" dirty="0"/>
          </a:p>
          <a:p>
            <a:pPr indent="0" marL="0">
              <a:spcAft>
                <a:spcPts val="800"/>
              </a:spcAft>
              <a:buNone/>
            </a:pPr>
            <a:r>
              <a:rPr lang="en-US" sz="1600" dirty="0">
                <a:solidFill>
                  <a:srgbClr val="1F2937"/>
                </a:solidFill>
                <a:latin typeface="Arial" pitchFamily="34" charset="0"/>
                <a:ea typeface="Arial" pitchFamily="34" charset="-122"/>
                <a:cs typeface="Arial" pitchFamily="34" charset="-120"/>
              </a:rPr>
              <a:t>2. Quantas academias como essa cabem na Sol Nascente I (60.000 kWh)?</a:t>
            </a:r>
            <a:endParaRPr lang="en-US" sz="1600" dirty="0"/>
          </a:p>
          <a:p>
            <a:pPr indent="0" marL="0">
              <a:spcAft>
                <a:spcPts val="800"/>
              </a:spcAft>
              <a:buNone/>
            </a:pPr>
            <a:r>
              <a:rPr lang="en-US" sz="1600" dirty="0">
                <a:solidFill>
                  <a:srgbClr val="1F2937"/>
                </a:solidFill>
                <a:latin typeface="Arial" pitchFamily="34" charset="0"/>
                <a:ea typeface="Arial" pitchFamily="34" charset="-122"/>
                <a:cs typeface="Arial" pitchFamily="34" charset="-120"/>
              </a:rPr>
              <a:t>3. Escreva a resposta para a objeção "vou pagar duas contas?" em até 3 frases.</a:t>
            </a:r>
            <a:endParaRPr lang="en-US" sz="1600" dirty="0"/>
          </a:p>
        </p:txBody>
      </p:sp>
      <p:sp>
        <p:nvSpPr>
          <p:cNvPr id="11" name="Shape 8"/>
          <p:cNvSpPr/>
          <p:nvPr/>
        </p:nvSpPr>
        <p:spPr>
          <a:xfrm>
            <a:off x="6309360" y="1325880"/>
            <a:ext cx="5486400" cy="4937760"/>
          </a:xfrm>
          <a:prstGeom prst="roundRect">
            <a:avLst>
              <a:gd name="adj" fmla="val 1852"/>
            </a:avLst>
          </a:prstGeom>
          <a:solidFill>
            <a:srgbClr val="1B3A6B"/>
          </a:solidFill>
          <a:ln/>
        </p:spPr>
      </p:sp>
      <p:sp>
        <p:nvSpPr>
          <p:cNvPr id="12" name="Text 9"/>
          <p:cNvSpPr/>
          <p:nvPr/>
        </p:nvSpPr>
        <p:spPr>
          <a:xfrm>
            <a:off x="6629400" y="1554480"/>
            <a:ext cx="4846320" cy="4480560"/>
          </a:xfrm>
          <a:prstGeom prst="rect">
            <a:avLst/>
          </a:prstGeom>
          <a:noFill/>
          <a:ln/>
        </p:spPr>
        <p:txBody>
          <a:bodyPr wrap="square" rtlCol="0" anchor="t">
            <a:normAutofit/>
          </a:bodyPr>
          <a:lstStyle/>
          <a:p>
            <a:pPr indent="0" marL="0">
              <a:buNone/>
            </a:pPr>
            <a:r>
              <a:rPr lang="en-US" sz="1300" b="1" spc="100" kern="0" dirty="0">
                <a:solidFill>
                  <a:srgbClr val="F7A23B"/>
                </a:solidFill>
                <a:latin typeface="Arial" pitchFamily="34" charset="0"/>
                <a:ea typeface="Arial" pitchFamily="34" charset="-122"/>
                <a:cs typeface="Arial" pitchFamily="34" charset="-120"/>
              </a:rPr>
              <a:t>ENTREGÁVEL DO MÓDULO
</a:t>
            </a:r>
            <a:pPr indent="0" marL="0">
              <a:buNone/>
            </a:pPr>
            <a:r>
              <a:rPr lang="en-US" sz="1600" dirty="0">
                <a:solidFill>
                  <a:srgbClr val="FFFFFF"/>
                </a:solidFill>
                <a:latin typeface="Arial" pitchFamily="34" charset="0"/>
                <a:ea typeface="Arial" pitchFamily="34" charset="-122"/>
                <a:cs typeface="Arial" pitchFamily="34" charset="-120"/>
              </a:rPr>
              <a:t>Primeiros clientes da minha empresa: 5 clientes fictícios do seu ICP cadastrados com UC e proposta (pelo menos 2 empresas B3 e 2 residências), com cota calculada e economia estimada; e o roteiro de abordagem do seu vendedor (uma página).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GD Solar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M5 — Comercial: do lead à proposta</dc:title>
  <dc:subject>PptxGenJS Presentation</dc:subject>
  <dc:creator>PptxGenJS</dc:creator>
  <cp:lastModifiedBy>PptxGenJS</cp:lastModifiedBy>
  <cp:revision>1</cp:revision>
  <dcterms:created xsi:type="dcterms:W3CDTF">2026-10-30T11:18:51Z</dcterms:created>
  <dcterms:modified xsi:type="dcterms:W3CDTF">2026-10-30T11:18:51Z</dcterms:modified>
</cp:coreProperties>
</file>