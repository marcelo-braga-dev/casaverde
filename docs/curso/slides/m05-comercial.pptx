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São cinco critérios. Primeiro, ser do grupo B e estar na área da sua distribuidora, porque é lá que a sua usina está. Segundo, consumo alto e estável. No comércio e nos serviços, algo entre mil e dez mil quilowatts-hora por mês é a faixa ideal: uma venda já ocupa uma boa fatia da usina. Nas residências, a partir de uns trezentos quilowatts-hora; abaixo disso, a economia em reais é pequena, o cliente dá o mesmo trabalho e a sua margem por cliente cai muito. Terceiro, ser bom pagador: um negócio estabelecido há anos, uma família com histórico. Quarto, não ter planos de mudar de endereço ou de instalar um sistema próprio no curto prazo. E quinto, decisor acessível: no comércio, o dono; não um processo de compras de três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prática, alguns segmentos funcionam muito bem: padarias e restaurantes, com fornos e refrigeração; clínicas e consultórios, com ar-condicionado e equipamentos; academias; escolas particulares; farmácias; pousadas; escritórios; mercados de bairro; igrejas. E residências de alto consumo, com ar-condicionado e piscina. Escolha dois ou três segmentos para começar e fique especialista neles: você aprende a linguagem, as objeções e o consumo típico, e um cliente indica outro do mesmo setor.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quem evitar, pelo menos no começo? Clientes com consumo muito baixo. Famílias com tarifa social, que já têm desconto na tarifa e podem ter uma economia pequena — avalie caso a caso. Clientes do grupo A, cuja proposta é mais complexa, por causa da demanda; deixe para quando a operação estiver madura. Quem vai mudar de endereço em breve. E quem já tem um sistema solar próprio que cobre o consumo.
Agora, onde encontrar esses clientes. Indicação é o canal mais barato: cada cliente satisfeito conhece outros. Crie um programa de indicação desde o primeiro dia. Parceiros: contadores, que conhecem as contas de luz dos clientes; associações comerciais; imobiliárias. Prospecção ativa no comércio, com visita e a conta de luz na mão. Anúncios locais, segmentados por região. E aqui vai um ouro para quem já tem empresa solar: os leads que não compraram sistema. Pense em quantos orçamentos você fez para gente que não tinha telhado adequado, que mora de aluguel, que não tinha capital ou não conseguiu financiamento. Todos eles queriam economizar na conta de luz. Para eles, a assinatura é a resposta perfeita: economia sem investimento e sem obra. A sua base de orçamentos perdidos pode ser a sua primeira carteira de assinantes.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o cliente ideal é do grupo B, na sua distribuidora, com consumo alto e estável, bom pagador e decisor acessível. Escolha dois ou três segmentos e use indicação, parceiros e, se você já é do setor solar, os seus leads perdidos. Defina o seu ICP no entregável. Na próxima aula, vamos dimensionar a cota de cada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conta de luz mais recente, você tira: o número da unidade consumidora, o titular, a classe, o tipo de ligação e, principalmente, o histórico de consumo dos últimos doze meses, que quase toda distribuidora imprime na conta, em gráfico ou tabela. Se o histórico não aparece, peça as doze últimas contas, ou o cliente pode baixá-las no aplicativo da distribuidora. Confirme também que o titular da conta é quem vai assinar o contrato. Se a conta está no nome do antigo inquilino ou de um parente, resolva isso antes: a troca de titularidade na distribuidora é responsabilidade do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 histórico, calcule a média de doze meses. A clínica do nosso exemplo tem média de quatro mil quilowatts-hora e é trifásica. A cota é a média menos o custo de disponibilidade, cem quilowatts-hora, vezes uma margem de segurança de noventa e cinco por cento: cerca de três mil, setecentos e cinco quilowatts-hora por mês. Na usina Sol Nascente I, isso representa seis vírgula dois por cento da geração. Olhe também o mês a mês: se a clínica tem um pico no verão por causa do ar-condicionado e consome bem menos no inverno, confirme que a cota não vai gerar sobras recorrentes nos meses baixos.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economia — na conta total, como aprendemos no módulo 3. Hoje, a clínica paga perto de quatro mil, cento e cinquenta e seis reais por mês. Com a assinatura, ela vai pagar duas coisas. Para a distribuidora: o consumo que ficou fora da cota — duzentos e noventa e cinco quilowatts-hora, o que já cobre o mínimo trifásico — e a parcela do Fio B que não é compensada sobre os quilowatts-hora compensados. E, para a sua empresa, o valor da energia compensada com o desconto. A calculadora do curso faz essa conta com os valores da sua distribuidora; aqui, com os números ilustrativos, a distribuidora fica em uns oitocentos e oitenta reais, a sua cobrança em uns dois mil, seiscentos e vinte, e a soma em torno de três mil e quinhentos reais: uma economia de uns seiscentos e cinquenta reais por mês, quase sete mil e novecentos reais por ano, cerca de dezesseis por cento da conta. Para um dono de clínica, "quase oito mil reais por ano, sem investir nada e sem obra" é uma frase muito mais forte do que "vinte por cento de desconto". Use sempre o valor em reais, por mês e por ano. E nunca arredonde para cima: prometa o que a conta mostra.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Alguns casos especiais. Cliente com várias unidades consumidoras, como uma rede de farmácias: cada unidade tem a sua cota e o seu percentual no rateio, e a plataforma trata cada uma separadamente. Cliente que está crescendo: dimensione pelo histórico e combine uma revisão em seis meses — aumentar a cota depois é fácil, reduzir pode gerar atrito. E cliente que já tem um sistema solar próprio que cobre só uma parte do consumo: a cota é sobre o que sobra, olhando o consumo líquido nas contas.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peça a conta, pegue o histórico de doze meses, calcule a cota com margem de segurança e apresente a economia em reais, na conta total, por mês e por ano. Na próxima aula, vamos colocar isso numa proposta que convence.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boa proposta responde a cinco perguntas, nesta ordem. Primeira: quanto eu economizo? Em reais, por mês e por ano, como você calculou. Segunda: quanto eu preciso investir? Zero — sem obra, sem painel, sem trocar o medidor. Terceira: como funciona? Uma usina na região injeta energia na rede, os créditos vão para a conta do cliente e ele passa a pagar duas contas menores em vez de uma maior. Quarta: é seguro? Explique que é regulado por lei, que o fornecimento continua com a distribuidora, apresente a sua empresa e o contrato. Quinta: o que eu preciso fazer? A lista de documentos e o próximo passo, com data.
A maior fonte de confusão, e de cancelamento nos primeiros meses, é o cliente não entender que vai pagar duas contas. Ele recebe a conta da distribuidora bem menor, fica feliz, e depois chega a cobrança da sua empresa e ele pensa: "mas eu não ia economizar?". Por isso, a proposta precisa mostrar isso visualmente. Hoje, uma conta de quatro mil, cento e cinquenta e seis reais. Depois, duas contas: a da distribuidora, de uns oitocentos e oitenta, e a da sua empresa, de uns dois mil e seiscentos. A soma, três mil e quinhentos, é menor. A diferença, perto de seiscentos e cinquenta reais por mês, é a economia. Repita isso na reunião, coloque na proposta e repita no e-mail de boas-vindas. Cliente que entende as duas contas não cancela por susto.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Algumas condições precisam aparecer na proposta, sem letras miúdas. O prazo do contrato. A data prevista para os créditos começarem — normalmente um a três ciclos de faturamento depois da assinatura, porque depende da lista de rateio na distribuidora. Como o valor da sua cobrança é calculado todo mês: a energia compensada na fatura, com o desconto contratado. Que o valor do crédito acompanha a tarifa e as regras da distribuidora. As condições de cancelamento. E a validade da proposta. Transparência na proposta evita reclamação depois.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proposta é apresentada, não só enviada. Um roteiro de quinze minutos funciona bem. Nos três primeiros, fale da conta dele hoje: quanto paga, quanto pagou no ano — deixe ele sentir o tamanho do gasto. Do minuto três ao sete, explique como funciona e as duas contas. Do sete ao dez, mostre a economia em reais e as provas: a lei, a sua empresa, os clientes que você já atende. Do dez ao treze, dúvidas e objeções, que é o tema da próxima aula. E nos dois últimos, o próximo passo: quais documentos, quando assina, quando começam os créditos. Saia da reunião sempre com um próximo passo marcado.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proposta responde às cinco perguntas, mostra as duas contas, deixa as condições claras e é apresentada numa reunião curta, com próximo passo. A plataforma gera o PDF com os números; você vai fazer isso no laboratório desta etapa. Na próxima aula, as objeções.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bloco é de confiança. "Isso é golpe?" A resposta: é um modelo previsto em lei, a Lei 14.300 de 2022; você continua cliente da distribuidora, recebendo a conta dela normalmente; nós somos uma empresa com CNPJ, com contrato por escrito; e aqui estão clientes que já atendemos — se puder, dê o contato de um cliente que aceite ser referência. "A distribuidora vai cortar a minha luz?" Não. O fornecimento continua exatamente o mesmo, pela mesma rede. A única diferença é que parte da sua energia passa a ser compensada por créditos de uma usina. "Preciso trocar o medidor ou fazer alguma obra?" Não. Nada muda na sua casa ou no seu estabelecimento.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segundo bloco é de entendimento. "Vou pagar duas contas?" Sim — e é por isso que você vai economizar: duas contas menores que, somadas, ficam abaixo da de hoje. Mostre a conta, com os números dele. "Por que não vinte por cento na conta toda?" Porque o desconto é sobre a energia compensada; uma parte da conta continua sendo da distribuidora — o mínimo e o uso da rede —, e a sua economia real é de tantos reais por mês. Seja direto e mostre o número. "E se a usina gerar menos num mês?" Você recebe proporcionalmente menos créditos e paga proporcionalmente menos para nós, porque a cobrança é calculada sobre o que foi efetivamente compensado na sua fatura. Você nunca paga por energia que não recebeu. Essa resposta é verdadeira por causa da forma como a cobrança é calculada na plataforma: ela parte da energia compensada na fatura da distribuidora.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terceiro bloco é de compromisso. "Tem fidelidade? E multa?" Responda exatamente o que o seu contrato diz: o prazo, o aviso prévio para cancelar, e se há alguma condição. Contratos com cancelamento simples, com aviso prévio de um ou dois ciclos, para que dê tempo de ajustar o rateio, vendem mais e geram menos reclamação do que multas pesadas. "E se eu mudar de endereço?" Se o novo endereço estiver na área da mesma distribuidora, a cota pode ser transferida para a nova unidade consumidora; se não, o contrato é encerrado nas condições previstas. "E essa história de Fio B, de mudança de regra?" Seja honesto: a economia acompanha as regras e a tarifa da distribuidora; a lei prevê uma transição, e nós mostramos a conta todo mês no seu relatório de economia; o contrato prevê como funciona um eventual ajuste.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a décima, a mais comum: "vou pensar". Não pressione, mas descubra o que falta: "Claro. Para eu te ajudar: o que falta para você decidir?" Muitas vezes, a resposta revela a objeção real — confiança, entendimento, sócio que precisa aprovar. Combine uma data de retorno e envie um resumo por escrito, com a economia anual em destaque. A frase "você está deixando de economizar tantos reais por mês" funciona melhor do que qualquer pressão.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as objeções se dividem em confiança, entendimento, compromisso e timing. Responda curto, com verdade e com o número do cliente na mão. A lista completa, com as respostas, está nos materiais: adapte ao seu contrato e treine com o seu time. Na próxima aula, como organizar o funil e a carteira dos vendedores.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funil da assinatura tem estas etapas. O lead, que é o contato inicial. A conta de luz recebida — esse é o primeiro sinal real de interesse. A proposta apresentada. O aceite. O contrato assinado com os documentos. A inclusão no rateio da usina. E a primeira cobrança paga, que é quando a venda de fato aconteceu. Os percentuais na tela são ilustrativos, mas mostram uma lógica: de cada cem leads, talvez metade envie a conta, e, no fim, uns catorze viram clientes pagantes. Meça as suas taxas reais desde o primeiro mês; elas vão dizer onde o funil está vazando.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ligue o funil ao seu plano. No módulo 3, o ponto de equilíbrio do exemplo era de uns quinhentos e quarenta clientes. Se você quer chegar lá em dezoito meses, precisa de trinta clientes novos por mês. Com uma conversão de catorze por cento, são cerca de duzentos e quinze leads por mês. Se um consultor fecha, em média, seis clientes por mês, você precisa de cinco consultores. Esses números mostram, logo de cara, se o seu plano é realista e quanto você precisa investir em marketing e em equipe. E lembre: clientes empresariais trazem mais quilowatts-hora por venda, o que reduz o número de vendas necessárias.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comissão define o comportamento do time. Se você paga por contrato assinado, o vendedor fecha qualquer cliente — o que consome pouco, o que vai mudar, o que não entendeu as duas contas. Se você paga depois da primeira cobrança paga, ele se preocupa com o cliente certo e com a explicação correta. Um modelo que funciona bem: uma comissão equivalente a uma mensalidade depois da primeira cobrança paga, mais uma pequena recorrência enquanto o cliente permanecer ativo. Assim, o vendedor também ganha com a retenção.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plataforma, cada consultor trabalha na própria carteira: vê só os clientes, produtores e propostas dele. As propostas têm status — rascunho, emitida, enviada, aprovada, recusada, expirada, convertida —, que correspondem às etapas do funil. Toda semana, olhe com cada consultor as propostas enviadas e não respondidas e as que vão expirar. Como administrador, você vê todos os consultores, e os relatórios mostram o desempenho de cada 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meça o funil, derive a meta de vendas do seu ponto de equilíbrio, pague comissão sobre cliente pagante e faça a revisão semanal das propostas. No laboratório a seguir, você cadastra os primeiros clientes e as propostas da sua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Cliente Consumidor e depois Clientes. Clique para cadastrar um novo cliente. Vamos usar uma academia fictícia: pessoa jurídica, com o CNPJ da lista de documentos do curso. Preencha a razão social, o nome fantasia e os contatos — e-mail e celular são importantes, porque é por eles que o cliente vai receber o convite do portal e os avisos de cobrança. Salve. O cliente recebe um código e já entra com o desconto padrão da sua empresa, aquele que você configurou no módulo 3. Como no produtor, a plataforma valida os dígitos do CPF ou CNPJ e não deixa cadastrar o mesmo documento duas vezes.
Agora, a unidade consumidora. Na ficha do cliente, abra a aba de unidades consumidoras e cadastre uma nova. O código da UC é o número da instalação que aparece na conta de luz; pode digitar com pontos e traços, a plataforma guarda só os dígitos. Dê um rótulo que ajude a identificar, como "Academia — Centro". Escolha a concessionária — a mesma da sua usina. E informe o consumo previsto mensal: a média de doze meses, seis mil e duzentos quilowatts-hora. Salve. Repare: a combinação de código da UC e concessionária é única no sistema. Se alguém tentar cadastrar a mesma UC de novo, a plataforma impede. Isso é fundamental, porque é pela UC que as faturas da distribuidora vão ser associadas ao cliente certo no módulo 7.
Agora abra Cliente Consumidor, Propostas, e crie uma nova. Selecione a academia. Escolha a concessionária e a unidade consumidora. Informe a média de consumo e o valor médio da conta, em reais — é com eles que a proposta calcula a economia. A taxa de redução já vem com o desconto do cliente; ajuste se você negociou algo diferente. Preencha o prazo e a validade da proposta e, nas observações, o que for específico, como a data prevista de início dos créditos. Salve. A proposta nasce com o status de emitida. Quando você enviar ao cliente, mude para enviada; quando ele aceitar, aprovada. Esses status alimentam o funil que você viu na aula anterior.
Gere o PDF. A proposta sai com a identidade visual da sua empresa, a economia estimada e as condições. Confira os números com a sua calculadora: se a economia mostrada for diferente da que você calculou na conta total, entenda o porquê antes de enviar — por exemplo, se o valor médio informado inclui iluminação pública ou bandeira. O link do PDF é temporário; para enviar, baixe o arquivo ou use a opção de enviar ao cliente, que gera uma mensagem pronta no WhatsApp com o seu número de consultor. O envio continua sendo um clique humano: nada sai sozinho.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M5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Comercial: do lead à proposta</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400" dirty="0">
                <a:solidFill>
                  <a:srgbClr val="C7D2E3"/>
                </a:solidFill>
                <a:latin typeface="Arial" pitchFamily="34" charset="0"/>
                <a:ea typeface="Arial" pitchFamily="34" charset="-122"/>
                <a:cs typeface="Arial" pitchFamily="34" charset="-120"/>
              </a:rPr>
              <a:t>1. Quem é o cliente ideal de GD compartilhada</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2. Dimensionando a cota do cliente</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3. A proposta comercial que converte</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4. Objeções e argumentos</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5. Funil e carteira do consultor</a:t>
            </a:r>
            <a:endParaRPr lang="en-US" sz="1400" dirty="0"/>
          </a:p>
          <a:p>
            <a:pPr indent="0" marL="0">
              <a:spcAft>
                <a:spcPts val="400"/>
              </a:spcAft>
              <a:buNone/>
            </a:pPr>
            <a:r>
              <a:rPr lang="en-US" sz="1400" dirty="0">
                <a:solidFill>
                  <a:srgbClr val="C7D2E3"/>
                </a:solidFill>
                <a:latin typeface="Arial" pitchFamily="34" charset="0"/>
                <a:ea typeface="Arial" pitchFamily="34" charset="-122"/>
                <a:cs typeface="Arial" pitchFamily="34" charset="-120"/>
              </a:rPr>
              <a:t>6. cliente, unidade consumidora e proposta comercial</a:t>
            </a:r>
            <a:endParaRPr lang="en-US" sz="14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Definir o cliente ideal (ICP) e os canais de aquisição — incluindo os leads perdidos de sistema solar, para quem já tem empresa solar.</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Dimensionar a cota do cliente e estimar a economia real (na conta total).</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uma proposta comercial clara, que explique as "duas contas".</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Responder às principais objeções.</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Organizar funil, metas, comissão e carteira por consultor.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01</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M5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Quem é o cliente ideal de GD compartilhada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Definir o ICP da empresa e os canais de aquisição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critérios do cliente ideal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Segmentos que funcionam</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Quem evitar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canais de aquisição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QUEM É O CLIENTE IDEAL DE GD COMPARTILHADA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critérios do cliente ideal</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Grupo B, na área da sua distribuidora</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alto e estável (comércio: 1.000–10.000 kWh; residência: ≥ 300 kWh)</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Bom pagador / negócio estabelecido</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 planos de mudança ou de sistema próprio</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Decisor acessível</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QUEM É O CLIENTE IDEAL DE GD COMPARTILHADA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Segmentos que funcionam</a:t>
            </a:r>
            <a:endParaRPr lang="en-US" sz="2600" dirty="0"/>
          </a:p>
        </p:txBody>
      </p:sp>
      <p:sp>
        <p:nvSpPr>
          <p:cNvPr id="9" name="Text 6"/>
          <p:cNvSpPr/>
          <p:nvPr/>
        </p:nvSpPr>
        <p:spPr>
          <a:xfrm>
            <a:off x="548640" y="1325880"/>
            <a:ext cx="5486400" cy="4937760"/>
          </a:xfrm>
          <a:prstGeom prst="rect">
            <a:avLst/>
          </a:prstGeom>
          <a:noFill/>
          <a:ln/>
        </p:spPr>
        <p:txBody>
          <a:bodyPr wrap="square" rtlCol="0" anchor="t">
            <a:normAutofit/>
          </a:bodyPr>
          <a:lstStyle/>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Padarias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restaurantes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clínicas e consultórios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academias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escolas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farmácias</a:t>
            </a:r>
            <a:endParaRPr lang="en-US" sz="1800" dirty="0"/>
          </a:p>
        </p:txBody>
      </p:sp>
      <p:sp>
        <p:nvSpPr>
          <p:cNvPr id="10" name="Text 7"/>
          <p:cNvSpPr/>
          <p:nvPr/>
        </p:nvSpPr>
        <p:spPr>
          <a:xfrm>
            <a:off x="6263640" y="1325880"/>
            <a:ext cx="5486400" cy="4937760"/>
          </a:xfrm>
          <a:prstGeom prst="rect">
            <a:avLst/>
          </a:prstGeom>
          <a:noFill/>
          <a:ln/>
        </p:spPr>
        <p:txBody>
          <a:bodyPr wrap="square" rtlCol="0" anchor="t">
            <a:normAutofit/>
          </a:bodyPr>
          <a:lstStyle/>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pousadas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escritórios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mercados de bairro</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igrejas</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residências de alto consumo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Quem é o cliente ideal de GD compartilhada</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Quem evitar</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Consumo muito baixo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tarifa social (avaliar caso a caso)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grupo A (proposta complexa)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quem vai mudar</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quem já tem sistema próprio dimensionado</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Os canais de aquisição</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Indicação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parceiros (contadores, associações comerciais, imobiliárias)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porta a porta no comércio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anúncios locais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 leads de sistema solar que não compraram</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ICP: grupo B, consumo alto e estável, bom pagador, decisor acessível</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2–3 segmentos</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indicação e leads perdidos</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02</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M5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Dimensionando a cota do cliente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Coletar o histórico, calcular a cota e estimar a economia mensal e anual na conta total</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Coletando o histórico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Calculando a cota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Estimando a economia real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Casos especiais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Coletando o histórico</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Na conta: UC</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titular</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classe</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ligação</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de 12 meses</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valor e tarifa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Calculando a cota</a:t>
            </a:r>
            <a:endParaRPr lang="en-US" sz="2600" dirty="0"/>
          </a:p>
        </p:txBody>
      </p:sp>
      <p:sp>
        <p:nvSpPr>
          <p:cNvPr id="9" name="Shape 6"/>
          <p:cNvSpPr/>
          <p:nvPr/>
        </p:nvSpPr>
        <p:spPr>
          <a:xfrm>
            <a:off x="548640" y="1325880"/>
            <a:ext cx="11091672" cy="4937760"/>
          </a:xfrm>
          <a:prstGeom prst="roundRect">
            <a:avLst>
              <a:gd name="adj" fmla="val 1852"/>
            </a:avLst>
          </a:prstGeom>
          <a:solidFill>
            <a:srgbClr val="0B1F3A"/>
          </a:solidFill>
          <a:ln/>
        </p:spPr>
      </p:sp>
      <p:sp>
        <p:nvSpPr>
          <p:cNvPr id="10" name="Text 7"/>
          <p:cNvSpPr/>
          <p:nvPr/>
        </p:nvSpPr>
        <p:spPr>
          <a:xfrm>
            <a:off x="914400" y="1554480"/>
            <a:ext cx="10360152" cy="448056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Clínica (trifásica): média 12 meses = 4.000 kWh</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Cota = (4.000 − 100) × 95% ≈ 3.705 kWh/mês</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 na Sol Nascente I = 3.705 ÷ 60.000 ≈ 6,2%</a:t>
            </a:r>
            <a:endParaRPr lang="en-US" sz="2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Estimando a economia real</a:t>
            </a:r>
            <a:endParaRPr lang="en-US" sz="2600" dirty="0"/>
          </a:p>
        </p:txBody>
      </p:sp>
      <p:sp>
        <p:nvSpPr>
          <p:cNvPr id="9" name="Shape 6"/>
          <p:cNvSpPr/>
          <p:nvPr/>
        </p:nvSpPr>
        <p:spPr>
          <a:xfrm>
            <a:off x="548640" y="1325880"/>
            <a:ext cx="11091672" cy="4937760"/>
          </a:xfrm>
          <a:prstGeom prst="roundRect">
            <a:avLst>
              <a:gd name="adj" fmla="val 1852"/>
            </a:avLst>
          </a:prstGeom>
          <a:solidFill>
            <a:srgbClr val="0B1F3A"/>
          </a:solidFill>
          <a:ln/>
        </p:spPr>
      </p:sp>
      <p:sp>
        <p:nvSpPr>
          <p:cNvPr id="10" name="Text 7"/>
          <p:cNvSpPr/>
          <p:nvPr/>
        </p:nvSpPr>
        <p:spPr>
          <a:xfrm>
            <a:off x="914400" y="1554480"/>
            <a:ext cx="10360152" cy="448056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Hoje: 4.000 kWh × R$ 1,039 ≈ R$ 4.156/mês</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Com assinatura: distribuidora ≈ R$ 306 (295 kWh fora da cota) + R$ 577 (Fio B não compensado) = R$ 884 · sua cobrança ≈ R$ 2.618</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Total ≈ R$ 3.501 → economia ≈ R$ 654/mês ≈ R$ 7.850/ano (≈ 16% da conta)</a:t>
            </a:r>
            <a:endParaRPr lang="en-US" sz="2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DIMENSIONANDO A COTA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Casos especiais</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Várias UCs do mesmo cliente → uma cota por UC</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crescendo (ampliação) → dimensione pelo histórico, revise em 6 meses</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com sistema próprio parcial → cota sobre o consumo que sobra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11091672"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10177272"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de 12 meses → cota com margem → economia em R$ na conta total</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03</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M5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 proposta comercial que converte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Estruturar a proposta e a apresentação ao cliente, explicando as "duas contas"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cinco perguntas do cliente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explicação das duas contas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Condições que precisam estar claras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reunião de apresentação</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proposta comercial que converte</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As cinco perguntas do cliente</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indent="0" marL="0">
              <a:spcAft>
                <a:spcPts val="600"/>
              </a:spcAft>
              <a:buNone/>
            </a:pPr>
            <a:r>
              <a:rPr lang="en-US" sz="1700" dirty="0">
                <a:solidFill>
                  <a:srgbClr val="1F2937"/>
                </a:solidFill>
                <a:latin typeface="Arial" pitchFamily="34" charset="0"/>
                <a:ea typeface="Arial" pitchFamily="34" charset="-122"/>
                <a:cs typeface="Arial" pitchFamily="34" charset="-120"/>
              </a:rPr>
              <a:t>1. Quanto eu economizo? → economia em R$/mês e R$/ano</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2. Quanto eu invisto? → zero, sem obra, sem trocar medidor</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3. Como funciona? → usina + créditos + duas contas</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4. É seguro? → Lei 14.300, empresa, contrato</a:t>
            </a:r>
            <a:endParaRPr lang="en-US" sz="1700" dirty="0"/>
          </a:p>
          <a:p>
            <a:pPr indent="0" marL="0">
              <a:spcAft>
                <a:spcPts val="600"/>
              </a:spcAft>
              <a:buNone/>
            </a:pPr>
            <a:r>
              <a:rPr lang="en-US" sz="1700" dirty="0">
                <a:solidFill>
                  <a:srgbClr val="1F2937"/>
                </a:solidFill>
                <a:latin typeface="Arial" pitchFamily="34" charset="0"/>
                <a:ea typeface="Arial" pitchFamily="34" charset="-122"/>
                <a:cs typeface="Arial" pitchFamily="34" charset="-120"/>
              </a:rPr>
              <a:t>5. O que eu preciso fazer? → documentos e próximo passo</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explicação das duas contas</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Antes: 1 conta grande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Depois: 2 contas menores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Soma menor = economia</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A PROPOSTA COMERCIAL QUE CONVERTE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Condições que precisam estar claras</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Prazo</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início previsto dos créditos</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como o valor é calculado todo mês</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reajuste e regras da distribuidora</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cancelamento</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validade da proposta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A PROPOSTA COMERCIAL QUE CONVERTE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reunião de apresentação</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0–3 min: a conta dele hoje (dor)</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3–7 min: como funciona + duas contas</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7–10 min: economia em R$ e prova (lei, empresa, clientes)</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10–13 min: dúvidas e objeções</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13–15 min: próximo passo e documentos</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5 perguntas</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duas contas</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condições claras</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reunião de 15 min com próximo passo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04</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M5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Objeções e argumentos</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Responder com segurança e honestidade às objeções mais comuns</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Confiança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Entendimento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Compromisso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Timing</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Confiança</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400" dirty="0">
                <a:solidFill>
                  <a:srgbClr val="1F2937"/>
                </a:solidFill>
                <a:latin typeface="Arial" pitchFamily="34" charset="0"/>
                <a:ea typeface="Arial" pitchFamily="34" charset="-122"/>
                <a:cs typeface="Arial" pitchFamily="34" charset="-120"/>
              </a:rPr>
              <a:t>1. 'Isso é golpe?' → É regulado pela Lei 14.300/2022; você continua cliente da distribuidora; contrato com CNPJ; clientes que já atendemos.</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2. 'A distribuidora vai cortar minha luz?' → Não. O fornecimento é o mesmo; só muda a forma de pagar parte da energia.</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3. 'Preciso trocar medidor ou fazer obra?' → Não. Nada muda na sua instalação.</a:t>
            </a:r>
            <a:endParaRPr lang="en-US" sz="1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Entendimento</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300" dirty="0">
                <a:solidFill>
                  <a:srgbClr val="1F2937"/>
                </a:solidFill>
                <a:latin typeface="Arial" pitchFamily="34" charset="0"/>
                <a:ea typeface="Arial" pitchFamily="34" charset="-122"/>
                <a:cs typeface="Arial" pitchFamily="34" charset="-120"/>
              </a:rPr>
              <a:t>4. 'Vou pagar duas contas?' → Sim, duas contas menores que somam menos que a de hoje. (mostrar a conta)</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5. 'Por que não 20% na conta toda?' → O desconto é sobre a energia compensada; uma parte da conta é da distribuidora (mínimo e uso da rede). Sua economia real é R$ X.</a:t>
            </a:r>
            <a:endParaRPr lang="en-US" sz="1300" dirty="0"/>
          </a:p>
          <a:p>
            <a:pPr indent="0" marL="0">
              <a:spcAft>
                <a:spcPts val="600"/>
              </a:spcAft>
              <a:buNone/>
            </a:pPr>
            <a:r>
              <a:rPr lang="en-US" sz="1300" dirty="0">
                <a:solidFill>
                  <a:srgbClr val="1F2937"/>
                </a:solidFill>
                <a:latin typeface="Arial" pitchFamily="34" charset="0"/>
                <a:ea typeface="Arial" pitchFamily="34" charset="-122"/>
                <a:cs typeface="Arial" pitchFamily="34" charset="-120"/>
              </a:rPr>
              <a:t>6. 'E se a usina gerar menos?' → Você recebe proporcionalmente menos créditos e paga proporcionalmente menos para nós; nunca paga por energia que não recebeu.</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Compromisso</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indent="0" marL="0">
              <a:spcAft>
                <a:spcPts val="600"/>
              </a:spcAft>
              <a:buNone/>
            </a:pPr>
            <a:r>
              <a:rPr lang="en-US" sz="1400" dirty="0">
                <a:solidFill>
                  <a:srgbClr val="1F2937"/>
                </a:solidFill>
                <a:latin typeface="Arial" pitchFamily="34" charset="0"/>
                <a:ea typeface="Arial" pitchFamily="34" charset="-122"/>
                <a:cs typeface="Arial" pitchFamily="34" charset="-120"/>
              </a:rPr>
              <a:t>7. 'Tem fidelidade? E multa?' → Prazo X; cancelamento com aviso de Y dias; condições no contrato.</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8. 'E se eu mudar de endereço?' → Transferimos a cota para a nova UC, se estiver na mesma distribuidora; senão, encerramos conforme contrato.</a:t>
            </a:r>
            <a:endParaRPr lang="en-US" sz="1400" dirty="0"/>
          </a:p>
          <a:p>
            <a:pPr indent="0" marL="0">
              <a:spcAft>
                <a:spcPts val="600"/>
              </a:spcAft>
              <a:buNone/>
            </a:pPr>
            <a:r>
              <a:rPr lang="en-US" sz="1400" dirty="0">
                <a:solidFill>
                  <a:srgbClr val="1F2937"/>
                </a:solidFill>
                <a:latin typeface="Arial" pitchFamily="34" charset="0"/>
                <a:ea typeface="Arial" pitchFamily="34" charset="-122"/>
                <a:cs typeface="Arial" pitchFamily="34" charset="-120"/>
              </a:rPr>
              <a:t>9. 'E essa história de Fio B / mudança de regra?' → A economia acompanha as regras e a tarifa; mostramos a conta; contrato prevê o ajuste.</a:t>
            </a:r>
            <a:endParaRPr lang="en-US" sz="1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OBJEÇÕES E ARGUMENTOS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Timing</a:t>
            </a:r>
            <a:endParaRPr lang="en-US" sz="2600" dirty="0"/>
          </a:p>
        </p:txBody>
      </p:sp>
      <p:sp>
        <p:nvSpPr>
          <p:cNvPr id="9" name="Shape 6"/>
          <p:cNvSpPr/>
          <p:nvPr/>
        </p:nvSpPr>
        <p:spPr>
          <a:xfrm>
            <a:off x="548640" y="2651760"/>
            <a:ext cx="5596128" cy="1463040"/>
          </a:xfrm>
          <a:prstGeom prst="chevron">
            <a:avLst/>
          </a:prstGeom>
          <a:solidFill>
            <a:srgbClr val="1B3A6B"/>
          </a:solidFill>
          <a:ln w="25400">
            <a:solidFill>
              <a:srgbClr val="FFFFFF"/>
            </a:solidFill>
            <a:prstDash val="solid"/>
          </a:ln>
        </p:spPr>
      </p:sp>
      <p:sp>
        <p:nvSpPr>
          <p:cNvPr id="10" name="Text 7"/>
          <p:cNvSpPr/>
          <p:nvPr/>
        </p:nvSpPr>
        <p:spPr>
          <a:xfrm>
            <a:off x="868680" y="265176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10. 'Vou pensar.'</a:t>
            </a:r>
            <a:endParaRPr lang="en-US" sz="1500" dirty="0"/>
          </a:p>
        </p:txBody>
      </p:sp>
      <p:sp>
        <p:nvSpPr>
          <p:cNvPr id="11" name="Shape 8"/>
          <p:cNvSpPr/>
          <p:nvPr/>
        </p:nvSpPr>
        <p:spPr>
          <a:xfrm>
            <a:off x="6035040" y="2651760"/>
            <a:ext cx="5596128" cy="1463040"/>
          </a:xfrm>
          <a:prstGeom prst="chevron">
            <a:avLst/>
          </a:prstGeom>
          <a:solidFill>
            <a:srgbClr val="11396F"/>
          </a:solidFill>
          <a:ln w="25400">
            <a:solidFill>
              <a:srgbClr val="FFFFFF"/>
            </a:solidFill>
            <a:prstDash val="solid"/>
          </a:ln>
        </p:spPr>
      </p:sp>
      <p:sp>
        <p:nvSpPr>
          <p:cNvPr id="12" name="Text 9"/>
          <p:cNvSpPr/>
          <p:nvPr/>
        </p:nvSpPr>
        <p:spPr>
          <a:xfrm>
            <a:off x="6355080" y="265176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'Claro. O que falta para decidir?' + data de retorno + resumo por escrito com a economia anual.</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Confiança</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entendimento</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compromisso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timing — respostas curtas, verdadeiras e com o número do cliente</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05</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M5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Funil e carteira do consultor</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Estruturar funil, metas, comissão e carteira para o time comercial</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funil da assinatura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Da meta de negócio à meta de vendas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Comissão que premia o certo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funil da assinatura</a:t>
            </a:r>
            <a:endParaRPr lang="en-US" sz="2600" dirty="0"/>
          </a:p>
        </p:txBody>
      </p:sp>
      <p:sp>
        <p:nvSpPr>
          <p:cNvPr id="9" name="Shape 6"/>
          <p:cNvSpPr/>
          <p:nvPr/>
        </p:nvSpPr>
        <p:spPr>
          <a:xfrm>
            <a:off x="548640" y="2651760"/>
            <a:ext cx="1938528" cy="1463040"/>
          </a:xfrm>
          <a:prstGeom prst="chevron">
            <a:avLst/>
          </a:prstGeom>
          <a:solidFill>
            <a:srgbClr val="1B3A6B"/>
          </a:solidFill>
          <a:ln w="25400">
            <a:solidFill>
              <a:srgbClr val="FFFFFF"/>
            </a:solidFill>
            <a:prstDash val="solid"/>
          </a:ln>
        </p:spPr>
      </p:sp>
      <p:sp>
        <p:nvSpPr>
          <p:cNvPr id="10" name="Text 7"/>
          <p:cNvSpPr/>
          <p:nvPr/>
        </p:nvSpPr>
        <p:spPr>
          <a:xfrm>
            <a:off x="868680" y="2651760"/>
            <a:ext cx="141732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Lead</a:t>
            </a:r>
            <a:endParaRPr lang="en-US" sz="1200" dirty="0"/>
          </a:p>
        </p:txBody>
      </p:sp>
      <p:sp>
        <p:nvSpPr>
          <p:cNvPr id="11" name="Shape 8"/>
          <p:cNvSpPr/>
          <p:nvPr/>
        </p:nvSpPr>
        <p:spPr>
          <a:xfrm>
            <a:off x="2377440" y="2651760"/>
            <a:ext cx="1938528" cy="1463040"/>
          </a:xfrm>
          <a:prstGeom prst="chevron">
            <a:avLst/>
          </a:prstGeom>
          <a:solidFill>
            <a:srgbClr val="11396F"/>
          </a:solidFill>
          <a:ln w="25400">
            <a:solidFill>
              <a:srgbClr val="FFFFFF"/>
            </a:solidFill>
            <a:prstDash val="solid"/>
          </a:ln>
        </p:spPr>
      </p:sp>
      <p:sp>
        <p:nvSpPr>
          <p:cNvPr id="12" name="Text 9"/>
          <p:cNvSpPr/>
          <p:nvPr/>
        </p:nvSpPr>
        <p:spPr>
          <a:xfrm>
            <a:off x="2697480" y="2651760"/>
            <a:ext cx="141732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Conta de luz recebida (50%)</a:t>
            </a:r>
            <a:endParaRPr lang="en-US" sz="1200" dirty="0"/>
          </a:p>
        </p:txBody>
      </p:sp>
      <p:sp>
        <p:nvSpPr>
          <p:cNvPr id="13" name="Shape 10"/>
          <p:cNvSpPr/>
          <p:nvPr/>
        </p:nvSpPr>
        <p:spPr>
          <a:xfrm>
            <a:off x="4206240" y="2651760"/>
            <a:ext cx="1938528" cy="1463040"/>
          </a:xfrm>
          <a:prstGeom prst="chevron">
            <a:avLst/>
          </a:prstGeom>
          <a:solidFill>
            <a:srgbClr val="1B3A6B"/>
          </a:solidFill>
          <a:ln w="25400">
            <a:solidFill>
              <a:srgbClr val="FFFFFF"/>
            </a:solidFill>
            <a:prstDash val="solid"/>
          </a:ln>
        </p:spPr>
      </p:sp>
      <p:sp>
        <p:nvSpPr>
          <p:cNvPr id="14" name="Text 11"/>
          <p:cNvSpPr/>
          <p:nvPr/>
        </p:nvSpPr>
        <p:spPr>
          <a:xfrm>
            <a:off x="4526280" y="2651760"/>
            <a:ext cx="141732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Proposta apresentada (80%)</a:t>
            </a:r>
            <a:endParaRPr lang="en-US" sz="1200" dirty="0"/>
          </a:p>
        </p:txBody>
      </p:sp>
      <p:sp>
        <p:nvSpPr>
          <p:cNvPr id="15" name="Shape 12"/>
          <p:cNvSpPr/>
          <p:nvPr/>
        </p:nvSpPr>
        <p:spPr>
          <a:xfrm>
            <a:off x="6035040" y="2651760"/>
            <a:ext cx="1938528" cy="1463040"/>
          </a:xfrm>
          <a:prstGeom prst="chevron">
            <a:avLst/>
          </a:prstGeom>
          <a:solidFill>
            <a:srgbClr val="11396F"/>
          </a:solidFill>
          <a:ln w="25400">
            <a:solidFill>
              <a:srgbClr val="FFFFFF"/>
            </a:solidFill>
            <a:prstDash val="solid"/>
          </a:ln>
        </p:spPr>
      </p:sp>
      <p:sp>
        <p:nvSpPr>
          <p:cNvPr id="16" name="Text 13"/>
          <p:cNvSpPr/>
          <p:nvPr/>
        </p:nvSpPr>
        <p:spPr>
          <a:xfrm>
            <a:off x="6355080" y="2651760"/>
            <a:ext cx="141732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Aceite (40%)</a:t>
            </a:r>
            <a:endParaRPr lang="en-US" sz="1200" dirty="0"/>
          </a:p>
        </p:txBody>
      </p:sp>
      <p:sp>
        <p:nvSpPr>
          <p:cNvPr id="17" name="Shape 14"/>
          <p:cNvSpPr/>
          <p:nvPr/>
        </p:nvSpPr>
        <p:spPr>
          <a:xfrm>
            <a:off x="7863840" y="2651760"/>
            <a:ext cx="1938528" cy="1463040"/>
          </a:xfrm>
          <a:prstGeom prst="chevron">
            <a:avLst/>
          </a:prstGeom>
          <a:solidFill>
            <a:srgbClr val="1B3A6B"/>
          </a:solidFill>
          <a:ln w="25400">
            <a:solidFill>
              <a:srgbClr val="FFFFFF"/>
            </a:solidFill>
            <a:prstDash val="solid"/>
          </a:ln>
        </p:spPr>
      </p:sp>
      <p:sp>
        <p:nvSpPr>
          <p:cNvPr id="18" name="Text 15"/>
          <p:cNvSpPr/>
          <p:nvPr/>
        </p:nvSpPr>
        <p:spPr>
          <a:xfrm>
            <a:off x="8183880" y="2651760"/>
            <a:ext cx="141732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Contrato e documentos (90%)</a:t>
            </a:r>
            <a:endParaRPr lang="en-US" sz="1200" dirty="0"/>
          </a:p>
        </p:txBody>
      </p:sp>
      <p:sp>
        <p:nvSpPr>
          <p:cNvPr id="19" name="Shape 16"/>
          <p:cNvSpPr/>
          <p:nvPr/>
        </p:nvSpPr>
        <p:spPr>
          <a:xfrm>
            <a:off x="9692640" y="2651760"/>
            <a:ext cx="1938528" cy="1463040"/>
          </a:xfrm>
          <a:prstGeom prst="chevron">
            <a:avLst/>
          </a:prstGeom>
          <a:solidFill>
            <a:srgbClr val="11396F"/>
          </a:solidFill>
          <a:ln w="25400">
            <a:solidFill>
              <a:srgbClr val="FFFFFF"/>
            </a:solidFill>
            <a:prstDash val="solid"/>
          </a:ln>
        </p:spPr>
      </p:sp>
      <p:sp>
        <p:nvSpPr>
          <p:cNvPr id="20" name="Text 17"/>
          <p:cNvSpPr/>
          <p:nvPr/>
        </p:nvSpPr>
        <p:spPr>
          <a:xfrm>
            <a:off x="10012680" y="2651760"/>
            <a:ext cx="1417320" cy="1463040"/>
          </a:xfrm>
          <a:prstGeom prst="rect">
            <a:avLst/>
          </a:prstGeom>
          <a:noFill/>
          <a:ln/>
        </p:spPr>
        <p:txBody>
          <a:bodyPr wrap="square"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No rateio</a:t>
            </a:r>
            <a:endParaRPr lang="en-US" sz="12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Da meta de negócio à meta de vendas</a:t>
            </a:r>
            <a:endParaRPr lang="en-US" sz="2600" dirty="0"/>
          </a:p>
        </p:txBody>
      </p:sp>
      <p:sp>
        <p:nvSpPr>
          <p:cNvPr id="9" name="Shape 6"/>
          <p:cNvSpPr/>
          <p:nvPr/>
        </p:nvSpPr>
        <p:spPr>
          <a:xfrm>
            <a:off x="548640" y="1325880"/>
            <a:ext cx="11091672" cy="4937760"/>
          </a:xfrm>
          <a:prstGeom prst="roundRect">
            <a:avLst>
              <a:gd name="adj" fmla="val 1852"/>
            </a:avLst>
          </a:prstGeom>
          <a:solidFill>
            <a:srgbClr val="0B1F3A"/>
          </a:solidFill>
          <a:ln/>
        </p:spPr>
      </p:sp>
      <p:sp>
        <p:nvSpPr>
          <p:cNvPr id="10" name="Text 7"/>
          <p:cNvSpPr/>
          <p:nvPr/>
        </p:nvSpPr>
        <p:spPr>
          <a:xfrm>
            <a:off x="914400" y="1554480"/>
            <a:ext cx="10360152" cy="448056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Meta: 540 clientes em 18 meses → 30 clientes/mês</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Conversão lead → cliente ≈ 14% → ~215 leads/mês</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Por consultor (6 clientes/mês) → 5 consultores</a:t>
            </a:r>
            <a:endParaRPr lang="en-US" sz="2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Comissão que premia o certo</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 Comissão por proposta ou por contrato assinado</a:t>
            </a:r>
            <a:endParaRPr lang="en-US" sz="1800" dirty="0"/>
          </a:p>
          <a:p>
            <a:pPr marL="342900" indent="-342900">
              <a:spcAft>
                <a:spcPts val="600"/>
              </a:spcAft>
              <a:buSzPct val="100000"/>
              <a:buChar char="●"/>
            </a:pPr>
            <a:r>
              <a:rPr lang="en-US" sz="1800" dirty="0">
                <a:solidFill>
                  <a:srgbClr val="1F2937"/>
                </a:solidFill>
                <a:latin typeface="Arial" pitchFamily="34" charset="0"/>
                <a:ea typeface="Arial" pitchFamily="34" charset="-122"/>
                <a:cs typeface="Arial" pitchFamily="34" charset="-120"/>
              </a:rPr>
              <a:t>✓ Comissão após a 1ª cobrança paga (ex.: 1 mensalidade) + pequena recorrência enquanto o cliente fica (ex.: 2–5% da taxa)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FUNIL E CARTEIRA DO CONSULTOR</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548640" y="1325880"/>
            <a:ext cx="11091672"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731520" y="1508760"/>
            <a:ext cx="822960" cy="384048"/>
          </a:xfrm>
          <a:prstGeom prst="roundRect">
            <a:avLst>
              <a:gd name="adj" fmla="val 47619"/>
            </a:avLst>
          </a:prstGeom>
          <a:solidFill>
            <a:srgbClr val="F7A23B"/>
          </a:solidFill>
          <a:ln/>
        </p:spPr>
      </p:sp>
      <p:sp>
        <p:nvSpPr>
          <p:cNvPr id="11" name="Text 8"/>
          <p:cNvSpPr/>
          <p:nvPr/>
        </p:nvSpPr>
        <p:spPr>
          <a:xfrm>
            <a:off x="73152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645920" y="1463040"/>
            <a:ext cx="9857232"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Carteira e propostas na plataforma</a:t>
            </a:r>
            <a:endParaRPr lang="en-US" sz="1400" dirty="0"/>
          </a:p>
        </p:txBody>
      </p:sp>
      <p:sp>
        <p:nvSpPr>
          <p:cNvPr id="13" name="Text 10"/>
          <p:cNvSpPr/>
          <p:nvPr/>
        </p:nvSpPr>
        <p:spPr>
          <a:xfrm>
            <a:off x="777240" y="2057400"/>
            <a:ext cx="10634472"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Cada consultor vê só a própria carteira</a:t>
            </a:r>
            <a:endParaRPr lang="en-US" sz="1500" dirty="0"/>
          </a:p>
          <a:p>
            <a:pPr indent="0" marL="0">
              <a:buNone/>
            </a:pPr>
            <a:r>
              <a:rPr lang="en-US" sz="1500" dirty="0">
                <a:solidFill>
                  <a:srgbClr val="1F2937"/>
                </a:solidFill>
                <a:latin typeface="Arial" pitchFamily="34" charset="0"/>
                <a:ea typeface="Arial" pitchFamily="34" charset="-122"/>
                <a:cs typeface="Arial" pitchFamily="34" charset="-120"/>
              </a:rPr>
              <a:t>status da proposta = etapa do funil</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Funil medido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meta a partir do ponto de equilíbrio</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comissão após a 1ª cobrança paga</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revisão semanal</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06</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M5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cliente, unidade consumidora e proposta comercial</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Cadastrar cliente (PF e PJ), unidade consumidora e proposta comercial com PDF</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CLIENTE, UNIDADE CONSUMIDORA E PROPOSTA COMERCIAL</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Clientes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Cadastrando o cliente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Cliente Consumidor → Clientes → Novo · CPF/CNPJ validado · sem duplicidade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A unidade consumidora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UC = número da instalação na conta · código + concessionária são únicos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 proposta comercial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Propostas → Nova · Média de Consumo · Valor Médio · Taxa de Redução · Prazo · Validade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PDF e o envio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PDF com a marca da sua empresa · link temporário · envio por WhatsApp/e-mail</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Proposta comercial</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roposta_cliente.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M5 · Fechamento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548640" y="1325880"/>
            <a:ext cx="539496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548640" y="1783080"/>
            <a:ext cx="539496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Uma academia trifásica com média de 6.200 kWh/mês: cota ideal com margem de 95%? (R: (6.200 − 100) × 0,95 ≈ 5.795 kWh)</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Quantas academias como essa cabem na Sol Nascente I (60.000 kWh)?</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Escreva a resposta para a objeção "vou pagar duas contas?" em até 3 frases.</a:t>
            </a:r>
            <a:endParaRPr lang="en-US" sz="1600" dirty="0"/>
          </a:p>
        </p:txBody>
      </p:sp>
      <p:sp>
        <p:nvSpPr>
          <p:cNvPr id="11" name="Shape 8"/>
          <p:cNvSpPr/>
          <p:nvPr/>
        </p:nvSpPr>
        <p:spPr>
          <a:xfrm>
            <a:off x="6172200" y="1325880"/>
            <a:ext cx="5468112" cy="4937760"/>
          </a:xfrm>
          <a:prstGeom prst="roundRect">
            <a:avLst>
              <a:gd name="adj" fmla="val 1852"/>
            </a:avLst>
          </a:prstGeom>
          <a:solidFill>
            <a:srgbClr val="1B3A6B"/>
          </a:solidFill>
          <a:ln/>
        </p:spPr>
      </p:sp>
      <p:sp>
        <p:nvSpPr>
          <p:cNvPr id="12" name="Text 9"/>
          <p:cNvSpPr/>
          <p:nvPr/>
        </p:nvSpPr>
        <p:spPr>
          <a:xfrm>
            <a:off x="6492240" y="1554480"/>
            <a:ext cx="4828032"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Primeiros clientes da minha empresa: 5 clientes fictícios do seu ICP cadastrados com UC e proposta (pelo menos 2 empresas B3 e 2 residências), com cota calculada e economia estimada; e o roteiro de abordagem do seu vendedor (uma página).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 Comercial: do lead à proposta</dc:title>
  <dc:subject>PptxGenJS Presentation</dc:subject>
  <dc:creator>PptxGenJS</dc:creator>
  <cp:lastModifiedBy>PptxGenJS</cp:lastModifiedBy>
  <cp:revision>1</cp:revision>
  <dcterms:created xsi:type="dcterms:W3CDTF">2026-10-30T11:40:27Z</dcterms:created>
  <dcterms:modified xsi:type="dcterms:W3CDTF">2026-10-30T11:40:27Z</dcterms:modified>
</cp:coreProperties>
</file>