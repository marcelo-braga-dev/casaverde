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critérios estão na tela. O mais decisivo é consumo alto e estável: uma venda boa ocupa uma boa fatia da usina.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Escolha dois ou três segmentos da lista e fique especialista neles. Um cliente indica outro do mesmo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Evite, no começo, os perfis da tela. Eles dão trabalho e trazem pouca margem.
O canal mais barato é a indicação. E, se você já tem empresa solar, os orçamentos que não fecharam por falta de telhado ou de capital são a sua primeira carteira de assinantes.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conta, você tira os dados da tela, principalmente o histórico de doze meses. Confirme também que o titular da conta é quem vai assinar.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Calcule a cota com a fórmula da tela e olhe o mês a mês para não gerar sobras nos meses de consumo 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conta total, a clínica economiza cerca de seiscentos e cinquenta reais por mês, quase oito mil por ano. Fale sempre em reais, por mês e por ano, e nunca arredonde para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os casos especiais da tela, a regra é a mesma: dimensione pelo histórico e combine revisões.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Ela responde, nessa ordem, às cinco perguntas da tela.
O ponto mais importante é explicar as duas contas. O cliente passa a pagar duas contas menores que, somadas, ficam abaixo da de hoje. Quem não entende isso cancela no primeiro mês por susto. Repita na proposta, na reunião e nas boas-vindas.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condições da tela precisam estar escritas, sem letras miúdas.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proposta em quinze minutos, seguindo o roteiro da tela, e saia sempre com o próximo passo marcado.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 objeções de confiança, apoie-se na lei, no contrato e em clientes de referência. O fornecimento continua o mesmo e nada muda na instalação.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 de entendimento, mostre a conta do próprio cliente. E lembre: ele nunca paga por energia que não recebeu, porque a cobrança parte do que foi compensado na fatura.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 de compromisso, responda exatamente o que o contrato diz. Cancelamento simples, com aviso prévio, vende mais que multa pesada.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no vou pensar, pergunte o que falta para decidir, combine um retorno e envie a economia anual por escrito.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Meça cada etapa do funil desde o primeiro mês. As taxas reais mostram onde ele vaza.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o funil ao plano: do ponto de equilíbrio sai a meta de clientes, e dela os leads e o número de consultores.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Pague comissão depois da primeira cobrança paga. Assim o vendedor busca o cliente certo e explica direito.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consultor vê só a própria carteira status da proposta = etapa do funil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Cliente Consumidor, Clientes, crie uma academia como pessoa jurídica, com CNPJ fictício e contatos. Ela já recebe o desconto padrão.
Na aba de unidades consumidoras, cadastre a UC: código da instalação, rótulo, concessionária e consumo previsto.
Em Propostas, crie a proposta: cliente, UC, média de consumo, valor médio, desconto, prazo e validade.
Gere o PDF e confira a economia com a calculadora. O envio por WhatsApp é com um clique, pelo consultor.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A23B"/>
          </a:solidFill>
          <a:ln/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
</a:t>
            </a:r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 ·  ETAPA 3 · OPERAÇÃO PONTA A PONTA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Comercial: do lead à proposta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Quem é o cliente ideal de GD compartilhada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Dimensionando a cota do cliente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proposta comercial que converte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Objeções e argumentos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Funil e carteira do consultor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cliente, unidade consumidora e proposta comercial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365760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1396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7490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do módulo
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 cliente ideal (ICP) e os canais de aquisição — incluindo os leads perdidos de sistema solar, para quem já tem empresa solar.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Dimensionar a cota do cliente e estimar a economia real (na conta total).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uma proposta comercial clara, que explique as "duas contas".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às principais objeções.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funil, metas, comissão e carteira por consultor.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é o cliente ideal de GD compartilhada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 ICP da empresa e os canais de aquisição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critérios do cliente ideal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Segmentos que funcionam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evitar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canais de aquisição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QUEM É O CLIENTE IDEAL DE GD COMPARTILHADA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critérios do cliente ideal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B, na área da sua distribuidora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alto e estável (comércio: 1.000–10.000 kWh; residência: ≥ 300 kWh)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pagador / negócio estabelecido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planos de mudança ou de sistema próprio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22064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36118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Decisor acessível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critérios estão na tela. O mais decisivo é consumo alto e estável: uma venda boa ocupa uma boa fatia da usina.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QUEM É O CLIENTE IDEAL DE GD COMPARTILHADA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Segmentos que funcionam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548640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Padarias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clínicas e consultórios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farmácias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63640" y="1325880"/>
            <a:ext cx="548640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pousadas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escritórios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mercados de bairro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igrejas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residências de alto consumo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dois ou três segmentos da lista e fique especialista neles. Um cliente indica outro do mesmo setor.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é o cliente ideal de GD compartilhada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evitar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muito baixo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social (avaliar caso a caso)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A (proposta complexa)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vai mudar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já tem sistema próprio dimensionado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Evite, no começo, os perfis da tela. Eles dão trabalho e trazem pouca margem.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canais de aquisição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05956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(contadores, associações comerciais, imobiliárias)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 a porta no comércio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anúncios locais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leads de sistema solar que não compraram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05956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6505956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canal mais barato é a indicação. E, se você já tem empresa solar, os orçamentos que não fecharam por falta de telhado ou de capital são a sua primeira carteira de assinantes.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ICP: grupo B, consumo alto e estável, bom pagador, decisor acessível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segmentos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indicação e leads perdidos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Dimensionando a cota do cliente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Coletar o histórico, calcular a cota e estimar a economia mensal e anual na conta total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Coletando o histórico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Calculando a cota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Estimando a economia real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especiais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DIMENSIONANDO A COTA DO CLIENTE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Coletando o histórico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conta: UC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22064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36118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12 meses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095488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78368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8278368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872728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e tarifa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35" name="Text 32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conta, você tira os dados da tela, principalmente o histórico de doze meses. Confirme também que o titular da conta é quem vai assinar.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DIMENSIONANDO A COTA DO CLIENTE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Calculando a cota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10360152" cy="3520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Clínica (trifásica): média 12 meses = 4.000 kWh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Cota = (4.000 − 100) × 95% ≈ 3.705 kWh/mês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na Sol Nascente I = 3.705 ÷ 60.000 ≈ 6,2%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 a cota com a fórmula da tela e olhe o mês a mês para não gerar sobras nos meses de consumo baixo.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DIMENSIONANDO A COTA DO CLIENTE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Estimando a economia real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10360152" cy="3520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Hoje: 4.000 kWh × R$ 1,039 ≈ R$ 4.156/mês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assinatura: distribuidora ≈ R$ 306 (295 kWh fora da cota) + R$ 577 (Fio B não compensado) = R$ 884 · sua cobrança ≈ R$ 2.618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≈ R$ 3.501 → economia ≈ R$ 654/mês ≈ R$ 7.850/ano (≈ 16% da conta)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conta total, a clínica economiza cerca de seiscentos e cinquenta reais por mês, quase oito mil por ano. Fale sempre em reais, por mês e por ano, e nunca arredonde para cima.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DIMENSIONANDO A COTA DO CLIENTE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especiais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Várias UCs do mesmo cliente → uma cota por UC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crescendo (ampliação) → dimensione pelo histórico, revise em 6 meses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com sistema próprio parcial → cota sobre o consumo que sobra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os casos especiais da tela, a regra é a mesma: dimensione pelo histórico e combine revisões.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10177272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12 meses → cota com margem → economia em R$ na conta total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comercial que converte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Estruturar a proposta e a apresentação ao cliente, explicando as "duas contas"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cinco perguntas do cliente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explicação das duas contas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que precisam estar claras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reunião de apresentação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comercial que converte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cinco perguntas do cliente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Quanto eu economizo? → economia em R$/mês e R$/ano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Quanto eu invisto? → zero, sem obra, sem trocar medidor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Como funciona? → usina + créditos + duas contas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É seguro? → Lei 14.300, empresa, contrato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 que eu preciso fazer? → documentos e próximo passo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responde, nessa ordem, às cinco perguntas da tela.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explicação das duas contas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05956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1 conta grande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Depois: 2 contas menores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 menor = economia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505956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6505956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mais importante é explicar as duas contas. O cliente passa a pagar duas contas menores que, somadas, ficam abaixo da de hoje. Quem não entende isso cancela no primeiro mês por susto. Repita na proposta, na reunião e nas boas-vindas.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A PROPOSTA COMERCIAL QUE CONVERTE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que precisam estar claras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previsto dos créditos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valor é calculado todo mês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reajuste e regras da distribuidora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22064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36118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cancelamento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095488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78368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8278368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872728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da proposta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35" name="Text 32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condições da tela precisam estar escritas, sem letras miúdas.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A PROPOSTA COMERCIAL QUE CONVERTE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reunião de apresentação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min: a conta dele hoje (dor)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3–7 min: como funciona + duas contas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7–10 min: economia em R$ e prova (lei, empresa, clientes)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10–13 min: dúvidas e objeções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22064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36118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13–15 min: próximo passo e documentos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Apresente a proposta em quinze minutos, seguindo o roteiro da tela, e saia sempre com o próximo passo marcado.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perguntas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contas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claras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08776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91656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39165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86016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 de 15 min com próximo passo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Objeções e argumentos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com segurança e honestidade às objeções mais comuns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Entendimento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OBJEÇÕES E ARGUMENTOS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115568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'Isso é golpe?' → É regulado pela Lei 14.300/2022; você continua cliente da distribuidora; contrato com CNPJ; clientes que já atendemos.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'A distribuidora vai cortar minha luz?' → Não. O fornecimento é o mesmo; só muda a forma de pagar parte da energia.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'Preciso trocar medidor ou fazer obra?' → Não. Nada muda na sua instalação.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objeções de confiança, apoie-se na lei, no contrato e em clientes de referência. O fornecimento continua o mesmo e nada muda na instalação.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OBJEÇÕES E ARGUMENTOS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Entendimento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115568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'Vou pagar duas contas?' → Sim, duas contas menores que somam menos que a de hoje. (mostrar a conta)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'Por que não 20% na conta toda?' → O desconto é sobre a energia compensada; uma parte da conta é da distribuidora (mínimo e uso da rede). Sua economia real é R$ X.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'E se a usina gerar menos?' → Você recebe proporcionalmente menos créditos e paga proporcionalmente menos para nós; nunca paga por energia que não recebeu.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de entendimento, mostre a conta do próprio cliente. E lembre: ele nunca paga por energia que não recebeu, porque a cobrança parte do que foi compensado na fatura.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OBJEÇÕES E ARGUMENTOS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Compromisso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115568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'Tem fidelidade? E multa?' → Prazo X; cancelamento com aviso de Y dias; condições no contrato.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'E se eu mudar de endereço?' → Transferimos a cota para a nova UC, se estiver na mesma distribuidora; senão, encerramos conforme contrato.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'E essa história de Fio B / mudança de regra?' → A economia acompanha as regras e a tarifa; mostramos a conta; contrato prevê o ajuste.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de compromisso, responda exatamente o que o contrato diz. Cancelamento simples, com aviso prévio, vende mais que multa pesada.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OBJEÇÕES E ARGUMENTOS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2583180"/>
            <a:ext cx="5596128" cy="1463040"/>
          </a:xfrm>
          <a:prstGeom prst="chevron">
            <a:avLst/>
          </a:prstGeom>
          <a:solidFill>
            <a:srgbClr val="1B3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58318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'Vou pensar.'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35040" y="2583180"/>
            <a:ext cx="5596128" cy="1463040"/>
          </a:xfrm>
          <a:prstGeom prst="chevron">
            <a:avLst/>
          </a:prstGeom>
          <a:solidFill>
            <a:srgbClr val="1139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58318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'Claro. O que falta para decidir?' + data de retorno + resumo por escrito com a economia anual.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no vou pensar, pergunte o que falta para decidir, combine um retorno e envie a economia anual por escrito.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entendimento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08776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91656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39165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86016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— respostas curtas, verdadeiras e com o número do cliente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e carteira do consultor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Estruturar funil, metas, comissão e carteira para o time comercial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da assinatura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meta de negócio à meta de vendas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Comissão que premia o certo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FUNIL E CARTEIRA DO CONSULTOR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da assinatura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2583180"/>
            <a:ext cx="1938528" cy="1463040"/>
          </a:xfrm>
          <a:prstGeom prst="chevron">
            <a:avLst/>
          </a:prstGeom>
          <a:solidFill>
            <a:srgbClr val="1B3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58318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77440" y="2583180"/>
            <a:ext cx="1938528" cy="1463040"/>
          </a:xfrm>
          <a:prstGeom prst="chevron">
            <a:avLst/>
          </a:prstGeom>
          <a:solidFill>
            <a:srgbClr val="1139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97480" y="258318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de luz recebida (50%)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0" y="2583180"/>
            <a:ext cx="1938528" cy="1463040"/>
          </a:xfrm>
          <a:prstGeom prst="chevron">
            <a:avLst/>
          </a:prstGeom>
          <a:solidFill>
            <a:srgbClr val="1B3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258318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apresentada (80%)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2583180"/>
            <a:ext cx="1938528" cy="1463040"/>
          </a:xfrm>
          <a:prstGeom prst="chevron">
            <a:avLst/>
          </a:prstGeom>
          <a:solidFill>
            <a:srgbClr val="1139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258318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(40%)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863840" y="2583180"/>
            <a:ext cx="1938528" cy="1463040"/>
          </a:xfrm>
          <a:prstGeom prst="chevron">
            <a:avLst/>
          </a:prstGeom>
          <a:solidFill>
            <a:srgbClr val="1B3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3880" y="258318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e documentos (90%)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692640" y="2583180"/>
            <a:ext cx="1938528" cy="1463040"/>
          </a:xfrm>
          <a:prstGeom prst="chevron">
            <a:avLst/>
          </a:prstGeom>
          <a:solidFill>
            <a:srgbClr val="1139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12680" y="258318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rateio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Meça cada etapa do funil desde o primeiro mês. As taxas reais mostram onde ele vaza.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FUNIL E CARTEIRA DO CONSULTOR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meta de negócio à meta de vendas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10360152" cy="3520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Meta: 540 clientes em 18 meses → 30 clientes/mês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Conversão lead → cliente ≈ 14% → ~215 leads/mês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consultor (6 clientes/mês) → 5 consultores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o funil ao plano: do ponto de equilíbrio sai a meta de clientes, e dela os leads e o número de consultores.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FUNIL E CARTEIRA DO CONSULTOR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Comissão que premia o certo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115568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Comissão por proposta ou por contrato assinado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Comissão após a 1ª cobrança paga (ex.: 1 mensalidade) + pequena recorrência enquanto o cliente fica (ex.: 2–5% da taxa)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Pague comissão depois da primeira cobrança paga. Assim o vendedor busca o cliente certo e explica direito.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FUNIL E CARTEIRA DO CONSULTOR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508760"/>
            <a:ext cx="822960" cy="384048"/>
          </a:xfrm>
          <a:prstGeom prst="roundRect">
            <a:avLst>
              <a:gd name="adj" fmla="val 47619"/>
            </a:avLst>
          </a:prstGeom>
          <a:solidFill>
            <a:srgbClr val="F7A23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645920" y="1463040"/>
            <a:ext cx="98572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e propostas na plataforma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2057400"/>
            <a:ext cx="10634472" cy="4069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consultor vê só a própria carteira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da proposta = etapa do funil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medido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 partir do ponto de equilíbrio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comissão após a 1ª cobrança paga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08776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91656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39165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86016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semanal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na plataforma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cliente, unidade consumidora e proposta comercial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 cliente (PF e PJ), unidade consumidora e proposta comercial com PDF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CLIENTE, UNIDADE CONSUMIDORA E PROPOSTA COMERCIAL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client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o cliente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Cliente Consumidor, Clientes, crie uma academia como pessoa jurídica, com CNPJ fictício e contatos. Ela já recebe o desconto padrão.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unidade consumidora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aba de unidades consumidoras, cadastre a UC: código da instalação, rótulo, concessionária e consumo previsto.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comercial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Propostas, crie a proposta: cliente, UC, média de consumo, valor médio, desconto, prazo e validade.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PDF e o envio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 o PDF e confira a economia com a calculadora. O envio por WhatsApp é com um clique, pelo consultor.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NA PLATAFORMA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comercial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380744" y="1225296"/>
            <a:ext cx="9400032" cy="531952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proposta_clien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61872"/>
            <a:ext cx="9326880" cy="52463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1–2 DE 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perfil costuma ser o melhor cliente inicial?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Indústria do grupo 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Comércio/serviço do grupo B com consumo alto e estável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com tarifa social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já tem painel no telhado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já tem empresa solar, uma fonte valiosa de clientes de assinatura é: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que não compraram sistema por falta de telhado ou capital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clientes que já têm sistema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indústrias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038844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76004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176004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3–4 DE 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economia apresentada na proposta deve considerar: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total, incluindo o que continua sendo pago à distribuidora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desconto sobre o crédito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tarifa cheia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bandeira vermelha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"Preciso trocar o medidor ou fazer obra?" A resposta correta é: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sim, sempre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não, o cliente continua na distribuidora e recebe créditos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do inversor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038844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76004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176004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para empresas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5–6 DE 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 do vendedor deve estar ligada preferencialmente a: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enviada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ativo e pagando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feita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 feita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plataforma, um consultor vê: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a própria carteira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clientes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usinas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038844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76004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176004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propostas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SUAS RESPOSTAS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Gabarito do 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Comércio/serviço do grupo B com consumo alto e estável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leads que não compraram sistema por falta de telhado ou capital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a conta total, incluindo o que continua sendo pago à distribuidora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88620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99592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não, o cliente continua na distribuidora e recebe créditos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22064" y="388620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99592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cliente ativo e pagando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095488" y="388620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78368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8278368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872728" y="399592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só a própria carteira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Fechamento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DO MÓDULO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 e entregue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Uma academia trifásica com média de 6.200 kWh/mês: cota ideal com margem de 95%? (R: (6.200 − 100) × 0,95 ≈ 5.795 kWh)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Quantas academias como essa cabem na Sol Nascente I (60.000 kWh)?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Escreva a resposta para a objeção "vou pagar duas contas?" em até 3 frases.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2200" y="1325880"/>
            <a:ext cx="5468112" cy="4937760"/>
          </a:xfrm>
          <a:prstGeom prst="roundRect">
            <a:avLst>
              <a:gd name="adj" fmla="val 1852"/>
            </a:avLst>
          </a:prstGeom>
          <a:solidFill>
            <a:srgbClr val="1B3A6B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554480"/>
            <a:ext cx="4828032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MÓDULO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Primeiros clientes da minha empresa: 5 clientes fictícios do seu ICP cadastrados com UC e proposta (pelo menos 2 empresas B3 e 2 residências), com cota calculada e economia estimada; e o roteiro de abordagem do seu vendedor (uma página).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GD Solar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— Comercial: do lead à proposta</dc:title>
  <dc:subject>PptxGenJS Presentation</dc:subject>
  <dc:creator>PptxGenJS</dc:creator>
  <cp:lastModifiedBy>PptxGenJS</cp:lastModifiedBy>
  <cp:revision>1</cp:revision>
  <dcterms:created xsi:type="dcterms:W3CDTF">2026-10-30T13:18:27Z</dcterms:created>
  <dcterms:modified xsi:type="dcterms:W3CDTF">2026-10-30T13:18:27Z</dcterms:modified>
</cp:coreProperties>
</file>