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Abertura (0:00–0:40)
Visual: APRESENTADOR.
Narração:
Em vez de aprender com exemplos soltos, você vai construir uma empresa do início ao fim. A cada módulo, você acrescenta uma peça. No final, você tem uma operação completa funcionando no laboratório — e um plano que pode virar a sua empresa de verdade. Nesta aula, a gente define essa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Os dados-padrão do laboratório (0:40–2:20)
Visual: SLIDE com cartões: "Distribuidora Exemplo", "UFV Sol Nascente I — 500 kWp", "Padaria", "Clínica", "Residência".
Narração:
O seu laboratório já começa com alguns dados de exemplo, iguais para todos os alunos, para que as aulas em vídeo batam exatamente com o que você vê. Tem uma distribuidora de exemplo, com a tarifa cadastrada. Tem uma usina de referência, a UFV Sol Nascente I, com quinhentos quilowatts-pico e geração média de sessenta mil quilowatts-hora por mês — não se preocupe com esses termos agora, eles são o assunto do próximo módulo. E tem três clientes de exemplo: uma padaria, uma clínica e uma residência. Nas aulas, a gente vai usar esses exemplos para aprender. E você vai criar, por cima deles, a sua própria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Definindo a sua empresa (2:20–5:00)
Visual: SLIDE com a "Ficha da minha empresa" sendo preenchida campo a campo.
Narração:
Agora pegue o modelo da ficha da sua empresa, que está nos materiais desta aula. São cinco campos. Primeiro, o nome da sua empresa. Pode ser um nome de teste ou o nome que você pretende usar de verdade. Segundo, a cidade e o estado onde você vai atuar. Isso importa muito, porque a geração distribuída funciona dentro da área de uma distribuidora: a usina e os clientes precisam estar na área da mesma distribuidora. Então, terceiro campo: qual é a distribuidora da sua região. Se não souber, olhe a sua própria conta de luz, o nome está no topo. Quarto, o seu perfil: você está começando do zero ou já tem uma empresa de energia solar? E quinto, uma meta para doze meses: quantas usinas, quantos clientes. Não precisa ser precisa. É um ponto de partida que a gente vai testar com números no módulo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Exemplo preenchido (5:00–6:30)
Visual: SLIDE com a ficha exemplo.
Narração:
Veja um exemplo. A Solaris Assinaturas, empresa fictícia, vai atuar em Maringá, no Paraná, na área da distribuidora do estado. O perfil é de uma integradora com seis anos de mercado, que já instalou centenas de sistemas e quer começar a vender assinaturas. A meta para doze meses é ter uma usina de um megawatt e trezentos clientes. Será que essa meta é coerente? Uma usina de um megawatt atende trezentos clientes? Qual tipo de cliente? Quanto essa empresa fatura por mês? Você ainda não precisa saber responder. Ao longo dos próximos módulos, você vai ganhar as ferramentas para responder isso com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[ANIMAÇÃO] O caminho até o projeto final (6:30–7:40)
Visual: ANIMAÇÃO de uma linha do tempo com os módulos e o que cada um acrescenta: M3 conta do negócio, M4 usina, M5 propostas, M6 contratos e alocação, M7 faturas, M8 cobranças, M9 rotina, M10 relatórios, M11 plano, M12 projeto.
Narração:
Olhe o caminho. No módulo 3, você faz a conta do seu modelo de negócio. No 4, cadastra a sua usina e o produtor. No 5, faz as propostas para os primeiros clientes. No 6, contratos e distribuição da energia. No 7, recebe e confere as faturas. No 8, cobra e recebe. No 9, monta a rotina mensal. No 10, mede tudo com indicadores. No 11, fecha o plano de negócio. E no 12, apresenta a sua operação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Encerramento (7:40–8:00)
Visual: APRESENTADOR.
Narração:
Preencha a sua ficha e poste na comunidade. Vale a pena ver as empresas dos colegas — você vai encontrar gente da sua região e do seu perfil. No próximo módulo, começamos do começo: o que é energia, o que é um quilowatt-hora e como funciona a geração solar.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F7A4D"/>
          </a:solidFill>
          <a:ln/>
        </p:spPr>
      </p:sp>
      <p:sp>
        <p:nvSpPr>
          <p:cNvPr id="3" name="Shape 1"/>
          <p:cNvSpPr/>
          <p:nvPr/>
        </p:nvSpPr>
        <p:spPr>
          <a:xfrm>
            <a:off x="320040" y="0"/>
            <a:ext cx="109728" cy="6858000"/>
          </a:xfrm>
          <a:prstGeom prst="rect">
            <a:avLst/>
          </a:prstGeom>
          <a:solidFill>
            <a:srgbClr val="F5B700"/>
          </a:solidFill>
          <a:ln/>
        </p:spPr>
      </p:sp>
      <p:sp>
        <p:nvSpPr>
          <p:cNvPr id="4" name="Text 2"/>
          <p:cNvSpPr/>
          <p:nvPr/>
        </p:nvSpPr>
        <p:spPr>
          <a:xfrm>
            <a:off x="914400" y="640080"/>
            <a:ext cx="10058400" cy="457200"/>
          </a:xfrm>
          <a:prstGeom prst="rect">
            <a:avLst/>
          </a:prstGeom>
          <a:noFill/>
          <a:ln/>
        </p:spPr>
        <p:txBody>
          <a:bodyPr wrap="square" rtlCol="0" anchor="ctr"/>
          <a:lstStyle/>
          <a:p>
            <a:pPr indent="0" marL="0">
              <a:buNone/>
            </a:pPr>
            <a:r>
              <a:rPr lang="en-US" sz="1600" b="1" spc="200" kern="0" dirty="0">
                <a:solidFill>
                  <a:srgbClr val="F5B700"/>
                </a:solidFill>
                <a:latin typeface="Arial" pitchFamily="34" charset="0"/>
                <a:ea typeface="Arial" pitchFamily="34" charset="-122"/>
                <a:cs typeface="Arial" pitchFamily="34" charset="-120"/>
              </a:rPr>
              <a:t>FORMAÇÃO EM ENERGIA POR ASSINATURA</a:t>
            </a:r>
            <a:endParaRPr lang="en-US" sz="1600" dirty="0"/>
          </a:p>
        </p:txBody>
      </p:sp>
      <p:sp>
        <p:nvSpPr>
          <p:cNvPr id="5" name="Text 3"/>
          <p:cNvSpPr/>
          <p:nvPr/>
        </p:nvSpPr>
        <p:spPr>
          <a:xfrm>
            <a:off x="914400" y="1828800"/>
            <a:ext cx="10058400" cy="548640"/>
          </a:xfrm>
          <a:prstGeom prst="rect">
            <a:avLst/>
          </a:prstGeom>
          <a:noFill/>
          <a:ln/>
        </p:spPr>
        <p:txBody>
          <a:bodyPr wrap="square" rtlCol="0" anchor="ctr"/>
          <a:lstStyle/>
          <a:p>
            <a:pPr indent="0" marL="0">
              <a:buNone/>
            </a:pPr>
            <a:r>
              <a:rPr lang="en-US" sz="2200" dirty="0">
                <a:solidFill>
                  <a:srgbClr val="C9CDD2"/>
                </a:solidFill>
                <a:latin typeface="Arial" pitchFamily="34" charset="0"/>
                <a:ea typeface="Arial" pitchFamily="34" charset="-122"/>
                <a:cs typeface="Arial" pitchFamily="34" charset="-120"/>
              </a:rPr>
              <a:t>M0 · Aula 4</a:t>
            </a:r>
            <a:endParaRPr lang="en-US" sz="2200" dirty="0"/>
          </a:p>
        </p:txBody>
      </p:sp>
      <p:sp>
        <p:nvSpPr>
          <p:cNvPr id="6" name="Text 4"/>
          <p:cNvSpPr/>
          <p:nvPr/>
        </p:nvSpPr>
        <p:spPr>
          <a:xfrm>
            <a:off x="914400" y="2377440"/>
            <a:ext cx="10332720" cy="173736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O caso contínuo: a sua empresa de assinatura</a:t>
            </a:r>
            <a:endParaRPr lang="en-US" sz="4000" dirty="0"/>
          </a:p>
        </p:txBody>
      </p:sp>
      <p:sp>
        <p:nvSpPr>
          <p:cNvPr id="7" name="Text 5"/>
          <p:cNvSpPr/>
          <p:nvPr/>
        </p:nvSpPr>
        <p:spPr>
          <a:xfrm>
            <a:off x="914400" y="4297680"/>
            <a:ext cx="10332720" cy="914400"/>
          </a:xfrm>
          <a:prstGeom prst="rect">
            <a:avLst/>
          </a:prstGeom>
          <a:noFill/>
          <a:ln/>
        </p:spPr>
        <p:txBody>
          <a:bodyPr wrap="square" rtlCol="0" anchor="t">
            <a:normAutofit/>
          </a:bodyPr>
          <a:lstStyle/>
          <a:p>
            <a:pPr indent="0" marL="0">
              <a:buNone/>
            </a:pPr>
            <a:r>
              <a:rPr lang="en-US" sz="1800" dirty="0">
                <a:solidFill>
                  <a:srgbClr val="C9CDD2"/>
                </a:solidFill>
                <a:latin typeface="Arial" pitchFamily="34" charset="0"/>
                <a:ea typeface="Arial" pitchFamily="34" charset="-122"/>
                <a:cs typeface="Arial" pitchFamily="34" charset="-120"/>
              </a:rPr>
              <a:t>Definir a empresa fictícia do aluno e apresentar o caminho até o projeto final</a:t>
            </a:r>
            <a:endParaRPr lang="en-US" sz="1800" dirty="0"/>
          </a:p>
        </p:txBody>
      </p:sp>
      <p:sp>
        <p:nvSpPr>
          <p:cNvPr id="8" name="Shape 6"/>
          <p:cNvSpPr/>
          <p:nvPr/>
        </p:nvSpPr>
        <p:spPr>
          <a:xfrm>
            <a:off x="9692640" y="5806440"/>
            <a:ext cx="2194560" cy="777240"/>
          </a:xfrm>
          <a:prstGeom prst="roundRect">
            <a:avLst>
              <a:gd name="adj" fmla="val 11765"/>
            </a:avLst>
          </a:prstGeom>
          <a:solidFill>
            <a:srgbClr val="FFFFFF"/>
          </a:solidFill>
          <a:ln/>
        </p:spPr>
      </p:sp>
      <p:pic>
        <p:nvPicPr>
          <p:cNvPr id="9" name="Image 0" descr="/www/wwwroot/rexar/gdsolar/docs/curso/slides/assets/logo-rexar.png">    </p:cNvPr>
          <p:cNvPicPr>
            <a:picLocks noChangeAspect="1"/>
          </p:cNvPicPr>
          <p:nvPr/>
        </p:nvPicPr>
        <p:blipFill>
          <a:blip r:embed="rId1"/>
          <a:stretch>
            <a:fillRect/>
          </a:stretch>
        </p:blipFill>
        <p:spPr>
          <a:xfrm>
            <a:off x="9829800" y="5879592"/>
            <a:ext cx="1920240" cy="630936"/>
          </a:xfrm>
          <a:prstGeom prst="rect">
            <a:avLst/>
          </a:prstGeom>
        </p:spPr>
      </p:pic>
      <p:sp>
        <p:nvSpPr>
          <p:cNvPr id="10" name="Text 7"/>
          <p:cNvSpPr/>
          <p:nvPr/>
        </p:nvSpPr>
        <p:spPr>
          <a:xfrm>
            <a:off x="914400" y="5989320"/>
            <a:ext cx="8229600" cy="365760"/>
          </a:xfrm>
          <a:prstGeom prst="rect">
            <a:avLst/>
          </a:prstGeom>
          <a:noFill/>
          <a:ln/>
        </p:spPr>
        <p:txBody>
          <a:bodyPr wrap="square" rtlCol="0" anchor="ctr"/>
          <a:lstStyle/>
          <a:p>
            <a:pPr indent="0" marL="0">
              <a:buNone/>
            </a:pPr>
            <a:r>
              <a:rPr lang="en-US" sz="1200" dirty="0">
                <a:solidFill>
                  <a:srgbClr val="C9CDD2"/>
                </a:solidFill>
                <a:latin typeface="Arial" pitchFamily="34" charset="0"/>
                <a:ea typeface="Arial" pitchFamily="34" charset="-122"/>
                <a:cs typeface="Arial" pitchFamily="34" charset="-120"/>
              </a:rPr>
              <a:t>Geração distribuída compartilhada, da regulação à operação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M0 · Aula 4 · Cena 1</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Você vai construir uma empresa — peça por peça</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M0 · Aula 4 · Cena 2</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Os dados-padrão do laboratório</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Ponto de partida: 1 distribuidora</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1 usina de referência</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3 clientes-exemplo</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M0 · Aula 4 · Cena 3</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Definindo a sua empresa</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 Nome da empresa (fictício)</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 Cidade e estado de atuação</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 Distribuidora da região</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 Perfil: começando do zero / já tenho empresa solar</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 Meta de 12 meses: usinas, clientes, kWh</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M0 · Aula 4 · Cena 4</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Exemplo preenchido</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 Solaris Assinaturas (fictícia)</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 Maringá – PR</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 Distribuidora da região: a do estado</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 Empresa solar (integradora com 6 anos)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- 12 meses: 1 usina de 1 MW, 300 clientes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M0 · Aula 4 · Cena 5</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 caminho até o projeto final</a:t>
            </a:r>
            <a:endParaRPr lang="en-US" sz="2800" dirty="0"/>
          </a:p>
        </p:txBody>
      </p:sp>
      <p:sp>
        <p:nvSpPr>
          <p:cNvPr id="7" name="Text 4"/>
          <p:cNvSpPr/>
          <p:nvPr/>
        </p:nvSpPr>
        <p:spPr>
          <a:xfrm>
            <a:off x="731520" y="1234440"/>
            <a:ext cx="10698480" cy="4937760"/>
          </a:xfrm>
          <a:prstGeom prst="rect">
            <a:avLst/>
          </a:prstGeom>
          <a:noFill/>
          <a:ln/>
        </p:spPr>
        <p:txBody>
          <a:bodyPr wrap="square" rtlCol="0" anchor="ctr">
            <a:normAutofit/>
          </a:bodyPr>
          <a:lstStyle/>
          <a:p>
            <a:pPr algn="ctr" indent="0" marL="0">
              <a:buNone/>
            </a:pPr>
            <a:r>
              <a:rPr lang="en-US" sz="3000" b="1" dirty="0">
                <a:solidFill>
                  <a:srgbClr val="1F7A4D"/>
                </a:solidFill>
                <a:latin typeface="Arial" pitchFamily="34" charset="0"/>
                <a:ea typeface="Arial" pitchFamily="34" charset="-122"/>
                <a:cs typeface="Arial" pitchFamily="34" charset="-120"/>
              </a:rPr>
              <a:t>Cada módulo = uma peça da sua empresa</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M0 · Aula 4 · Cena 6</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Entregável: poste a ficha da sua empresa na comunidade  ·  Próximo: M1</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Rexar Sistemas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M0 · Aula 4 — O caso contínuo: a sua empresa de assinatura</dc:title>
  <dc:subject>PptxGenJS Presentation</dc:subject>
  <dc:creator>PptxGenJS</dc:creator>
  <cp:lastModifiedBy>PptxGenJS</cp:lastModifiedBy>
  <cp:revision>1</cp:revision>
  <dcterms:created xsi:type="dcterms:W3CDTF">2026-10-30T10:46:06Z</dcterms:created>
  <dcterms:modified xsi:type="dcterms:W3CDTF">2026-10-30T10:46:06Z</dcterms:modified>
</cp:coreProperties>
</file>