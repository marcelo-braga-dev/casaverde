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(0:00–0:50)
Visual: APRESENTADOR em plano médio, fundo neutro com elementos de energia solar desfocados.
Narração:
Seja muito bem-vindo. Se você está aqui, provavelmente já ouviu falar de empresas que oferecem energia solar por assinatura: o cliente não instala nenhum painel no telhado, não investe nada, e mesmo assim passa a pagar menos pela energia todo mês. Talvez você queira abrir uma empresa assim. Ou talvez você já tenha uma empresa de energia solar, venda e instale sistemas, e esteja procurando uma receita que não dependa da próxima venda. Nos dois casos, este curso foi feito para você. Aqui você vai aprender, do zero, como funciona esse negócio, como fazer a conta para saber se ele dá lucro e, principalmente, como operar uma empresa dessas na prática, mês após mês.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O negócio em uma imagem (0:50–2:40)
Visual: ANIMAÇÃO em três blocos ligados por setas: "Usina solar (produtor)" → "Distribuidora (rede)" → "Clientes (assinantes)". No centro, "Sua empresa" conectando tudo.
Narração:
Vamos começar com a imagem do negócio inteiro. De um lado, existe uma usina solar. Ela pode ser sua, pode ser de um parceiro, pode ser de um dono de terreno que construiu a usina como investimento. Essa usina injeta energia na rede da distribuidora, aquela empresa que entrega a energia na sua casa. Do outro lado estão os clientes: residências, comércios, pequenas empresas. A energia que a usina injeta vira créditos, e esses créditos são distribuídos entre os clientes. Na conta de luz do cliente, esses créditos abatem o consumo. O cliente passa a pagar bem menos para a distribuidora. E, em troca, paga uma mensalidade para a sua empresa — sempre menor do que a economia que ele teve. Esse é o coração da assinatura de energia: o cliente economiza, o dono da usina recebe pela energia gerada, e a sua empresa ganha por organizar tudo isso. Tudo isso é permitido e regulado por lei, a Lei 14.300 de 2022, que vamos estudar em detalhe no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Por que é um bom negócio (2:40–4:20)
Visual: SLIDE com três ícones: calendário (recorrência), gráfico (escala), aperto de mãos (todos ganham).
Narração:
Por que tanta gente está entrando nesse mercado? Três motivos. Primeiro, a receita é recorrente: um cliente que assina hoje paga todo mês, por anos, enquanto o contrato estiver ativo. É muito diferente de vender um sistema solar, receber uma vez e precisar vender de novo. Segundo, o negócio escala: a mesma estrutura que atende cinquenta clientes atende quinhentos, desde que você tenha processos e um bom sistema. E terceiro, todo mundo ganha: o cliente economiza sem investir, o produtor tem renda com a usina e a sua empresa tem margem. Agora, atenção: um negócio bom não é um negócio fácil. Existem regras, existe o custo da rede que vem subindo ano a ano, existe inadimplência, existe a operação mensal de faturas e cobranças. Quem ignora isso quebra. Quem domina isso constrói uma empresa sólida. É isso que vamos fazer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que você vai saber fazer (4:20–6:20)
Visual: SLIDE com lista que aparece item a item.
Narração:
Ao final do curso, você vai saber fazer sete coisas. Ler qualquer conta de luz com energia compensada e explicar cada linha para o seu cliente. Fazer a conta do quilowatt-hora: quanto o cliente economiza, quanto o dono da usina recebe e quanto fica para a sua empresa. Montar propostas comerciais, tanto para quem consome energia quanto para quem tem uma usina. Distribuir a energia de uma usina entre vários clientes sem prometer mais energia do que ela gera — um erro que já quebrou empresas. Fechar o mês: receber as faturas da distribuidora, conferir, gerar as cobranças e receber por Pix ou boleto. Medir o negócio com os indicadores certos. E, por fim, montar o plano da sua empresa em uma página, com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[TELA] Aprender fazendo: a plataforma (6:20–7:50)
Visual: TELA — tour rápido (sem cliques detalhados) pelo dashboard do administrador da plataforma de laboratório, depois a tela de uma cobrança com Pix. Gravar 60–80 s.
Narração:
E aqui está o grande diferencial deste curso: você não vai aprender só em slides. Você vai praticar numa plataforma profissional de gestão de geração distribuída, a mesma usada numa operação real de assinatura de energia. Cada aluno recebe um ambiente de laboratório, com dados fictícios, onde vai cadastrar usinas, clientes, propostas, receber faturas, gerar cobranças e emitir Pix. É como um simulador de voo para a sua empresa: você erra aqui, aprende aqui, e chega no mundo real sabendo exatamente o que fazer.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Para quem é e encerramento (7:50–9:00)
Visual: APRESENTADOR.
Narração:
Este curso é para empreendedores. Se você está começando do zero, sem conhecer o setor elétrico, não se preocupe: vamos começar do básico, do que é um quilowatt-hora. Se você já trabalha com energia solar, as primeiras aulas vão ser uma revisão rápida, e o curso vai ganhar velocidade nos módulos de negócio e operação, que é onde a assinatura é muito diferente da venda de sistemas. O que este curso não é: não é curso de instalação nem de projeto elétrico. Para isso, você vai contar com parceiros técnicos, e vamos falar sobre como escolhê-los. Na próxima aula, eu mostro como o curso está organizado e como tirar o máximo proveito dele. Até já.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M0 · Aula 1</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Boas-vindas: o que você vai construir</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Apresentar o negócio de assinatura de energia, a promessa do curso e o resultado final</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1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Empresa de Assinatura de Energia Solar — do zero à operação</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1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negócio em uma imagem</a:t>
            </a:r>
            <a:endParaRPr lang="en-US" sz="2800" dirty="0"/>
          </a:p>
        </p:txBody>
      </p:sp>
      <p:sp>
        <p:nvSpPr>
          <p:cNvPr id="7" name="Shape 4"/>
          <p:cNvSpPr/>
          <p:nvPr/>
        </p:nvSpPr>
        <p:spPr>
          <a:xfrm>
            <a:off x="548640" y="2377440"/>
            <a:ext cx="2457450" cy="1554480"/>
          </a:xfrm>
          <a:prstGeom prst="roundRect">
            <a:avLst>
              <a:gd name="adj" fmla="val 7059"/>
            </a:avLst>
          </a:prstGeom>
          <a:solidFill>
            <a:srgbClr val="FFFFFF"/>
          </a:solidFill>
          <a:ln w="19050">
            <a:solidFill>
              <a:srgbClr val="1F7A4D"/>
            </a:solidFill>
            <a:prstDash val="solid"/>
          </a:ln>
        </p:spPr>
      </p:sp>
      <p:sp>
        <p:nvSpPr>
          <p:cNvPr id="8" name="Text 5"/>
          <p:cNvSpPr/>
          <p:nvPr/>
        </p:nvSpPr>
        <p:spPr>
          <a:xfrm>
            <a:off x="64008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Usina gera</a:t>
            </a:r>
            <a:endParaRPr lang="en-US" sz="1600" dirty="0"/>
          </a:p>
        </p:txBody>
      </p:sp>
      <p:sp>
        <p:nvSpPr>
          <p:cNvPr id="9" name="Text 6"/>
          <p:cNvSpPr/>
          <p:nvPr/>
        </p:nvSpPr>
        <p:spPr>
          <a:xfrm>
            <a:off x="300609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417570" y="2377440"/>
            <a:ext cx="2457450" cy="1554480"/>
          </a:xfrm>
          <a:prstGeom prst="roundRect">
            <a:avLst>
              <a:gd name="adj" fmla="val 7059"/>
            </a:avLst>
          </a:prstGeom>
          <a:solidFill>
            <a:srgbClr val="FFFFFF"/>
          </a:solidFill>
          <a:ln w="19050">
            <a:solidFill>
              <a:srgbClr val="1F7A4D"/>
            </a:solidFill>
            <a:prstDash val="solid"/>
          </a:ln>
        </p:spPr>
      </p:sp>
      <p:sp>
        <p:nvSpPr>
          <p:cNvPr id="11" name="Text 8"/>
          <p:cNvSpPr/>
          <p:nvPr/>
        </p:nvSpPr>
        <p:spPr>
          <a:xfrm>
            <a:off x="350901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rede distribui</a:t>
            </a:r>
            <a:endParaRPr lang="en-US" sz="1600" dirty="0"/>
          </a:p>
        </p:txBody>
      </p:sp>
      <p:sp>
        <p:nvSpPr>
          <p:cNvPr id="12" name="Text 9"/>
          <p:cNvSpPr/>
          <p:nvPr/>
        </p:nvSpPr>
        <p:spPr>
          <a:xfrm>
            <a:off x="587502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6286500" y="2377440"/>
            <a:ext cx="2457450" cy="1554480"/>
          </a:xfrm>
          <a:prstGeom prst="roundRect">
            <a:avLst>
              <a:gd name="adj" fmla="val 7059"/>
            </a:avLst>
          </a:prstGeom>
          <a:solidFill>
            <a:srgbClr val="FFFFFF"/>
          </a:solidFill>
          <a:ln w="19050">
            <a:solidFill>
              <a:srgbClr val="1F7A4D"/>
            </a:solidFill>
            <a:prstDash val="solid"/>
          </a:ln>
        </p:spPr>
      </p:sp>
      <p:sp>
        <p:nvSpPr>
          <p:cNvPr id="14" name="Text 11"/>
          <p:cNvSpPr/>
          <p:nvPr/>
        </p:nvSpPr>
        <p:spPr>
          <a:xfrm>
            <a:off x="637794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cliente recebe créditos</a:t>
            </a:r>
            <a:endParaRPr lang="en-US" sz="1600" dirty="0"/>
          </a:p>
        </p:txBody>
      </p:sp>
      <p:sp>
        <p:nvSpPr>
          <p:cNvPr id="15" name="Text 12"/>
          <p:cNvSpPr/>
          <p:nvPr/>
        </p:nvSpPr>
        <p:spPr>
          <a:xfrm>
            <a:off x="874395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6" name="Shape 13"/>
          <p:cNvSpPr/>
          <p:nvPr/>
        </p:nvSpPr>
        <p:spPr>
          <a:xfrm>
            <a:off x="9155430" y="2377440"/>
            <a:ext cx="2457450" cy="1554480"/>
          </a:xfrm>
          <a:prstGeom prst="roundRect">
            <a:avLst>
              <a:gd name="adj" fmla="val 7059"/>
            </a:avLst>
          </a:prstGeom>
          <a:solidFill>
            <a:srgbClr val="1F7A4D"/>
          </a:solidFill>
          <a:ln w="19050">
            <a:solidFill>
              <a:srgbClr val="1F7A4D"/>
            </a:solidFill>
            <a:prstDash val="solid"/>
          </a:ln>
        </p:spPr>
      </p:sp>
      <p:sp>
        <p:nvSpPr>
          <p:cNvPr id="17" name="Text 14"/>
          <p:cNvSpPr/>
          <p:nvPr/>
        </p:nvSpPr>
        <p:spPr>
          <a:xfrm>
            <a:off x="9246870" y="2377440"/>
            <a:ext cx="2274570" cy="1554480"/>
          </a:xfrm>
          <a:prstGeom prst="rect">
            <a:avLst/>
          </a:prstGeom>
          <a:noFill/>
          <a:ln/>
        </p:spPr>
        <p:txBody>
          <a:bodyPr wrap="square"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sua empresa organiza e cobra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1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Por que é um bom negócio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Recorrente</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Escalável</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Todos ganham</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1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que você vai saber fazer</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500" dirty="0">
                <a:solidFill>
                  <a:srgbClr val="2B2F33"/>
                </a:solidFill>
                <a:latin typeface="Arial" pitchFamily="34" charset="0"/>
                <a:ea typeface="Arial" pitchFamily="34" charset="-122"/>
                <a:cs typeface="Arial" pitchFamily="34" charset="-120"/>
              </a:rPr>
              <a:t>1. Ler qualquer conta de luz com energia compensada</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2. Fazer a conta do kWh: cliente, produtor e sua empresa</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3. Montar propostas para clientes e donos de usina</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4. Distribuir a energia da usina sem vender o que não existe</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5. Fechar o mês: faturas, cobranças, Pix e boleto</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6. Medir o negócio com indicadores e relatórios</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7. Montar o plano da sua empresa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C9CDD2"/>
                </a:solidFill>
                <a:latin typeface="Arial" pitchFamily="34" charset="0"/>
                <a:ea typeface="Arial" pitchFamily="34" charset="-122"/>
                <a:cs typeface="Arial" pitchFamily="34" charset="-120"/>
              </a:rPr>
              <a:t>Formação em Energia por Assinatura  ·  M0 · Aula 1 · Cena 5</a:t>
            </a:r>
            <a:endParaRPr lang="en-US" sz="1000" dirty="0"/>
          </a:p>
        </p:txBody>
      </p:sp>
      <p:sp>
        <p:nvSpPr>
          <p:cNvPr id="5"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Aprender fazendo: a plataforma</a:t>
            </a:r>
            <a:endParaRPr lang="en-US" sz="2800" dirty="0"/>
          </a:p>
        </p:txBody>
      </p:sp>
      <p:sp>
        <p:nvSpPr>
          <p:cNvPr id="6" name="Shape 4"/>
          <p:cNvSpPr/>
          <p:nvPr/>
        </p:nvSpPr>
        <p:spPr>
          <a:xfrm>
            <a:off x="548640" y="1234440"/>
            <a:ext cx="11064240" cy="3566160"/>
          </a:xfrm>
          <a:prstGeom prst="roundRect">
            <a:avLst>
              <a:gd name="adj" fmla="val 2564"/>
            </a:avLst>
          </a:prstGeom>
          <a:solidFill>
            <a:srgbClr val="1E2125"/>
          </a:solidFill>
          <a:ln w="19050">
            <a:solidFill>
              <a:srgbClr val="F5B700"/>
            </a:solidFill>
            <a:prstDash val="dash"/>
          </a:ln>
        </p:spPr>
      </p:sp>
      <p:sp>
        <p:nvSpPr>
          <p:cNvPr id="7" name="Text 5"/>
          <p:cNvSpPr/>
          <p:nvPr/>
        </p:nvSpPr>
        <p:spPr>
          <a:xfrm>
            <a:off x="822960" y="1371600"/>
            <a:ext cx="10515600" cy="3291840"/>
          </a:xfrm>
          <a:prstGeom prst="rect">
            <a:avLst/>
          </a:prstGeom>
          <a:noFill/>
          <a:ln/>
        </p:spPr>
        <p:txBody>
          <a:bodyPr wrap="square" rtlCol="0" anchor="t">
            <a:normAutofit/>
          </a:bodyPr>
          <a:lstStyle/>
          <a:p>
            <a:pPr indent="0" marL="0">
              <a:buNone/>
            </a:pPr>
            <a:r>
              <a:rPr lang="en-US" sz="1600" b="1" dirty="0">
                <a:solidFill>
                  <a:srgbClr val="F5B700"/>
                </a:solidFill>
                <a:latin typeface="Arial" pitchFamily="34" charset="0"/>
                <a:ea typeface="Arial" pitchFamily="34" charset="-122"/>
                <a:cs typeface="Arial" pitchFamily="34" charset="-120"/>
              </a:rPr>
              <a:t>▶ GRAVAÇÃO DE TELA DA PLATAFORMA
</a:t>
            </a:r>
            <a:pPr indent="0" marL="0">
              <a:buNone/>
            </a:pPr>
            <a:r>
              <a:rPr lang="en-US" sz="1300" dirty="0">
                <a:solidFill>
                  <a:srgbClr val="D1D5DB"/>
                </a:solidFill>
                <a:latin typeface="Arial" pitchFamily="34" charset="0"/>
                <a:ea typeface="Arial" pitchFamily="34" charset="-122"/>
                <a:cs typeface="Arial" pitchFamily="34" charset="-120"/>
              </a:rPr>
              <a:t>tour rápido (sem cliques detalhados) pelo dashboard do administrador da plataforma de laboratório, depois a tela de uma cobrança com Pix. Gravar 60–80 s.</a:t>
            </a:r>
            <a:endParaRPr lang="en-US" sz="1600" dirty="0"/>
          </a:p>
        </p:txBody>
      </p:sp>
      <p:sp>
        <p:nvSpPr>
          <p:cNvPr id="8" name="Text 6"/>
          <p:cNvSpPr/>
          <p:nvPr/>
        </p:nvSpPr>
        <p:spPr>
          <a:xfrm>
            <a:off x="548640" y="4983480"/>
            <a:ext cx="11064240" cy="1097280"/>
          </a:xfrm>
          <a:prstGeom prst="rect">
            <a:avLst/>
          </a:prstGeom>
          <a:solidFill>
            <a:srgbClr val="1F7A4D"/>
          </a:solidFill>
          <a:ln/>
        </p:spPr>
        <p:txBody>
          <a:bodyPr wrap="square" rtlCol="0" anchor="ctr">
            <a:normAutofit/>
          </a:bodyPr>
          <a:lstStyle/>
          <a:p>
            <a:pPr algn="ctr" indent="0" marL="0">
              <a:buNone/>
            </a:pPr>
            <a:r>
              <a:rPr lang="en-US" sz="2000" b="1" dirty="0">
                <a:solidFill>
                  <a:srgbClr val="FFFFFF"/>
                </a:solidFill>
                <a:latin typeface="Arial" pitchFamily="34" charset="0"/>
                <a:ea typeface="Arial" pitchFamily="34" charset="-122"/>
                <a:cs typeface="Arial" pitchFamily="34" charset="-120"/>
              </a:rPr>
              <a:t>Você vai praticar numa plataforma real</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M0 · Aula 1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Próxima aula: como o curso funciona</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M0 · Aula 1 — Boas-vindas: o que você vai construir</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