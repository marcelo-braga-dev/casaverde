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Abertura (0:00–0:40)
Visual: APRESENTADOR segurando uma fatura impressa.
Narração:
Todo mês, a sua receita nasce de um documento que não é seu: a fatura que a distribuidora emite para cada cliente. É nela que aparece quanta energia foi compensada e quanto isso vale. Se você não souber ler a fatura, não sabe se está cobrando certo. No módulo 1, você leu uma fatura comum. Agora, vamos ler uma fatura com compensação, linha por linha.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Os blocos da fatura (0:40–3:00)
Visual: SLIDE com uma fatura fictícia dividida em blocos coloridos: identificação, consumo/leitura, itens faturados, tributos, informações de GD, histórico.
Narração:
Uma fatura com geração distribuída tem os mesmos blocos de uma fatura comum, mais um. Identificação: titular, unidade consumidora, classe, endereço. Leitura e consumo: as leituras do medidor e o consumo do mês. Itens faturados: as linhas com quantidade, tarifa e valor. Tributos. O histórico de consumo. E o bloco novo: as informações da geração distribuída, onde a distribuidora informa os créditos recebidos, os créditos utilizados e o saldo acumulado. Cada distribuidora organiza e nomeia isso do seu jeito, mas os conceitos são sempre os mesmos.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As linhas de compensação (3:00–7:00)
Visual: SLIDE com recorte ampliado dos itens faturados da fatura fictícia da Padaria: "Consumo TE 2.500 kWh … R$ +"; "Consumo TUSD 2.500 kWh … R$ +"; "ENERGIA INJ. OUC MPT TE 2.400 kWh … R$ −"; "ENERGIA INJ. OUC MPT TUS 2.400 kWh … R$ −"; "ENERGIA INJ. BAND. … R$ −".
Narração:
Olhe os itens faturados da padaria. Primeiro aparecem as linhas de consumo: dois mil e quinhentos quilowatts-hora, com a parcela de energia, a TE, e a parcela de uso da rede, a TUSD, com valores positivos — é o que ela pagaria sem geração distribuída. Logo abaixo, aparecem as linhas de energia injetada, ou compensada: dois mil e quatrocentos quilowatts-hora, também separados em TE e TUSD, e às vezes a bandeira, com valores negativos. São os créditos abatendo o consumo. No layout da nossa distribuidora de referência, essas linhas começam com "Energia Inj. OUC MPT", que quer dizer energia injetada em outra unidade consumidora, no mesmo posto tarifário — ou seja, créditos vindos de uma usina em outro endereço. Em outras distribuidoras, você vai ver nomes como "energia compensada" ou "injeção SCEE", do sistema de compensação de energia elétrica. Repare num detalhe importante: o valor negativo da TUSD compensada é menor do que o valor positivo da TUSD consumida, por quilowatt-hora. A diferença é justamente a parcela do Fio B que não é compensada para usinas GD dois — aquela transição que você estudou.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[QUADRO] Consumo injetado: o número que importa (7:00–9:40)
Visual: QUADRO.
Narração:
De todas essas linhas, um número é o mais importante para você: o valor total da energia compensada, que a plataforma chama de consumo injetado. É a soma, em reais, das linhas de compensação — TE, TUSD e bandeira. No exemplo, dois mil, cento e dezenove reais. Esse é o valor que o cliente deixou de pagar à distribuidora graças aos créditos. A sua cobrança parte dele: aplica a margem de desconto do cliente, vinte por cento, e chega a mil, seiscentos e noventa e cinco reais e vinte centavos. Por isso a plataforma cobra sobre o consumo injetado, e não sobre o valor total da fatura: o valor total inclui coisas que não têm nada a ver com a sua operação, como a iluminação pública, multas da distribuidora e o consumo que ficou descoberto.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O bloco de informações da GD (9:40–11:40)
Visual: SLIDE com recorte do bloco de GD: "Créditos recebidos no mês · Créditos utilizados · Saldo anterior · Saldo atual · Créditos a expirar".
Narração:
Por fim, o bloco de informações da geração distribuída. Ele mostra quantos créditos a unidade recebeu no mês, quantos foram utilizados, o saldo anterior, o saldo atual e, em muitas distribuidoras, os créditos que vão expirar nos próximos meses. Esse bloco é o seu termômetro. Saldo crescendo mês a mês significa que a cota do cliente está alta demais. Créditos recebidos abaixo do esperado significam que algo aconteceu no rateio ou na geração. Créditos a expirar exigem ação imediata, como reduzir a cota ou, se o contrato permitir, redistribuir.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[APRESENTADOR] Resumo (11:40–13:00)
Visual: APRESENTADOR.
Narração:
Resumindo: na fatura com compensação, o consumo aparece positivo e a energia compensada aparece negativa, separada em TE, TUSD e bandeira. A soma da compensação em reais, o consumo injetado, é a base da sua cobrança. E o bloco de informações da GD é o seu termômetro de créditos e saldo. Na próxima aula, o que fazer quando esses números não batem com o esperado.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1F7A4D"/>
          </a:solidFill>
          <a:ln/>
        </p:spPr>
      </p:sp>
      <p:sp>
        <p:nvSpPr>
          <p:cNvPr id="3" name="Shape 1"/>
          <p:cNvSpPr/>
          <p:nvPr/>
        </p:nvSpPr>
        <p:spPr>
          <a:xfrm>
            <a:off x="320040" y="0"/>
            <a:ext cx="109728" cy="6858000"/>
          </a:xfrm>
          <a:prstGeom prst="rect">
            <a:avLst/>
          </a:prstGeom>
          <a:solidFill>
            <a:srgbClr val="F5B700"/>
          </a:solidFill>
          <a:ln/>
        </p:spPr>
      </p:sp>
      <p:sp>
        <p:nvSpPr>
          <p:cNvPr id="4" name="Text 2"/>
          <p:cNvSpPr/>
          <p:nvPr/>
        </p:nvSpPr>
        <p:spPr>
          <a:xfrm>
            <a:off x="914400" y="640080"/>
            <a:ext cx="10058400" cy="457200"/>
          </a:xfrm>
          <a:prstGeom prst="rect">
            <a:avLst/>
          </a:prstGeom>
          <a:noFill/>
          <a:ln/>
        </p:spPr>
        <p:txBody>
          <a:bodyPr wrap="square" rtlCol="0" anchor="ctr"/>
          <a:lstStyle/>
          <a:p>
            <a:pPr indent="0" marL="0">
              <a:buNone/>
            </a:pPr>
            <a:r>
              <a:rPr lang="en-US" sz="1600" b="1" spc="200" kern="0" dirty="0">
                <a:solidFill>
                  <a:srgbClr val="F5B700"/>
                </a:solidFill>
                <a:latin typeface="Arial" pitchFamily="34" charset="0"/>
                <a:ea typeface="Arial" pitchFamily="34" charset="-122"/>
                <a:cs typeface="Arial" pitchFamily="34" charset="-120"/>
              </a:rPr>
              <a:t>FORMAÇÃO EM ENERGIA POR ASSINATURA</a:t>
            </a:r>
            <a:endParaRPr lang="en-US" sz="1600" dirty="0"/>
          </a:p>
        </p:txBody>
      </p:sp>
      <p:sp>
        <p:nvSpPr>
          <p:cNvPr id="5" name="Text 3"/>
          <p:cNvSpPr/>
          <p:nvPr/>
        </p:nvSpPr>
        <p:spPr>
          <a:xfrm>
            <a:off x="914400" y="1828800"/>
            <a:ext cx="10058400" cy="548640"/>
          </a:xfrm>
          <a:prstGeom prst="rect">
            <a:avLst/>
          </a:prstGeom>
          <a:noFill/>
          <a:ln/>
        </p:spPr>
        <p:txBody>
          <a:bodyPr wrap="square" rtlCol="0" anchor="ctr"/>
          <a:lstStyle/>
          <a:p>
            <a:pPr indent="0" marL="0">
              <a:buNone/>
            </a:pPr>
            <a:r>
              <a:rPr lang="en-US" sz="2200" dirty="0">
                <a:solidFill>
                  <a:srgbClr val="C9CDD2"/>
                </a:solidFill>
                <a:latin typeface="Arial" pitchFamily="34" charset="0"/>
                <a:ea typeface="Arial" pitchFamily="34" charset="-122"/>
                <a:cs typeface="Arial" pitchFamily="34" charset="-120"/>
              </a:rPr>
              <a:t>M7 · Aula 1</a:t>
            </a:r>
            <a:endParaRPr lang="en-US" sz="2200" dirty="0"/>
          </a:p>
        </p:txBody>
      </p:sp>
      <p:sp>
        <p:nvSpPr>
          <p:cNvPr id="6" name="Text 4"/>
          <p:cNvSpPr/>
          <p:nvPr/>
        </p:nvSpPr>
        <p:spPr>
          <a:xfrm>
            <a:off x="914400" y="2377440"/>
            <a:ext cx="10332720" cy="1737360"/>
          </a:xfrm>
          <a:prstGeom prst="rect">
            <a:avLst/>
          </a:prstGeom>
          <a:noFill/>
          <a:ln/>
        </p:spPr>
        <p:txBody>
          <a:bodyPr wrap="square"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Anatomia da fatura com compensação</a:t>
            </a:r>
            <a:endParaRPr lang="en-US" sz="4000" dirty="0"/>
          </a:p>
        </p:txBody>
      </p:sp>
      <p:sp>
        <p:nvSpPr>
          <p:cNvPr id="7" name="Text 5"/>
          <p:cNvSpPr/>
          <p:nvPr/>
        </p:nvSpPr>
        <p:spPr>
          <a:xfrm>
            <a:off x="914400" y="4297680"/>
            <a:ext cx="10332720" cy="914400"/>
          </a:xfrm>
          <a:prstGeom prst="rect">
            <a:avLst/>
          </a:prstGeom>
          <a:noFill/>
          <a:ln/>
        </p:spPr>
        <p:txBody>
          <a:bodyPr wrap="square" rtlCol="0" anchor="t">
            <a:normAutofit/>
          </a:bodyPr>
          <a:lstStyle/>
          <a:p>
            <a:pPr indent="0" marL="0">
              <a:buNone/>
            </a:pPr>
            <a:r>
              <a:rPr lang="en-US" sz="1800" dirty="0">
                <a:solidFill>
                  <a:srgbClr val="C9CDD2"/>
                </a:solidFill>
                <a:latin typeface="Arial" pitchFamily="34" charset="0"/>
                <a:ea typeface="Arial" pitchFamily="34" charset="-122"/>
                <a:cs typeface="Arial" pitchFamily="34" charset="-120"/>
              </a:rPr>
              <a:t>Identificar e interpretar as linhas de compensação na fatura da distribuidora</a:t>
            </a:r>
            <a:endParaRPr lang="en-US" sz="1800" dirty="0"/>
          </a:p>
        </p:txBody>
      </p:sp>
      <p:sp>
        <p:nvSpPr>
          <p:cNvPr id="8" name="Shape 6"/>
          <p:cNvSpPr/>
          <p:nvPr/>
        </p:nvSpPr>
        <p:spPr>
          <a:xfrm>
            <a:off x="9692640" y="5806440"/>
            <a:ext cx="2194560" cy="777240"/>
          </a:xfrm>
          <a:prstGeom prst="roundRect">
            <a:avLst>
              <a:gd name="adj" fmla="val 11765"/>
            </a:avLst>
          </a:prstGeom>
          <a:solidFill>
            <a:srgbClr val="FFFFFF"/>
          </a:solidFill>
          <a:ln/>
        </p:spPr>
      </p:sp>
      <p:pic>
        <p:nvPicPr>
          <p:cNvPr id="9" name="Image 0" descr="/www/wwwroot/rexar/gdsolar/docs/curso/slides/assets/logo-rexar.png">    </p:cNvPr>
          <p:cNvPicPr>
            <a:picLocks noChangeAspect="1"/>
          </p:cNvPicPr>
          <p:nvPr/>
        </p:nvPicPr>
        <p:blipFill>
          <a:blip r:embed="rId1"/>
          <a:stretch>
            <a:fillRect/>
          </a:stretch>
        </p:blipFill>
        <p:spPr>
          <a:xfrm>
            <a:off x="9829800" y="5879592"/>
            <a:ext cx="1920240" cy="630936"/>
          </a:xfrm>
          <a:prstGeom prst="rect">
            <a:avLst/>
          </a:prstGeom>
        </p:spPr>
      </p:pic>
      <p:sp>
        <p:nvSpPr>
          <p:cNvPr id="10" name="Text 7"/>
          <p:cNvSpPr/>
          <p:nvPr/>
        </p:nvSpPr>
        <p:spPr>
          <a:xfrm>
            <a:off x="914400" y="5989320"/>
            <a:ext cx="8229600" cy="365760"/>
          </a:xfrm>
          <a:prstGeom prst="rect">
            <a:avLst/>
          </a:prstGeom>
          <a:noFill/>
          <a:ln/>
        </p:spPr>
        <p:txBody>
          <a:bodyPr wrap="square" rtlCol="0" anchor="ctr"/>
          <a:lstStyle/>
          <a:p>
            <a:pPr indent="0" marL="0">
              <a:buNone/>
            </a:pPr>
            <a:r>
              <a:rPr lang="en-US" sz="1200" dirty="0">
                <a:solidFill>
                  <a:srgbClr val="C9CDD2"/>
                </a:solidFill>
                <a:latin typeface="Arial" pitchFamily="34" charset="0"/>
                <a:ea typeface="Arial" pitchFamily="34" charset="-122"/>
                <a:cs typeface="Arial" pitchFamily="34" charset="-120"/>
              </a:rPr>
              <a:t>Geração distribuída compartilhada, da regulação à operação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1 · Cena 1</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A fatura é a matéria-prima da sua receita</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1 · Cena 2</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Os blocos da fatura</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Identificação</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Leitura e consumo</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Itens faturados</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Tributos</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Informações da GD</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Histórico</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1 · Cena 3</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As linhas de compensação</a:t>
            </a:r>
            <a:endParaRPr lang="en-US" sz="2800" dirty="0"/>
          </a:p>
        </p:txBody>
      </p:sp>
      <p:sp>
        <p:nvSpPr>
          <p:cNvPr id="7" name="Text 4"/>
          <p:cNvSpPr/>
          <p:nvPr/>
        </p:nvSpPr>
        <p:spPr>
          <a:xfrm>
            <a:off x="731520" y="1234440"/>
            <a:ext cx="10698480" cy="4937760"/>
          </a:xfrm>
          <a:prstGeom prst="rect">
            <a:avLst/>
          </a:prstGeom>
          <a:noFill/>
          <a:ln/>
        </p:spPr>
        <p:txBody>
          <a:bodyPr wrap="square" rtlCol="0" anchor="ctr">
            <a:normAutofit/>
          </a:bodyPr>
          <a:lstStyle/>
          <a:p>
            <a:pPr algn="ctr" indent="0" marL="0">
              <a:buNone/>
            </a:pPr>
            <a:r>
              <a:rPr lang="en-US" sz="3000" b="1" dirty="0">
                <a:solidFill>
                  <a:srgbClr val="1F7A4D"/>
                </a:solidFill>
                <a:latin typeface="Arial" pitchFamily="34" charset="0"/>
                <a:ea typeface="Arial" pitchFamily="34" charset="-122"/>
                <a:cs typeface="Arial" pitchFamily="34" charset="-120"/>
              </a:rPr>
              <a:t>Consumo (positivo) − Energia injetada/compensada (negativo) = o que sobra para pagar</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F33"/>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C9CDD2"/>
                </a:solidFill>
                <a:latin typeface="Arial" pitchFamily="34" charset="0"/>
                <a:ea typeface="Arial" pitchFamily="34" charset="-122"/>
                <a:cs typeface="Arial" pitchFamily="34" charset="-120"/>
              </a:rPr>
              <a:t>Formação em Energia por Assinatura  ·  M7 · Aula 1 · Cena 4</a:t>
            </a:r>
            <a:endParaRPr lang="en-US" sz="1000" dirty="0"/>
          </a:p>
        </p:txBody>
      </p:sp>
      <p:sp>
        <p:nvSpPr>
          <p:cNvPr id="5"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FFFFFF"/>
                </a:solidFill>
                <a:latin typeface="Arial" pitchFamily="34" charset="0"/>
                <a:ea typeface="Arial" pitchFamily="34" charset="-122"/>
                <a:cs typeface="Arial" pitchFamily="34" charset="-120"/>
              </a:rPr>
              <a:t>Consumo injetado: o número que importa</a:t>
            </a:r>
            <a:endParaRPr lang="en-US" sz="2800" dirty="0"/>
          </a:p>
        </p:txBody>
      </p:sp>
      <p:sp>
        <p:nvSpPr>
          <p:cNvPr id="6" name="Text 4"/>
          <p:cNvSpPr/>
          <p:nvPr/>
        </p:nvSpPr>
        <p:spPr>
          <a:xfrm>
            <a:off x="731520" y="1371600"/>
            <a:ext cx="10789920" cy="4754880"/>
          </a:xfrm>
          <a:prstGeom prst="rect">
            <a:avLst/>
          </a:prstGeom>
          <a:noFill/>
          <a:ln/>
        </p:spPr>
        <p:txBody>
          <a:bodyPr wrap="square" rtlCol="0" anchor="ctr">
            <a:normAutofit/>
          </a:bodyPr>
          <a:lstStyle/>
          <a:p>
            <a:pPr indent="0" marL="0">
              <a:spcAft>
                <a:spcPts val="1000"/>
              </a:spcAft>
              <a:buNone/>
            </a:pPr>
            <a:r>
              <a:rPr lang="en-US" sz="2200" dirty="0">
                <a:solidFill>
                  <a:srgbClr val="FFFFFF"/>
                </a:solidFill>
                <a:latin typeface="Consolas" pitchFamily="34" charset="0"/>
                <a:ea typeface="Consolas" pitchFamily="34" charset="-122"/>
                <a:cs typeface="Consolas" pitchFamily="34" charset="-120"/>
              </a:rPr>
              <a:t>Consumo injetado (R$) = soma das linhas compensadas (TE + TUSD + bandeira)</a:t>
            </a:r>
            <a:endParaRPr lang="en-US" sz="2200" dirty="0"/>
          </a:p>
          <a:p>
            <a:pPr indent="0" marL="0">
              <a:spcAft>
                <a:spcPts val="1000"/>
              </a:spcAft>
              <a:buNone/>
            </a:pPr>
            <a:r>
              <a:rPr lang="en-US" sz="2200" b="1" dirty="0">
                <a:solidFill>
                  <a:srgbClr val="F5B700"/>
                </a:solidFill>
                <a:latin typeface="Consolas" pitchFamily="34" charset="0"/>
                <a:ea typeface="Consolas" pitchFamily="34" charset="-122"/>
                <a:cs typeface="Consolas" pitchFamily="34" charset="-120"/>
              </a:rPr>
              <a:t>Ex.: R$ 2.119,00 → cobrança ao cliente = 2.119,00 × (1 − 20%) = R$ 1.695,20</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1 · Cena 5</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Text 3"/>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2B2F33"/>
                </a:solidFill>
                <a:latin typeface="Arial" pitchFamily="34" charset="0"/>
                <a:ea typeface="Arial" pitchFamily="34" charset="-122"/>
                <a:cs typeface="Arial" pitchFamily="34" charset="-120"/>
              </a:rPr>
              <a:t>O bloco de informações da GD</a:t>
            </a:r>
            <a:endParaRPr lang="en-US" sz="2800" dirty="0"/>
          </a:p>
        </p:txBody>
      </p:sp>
      <p:sp>
        <p:nvSpPr>
          <p:cNvPr id="7" name="Text 4"/>
          <p:cNvSpPr/>
          <p:nvPr/>
        </p:nvSpPr>
        <p:spPr>
          <a:xfrm>
            <a:off x="640080" y="1234440"/>
            <a:ext cx="10881360" cy="4937760"/>
          </a:xfrm>
          <a:prstGeom prst="rect">
            <a:avLst/>
          </a:prstGeom>
          <a:noFill/>
          <a:ln/>
        </p:spPr>
        <p:txBody>
          <a:bodyPr wrap="square" rtlCol="0" anchor="t">
            <a:normAutofit/>
          </a:bodyPr>
          <a:lstStyle/>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Recebidos</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utilizados</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saldo</a:t>
            </a:r>
            <a:endParaRPr lang="en-US" sz="2400" dirty="0"/>
          </a:p>
          <a:p>
            <a:pPr marL="342900" indent="-342900">
              <a:spcAft>
                <a:spcPts val="800"/>
              </a:spcAft>
              <a:buSzPct val="100000"/>
              <a:buChar char="■"/>
            </a:pPr>
            <a:r>
              <a:rPr lang="en-US" sz="2400" dirty="0">
                <a:solidFill>
                  <a:srgbClr val="2B2F33"/>
                </a:solidFill>
                <a:latin typeface="Arial" pitchFamily="34" charset="0"/>
                <a:ea typeface="Arial" pitchFamily="34" charset="-122"/>
                <a:cs typeface="Arial" pitchFamily="34" charset="-120"/>
              </a:rPr>
              <a:t>a expirar</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7A4D"/>
          </a:solidFill>
          <a:ln/>
        </p:spPr>
      </p:sp>
      <p:sp>
        <p:nvSpPr>
          <p:cNvPr id="3" name="Shape 1"/>
          <p:cNvSpPr/>
          <p:nvPr/>
        </p:nvSpPr>
        <p:spPr>
          <a:xfrm>
            <a:off x="0" y="109728"/>
            <a:ext cx="2011680" cy="54864"/>
          </a:xfrm>
          <a:prstGeom prst="rect">
            <a:avLst/>
          </a:prstGeom>
          <a:solidFill>
            <a:srgbClr val="F5B700"/>
          </a:solidFill>
          <a:ln/>
        </p:spPr>
      </p:sp>
      <p:sp>
        <p:nvSpPr>
          <p:cNvPr id="4" name="Text 2"/>
          <p:cNvSpPr/>
          <p:nvPr/>
        </p:nvSpPr>
        <p:spPr>
          <a:xfrm>
            <a:off x="457200" y="6446520"/>
            <a:ext cx="8686800" cy="274320"/>
          </a:xfrm>
          <a:prstGeom prst="rect">
            <a:avLst/>
          </a:prstGeom>
          <a:noFill/>
          <a:ln/>
        </p:spPr>
        <p:txBody>
          <a:bodyPr wrap="square" rtlCol="0" anchor="ctr"/>
          <a:lstStyle/>
          <a:p>
            <a:pPr indent="0" marL="0">
              <a:buNone/>
            </a:pPr>
            <a:r>
              <a:rPr lang="en-US" sz="1000" dirty="0">
                <a:solidFill>
                  <a:srgbClr val="6B7280"/>
                </a:solidFill>
                <a:latin typeface="Arial" pitchFamily="34" charset="0"/>
                <a:ea typeface="Arial" pitchFamily="34" charset="-122"/>
                <a:cs typeface="Arial" pitchFamily="34" charset="-120"/>
              </a:rPr>
              <a:t>Formação em Energia por Assinatura  ·  M7 · Aula 1 · Cena 6</a:t>
            </a:r>
            <a:endParaRPr lang="en-US" sz="1000" dirty="0"/>
          </a:p>
        </p:txBody>
      </p:sp>
      <p:pic>
        <p:nvPicPr>
          <p:cNvPr id="5" name="Image 0" descr="/www/wwwroot/rexar/gdsolar/docs/curso/slides/assets/logo-rexar.png">    </p:cNvPr>
          <p:cNvPicPr>
            <a:picLocks noChangeAspect="1"/>
          </p:cNvPicPr>
          <p:nvPr/>
        </p:nvPicPr>
        <p:blipFill>
          <a:blip r:embed="rId1"/>
          <a:stretch>
            <a:fillRect/>
          </a:stretch>
        </p:blipFill>
        <p:spPr>
          <a:xfrm>
            <a:off x="10561320" y="6327648"/>
            <a:ext cx="1234440" cy="411480"/>
          </a:xfrm>
          <a:prstGeom prst="rect">
            <a:avLst/>
          </a:prstGeom>
        </p:spPr>
      </p:pic>
      <p:sp>
        <p:nvSpPr>
          <p:cNvPr id="6" name="Shape 3"/>
          <p:cNvSpPr/>
          <p:nvPr/>
        </p:nvSpPr>
        <p:spPr>
          <a:xfrm>
            <a:off x="457200" y="4754880"/>
            <a:ext cx="11247120" cy="1280160"/>
          </a:xfrm>
          <a:prstGeom prst="rect">
            <a:avLst/>
          </a:prstGeom>
          <a:solidFill>
            <a:srgbClr val="1F7A4D"/>
          </a:solidFill>
          <a:ln/>
        </p:spPr>
      </p:sp>
      <p:sp>
        <p:nvSpPr>
          <p:cNvPr id="7" name="Shape 4"/>
          <p:cNvSpPr/>
          <p:nvPr/>
        </p:nvSpPr>
        <p:spPr>
          <a:xfrm>
            <a:off x="457200" y="4754880"/>
            <a:ext cx="137160" cy="1280160"/>
          </a:xfrm>
          <a:prstGeom prst="rect">
            <a:avLst/>
          </a:prstGeom>
          <a:solidFill>
            <a:srgbClr val="F5B700"/>
          </a:solidFill>
          <a:ln/>
        </p:spPr>
      </p:sp>
      <p:sp>
        <p:nvSpPr>
          <p:cNvPr id="8" name="Text 5"/>
          <p:cNvSpPr/>
          <p:nvPr/>
        </p:nvSpPr>
        <p:spPr>
          <a:xfrm>
            <a:off x="777240" y="4800600"/>
            <a:ext cx="10789920" cy="1188720"/>
          </a:xfrm>
          <a:prstGeom prst="rect">
            <a:avLst/>
          </a:prstGeom>
          <a:noFill/>
          <a:ln/>
        </p:spPr>
        <p:txBody>
          <a:bodyPr wrap="square" rtlCol="0" anchor="ctr">
            <a:normAutofit/>
          </a:bodyPr>
          <a:lstStyle/>
          <a:p>
            <a:pPr indent="0" marL="0">
              <a:buNone/>
            </a:pPr>
            <a:r>
              <a:rPr lang="en-US" sz="2400" b="1" dirty="0">
                <a:solidFill>
                  <a:srgbClr val="FFFFFF"/>
                </a:solidFill>
                <a:latin typeface="Arial" pitchFamily="34" charset="0"/>
                <a:ea typeface="Arial" pitchFamily="34" charset="-122"/>
                <a:cs typeface="Arial" pitchFamily="34" charset="-120"/>
              </a:rPr>
              <a:t>Consumo (+)  ·  compensação (−)  ·  consumo injetado = base da cobrança  ·  bloco da GD = termômetro</a:t>
            </a:r>
            <a:endParaRPr lang="en-US" sz="2400" dirty="0"/>
          </a:p>
        </p:txBody>
      </p:sp>
      <p:sp>
        <p:nvSpPr>
          <p:cNvPr id="9" name="Text 6"/>
          <p:cNvSpPr/>
          <p:nvPr/>
        </p:nvSpPr>
        <p:spPr>
          <a:xfrm>
            <a:off x="457200" y="914400"/>
            <a:ext cx="11247120" cy="3474720"/>
          </a:xfrm>
          <a:prstGeom prst="rect">
            <a:avLst/>
          </a:prstGeom>
          <a:noFill/>
          <a:ln/>
        </p:spPr>
        <p:txBody>
          <a:bodyPr wrap="square" rtlCol="0" anchor="ctr"/>
          <a:lstStyle/>
          <a:p>
            <a:pPr algn="ctr" indent="0" marL="0">
              <a:buNone/>
            </a:pPr>
            <a:r>
              <a:rPr lang="en-US" sz="1600" dirty="0">
                <a:solidFill>
                  <a:srgbClr val="B0B6BD"/>
                </a:solidFill>
                <a:latin typeface="Arial" pitchFamily="34" charset="0"/>
                <a:ea typeface="Arial" pitchFamily="34" charset="-122"/>
                <a:cs typeface="Arial" pitchFamily="34" charset="-120"/>
              </a:rPr>
              <a:t>[ APRESENTADOR — área do vídeo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Rexar Sistemas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M7 · Aula 1 — Anatomia da fatura com compensação</dc:title>
  <dc:subject>PptxGenJS Presentation</dc:subject>
  <dc:creator>PptxGenJS</dc:creator>
  <cp:lastModifiedBy>PptxGenJS</cp:lastModifiedBy>
  <cp:revision>1</cp:revision>
  <dcterms:created xsi:type="dcterms:W3CDTF">2026-10-30T10:46:06Z</dcterms:created>
  <dcterms:modified xsi:type="dcterms:W3CDTF">2026-10-30T10:46:06Z</dcterms:modified>
</cp:coreProperties>
</file>