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Abertura (0:00–0:40)
Visual: APRESENTADOR.
Narração:
A plataforma lê a fatura automaticamente, mas quem aprova é uma pessoa. A aprovação é o momento em que a fatura vira a base de uma cobrança. Por isso, a revisão precisa de um roteiro: o mesmo, sempre, em cada fatura. Ele leva menos de dois minutos por fatura e evita a maioria dos erros de cobrança.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[ANIMAÇÃO] O ciclo de status (0:40–2:20)
Visual: ANIMAÇÃO: Extração (pendente → sucesso/erro) e Revisão (pendente de revisão → revisada / corrigida → aprovada / rejeitada).
Narração:
Cada fatura tem dois status. O da extração diz se a leitura automática do PDF deu certo: pendente, sucesso ou erro. O da revisão diz em que ponto está o trabalho humano: pendente de revisão, revisada, corrigida — quando você alterou algum dado —, aprovada ou rejeitada. Só a fatura aprovada gera cobrança. A rejeitada é descartada, por exemplo, quando é uma duplicata.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 roteiro de revisão em seis passos (2:20–8:40)
Visual: SLIDE com checklist; cada item com um recorte da tela correspondente.
Narração:
Passo um: confira se a fatura é do cliente e da unidade consumidora certos — o nome do titular e o número da instalação no resumo técnico devem bater com o cadastro. Passo dois: referência, ou seja, o mês e o ano, e o vencimento. Passo três: o consumo e o valor total estão coerentes com o histórico do cliente? Um consumo três vezes maior que a média pode ser um erro de leitura ou uma mudança real — que vale uma ligação para o cliente. Passo quatro: compare a energia compensada com o esperado, a conta da aula 2. Passo cinco: o consumo injetado em reais, que é a base da cobrança, e a margem de desconto, que vem da regra ativa do cliente. A tela mostra, de forma transparente, como chegou nesses números, com as linhas da fatura usadas no cálculo; se uma linha ficou de fora ou entrou errada, você enxerga ali. E o valor da fatura ao cliente, que é o que será cobrado. Passo seis: a usina vinculada é a correta, e não há pendências abertas.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As pendências automáticas (8:40–10:40)
Visual: SLIDE com a lista de pendências.
Narração:
A plataforma ajuda com pendências automáticas, que aparecem na própria fatura. As de erro impedem uma aprovação segura: o leitor automático falhou; a fatura não está ligada a nenhuma unidade consumidora; o valor total é inválido; ou já existe outra fatura para a mesma unidade e referência. As de aviso pedem atenção: o cliente não tem regra de desconto ativa, o consumo está ausente, ou a usina informada é diferente do vínculo ativo da unidade. Cada pendência é resolvida corrigindo a causa e marcando como resolvida, e você vai fazer isso no laboratório da aula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Boas práticas (10:40–11:40)
Visual: SLIDE.
Narração:
Algumas boas práticas. Revise as faturas em lote, num horário fixo, todos os dias ou a cada dois dias, para que nada envelheça na fila — a plataforma alerta quando uma fatura passa de três dias em revisão. Nunca aprove com pendência de erro aberta. Sempre que corrigir um dado manualmente, justifique nas observações da revisão. E, para faturas acima de um valor que você definir, use dupla checagem: uma pessoa revisa, outra aprova.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Resumo (11:40–12:00)
Visual: APRESENTADOR.
Narração:
Resumindo: seis passos de revisão, pendências de erro resolvidas antes de aprovar e correções sempre justificadas. Agora, para o laboratório.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7A4D"/>
          </a:solidFill>
          <a:ln/>
        </p:spPr>
      </p:sp>
      <p:sp>
        <p:nvSpPr>
          <p:cNvPr id="3" name="Shape 1"/>
          <p:cNvSpPr/>
          <p:nvPr/>
        </p:nvSpPr>
        <p:spPr>
          <a:xfrm>
            <a:off x="320040" y="0"/>
            <a:ext cx="109728" cy="6858000"/>
          </a:xfrm>
          <a:prstGeom prst="rect">
            <a:avLst/>
          </a:prstGeom>
          <a:solidFill>
            <a:srgbClr val="F5B700"/>
          </a:solidFill>
          <a:ln/>
        </p:spPr>
      </p:sp>
      <p:sp>
        <p:nvSpPr>
          <p:cNvPr id="4" name="Text 2"/>
          <p:cNvSpPr/>
          <p:nvPr/>
        </p:nvSpPr>
        <p:spPr>
          <a:xfrm>
            <a:off x="914400" y="640080"/>
            <a:ext cx="10058400" cy="457200"/>
          </a:xfrm>
          <a:prstGeom prst="rect">
            <a:avLst/>
          </a:prstGeom>
          <a:noFill/>
          <a:ln/>
        </p:spPr>
        <p:txBody>
          <a:bodyPr wrap="square" rtlCol="0" anchor="ctr"/>
          <a:lstStyle/>
          <a:p>
            <a:pPr indent="0" marL="0">
              <a:buNone/>
            </a:pPr>
            <a:r>
              <a:rPr lang="en-US" sz="1600" b="1" spc="200" kern="0" dirty="0">
                <a:solidFill>
                  <a:srgbClr val="F5B700"/>
                </a:solidFill>
                <a:latin typeface="Arial" pitchFamily="34" charset="0"/>
                <a:ea typeface="Arial" pitchFamily="34" charset="-122"/>
                <a:cs typeface="Arial" pitchFamily="34" charset="-120"/>
              </a:rPr>
              <a:t>FORMAÇÃO EM ENERGIA POR ASSINATURA</a:t>
            </a:r>
            <a:endParaRPr lang="en-US" sz="1600" dirty="0"/>
          </a:p>
        </p:txBody>
      </p:sp>
      <p:sp>
        <p:nvSpPr>
          <p:cNvPr id="5" name="Text 3"/>
          <p:cNvSpPr/>
          <p:nvPr/>
        </p:nvSpPr>
        <p:spPr>
          <a:xfrm>
            <a:off x="914400" y="1828800"/>
            <a:ext cx="10058400" cy="548640"/>
          </a:xfrm>
          <a:prstGeom prst="rect">
            <a:avLst/>
          </a:prstGeom>
          <a:noFill/>
          <a:ln/>
        </p:spPr>
        <p:txBody>
          <a:bodyPr wrap="square" rtlCol="0" anchor="ctr"/>
          <a:lstStyle/>
          <a:p>
            <a:pPr indent="0" marL="0">
              <a:buNone/>
            </a:pPr>
            <a:r>
              <a:rPr lang="en-US" sz="2200" dirty="0">
                <a:solidFill>
                  <a:srgbClr val="C9CDD2"/>
                </a:solidFill>
                <a:latin typeface="Arial" pitchFamily="34" charset="0"/>
                <a:ea typeface="Arial" pitchFamily="34" charset="-122"/>
                <a:cs typeface="Arial" pitchFamily="34" charset="-120"/>
              </a:rPr>
              <a:t>M7 · Aula 4</a:t>
            </a:r>
            <a:endParaRPr lang="en-US" sz="2200" dirty="0"/>
          </a:p>
        </p:txBody>
      </p:sp>
      <p:sp>
        <p:nvSpPr>
          <p:cNvPr id="6" name="Text 4"/>
          <p:cNvSpPr/>
          <p:nvPr/>
        </p:nvSpPr>
        <p:spPr>
          <a:xfrm>
            <a:off x="914400" y="2377440"/>
            <a:ext cx="10332720" cy="173736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Revisão de fatura: o que conferir</a:t>
            </a:r>
            <a:endParaRPr lang="en-US" sz="4000" dirty="0"/>
          </a:p>
        </p:txBody>
      </p:sp>
      <p:sp>
        <p:nvSpPr>
          <p:cNvPr id="7" name="Text 5"/>
          <p:cNvSpPr/>
          <p:nvPr/>
        </p:nvSpPr>
        <p:spPr>
          <a:xfrm>
            <a:off x="914400" y="4297680"/>
            <a:ext cx="10332720" cy="914400"/>
          </a:xfrm>
          <a:prstGeom prst="rect">
            <a:avLst/>
          </a:prstGeom>
          <a:noFill/>
          <a:ln/>
        </p:spPr>
        <p:txBody>
          <a:bodyPr wrap="square" rtlCol="0" anchor="t">
            <a:normAutofit/>
          </a:bodyPr>
          <a:lstStyle/>
          <a:p>
            <a:pPr indent="0" marL="0">
              <a:buNone/>
            </a:pPr>
            <a:r>
              <a:rPr lang="en-US" sz="1800" dirty="0">
                <a:solidFill>
                  <a:srgbClr val="C9CDD2"/>
                </a:solidFill>
                <a:latin typeface="Arial" pitchFamily="34" charset="0"/>
                <a:ea typeface="Arial" pitchFamily="34" charset="-122"/>
                <a:cs typeface="Arial" pitchFamily="34" charset="-120"/>
              </a:rPr>
              <a:t>Aplicar um roteiro de revisão antes de aprovar uma fatura</a:t>
            </a:r>
            <a:endParaRPr lang="en-US" sz="1800" dirty="0"/>
          </a:p>
        </p:txBody>
      </p:sp>
      <p:sp>
        <p:nvSpPr>
          <p:cNvPr id="8" name="Shape 6"/>
          <p:cNvSpPr/>
          <p:nvPr/>
        </p:nvSpPr>
        <p:spPr>
          <a:xfrm>
            <a:off x="9692640" y="5806440"/>
            <a:ext cx="2194560" cy="777240"/>
          </a:xfrm>
          <a:prstGeom prst="roundRect">
            <a:avLst>
              <a:gd name="adj" fmla="val 11765"/>
            </a:avLst>
          </a:prstGeom>
          <a:solidFill>
            <a:srgbClr val="FFFFFF"/>
          </a:solidFill>
          <a:ln/>
        </p:spPr>
      </p:sp>
      <p:pic>
        <p:nvPicPr>
          <p:cNvPr id="9" name="Image 0" descr="/www/wwwroot/rexar/gdsolar/docs/curso/slides/assets/logo-rexar.png">    </p:cNvPr>
          <p:cNvPicPr>
            <a:picLocks noChangeAspect="1"/>
          </p:cNvPicPr>
          <p:nvPr/>
        </p:nvPicPr>
        <p:blipFill>
          <a:blip r:embed="rId1"/>
          <a:stretch>
            <a:fillRect/>
          </a:stretch>
        </p:blipFill>
        <p:spPr>
          <a:xfrm>
            <a:off x="9829800" y="5879592"/>
            <a:ext cx="1920240" cy="630936"/>
          </a:xfrm>
          <a:prstGeom prst="rect">
            <a:avLst/>
          </a:prstGeom>
        </p:spPr>
      </p:pic>
      <p:sp>
        <p:nvSpPr>
          <p:cNvPr id="10" name="Text 7"/>
          <p:cNvSpPr/>
          <p:nvPr/>
        </p:nvSpPr>
        <p:spPr>
          <a:xfrm>
            <a:off x="914400" y="5989320"/>
            <a:ext cx="8229600" cy="365760"/>
          </a:xfrm>
          <a:prstGeom prst="rect">
            <a:avLst/>
          </a:prstGeom>
          <a:noFill/>
          <a:ln/>
        </p:spPr>
        <p:txBody>
          <a:bodyPr wrap="square" rtlCol="0" anchor="ctr"/>
          <a:lstStyle/>
          <a:p>
            <a:pPr indent="0" marL="0">
              <a:buNone/>
            </a:pPr>
            <a:r>
              <a:rPr lang="en-US" sz="1200" dirty="0">
                <a:solidFill>
                  <a:srgbClr val="C9CDD2"/>
                </a:solidFill>
                <a:latin typeface="Arial" pitchFamily="34" charset="0"/>
                <a:ea typeface="Arial" pitchFamily="34" charset="-122"/>
                <a:cs typeface="Arial" pitchFamily="34" charset="-120"/>
              </a:rPr>
              <a:t>Geração distribuída compartilhada, da regulação à operação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4 · Cena 1</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A máquina lê. Você aprova.</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4 · Cena 2</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ciclo de status</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Extração: pendente</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sucesso</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erro</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Revisão: pendente de revisão</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revisada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corrigida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aprovada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rejeitada</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4 · Cena 3</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roteiro de revisão em seis passos</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indent="0" marL="0">
              <a:spcAft>
                <a:spcPts val="800"/>
              </a:spcAft>
              <a:buNone/>
            </a:pPr>
            <a:r>
              <a:rPr lang="en-US" sz="1700" dirty="0">
                <a:solidFill>
                  <a:srgbClr val="2B2F33"/>
                </a:solidFill>
                <a:latin typeface="Arial" pitchFamily="34" charset="0"/>
                <a:ea typeface="Arial" pitchFamily="34" charset="-122"/>
                <a:cs typeface="Arial" pitchFamily="34" charset="-120"/>
              </a:rPr>
              <a:t>1. Cliente e UC corretos (titular, número da instalação)</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2. Referência e vencimento</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3. Consumo e valor total coerentes com o histórico</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4. Energia injetada/compensada: kWh esperado × faturado</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5. Consumo injetado (R$) e margem de desconto</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6. Usina vinculada e pendências zeradas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4 · Cena 4</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As pendências automáticas</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1700" dirty="0">
                <a:solidFill>
                  <a:srgbClr val="2B2F33"/>
                </a:solidFill>
                <a:latin typeface="Arial" pitchFamily="34" charset="0"/>
                <a:ea typeface="Arial" pitchFamily="34" charset="-122"/>
                <a:cs typeface="Arial" pitchFamily="34" charset="-120"/>
              </a:rPr>
              <a:t>Erro do leitor automático (erro)</a:t>
            </a:r>
            <a:endParaRPr lang="en-US" sz="1700" dirty="0"/>
          </a:p>
          <a:p>
            <a:pPr marL="342900" indent="-342900">
              <a:spcAft>
                <a:spcPts val="800"/>
              </a:spcAft>
              <a:buSzPct val="100000"/>
              <a:buChar char="■"/>
            </a:pPr>
            <a:r>
              <a:rPr lang="en-US" sz="1700" dirty="0">
                <a:solidFill>
                  <a:srgbClr val="2B2F33"/>
                </a:solidFill>
                <a:latin typeface="Arial" pitchFamily="34" charset="0"/>
                <a:ea typeface="Arial" pitchFamily="34" charset="-122"/>
                <a:cs typeface="Arial" pitchFamily="34" charset="-120"/>
              </a:rPr>
              <a:t>Fatura sem UC vinculada (erro)</a:t>
            </a:r>
            <a:endParaRPr lang="en-US" sz="1700" dirty="0"/>
          </a:p>
          <a:p>
            <a:pPr marL="342900" indent="-342900">
              <a:spcAft>
                <a:spcPts val="800"/>
              </a:spcAft>
              <a:buSzPct val="100000"/>
              <a:buChar char="■"/>
            </a:pPr>
            <a:r>
              <a:rPr lang="en-US" sz="1700" dirty="0">
                <a:solidFill>
                  <a:srgbClr val="2B2F33"/>
                </a:solidFill>
                <a:latin typeface="Arial" pitchFamily="34" charset="0"/>
                <a:ea typeface="Arial" pitchFamily="34" charset="-122"/>
                <a:cs typeface="Arial" pitchFamily="34" charset="-120"/>
              </a:rPr>
              <a:t>Cliente sem regra de desconto ativa (aviso)</a:t>
            </a:r>
            <a:endParaRPr lang="en-US" sz="1700" dirty="0"/>
          </a:p>
          <a:p>
            <a:pPr marL="342900" indent="-342900">
              <a:spcAft>
                <a:spcPts val="800"/>
              </a:spcAft>
              <a:buSzPct val="100000"/>
              <a:buChar char="■"/>
            </a:pPr>
            <a:r>
              <a:rPr lang="en-US" sz="1700" dirty="0">
                <a:solidFill>
                  <a:srgbClr val="2B2F33"/>
                </a:solidFill>
                <a:latin typeface="Arial" pitchFamily="34" charset="0"/>
                <a:ea typeface="Arial" pitchFamily="34" charset="-122"/>
                <a:cs typeface="Arial" pitchFamily="34" charset="-120"/>
              </a:rPr>
              <a:t>Valor total inválido (erro)</a:t>
            </a:r>
            <a:endParaRPr lang="en-US" sz="1700" dirty="0"/>
          </a:p>
          <a:p>
            <a:pPr marL="342900" indent="-342900">
              <a:spcAft>
                <a:spcPts val="800"/>
              </a:spcAft>
              <a:buSzPct val="100000"/>
              <a:buChar char="■"/>
            </a:pPr>
            <a:r>
              <a:rPr lang="en-US" sz="1700" dirty="0">
                <a:solidFill>
                  <a:srgbClr val="2B2F33"/>
                </a:solidFill>
                <a:latin typeface="Arial" pitchFamily="34" charset="0"/>
                <a:ea typeface="Arial" pitchFamily="34" charset="-122"/>
                <a:cs typeface="Arial" pitchFamily="34" charset="-120"/>
              </a:rPr>
              <a:t>Consumo ausente ou inválido (aviso)</a:t>
            </a:r>
            <a:endParaRPr lang="en-US" sz="1700" dirty="0"/>
          </a:p>
          <a:p>
            <a:pPr marL="342900" indent="-342900">
              <a:spcAft>
                <a:spcPts val="800"/>
              </a:spcAft>
              <a:buSzPct val="100000"/>
              <a:buChar char="■"/>
            </a:pPr>
            <a:r>
              <a:rPr lang="en-US" sz="1700" dirty="0">
                <a:solidFill>
                  <a:srgbClr val="2B2F33"/>
                </a:solidFill>
                <a:latin typeface="Arial" pitchFamily="34" charset="0"/>
                <a:ea typeface="Arial" pitchFamily="34" charset="-122"/>
                <a:cs typeface="Arial" pitchFamily="34" charset="-120"/>
              </a:rPr>
              <a:t>Fatura duplicada para a UC e referência (erro)</a:t>
            </a:r>
            <a:endParaRPr lang="en-US" sz="1700" dirty="0"/>
          </a:p>
          <a:p>
            <a:pPr marL="342900" indent="-342900">
              <a:spcAft>
                <a:spcPts val="800"/>
              </a:spcAft>
              <a:buSzPct val="100000"/>
              <a:buChar char="■"/>
            </a:pPr>
            <a:r>
              <a:rPr lang="en-US" sz="1700" dirty="0">
                <a:solidFill>
                  <a:srgbClr val="2B2F33"/>
                </a:solidFill>
                <a:latin typeface="Arial" pitchFamily="34" charset="0"/>
                <a:ea typeface="Arial" pitchFamily="34" charset="-122"/>
                <a:cs typeface="Arial" pitchFamily="34" charset="-120"/>
              </a:rPr>
              <a:t>Usina da fatura ≠ vínculo ativo da UC (aviso)</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4 · Cena 5</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Boas práticas</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Revisar em lote, no mesmo dia</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nunca aprovar com pendência de erro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justificar correções nas observações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dupla checagem acima de um valor</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4 · Cena 6</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6 passos  ·  pendências de erro bloqueiam  ·  correções justificadas</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Rexar Sistemas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M7 · Aula 4 — Revisão de fatura: o que conferir</dc:title>
  <dc:subject>PptxGenJS Presentation</dc:subject>
  <dc:creator>PptxGenJS</dc:creator>
  <cp:lastModifiedBy>PptxGenJS</cp:lastModifiedBy>
  <cp:revision>1</cp:revision>
  <dcterms:created xsi:type="dcterms:W3CDTF">2026-10-30T10:46:07Z</dcterms:created>
  <dcterms:modified xsi:type="dcterms:W3CDTF">2026-10-30T10:46:07Z</dcterms:modified>
</cp:coreProperties>
</file>