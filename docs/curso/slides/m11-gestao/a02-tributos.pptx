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e aviso (0:00–0:50)
Visual: APRESENTADOR; selo "Conteúdo informativo — confirme com seu contador".
Narração:
Tributação é um dos temas em que o empreendedor de energia mais erra, e também um dos que mais mudam. Esta aula organiza o assunto em três camadas — a energia compensada na conta do cliente, a sua empresa gestora e a entidade — para que você chegue ao contador com as perguntas certas. As regras dependem do estado, do município e do regime da empresa, e estão passando pela reforma tributária. Confirme sempre com um contador especializado em energia.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Camada 1: a energia compensada (0:50–4:40)
Visual: SLIDE.
Narração:
Primeira camada: a energia compensada na conta do cliente. Em nível federal, há previsão legal de alíquota zero de PIS e COFINS sobre a energia compensada pelo sistema de compensação. No ICMS, existe um convênio entre os estados que permite isentar a energia compensada, mas cada estado define a adesão e as condições — por exemplo, limites de potência, modalidades atendidas e o tratamento das parcelas que continuam sendo pagas, como o Fio B e o custo de disponibilidade. Na prática, isso muda o valor do crédito com impostos e, portanto, a economia do cliente. Por isso a calculadora do curso tem um campo para a regra do seu estado. Peça ao contador a regra exata da sua UF e confira numa fatura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Camada 2: a gestora (4:40–8:40)
Visual: SLIDE comparando regimes.
Narração:
Segunda camada: a sua gestora. A receita dela é a taxa de administração, uma receita de prestação de serviços. Os regimes mais comuns são o Simples Nacional, com guia única, em que a alíquota efetiva depende do anexo de enquadramento da atividade e, em serviços, do chamado fator R, a relação entre folha de pagamento e faturamento; o Lucro Presumido, em que imposto de renda e contribuição social incidem sobre uma base presumida para serviços, mais PIS e COFINS cumulativos e o ISS; e o Lucro Real, que costuma fazer sentido para estruturas maiores ou de margem baixa. Em todos, há ISS municipal sobre a taxa de gestão, com a alíquota do município. Lembre: na conta do módulo 3, usamos dez por cento da taxa como imposto apenas como exemplo. Coloque o número real do seu contador na calculadora.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Camada 3: a entidade (8:40–10:40)
Visual: SLIDE.
Narração:
Terceira camada: a entidade e o produtor. O tratamento muda conforme a forma: no consórcio, os efeitos tributários costumam recair sobre as consorciadas, conforme o contrato; na cooperativa, existe o regime do ato cooperativo; na associação, as regras de entidade sem fins lucrativos, com as condições que elas exigem. E o aluguel que o produtor recebe é rendimento tributável dele — pessoa física ou jurídica —, o que vale explicar na proposta, porque o produtor vai comparar o rendimento líquido.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 reforma tributária (10:40–13:20)
Visual: ANIMAÇÃO de linha do tempo: 2026 (teste CBS/IBS) → 2027 (CBS; fim de PIS/COFINS) → 2029–2032 (transição IBS/ICMS-ISS) → 2033 (sistema novo pleno).
Narração:
Por fim, a reforma tributária, que vai mudar a tributação do consumo no Brasil nos próximos anos. Em linhas gerais: 2026 é um ano de teste dos novos tributos; em 2027, a CBS, federal, substitui o PIS e a COFINS; entre 2029 e 2032, o ICMS e o ISS vão sendo substituídos gradualmente pelo IBS; e, em 2033, o sistema novo funciona plenamente. Como isso vai tratar a energia compensada na geração distribuída e os serviços da gestora depende de regulamentação que ainda está sendo detalhada. Duas atitudes práticas: inclua a reforma nos cenários do seu plano e nas cláusulas de reequilíbrio dos contratos, e acompanhe as atualizações semestrais deste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(13:20–14:00)
Visual: APRESENTADOR.
Narração:
Resumindo: três camadas — a energia compensada, com regras federais e estaduais; a gestora, com o regime e o ISS; a entidade e o produtor — e a reforma tributária no horizonte. Leve as perguntas do exercício ao seu contador. Na próxima aula, os riscos do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Tributos na geração distribuída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os tributos da operação (energia compensada, gestora, entidade) e a transição da reforma tributária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2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camadas de tributos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2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1: a energia compensada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PIS/COFINS: alíquota zero sobre a energia compensada (Lei 13.169/2015) [CONFERIR]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ICMS: isenção sobre a energia compensada pelo Convênio ICMS 16/2015, conforme adesão e condições de cada estado [CONFERIR]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 não compensada (ex.: Fio B, mínimo): tributada normalmente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2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2: a gestora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Nacional: guia única; atenção ao anexo e ao fator R para serviços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Presumido: IRPJ/CSLL sobre base presumida de serviços + PIS/COFINS cumulativos + ISS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Real: para margens baixas/estruturas maiores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municipal sobre a taxa de gestão (alíquota do município)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2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3: a entidade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Consórcio: tributação nas consorciadas, conforme contrato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Cooperativa: ato cooperativo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Associação: regras de entidade sem fins lucrativos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 ao produtor: rendimento tributado do produtor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2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reforma tributária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fase de teste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2027: CBS substitui PIS/COFINS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2029–2032: transição do ICMS/ISS para o IBS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2033: sistema novo [CONFERIR regras específicas para energia e GD]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2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compensada (PIS/COFINS, ICMS por UF)  ·  gestora (regime + ISS)  ·  entidade e produtor  ·  reforma 2026–2033  ·  contador especializado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M11 · Aula 2 — Tributos na geração distribuída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