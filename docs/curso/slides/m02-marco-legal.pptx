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Geração distribuída é micro e minigeração conectada à rede da distribuidora, com compensação: quem gera recebe créditos, não dinheiro.
Tudo começou em 2012, com a criação do sistema de compensação.
Em 2015 veio a virada: geração compartilhada e créditos por sessenta meses. É daí que nasce o negócio da assinatura.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2022, a Lei 14.300 trouxe segurança jurídica, a transição do Fio B e o direito adquirido até 2045.
Em 2023, a ANEEL regulamentou a lei. Os detalhes operacionais estão na Resolução Normativa mil.
O mercado é grande e consolidado, mas a regra muda. Empresa saudável acompanha a regulação e faz contas com cenários.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microgeração vai até setenta e cinco quilowatts. Para assinatura, costuma ser pequena demais.
A minigeração vai além, com limite de três megawatts para a solar nas regras atuais. É a faixa das usinas de assinatura.
A minigeração exige parecer de acesso, obras de conexão e, acima de quinhentos quilowatts, garantia de fiel cumprimento. Usina com parecer aprovado vale muito mais do que um terreno com promessa.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proibido dividir uma usina grande em várias pequenas para caber nas regras. Desconfie desse atalho.
Guarde a marca de quinhentos quilowatts: acima dela entra uma regra mais pesada para certos casos, que vamos ver na aula cinco.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autoconsumo local, gera-se e consome-se no mesmo lugar. É o que as integradoras vendem.
No autoconsumo remoto, a usina fica em outro lugar, mas os créditos vão só para unidades do mesmo titular.
Na geração compartilhada, consumidores diferentes se reúnem numa entidade, como consórcio ou cooperativa, e dividem os créditos. É esse o mecanismo da assinatura.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EMUC atende condomínios, com alcance limitado.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comparação na tela mostra por que a assinatura usa a geração compartilhada. E vale para todas: usina e clientes na mesma distribuidora.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crédito nasce no medidor da usina, em quilowatt-hora. O valor em reais só aparece na fatura do cliente.
Os créditos são divididos pela lista de rateio, em percentuais. Se a usina gera menos, todos recebem proporcionalmente menos. E atualizar essa lista é tarefa mensal da sua operação.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conta da padaria, os créditos abatem o consumo, e ela continua pagando o mínimo e a parcela não compensada do Fio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Sobras ficam acumuladas por até sessenta meses. Sobra recorrente é sinal de cota alta demais.
A distribuidora mede, rateia e fatura. A sua empresa mantém o rateio, confere as faturas, cobra e paga o produtor. A fatura é a base da sua cobrança.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GD um, das usinas existentes ou com pedido até janeiro de 2023, mantém a regra antiga até 2045. É um ativo valioso, e vale verificar na compra ou arrendamento.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GD dois, das usinas novas, paga uma parcela crescente do Fio B. Repare no gráfico: sessenta por cento em 2026, chegando a noventa em 2028. Depois disso, a regra depende da ANEEL.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prática, o crédito cai de sessenta e oito para sessenta e dois centavos em dois anos. Se você promete um desconto fixo, essa queda sai da sua margem ou da do produtor.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GD três atinge usinas acima de quinhentos quilowatts com um participante concentrando vinte e cinco por cento ou mais dos créditos. Evite essa concentração.
Para enquadrar uma usina, olhe data do pedido, potência, modalidade e concentração, e confirme com a distribuidora.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o cliente paga o custo de disponibilidade de qualquer forma, cobrir cem por cento do consumo não faz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cota ideal é o consumo médio de doze meses menos o custo de disponibilidade. Os exemplos estão na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Aplique uma margem de segurança, olhe a sazonalidade e pergunte sobre mudanças previstas. Sobra de crédito é pior do que um pouco de consumo descoberto.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o rateio, divida a cota pela geração média da usina. A soma dos clientes nunca passa de cem por cento.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Configurações, Concessionárias, abra a Distribuidora Exemplo. O campo Tarifa GD2 é o valor do crédito usado nas propostas.
Na calculadora, aba Valor do crédito, preencha TE, TUSD, Fio B, ICMS e PIS e COFINS. Veja o crédito de 2026 a 2028.
Volte à plataforma, edite a concessionária e informe na Tarifa GD2 o crédito de 2026. Repita a cada reajuste.
Cadastre a distribuidora da sua empresa, com o valor do crédito calculado.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 ·  ETAPA 2 · REGULAÇÃO E NEGÓCIO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legal da geração distribuída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 que é geração distribuída: da REN 482 à Lei 14.300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Micro e minigeração: limites e quem pode gerar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As modalidades: autoconsumo local, remoto, geração compartilhada e EMUC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 sistema de compensação e os créditos de energia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GD I, GD II, GD III e a transição do Fio B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Custo de disponibilidade e a cota ideal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concessionária, tarifa GD e a calculadora de Fio B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Contar a evolução da GD no Brasil (REN 482 → REN 687 → Lei 14.300 → REN 1.059) e por que ela importa para o negócio.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micro e minigeração e conhecer limites e exigências.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Escolher a modalidade adequada (autoconsumo local/remoto, geração compartilhada, EMUC) — e saber que a assinatura usa a geração compartilhada.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Explicar o sistema de compensação: créditos em kWh, rateio, validade de 60 meses, sobras.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GD I, GD II e GD III e calcular o valor do crédito com a transição do Fio B.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geração distribuída: da REN 482 à Lei 14.300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GD e conhecer a evolução das regras que permitiram o negócio de assinatura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2012: a REN 482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2015: a REN 687 abre o modelo compartilhado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2022: a Lei 14.300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2023: a regulamentação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tamanho do mercado e o recado para o empreendedor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geração distribuída: da REN 482 à Lei 14.300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distribuída é micro e minigeração conectada à rede da distribuidora, com compensação: quem gera recebe créditos, não dinheiro.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distribuída (MMGD): micro e minigeração conectadas à rede de distribuição, com compensação de energia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6" name="Text 13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2012: a REN 482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611624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começou em 2012, com a criação do sistema de compensação.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 — REN 482: nasce o sistema de compensação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1" name="Text 18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2015: a REN 687 abre o modelo compartilhado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 — REN 687: autoconsumo remoto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compartilhada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condomínios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créditos por 60 meses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4" name="Text 21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2015 veio a virada: geração compartilhada e créditos por sessenta meses. É daí que nasce o negócio da assinatura.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geração distribuída: da REN 482 à Lei 14.300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2022: a Lei 14.300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 — Lei 14.300: marco legal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em lei (não só resolução)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transição do Fio B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direito adquirido até 2045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2022, a Lei 14.300 trouxe segurança jurídica, a transição do Fio B e o direito adquirido até 2045.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2023: a regulamentação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 — REN 1.059: ANEEL regulamenta a Lei 14.300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na REN 1.000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2023, a ANEEL regulamentou a lei. Os detalhes operacionais estão na Resolução Normativa mil.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tamanho do mercado e o recado para o empreendedor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de dezenas de gigawatts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mudam: acompanhe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curso é atualizado a cada semestre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mercado é grande e consolidado, mas a regra muda. Empresa saudável acompanha a regulação e faz contas com cenários.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e minigeração: limites e quem pode gerar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Conhecer os limites de potência, as exigências para minigeração e a vedação de divisão de usinas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Microgeração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Minigeração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Exigências da minigeração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pode gerar e a vedação de divisão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tamanho certo para o seu negócio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e minigeração: limites e quem pode gerar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Microgeração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microgeração vai até setenta e cinco quilowatts. Para assinatura, costuma ser pequena demais.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Microgeração: até 75 kW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6" name="Text 13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Minigeração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Minigeração: acima de 75 kW até 5 MW (fontes despacháveis)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3 MW para fontes não despacháveis, como a solar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9" name="Text 16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minigeração vai além, com limite de três megawatts para a solar nas regras atuais. É a faixa das usinas de assinatura.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Exigências da minigeração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Pedido de acesso e parecer da distribuidora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Projeto e obras de conexão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Garantia de fiel cumprimento (&gt; 500 kW)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Prazos para conectar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5" name="Text 22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minigeração exige parecer de acesso, obras de conexão e, acima de quinhentos quilowatts, garantia de fiel cumprimento. Usina com parecer aprovado vale muito mais do que um terreno com promessa.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e minigeração: limites e quem pode gerar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pode gerar e a vedação de divisão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4023360"/>
            <a:ext cx="4860036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proibido dividir uma usina grande em várias pequenas para caber nas regras. Desconfie desse atalho.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2286000"/>
            <a:ext cx="4860036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Proibido dividir uma central geradora para caber nos limites ou nas regras mais favoráveis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6" name="Text 13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tamanho certo para o seu negócio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500 kW: menos exigências e sem enquadramento GD III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de 500 kW: escala, mas atenção às regras do Fio B (aula 5)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9" name="Text 16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Guarde a marca de quinhentos quilowatts: acima dela entra uma regra mais pesada para certos casos, que vamos ver na aula cinco.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modalidades: autoconsumo local, remoto, geração compartilhada e EMUC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as quatro modalidades e entender por que a assinatura usa a geração compartilhada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local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remoto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compartilhada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EMUC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Comparando e escolhendo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modalidades: autoconsumo local, remoto, geração compartilhada e EMUC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local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autoconsumo local, gera-se e consome-se no mesmo lugar. É o que as integradoras vendem.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local: gera e consome no mesmo local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6" name="Text 13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remoto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611624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autoconsumo remoto, a usina fica em outro lugar, mas os créditos vão só para unidades do mesmo titular.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remoto: usina em outro local, créditos para unidades do mesmo titular (mesmo CPF ou CNPJ, matriz e filiais), na mesma distribuidora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1" name="Text 18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compartilhada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8400288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geração compartilhada, consumidores diferentes se reúnem numa entidade, como consórcio ou cooperativa, e dividem os créditos. É esse o mecanismo da assinatura.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400288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compartilhada: consumidores diferentes reunidos em consórcio, cooperativa, condomínio civil ou associação civil, na mesma distribuidora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AS MODALIDADES: AUTOCONSUMO LOCAL, REMOTO, GERAÇÃO COMPARTILHADA E EMUC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EMUC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10177272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EMUC — empreendimento com múltiplas unidades consumidoras: condomínios, mesma propriedade, áreas contíguas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EMUC atende condomínios, com alcance limitado.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AS MODALIDADES: AUTOCONSUMO LOCAL, REMOTO, GERAÇÃO COMPARTILHADA E EMUC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Comparando e escolhendo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Modalidade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Quem recebe créditos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 para assinatura?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Autoconsumo local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próprio local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Autoconsumo remoto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Unidades do mesmo titular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Só para 1 cliente por usina (usina dedicada)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Geração compartilhada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Participantes de consórcio/cooperativa/associação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— modelo principal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EMUC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Unidades do condomínio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Nicho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comparação na tela mostra por que a assinatura usa a geração compartilhada. E vale para todas: usina e clientes na mesma distribuidora.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 de energia = geração compartilhada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distribuidora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entidade jurídica reúne os participantes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de compensação e os créditos de energia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Explicar como os créditos nascem, são rateados, consumidos e expiram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crédito nasce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rateio entre os participantes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crédito abate a conta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e sobras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distribuidora faz e o que a sua empresa faz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de compensação e os créditos de energia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crédito nasce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4023360"/>
            <a:ext cx="4860036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crédito nasce no medidor da usina, em quilowatt-hora. O valor em reais só aparece na fatura do cliente.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2286000"/>
            <a:ext cx="4860036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injetada (kWh) − consumo da própria usina = excedente que vira crédito (em kWh)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6" name="Text 13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rateio entre os participantes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505956" y="4023360"/>
            <a:ext cx="4860036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créditos são divididos pela lista de rateio, em percentuais. Se a usina gera menos, todos recebem proporcionalmente menos. E atualizar essa lista é tarefa mensal da sua operação.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Rateio: cada beneficiário recebe um percentual dos créditos (informado à distribuidora)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 SISTEMA DE COMPENSAÇÃO E OS CRÉDITOS DE ENERGIA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crédito abate a conta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Padaria: consumo 2.500 kWh · créditos recebidos 2.400 kWh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Paga à distribuidora: 100 kWh (mínimo trifásico) + parcela não compensada do Fio B sobre 2.400 kWh + iluminação pública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conta da padaria, os créditos abatem o consumo, e ela continua pagando o mínimo e a parcela não compensada do Fio B.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de compensação e os créditos de energia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e sobras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Créditos valem 60 meses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Sobras ficam acumuladas na unidade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Créditos vencidos são perdidos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Sobras ficam acumuladas por até sessenta meses. Sobra recorrente é sinal de cota alta demais.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distribuidora faz e o que a sua empresa faz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Distribuidora: mede, gera créditos, rateia, fatura o cliente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empresa: mantém a lista de rateio, confere as faturas, cobra o cliente, paga o produtor, acompanha saldos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distribuidora mede, rateia e fatura. A sua empresa mantém o rateio, confere as faturas, cobra e paga o produtor. A fatura é a base da sua cobrança.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 em kWh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Rateio em %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de 60 meses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 da distribuidora = base da sua cobrança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I, GD II, GD III e a transição do Fio B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Enquadrar uma usina em GD I, II ou III e calcular o valor do crédito ano a ano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I: o direito adquirido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II: a transição do Fio 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valor do crédito, ano a ano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III: a regra das usinas grandes compartilhadas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saber o enquadramento de uma usina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GD I, GD II, GD III E A TRANSIÇÃO DO FIO B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I: o direito adquirido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I: usinas existentes ou com pedido de acesso protocolado até 7/1/2023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antiga (compensação integral) até 31/12/2045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GD um, das usinas existentes ou com pedido até janeiro de 2023, mantém a regra antiga até 2045. É um ativo valioso, e vale verificar na compra ou arrendamento.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GD I, GD II, GD III E A TRANSIÇÃO DO FIO B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II: a transição do Fio B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II: pedidos após 7/1/2023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parcela do Fio B NÃO compensada: 15% (2023)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(2024)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 (2025)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(2026)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(2027)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(2028)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2029+: regra definida pela ANEEL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GD dois, das usinas novas, paga uma parcela crescente do Fio B. Repare no gráfico: sessenta por cento em 2026, chegando a noventa em 2028. Depois disso, a regra depende da ANEEL.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GD I, GD II, GD III E A TRANSIÇÃO DO FIO B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valor do crédito, ano a ano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4663440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 do crédito ≈ tarifa sem impostos − (% não compensado × Fio B)</a:t>
            </a:r>
            <a:endParaRPr lang="en-US" sz="2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325880"/>
          <a:ext cx="5468112" cy="914400"/>
        </p:xfrm>
        <a:graphic>
          <a:graphicData uri="http://schemas.openxmlformats.org/drawingml/2006/table">
            <a:tbl>
              <a:tblPr/>
              <a:tblGrid>
                <a:gridCol w="1822704"/>
                <a:gridCol w="1822704"/>
                <a:gridCol w="18227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Fio B pago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Crédito (ex.: tarifa 0,80; Fio B 0,20)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0,80 − 0,12 = R$ 0,68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0,80 − 0,15 = R$ 0,65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0,80 − 0,18 = R$ 0,62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4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prática, o crédito cai de sessenta e oito para sessenta e dois centavos em dois anos. Se você promete um desconto fixo, essa queda sai da sua margem ou da do produtor.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I, GD II, GD III e a transição do Fio B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III: a regra das usinas grandes compartilhadas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III: minigeração acima de 500 kW em autoconsumo remoto ou geração compartilhada em que um titular detém 25% ou mais dos créditos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 100% do Fio B + 40% do Fio A + encargos (TFSEE e P&amp;D) até 2028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GD três atinge usinas acima de quinhentos quilowatts com um participante concentrando vinte e cinco por cento ou mais dos créditos. Evite essa concentração.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saber o enquadramento de uma usina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do pedido de acesso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Potência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Modalidade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de créditos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 com a distribuidora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enquadrar uma usina, olhe data do pedido, potência, modalidade e concentração, e confirme com a distribuidora.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I: regra antiga até 2045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II: Fio B crescente (60% em 2026)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III: Fio B integral + parte do Fio 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 vale cada vez menos → faça a conta com a transição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de disponibilidade e a cota ideal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Calcular a cota de créditos ideal para um cliente do grupo B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mínimo que o cliente sempre paga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fórmula da cota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Ajustes finos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cota ao percentual de rateio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CUSTO DE DISPONIBILIDADE E A COTA IDEAL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mínimo que o cliente sempre paga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Monofásico 30 kWh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Bifásico 50 kWh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Trifásico 100 kWh — o cliente do grupo B paga, no mínimo, o equivalente a isso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cliente paga o custo de disponibilidade de qualquer forma, cobrir cem por cento do consumo não faz sentido.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CUSTO DE DISPONIBILIDADE E A COTA IDEAL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fórmula da cota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Cota ideal (kWh/mês) = Consumo médio de 12 meses − Custo de disponibilidade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Padaria (trifásica): 2.500 − 100 = 2.400 kWh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Residência (bifásica): 450 − 50 = 400 kWh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cota ideal é o consumo médio de doze meses menos o custo de disponibilidade. Os exemplos estão na tela.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CUSTO DE DISPONIBILIDADE E A COTA IDEAL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Ajustes finos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Margem de segurança (ex.: 90–95% da cota)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Sazonalidade forte → olhar mês a mês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Mudanças previstas (ampliação, mudança, eficiência)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Aplique uma margem de segurança, olhe a sazonalidade e pergunte sobre mudanças previstas. Sobra de crédito é pior do que um pouco de consumo descoberto.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CUSTO DE DISPONIBILIDADE E A COTA IDEAL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cota ao percentual de rateio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de rateio = Cota do cliente ÷ Geração média da usina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Padaria: 2.400 ÷ 60.000 = 4,0% · Residência: 400 ÷ 60.000 = 0,67%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 rateio, divida a cota pela geração média da usina. A soma dos clientes nunca passa de cem por cento.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Cota = média 12 meses − custo de disponibilidade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de segurança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= cota ÷ geração média da usina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concessionária, tarifa GD e a calculadora de Fio B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Cadastrar/atualizar a distribuidora e a tarifa GD na plataforma e calcular o valor do crédito por ano na calculadora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Aula 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7 · CONCESSIONÁRIA, TARIFA GD E A CALCULADORA DE FIO B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oncessionari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Concessionárias e tarifa GD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distribuidora na plataforma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Configurações, Concessionárias, abra a Distribuidora Exemplo. O campo Tarifa GD2 é o valor do crédito usado nas propostas.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Calculando o valor do crédito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calculadora, aba Valor do crédito, preencha TE, TUSD, Fio B, ICMS e PIS e COFINS. Veja o crédito de 2026 a 2028.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Atualizando a tarifa na plataforma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Volte à plataforma, edite a concessionária e informe na Tarifa GD2 o crédito de 2026. Repita a cada reajuste.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Cadastrando a sua distribuidora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Cadastre a distribuidora da sua empresa, com o valor do crédito calculado.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lei que criou o marco legal da GD é 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 10.848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 14.300/2022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 482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 194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Microgeração vai até: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kW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kW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kW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kW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modalidade usada pelas empresas de assinatura é, em regra: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autoconsumo local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compartilhada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EMUC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livre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geração compartilhada, os participantes se reúnem em: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consórcio, cooperativa, condomínio ou associação civil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sociedade anônima obrigatoriamente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qualquer contrato de compra e venda de energia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há exigência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5–6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créditos de energia valem por: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meses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meses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sempre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2026, para um projeto GD II, qual parcela do Fio B não é compensada?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7–8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e clientes da geração compartilhada precisam estar: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mesmo município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área da mesma distribuidora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mesmo estado, qualquer distribuidora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qualquer lugar do país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cliente trifásico que consome 1.000 kWh deve receber, em regra, créditos de cerca de: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1.100 kWh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 kWh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 kWh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kWh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Lei 14.300/2022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75 kW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geração compartilhada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03276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21564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215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14248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consórcio, cooperativa, condomínio ou associação civil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03276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21564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215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14248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60 meses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03276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21564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215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14248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60%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473964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31520" y="492252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35" name="Text 32"/>
          <p:cNvSpPr/>
          <p:nvPr/>
        </p:nvSpPr>
        <p:spPr>
          <a:xfrm>
            <a:off x="731520" y="4922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1325880" y="484936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na área da mesma distribuidora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4322064" y="473964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4504944" y="492252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9" name="Text 36"/>
          <p:cNvSpPr/>
          <p:nvPr/>
        </p:nvSpPr>
        <p:spPr>
          <a:xfrm>
            <a:off x="4504944" y="4922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5099304" y="484936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900 kWh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Uma usina de 2,5 MW fotovoltaica pode ser minigeração?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Tarifa sem impostos R$ 0,80, Fio B R$ 0,20. Valor do crédito GD II em 2027?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Cliente bifásico, consumo médio 600 kWh. Cota ideal?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regulatória da minha empresa: modalidade escolhida (e por quê), distribuidora, faixa de potência das usinas pretendidas (micro/mini; abaixo ou acima de 500 kW), enquadramento esperado (GD II/GD III), valor do crédito estimado para 2026, 2027 e 2028 na distribuidora da região (pela calculadora).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— Marco legal da geração distribuída</dc:title>
  <dc:subject>PptxGenJS Presentation</dc:subject>
  <dc:creator>PptxGenJS</dc:creator>
  <cp:lastModifiedBy>PptxGenJS</cp:lastModifiedBy>
  <cp:revision>1</cp:revision>
  <dcterms:created xsi:type="dcterms:W3CDTF">2026-10-30T13:18:26Z</dcterms:created>
  <dcterms:modified xsi:type="dcterms:W3CDTF">2026-10-30T13:18:26Z</dcterms:modified>
</cp:coreProperties>
</file>