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Primeiro, a definição. Geração distribuída, no sentido que interessa ao seu negócio, é a micro e a minigeração de energia, a partir de fontes renováveis ou cogeração qualificada, conectada à rede da distribuidora por meio de uma unidade consumidora, e que participa do sistema de compensação de energia elétrica. Você vai ver a sigla MMGD, de micro e minigeração distribuída, em documentos oficiais. Na prática, quase toda a geração distribuída do Brasil é solar fotovoltaica. A ideia central é simples: quem gera injeta energia na rede e recebe créditos para abater o próprio consumo, ou o consumo de outras unidades autorizadas. Ninguém recebe dinheiro da distribuidora pela energia injetada — recebe créditos de energia.
Tudo começou em 2012, com a Resolução Normativa 482 da ANEEL. Ela criou o sistema de compensação: pela primeira vez, um consumidor podia instalar painéis solares, injetar o excedente na rede e usar os créditos depois. No início, o mercado foi pequeno: os equipamentos eram caros, havia pouca gente que conhecia e as regras eram restritas, focadas no autoconsumo no próprio local.
Em 2015, a Resolução 687 mudou o jogo. Ela ampliou as possibilidades: permitiu o autoconsumo remoto, em que a usina fica num lugar e os créditos vão para outra unidade do mesmo titular; permitiu a geração compartilhada, em que várias pessoas ou empresas se reúnem para ter uma usina em conjunto; permitiu a geração em condomínios; e estendeu a validade dos créditos para sessenta meses. É dessa resolução que nasce, na prática, o negócio que você está aprendendo: com a geração compartilhada, passou a ser possível reunir dezenas ou centenas de consumidores em torno de uma usina, sem que nenhum deles precise instalar nada em casa. Somado à queda forte no preço dos painéis, isso fez o mercado explodir nos anos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2022, tudo estava em resoluções da ANEEL, que podem ser alteradas pela própria agência. Isso gerava insegurança: e se a regra mudasse de repente? Em janeiro de 2022, foi publicada a Lei 14.300, o Marco Legal da Micro e Minigeração Distribuída. Ela trouxe três mudanças fundamentais. Primeiro, colocou as regras da geração distribuída em lei, o que dá muito mais segurança jurídica para quem investe. Segundo, criou a transição do Fio B: os novos projetos passaram a pagar, gradualmente, uma parte do uso da rede de distribuição, aquela que vimos no módulo 1. E terceiro, garantiu o direito adquirido: quem já tinha geração distribuída, ou pediu acesso até um prazo determinado, continua nas regras antigas até o fim de 2045. Esses três pontos definem o negócio hoje, e cada um tem uma aula própria neste módulo.
Em 2023, a ANEEL publicou a Resolução Normativa 1.059, que regulamentou a lei e incorporou as regras à Resolução 1.000, a grande norma que trata dos direitos e deveres na distribuição de energia. Na prática: a lei dá as regras gerais, e a REN 1.000 dá os detalhes operacionais — prazos, documentos, como a distribuidora deve faturar, como funciona o rateio dos créditos. Quando surgir uma dúvida específica, é lá que você, ou o seu consultor regulatório, vai procurar.
Hoje, a geração distribuída no Brasil soma dezenas de gigawatts instalados e milhões de unidades consumidoras recebendo créditos, e a geração compartilhada é uma das partes que mais crescem. É um mercado grande, real e consolidado. Mas o recado para você, empreendedor, é este: a regra muda. Mudou em 2015, em 2022, em 2023, e vai continuar evoluindo, em especial na valoração do Fio B a partir de 2029. Uma empresa saudável de assinatura acompanha a regulação de perto, coloca isso nos contratos e faz contas com cenários. Na próxima aula, vamos ver os limites de tamanho da geração distribuída e quem pode gerar.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microgeração é a geração distribuída com potência instalada de até setenta e cinco quilowatts. É o caso típico do telhado de uma casa, de um comércio, de uma pequena empresa. Uma microgeração de setenta e cinco quilowatts, numa região com produtividade de cento e vinte quilowatts-hora por kWp, gera algo em torno de nove mil quilowatts-hora por mês. Ou seja, já daria para atender, em tese, umas quinze a vinte residências. Mas, para um negócio de assinatura, a microgeração costuma ser pequena demais: o custo de gestão por usina é parecido, e a receita é baixa. Ela pode servir como primeira usina de um empreendedor que está testando o modelo.
A minigeração começa acima de setenta e cinco quilowatts. O limite superior depende do tipo de fonte. Para fontes despacháveis, aquelas que conseguem controlar quando geram, o limite é de cinco megawatts. Para fontes não despacháveis, como a solar fotovoltaica, que depende do sol, a Lei 14.300 fixou o limite em três megawatts para os novos pedidos, com regras de transição para quem já tinha pedido antes. É nessa faixa de minigeração, de algumas centenas de quilowatts até três megawatts, que estão as usinas das empresas de assinatura. Uma usina de três megawatts gera algo como trezentos e sessenta mil quilowatts-hora por mês — o suficiente para centenas de clientes.
A minigeração exige mais do que a microgeração. Primeiro, o pedido de acesso à distribuidora, que analisa se a rede naquele ponto suporta a usina e emite um parecer de acesso, com as condições e, às vezes, obras necessárias na rede. Segundo, o projeto e a obra de conexão, que podem ter custos relevantes. Terceiro, para usinas acima de quinhentos quilowatts, a lei exige uma garantia de fiel cumprimento, um valor proporcional ao investimento, para evitar que alguém reserve a capacidade da rede e não construa. E há prazos para a usina ser conectada depois do parecer. Para você, empreendedor, isso significa: uma usina com parecer de acesso aprovado vale muito mais do que um terreno com promessa de usina. Na due diligence, que veremos no módulo 4, o parecer de acesso é um dos primeiros documentos que você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pode ter geração distribuída? Qualquer consumidor, pessoa física ou jurídica, titular de uma unidade consumidora conectada à distribuidora. Na geração compartilhada, o titular da unidade onde a usina está conectada é, em regra, o consórcio, a cooperativa ou a associação que reúne os participantes — vamos ver isso na próxima aula. E existe uma vedação importante: é proibido dividir uma central geradora em unidades menores para se enquadrar nos limites de potência ou em regras mais favoráveis. Ou seja, não adianta pegar uma usina de dez megawatts e registrar como cinco usinas de dois megawatts no mesmo terreno. A distribuidora e a ANEEL podem identificar isso e negar o acesso ou enquadrar de outra forma. Desconfie de quem oferece esse tipo de "atalho".
Qual é o tamanho certo de usina para uma empresa de assinatura? Não existe um único número, mas existe um ponto de atenção: quinhentos quilowatts. Acima disso, além da garantia de fiel cumprimento, entra uma regra especial de cobrança do uso da rede para certos casos, a chamada GD III, que vamos estudar na aula 5. Por isso, muitas operações trabalham com usinas de até quinhentos quilowatts, ou estruturam as maiores de forma a não cair nessa regra. Anote essa dúvida, porque ela vai ser respondida com números daqui a pouco. Na próxima aula, as modalidades da geração distribuída — e por que a assinatura usa a geração compartilhada.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é o autoconsumo local. A geração fica no mesmo lugar onde a energia é consumida: o painel no telhado da casa, da loja, da fábrica. Durante o dia, a casa consome parte da energia gerada na hora, e o excedente vai para a rede e vira crédito. À noite, a casa consome da rede e usa os créditos. É o modelo clássico, vendido pelas integradoras. Se você já tem uma empresa solar, é o que você faz hoje. Não é o modelo da assinatura, porque exige que o cliente invista e tenha espaço.
A segunda é o autoconsumo remoto. A usina fica num lugar diferente, por exemplo num sítio, e os créditos vão para outras unidades consumidoras do mesmo titular: a mesma pessoa física, ou a mesma pessoa jurídica, incluindo matriz e filiais, desde que todas estejam na área da mesma distribuidora. É muito usado por redes de lojas, por exemplo: uma usina abastece todas as filiais. Para o seu negócio, o autoconsumo remoto aparece de duas formas. Você pode vender esse projeto para uma empresa grande, como integrador. Ou pode encontrar clientes que alugam uma usina inteira, dedicada a eles. Mas ele não serve para reunir muitos clientes diferentes, porque exige o mesmo titular.
A terceira é a geração compartilhada, e é a que mais interessa a você. Nela, consumidores diferentes, pessoas físicas e jurídicas, se reúnem numa forma jurídica prevista na lei — consórcio, cooperativa, condomínio civil voluntário ou edilício, ou outra forma de associação civil — para ter uma usina em conjunto. A unidade consumidora onde a usina está conectada fica em nome dessa entidade, e os créditos são distribuídos entre os participantes, cada um com o seu percentual. Todos precisam estar na área da mesma distribuidora. Repare no que isso permite: a padaria, a clínica e a residência, que não têm nada a ver uma com a outra, podem receber créditos da mesma usina, sem instalar nada. Basta participarem da entidade. É exatamente esse o mecanismo por trás da assinatura de energia. A sua empresa, em geral, organiza e administra essa entidade, a usina e a relação com os participantes, e é remunerada por isso. Como isso é montado juridicamente — consórcio, cooperativa, associação — é o tema do módulo 3, porque cada forma tem vantagens e obrigações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quarta é o empreendimento com múltiplas unidades consumidoras, a EMUC. É o caso de um condomínio, residencial ou comercial, em que a usina, instalada na própria área do condomínio, gera créditos para os apartamentos ou salas e para as áreas comuns, numa propriedade única ou em áreas contíguas. É um nicho interessante para integradores, mas tem alcance limitado ao próprio condomínio.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comparar. No autoconsumo local, os créditos ficam no próprio local. No remoto, vão para unidades do mesmo titular, o que só funciona para um cliente por usina. Na geração compartilhada, vão para os participantes da entidade, o que permite reunir muitos clientes diferentes. E na EMUC, para as unidades do condomínio. Por isso, a assinatura de energia para muitos clientes usa a geração compartilhada. Uma regra que vale para todas: usina e beneficiários precisam estar na área da mesma distribuidora. Uma empresa que atua em dois estados, com distribuidoras diferentes, precisa de usinas em cada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são quatro modalidades, e a assinatura de energia se apoia na geração compartilhada, em que os clientes participam de uma entidade que detém a usina, todos na mesma distribuidora. Na próxima aula, vamos entender como os créditos são calculados, distribuídos e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começa no medidor bidirecional da usina. Durante o mês, ele registra quanta energia foi injetada na rede e quanta foi consumida da rede pela própria unidade da usina — que, numa usina no solo, é pouca coisa, como a iluminação e os equipamentos auxiliares. A diferença é o excedente, que vira crédito. E um detalhe fundamental: o crédito é em quilowatt-hora, não em reais. A usina gera, digamos, sessenta mil quilowatts-hora de créditos no mês. Esses créditos vão abater quilowatts-hora consumidos pelos clientes. O valor em reais aparece só quando a distribuidora fatura cada cliente, aplicando a tarifa e as regras da transição do Fio B.
Na geração compartilhada, os créditos precisam ser divididos entre os participantes. Isso é feito pelo rateio: a entidade informa à distribuidora uma lista com as unidades consumidoras beneficiárias e o percentual dos créditos que cada uma recebe. Por exemplo: a padaria recebe quatro por cento, a clínica seis e meio por cento, a residência zero vírgula oito por cento, e assim por diante, somando cem por cento. Todo mês, a distribuidora pega os créditos gerados e distribui conforme essa lista. Repare que o rateio é em percentual, não em quilowatt-hora fixo. Se a usina gerar menos num mês, todos recebem proporcionalmente menos. Se gerar mais, todos recebem mais. É por isso que, no módulo 6, vamos aprender a calcular o percentual de cada cliente a partir do consumo dele e da geração média da usina. E atenção: alterar a lista de rateio tem regras e prazos definidos pela regulação e pelo procedimento da distribuidora. Toda vez que entra ou sai um cliente, a lista precisa ser atualizada. Isso é parte do trabalho mensal da sua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na conta do cliente. A distribuidora lê o consumo da padaria: dois mil e quinhentos quilowatts-hora. Ela recebeu dois mil e quatrocentos quilowatts-hora de créditos. Os créditos abatem o consumo, e sobram cem quilowatts-hora — que, por coincidência, é exatamente o mínimo de uma ligação trifásica. A padaria paga para a distribuidora esses cem quilowatts-hora, mais a parcela do Fio B que não é compensada sobre os dois mil e quatrocentos quilowatts-hora compensados — que em 2026 é de sessenta por cento do Fio B, para projetos novos —, mais a iluminação pública. A conta da padaria cai muito. Na fatura, isso aparece como linhas de energia injetada ou compensada, com quantidades e valores. No módulo 7, vamos ler essas linhas uma por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se o cliente recebe mais créditos do que consome? Por exemplo, numa residência que viajou e consumiu pouco num mês. Os créditos que sobram ficam acumulados na unidade consumidora e podem ser usados nos meses seguintes, por até sessenta meses. Depois disso, expiram. Para a sua operação, sobra de crédito é sinal de alerta. Ela significa que você está entregando energia que o cliente não está usando — e, dependendo do seu contrato, cobrando por ela. Cliente que acumula crédito e paga por isso fica insatisfeito. E crédito vencido é energia perdida. Uma boa operação acompanha o saldo de créditos de cada cliente e ajusta o percentual de rateio quando o consumo muda.
Vamos separar os papéis. A distribuidora mede a usina e os clientes, gera os créditos, aplica o rateio conforme a lista e emite a conta de cada cliente. A sua empresa mantém a lista de rateio atualizada, recebe e confere as faturas dos clientes, calcula e cobra a mensalidade de cada um, repassa ao produtor a parte dele e acompanha geração e saldos. Repare que a sua cobrança depende da fatura da distribuidora: é dela que você tira quanto foi compensado. Por isso a plataforma importa as faturas e extrai esses números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o crédito nasce em quilowatt-hora na usina, é distribuído em percentuais entre os beneficiários, abate o consumo de cada um e vale por sessenta meses. A fatura da distribuidora é a base da sua cobrança. Na próxima aula, a aula mais importante do módulo: GD um, dois e três, e a transição do Fio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grupo é o GD um. Ele reúne as usinas que já estavam conectadas quando a lei foi publicada, em janeiro de 2022, e as que protocolaram o pedido de acesso na distribuidora em até doze meses depois disso, ou seja, até janeiro de 2023. Essas usinas têm direito adquirido: continuam na regra antiga, em que o crédito compensa praticamente toda a tarifa, incluindo o Fio B, até o fim de 2045. Para o seu negócio, isso significa que uma usina GD um é um ativo valioso: cada crédito dela vale mais do que o de uma usina nova. Se você for arrendar ou comprar uma usina existente, verifique se ela é GD um e em quais condições esse direito se mantém — por exemplo, um aumento de potência pode não estar coberto pelo direito adquirido. Esse é um item obrigatório na due diligence do módulo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segundo grupo é o GD dois: as usinas que pediram acesso depois daquele prazo. É o caso de praticamente todas as usinas novas que você vai encontrar ou construir. Para elas, vale a transição do Fio B. Lembra do Fio B, a parte da tarifa que remunera a rede de distribuição? Para o GD dois, uma parcela do Fio B não é compensada pelos créditos e continua sendo paga pelo cliente. Essa parcela sobe ano a ano: quinze por cento em 2023, trinta em 2024, quarenta e cinco em 2025, sessenta em 2026, setenta e cinco em 2027 e noventa em 2028. A partir de 2029, a regra passa a seguir a valoração dos custos e benefícios da geração distribuída, feita pela ANEEL a partir de diretrizes do governo. Enquanto essa valoração não estiver definida, trate 2029 em diante como um cenário a ser simulado com cuidado, não como uma certeza. E um ponto que muita gente esquece: o percentual vale para o ano do faturamento, não para o ano em que a usina foi conectada. Uma usina GD dois conectada em 2024 paga sessenta por cento do Fio B em 2026 e setenta e cinco em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transformar isso em número, com o nosso exemplo ilustrativo: tarifa sem impostos de oitenta centavos, sendo vinte centavos de Fio B. O valor do crédito para o cliente é, de forma simplificada, a tarifa menos a parcela do Fio B que ele continua pagando. Em 2026, sessenta por cento de vinte centavos são doze centavos, e o crédito vale sessenta e oito centavos. Em 2027, setenta e cinco por cento: quinze centavos, e o crédito vale sessenta e cinco. Em 2028, noventa por cento: dezoito centavos, e o crédito vale sessenta e dois. Repare: em dois anos, o valor de cada crédito cai cerca de nove por cento — sem contar os reajustes da tarifa, que normalmente sobem. Agora pense: se a sua empresa promete ao cliente um desconto de vinte por cento sobre a conta, e o crédito vale cada vez menos, de onde sai esse desconto? Ou da sua margem, ou da remuneração do produtor. É por isso que o modelo de negócio precisa ser calculado com a transição, como faremos no módulo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terceiro grupo é o GD três, uma regra específica e mais pesada. Ele se aplica a usinas de minigeração acima de quinhentos quilowatts, em autoconsumo remoto, ou em geração compartilhada em que um único participante fica com vinte e cinco por cento ou mais dos créditos. Para esses casos, não há a transição gradual: paga-se cem por cento do Fio B, mais quarenta por cento do Fio A e alguns encargos, até 2028. Na prática, o crédito vale bem menos. O recado para o seu negócio é claro. Se a sua usina tem mais de quinhentos quilowatts e opera em geração compartilhada, evite que um único cliente concentre vinte e cinco por cento ou mais dos créditos. Uma usina de um megawatt atendendo uma única rede de supermercados com metade da energia pode cair no GD três. A mesma usina, dividida entre duzentos clientes, cada um com menos de um por cento, fica no GD dois. A plataforma ajuda nisso: no vínculo de cada cliente com a usina, você registra o percentual dele, e o controle de alocação mostra a distribuição. Mas a regra de negócio é sua: monitore a concentração.
Como saber em qual grupo está uma usina? Olhe a data do protocolo do pedido de acesso, a potência instalada, a modalidade e, na geração compartilhada, a concentração dos créditos. Quando houver dúvida, confirme com a distribuidora e com um especialista regulatório. Errar o enquadramento é errar toda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GD um mantém a regra antiga até 2045. GD dois paga uma parcela crescente do Fio B — sessenta por cento em 2026. GD três, para usinas grandes concentradas, paga o Fio B inteiro e parte do Fio A. O valor do crédito cai ano a ano para as usinas novas, e o seu modelo de negócio precisa considerar isso. Na próxima aula, uma regra que afeta o tamanho da cota de cada cliente: o custo de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 já conhece o custo de disponibilidade: o mínimo que o cliente do grupo B paga pela rede, equivalente a trinta, cinquenta ou cem quilowatts-hora, conforme a ligação. Na prática, mesmo com créditos de geração distribuída, a conta do cliente não fica abaixo desse mínimo. Se os créditos abaterem todo o consumo, o cliente continua pagando o mínimo, e o crédito que cobriu essa parte não traz economia nenhuma — vira sobra. Por isso a regra prática do mercado é: a cota de créditos cobre o consumo médio menos o custo de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fórmula é simples. A cota ideal, em quilowatts-hora por mês, é o consumo médio dos últimos doze meses menos o custo de disponibilidade. Para a padaria, trifásica, com consumo médio de dois mil e quinhentos quilowatts-hora, a cota é de dois mil e quatrocentos. Para a residência, bifásica, com quatrocentos e cinquenta, a cota é de quatrocentos. Use sempre a média de doze meses, nunca o mês mais recente: o consumo varia com as estações, com o ar-condicionado no verão, com o movimento do comércio.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prática, três ajustes melhoram a cota. Primeiro, uma margem de segurança. Muitas operações destinam algo entre noventa e noventa e cinco por cento da cota calculada, porque o consumo pode cair — o cliente troca a geladeira, instala lâmpadas de LED, passa a viajar mais. Sobra de crédito é pior do que um pouco de consumo descoberto. Segundo, a sazonalidade. Se o cliente consome muito no verão e pouco no inverno, a média esconde meses de sobra. Converse com o cliente e olhe o histórico mês a mês. Os créditos que sobram num mês podem ser usados nos seguintes, mas, se a sobra for estrutural, reduza a cota. Terceiro, mudanças previstas: uma ampliação da loja, uma mudança de endereço, um sistema solar próprio no telhado. Pergunte sempre na venda.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a ligação com o rateio. A distribuidora trabalha com percentuais. Para transformar a cota em percentual, divida a cota do cliente pela geração média mensal da usina. Na usina Sol Nascente I, com sessenta mil quilowatts-hora por mês, a padaria fica com dois mil e quatrocentos dividido por sessenta mil: quatro por cento. A residência, com quatrocentos, fica com zero vírgula sessenta e sete por cento. Somando os percentuais de todos os clientes, você nunca pode passar de cem por cento. E, se a usina gerar abaixo da média num mês, todos recebem proporcionalmente menos. No módulo 6, você vai fazer essa alocação para quinze clientes na plataforma, que avisa quando a energia alocada passa da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a cota ideal é o consumo médio de doze meses menos o custo de disponibilidade, com uma margem de segurança e atenção à sazonalidade. O percentual de rateio é a cota dividida pela geração média da usina. No laboratório da próxima aula, você vai cadastrar a tarifa da distribuidora na plataforma e usar a calculadora do curso para achar o valor do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menu, abra Configurações e depois Concessionárias. Aqui ficam as distribuidoras em que a sua empresa atua. Abra a Distribuidora Exemplo. Os campos são o nome, o estado, o status e a tarifa GD2. A tarifa GD2 é o valor do quilowatt-hora de crédito que a plataforma usa como referência nas propostas para produtores, para calcular quanto a usina vai render. O nome vem do enquadramento GD dois que você estudou na aula 5: é o valor do crédito para usinas novas. Repare que ele não é a tarifa cheia da conta de luz, e sim o valor do crédito depois da parcela do Fio B que não é compensada. E é a sua empresa que define e atualiza esse número, com base na tarifa homologada pela ANEEL.
Agora vá para a calculadora do curso, aba Valor do crédito. Preencha a tarifa de energia, a TE, e a tarifa de uso, a TUSD, sem impostos, do subgrupo que você atende, e o valor do Fio B. Para o nosso exercício, use os números ilustrativos: TE trinta e cinco centavos, TUSD quarenta e cinco centavos, Fio B vinte centavos. Preencha também os tributos: ICMS de dezoito por cento e PIS mais COFINS de cinco por cento. A calculadora mostra o valor do crédito em cada ano: em 2026, com sessenta por cento do Fio B pago, sessenta e oito centavos sem impostos; em 2027, sessenta e cinco; em 2028, sessenta e dois. E mostra também o valor com impostos, que é o que aparece na fatura do cliente. Para a sua distribuidora real, pegue os valores no site da ANEEL, como mostramos no módulo 1. Atenção ao tratamento dos impostos sobre a parte compensada: ele depende do seu estado, por isso a calculadora tem um campo para você escolher a regra que o seu contador indicar.
Volte à plataforma, clique para editar a Distribuidora Exemplo e preencha a tarifa GD2 com o valor do crédito de 2026 que você calculou. Salve. Pronto: a partir de agora, as propostas de produtor desta distribuidora usam esse valor. Uma boa prática: anote, numa planilha de controle, a data e a origem de cada atualização — qual resolução da ANEEL, qual reajuste. E crie um lembrete anual para a data de reajuste da sua distribuidora. Errar esse número é errar todas as propostas.
Agora, a parte da sua empresa. Volte à lista de concessionárias e cadastre a distribuidora da região que você escolheu na ficha do M0, com o nome, o estado e a tarifa GD2 que você calcular na planilha com os valores reais. Se ainda não tiver os valores reais, use os ilustrativos por enquanto e volte para atualizar depois. A partir daqui, a sua usina e os seus clientes vão ser cadastrados nessa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 ·  ETAPA 2 · REGULAÇÃO E NEGÓCIO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legal da geração distribuída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que é geração distribuída: da REN 482 à Lei 14.300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Micro e minigeração: limites e quem pode gerar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 modalidades: autoconsumo local, remoto, geração compartilhada e EMUC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 sistema de compensação e os créditos de energia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GD I, GD II, GD III e a transição do Fio 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Custo de disponibilidade e a cota ideal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concessionária, tarifa GD e a calculadora de Fio B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a evolução da GD no Brasil (REN 482 → REN 687 → Lei 14.300 → REN 1.059) e por que ela importa para o negócio.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micro e minigeração e conhecer limites e exigências.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a modalidade adequada (autoconsumo local/remoto, geração compartilhada, EMUC) — e saber que a assinatura usa a geração compartilhada.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o sistema de compensação: créditos em kWh, rateio, validade de 60 meses, sobras.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GD I, GD II e GD III e calcular o valor do crédito com a transição do Fio B.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geração distribuída: da REN 482 à Lei 14.300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GD e conhecer a evolução das regras que permitiram o negócio de assinatura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a REN 482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 REN 687 abre o modelo compartilhado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 a Lei 14.300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a regulamentação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do mercado e o recado para o empreendedor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geração distribuída: da REN 482 à Lei 14.300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(MMGD): micro e minigeração conectadas à rede de distribuição, com compensação de energia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a REN 482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1624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— REN 482: nasce o sistema de compensação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 REN 687 abre o modelo compartilhado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0288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— REN 687: autoconsumo remoto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por 60 meses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geração distribuída: da REN 482 à Lei 14.300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 a Lei 14.300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— Lei 14.300: marco legal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em lei (não só resolução)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do Fio B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adquirido até 2045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a regulamentação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1624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— REN 1.059: ANEEL regulamenta a Lei 14.300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na REN 1.000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do mercado e o recado para o empreendedor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0288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dezenas de gigawatts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mudam: acompanhe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curso é atualizado a cada semestre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e minigeração: limites e quem pode gerar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os limites de potência, as exigências para minigeração e a vedação de divisão de usinas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Microgeração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Minigeração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Exigências da minigeração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pode gerar e a vedação de divisão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certo para o seu negócio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e minigeração: limites e quem pode gerar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Microgeração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Microgeração: até 75 kW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Minigeração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1624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Minigeração: acima de 75 kW até 5 MW (fontes despacháveis)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3 MW para fontes não despacháveis, como a solar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Exigências da minigeração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0288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Pedido de acesso e parecer da distribuidora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Projeto e obras de conexão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Garantia de fiel cumprimento (&gt; 500 kW)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Prazos para conectar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e minigeração: limites e quem pode gerar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pode gerar e a vedação de divisão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dividir uma central geradora para caber nos limites ou nas regras mais favoráveis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certo para o seu negócio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5956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500 kW: menos exigências e sem enquadramento GD III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500 kW: escala, mas atenção às regras do Fio B (aula 5)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modalidades: autoconsumo local, remoto, geração compartilhada e EMUC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as quatro modalidades e entender por que a assinatura usa a geração compartilhada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local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remoto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modalidades: autoconsumo local, remoto, geração compartilhada e EMUC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local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local: gera e consome no mesmo local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remoto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11624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remoto: usina em outro local, créditos para unidades do mesmo titular (mesmo CPF ou CNPJ, matriz e filiais), na mesma distribuidora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0288" y="2286000"/>
            <a:ext cx="2965704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compartilhada: consumidores diferentes reunidos em consórcio, cooperativa, condomínio civil ou associação civil, na mesma distribuidora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AS MODALIDADES: AUTOCONSUMO LOCAL, REMOTO, GERAÇÃO COMPARTILHADA E EMUC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EMUC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10177272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EMUC — empreendimento com múltiplas unidades consumidoras: condomínios, mesma propriedade, áreas contíguas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AS MODALIDADES: AUTOCONSUMO LOCAL, REMOTO, GERAÇÃO COMPARTILHADA E EMUC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recebe créditos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 para assinatura?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Autoconsumo local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próprio local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Autoconsumo remoto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do mesmo titular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para 1 cliente por usina (usina dedicada)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Geração compartilhada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Participantes de consórcio/cooperativa/associação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— modelo principal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EMUC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do condomínio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de energia = geração compartilhada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distribuidora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 jurídica reúne os participantes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de compensação e os créditos de energia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como os créditos nascem, são rateados, consumidos e expiram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nasce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rateio entre os participantes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abate a conta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e sobras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distribuidora faz e o que a sua empresa faz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de compensação e os créditos de energia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nasce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injetada (kWh) − consumo da própria usina = excedente que vira crédito (em kWh)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rateio entre os participantes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5956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Rateio: cada beneficiário recebe um percentual dos créditos (informado à distribuidora)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 SISTEMA DE COMPENSAÇÃO E OS CRÉDITOS DE ENERGIA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abate a conta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852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Padaria: consumo 2.500 kWh · créditos recebidos 2.400 kWh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 à distribuidora: 100 kWh (mínimo trifásico) + parcela não compensada do Fio B sobre 2.400 kWh + iluminação pública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de compensação e os créditos de energia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e sobras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valem 60 meses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Sobras ficam acumuladas na unidade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vencidos são perdidos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distribuidora faz e o que a sua empresa faz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5956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Distribuidora: mede, gera créditos, rateia, fatura o cliente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empresa: mantém a lista de rateio, confere as faturas, cobra o cliente, paga o produtor, acompanha saldos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em kWh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 em 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60 meses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da distribuidora = base da sua cobrança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I, GD II, GD III e a transição do Fio B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Enquadrar uma usina em GD I, II ou III e calcular o valor do crédito ano a ano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o direito adquirido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a transição do Fio 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crédito, ano a ano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III: a regra das usinas grandes compartilhadas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saber o enquadramento de uma usina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GD I, GD II, GD III E A TRANSIÇÃO DO FIO 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o direito adquirido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usinas existentes ou com pedido de acesso protocolado até 7/1/2023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antiga (compensação integral) até 31/12/2045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GD I, GD II, GD III E A TRANSIÇÃO DO FIO 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a transição do Fio 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pedidos após 7/1/2023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do Fio B NÃO compensada: 15% (2023)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(2024)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(2025)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63640" y="132588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(2026)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(2027)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(2028)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2029+: regra definida pela ANEEL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GD I, GD II, GD III E A TRANSIÇÃO DO FIO 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crédito, ano a ano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do crédito ≈ tarifa sem impostos − (% não compensado × Fio B)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468112" cy="914400"/>
        </p:xfrm>
        <a:graphic>
          <a:graphicData uri="http://schemas.openxmlformats.org/drawingml/2006/table">
            <a:tbl>
              <a:tblPr/>
              <a:tblGrid>
                <a:gridCol w="1822704"/>
                <a:gridCol w="1822704"/>
                <a:gridCol w="18227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Fio B pago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 (ex.: tarifa 0,80; Fio B 0,20)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0,80 − 0,12 = R$ 0,68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0,80 − 0,15 = R$ 0,65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0,80 − 0,18 = R$ 0,62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I, GD II, GD III e a transição do Fio B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III: a regra das usinas grandes compartilhadas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III: minigeração acima de 500 kW em autoconsumo remoto ou geração compartilhada em que um titular detém 25% ou mais dos créditos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100% do Fio B + 40% do Fio A + encargos (TFSEE e P&amp;D) até 2028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saber o enquadramento de uma usina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5956" y="2286000"/>
            <a:ext cx="4860036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do pedido de acesso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Potência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de créditos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com a distribuidora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regra antiga até 2045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Fio B crescente (60% em 2026)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III: Fio B integral + parte do Fio 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vale cada vez menos → faça a conta com a transição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disponibilidade e a cota ideal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a cota de créditos ideal para um cliente do grupo B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mínimo que o cliente sempre paga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da cota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finos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cota ao percentual de rateio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CUSTO DE DISPONIBILIDADE E A COTA IDEAL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mínimo que o cliente sempre paga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Monofásico 30 kWh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Bifásico 50 kWh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Trifásico 100 kWh — o cliente do grupo B paga, no mínimo, o equivalente a isso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CUSTO DE DISPONIBILIDADE E A COTA IDEAL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da cota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852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Cota ideal (kWh/mês) = Consumo médio de 12 meses − Custo de disponibilidade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 (trifásica): 2.500 − 100 = 2.400 kWh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Residência (bifásica): 450 − 50 = 400 kWh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CUSTO DE DISPONIBILIDADE E A COTA IDEAL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finos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Margem de segurança (ex.: 90–95% da cota)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Sazonalidade forte → olhar mês a mês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Mudanças previstas (ampliação, mudança, eficiência)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CUSTO DE DISPONIBILIDADE E A COTA IDEAL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cota ao percentual de rateio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852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 rateio = Cota do cliente ÷ Geração média da usina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Padaria: 2.400 ÷ 60.000 = 4,0% · Residência: 400 ÷ 60.000 = 0,67%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= média 12 meses − custo de disponibilidade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segurança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cota ÷ geração média da usina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concessionária, tarifa GD e a calculadora de Fio B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Cadastrar/atualizar a distribuidora e a tarifa GD na plataforma e calcular o valor do crédito por ano na calculadora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7 · CONCESSIONÁRIA, TARIFA GD E A CALCULADORA DE FIO 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oncessionari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Concessionárias e tarifa GD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distribuidora na plataforma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Concessionárias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Calculando o valor do crédito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TE · TUSD · Fio B · ICMS · PIS/COFINS · Saídas: valor do crédito por ano, sem e com impostos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Atualizando a tarifa na plataforma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GD2 = valor do crédito do ano corrente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sua distribuidora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Cadastre a distribuidora da sua empresa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Uma usina de 2,5 MW fotovoltaica pode ser minigeração?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Tarifa sem impostos R$ 0,80, Fio B R$ 0,20. Valor do crédito GD II em 2027?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Cliente bifásico, consumo médio 600 kWh. Cota ideal?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546811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54480"/>
            <a:ext cx="482803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regulatória da minha empresa: modalidade escolhida (e por quê), distribuidora, faixa de potência das usinas pretendidas (micro/mini; abaixo ou acima de 500 kW), enquadramento esperado (GD II/GD III), valor do crédito estimado para 2026, 2027 e 2028 na distribuidora da região (pela calculadora).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— Marco legal da geração distribuída</dc:title>
  <dc:subject>PptxGenJS Presentation</dc:subject>
  <dc:creator>PptxGenJS</dc:creator>
  <cp:lastModifiedBy>PptxGenJS</cp:lastModifiedBy>
  <cp:revision>1</cp:revision>
  <dcterms:created xsi:type="dcterms:W3CDTF">2026-10-30T11:40:27Z</dcterms:created>
  <dcterms:modified xsi:type="dcterms:W3CDTF">2026-10-30T11:40:27Z</dcterms:modified>
</cp:coreProperties>
</file>