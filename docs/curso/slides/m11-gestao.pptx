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desenho mais comum tem três camadas. A gestora: a sua empresa, normalmente uma sociedade limitada, que emprega a equipe, contrata a plataforma e os parceiros e recebe a taxa de administração. As entidades: uma ou mais, conforme o público — por exemplo, um consórcio para empresas e uma cooperativa ou associação para residências —, cada uma titular das unidades das usinas ligadas a ela, com contrato de gestão com a sua empresa. E as usinas: locadas pelas entidades junto aos produtores. Se você for dono de usinas, no modelo asset-heavy, é comum colocar cada usina numa sociedade de propósito específico, uma SPE: isso separa o risco e o financiamento de cada usina e facilita vender ou trazer um investidor para uma usina específica.
Por que tanta separação? Primeiro, para isolar riscos: um problema numa usina não contamina a gestora nem as outras usinas. Segundo, para facilitar financiamento: bancos e investidores preferem financiar uma SPE com uma usina e contratos claros. Terceiro, para a governança: na cooperativa ou na associação, quem decide é a assembleia; na gestora, os sócios. E quarto, para a tributação adequada de cada atividade, que é o tema da próxima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Faça um inventário dos contratos. O contrato social da gestora e, se houver mais de um sócio, um acordo de sócios — quem investe, quem trabalha, o que acontece se um sair. A constituição de cada entidade. O contrato de gestão entre a entidade e a gestora. A locação de cada usina. O contrato de adesão do cliente. Os contratos com parceiros: manutenção, seguro, meio de pagamento, plataforma. E a política de privacidade e os termos de uso do portal. Cada um deles deve ter cláusulas de reequilíbrio regulatório coerentes entre 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você já tem uma integradora, avalie separar a atividade de gestão em outra empresa, ou pelo menos ter as atividades bem definidas. Quando a sua integradora constrói e mantém a usina que a sua gestora administra, os contratos de obra e de manutenção devem ter preço e condições de mercado — o investidor vai perguntar. Transparência nesse ponto é o que dá credibilidade ao modelo híbrido.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Resumindo: gestora, entidades por público e usinas, eventualmente em SPEs; um inventário completo de contratos coerentes entre si; e tudo validado por um advogado especializado em energia. Na próxima aula, os tributos.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Primeira camada: a energia compensada na conta do cliente. Em nível federal, há previsão legal de alíquota zero de PIS e COFINS sobre a energia compensada pelo sistema de compensação. No ICMS, existe um convênio entre os estados que permite isentar a energia compensada, mas cada estado define a adesão e as condições — por exemplo, limites de potência, modalidades atendidas e o tratamento das parcelas que continuam sendo pagas, como o Fio B e o custo de disponibilidade. Na prática, isso muda o valor do crédito com impostos e, portanto, a economia do cliente. Por isso a calculadora do curso tem um campo para a regra do seu estado. Peça ao contador a regra exata da sua UF e confira numa fatura real.
Segunda camada: a sua gestora. A receita dela é a taxa de administração, uma receita de prestação de serviços. Os regimes mais comuns são o Simples Nacional, com guia única, em que a alíquota efetiva depende do anexo de enquadramento da atividade e, em serviços, do chamado fator R, a relação entre folha de pagamento e faturamento; o Lucro Presumido, em que imposto de renda e contribuição social incidem sobre uma base presumida para serviços, mais PIS e COFINS cumulativos e o ISS; e o Lucro Real, que costuma fazer sentido para estruturas maiores ou de margem baixa. Em todos, há ISS municipal sobre a taxa de gestão, com a alíquota do município. Lembre: na conta do módulo 3, usamos dez por cento da taxa como imposto apenas como exemplo. Coloque o número real do seu contador na calculadora.
Terceira camada: a entidade e o produtor. O tratamento muda conforme a forma: no consórcio, os efeitos tributários costumam recair sobre as consorciadas, conforme o contrato; na cooperativa, existe o regime do ato cooperativo; na associação, as regras de entidade sem fins lucrativos, com as condições que elas exigem. E o aluguel que o produtor recebe é rendimento tributável dele — pessoa física ou jurídica —, o que vale explicar na proposta, porque o produtor vai comparar o rendimento líquido.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fim, a reforma tributária, que vai mudar a tributação do consumo no Brasil nos próximos anos. Em linhas gerais: 2026 é um ano de teste dos novos tributos; em 2027, a CBS, federal, substitui o PIS e a COFINS; entre 2029 e 2032, o ICMS e o ISS vão sendo substituídos gradualmente pelo IBS; e, em 2033, o sistema novo funciona plenamente. Como isso vai tratar a energia compensada na geração distribuída e os serviços da gestora depende de regulamentação que ainda está sendo detalhada. Duas atitudes práticas: inclua a reforma nos cenários do seu plano e nas cláusulas de reequilíbrio dos contratos, e acompanhe as atualizações semestrais deste 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Resumindo: três camadas — a energia compensada, com regras federais e estaduais; a gestora, com o regime e o ISS; a entidade e o produtor — e a reforma tributária no horizonte. Leve as perguntas do exercício ao seu contador. Na próxima aula, os riscos do negócio.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ferramenta é uma matriz simples: para cada risco, avalie a probabilidade de acontecer e o impacto se acontecer, de baixo a alto. Os riscos de alta probabilidade e alto impacto exigem ação imediata. Os de baixa probabilidade e alto impacto exigem um plano pronto. E cada risco ganha um dono: a pessoa que acompanha e executa a mitigação.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Vamos aos dez riscos que toda empresa de assinatura deve mapear. Um: o regulatório, como a regra do Fio B a partir de 2029 e outras mudanças. Mitigação: trabalhar com cenários, ter cláusulas de reequilíbrio e acompanhar a regulação. Dois: a abertura do mercado livre para os consumidores de baixa tensão, que pode dar ao seu cliente outras opções. Mitigação: relacionamento forte, economia comprovada mês a mês e, no futuro, avaliar oferecer também esse produto. Três: geração abaixo do esperado ou usina parada. Mitigação: due diligence, manutenção com prazo de atendimento, seguro, monitoramento e mais de uma usina. Quatro: vender mais energia do que existe e concentração de clientes. Mitigação: as travas da plataforma, ocupação no máximo em noventa e oito por cento e um limite por cliente. Cinco: inadimplência. Mitigação: a régua de cobrança, o Pix como padrão, comissão só depois da primeira cobrança paga e análise na entrada. Seis: cancelamentos. Mitigação: explicar as duas contas, o relatório de economia e um bom suporte. Sete: a distribuidora, com rateio atrasado ou erros na fatura. Mitigação: dia fixo para o rateio, protocolos guardados e a conferência entre esperado e faturado. Oito: dependência de um único produtor ou usina. Mitigação: um portfólio de usinas e contratos com prazo e plano de transição. Nove: jurídico e de consumidor. Mitigação: contratos revisados, linguagem correta e LGPD. E dez: o caixa. Muitas empresas boas morrem antes do ponto de equilíbrio. Mitigação: um plano financeiro realista, estrutura fixa enxuta e metas comerciais acompanhadas toda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matriz não é um documento para a gaveta. Revise a cada trimestre: algum risco ficou mais provável? Algum incidente aconteceu? A mitigação funcionou? Registre os incidentes, mesmo os pequenos, porque eles mostram onde a empresa está frágil.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Resumindo: mapeie os dez riscos, classifique por probabilidade e impacto, dê a cada um um dono e um plano, e revise a cada trimestre. A sua matriz faz parte do entregável deste módulo. Na próxima aula, como crescer: time, papéis e processos.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primeira fase, até cerca de trezentos clientes, a estrutura é mínima. O dono cuida da gestão, das usinas e dos produtores, e muitas vezes vende também. Um operador cuida das faturas, das cobranças, do rateio e do suporte, seguindo o SOP. Dois ou três consultores vendem. E os parceiros externos: contador, advogado e a empresa de manutenção. Na plataforma, o dono e o operador são administradores, e os vendedores são consultores, cada um com a própria carteira. Nesta fase, o dono precisa conhecer cada processo por dentro — foi para isso que você fez os laboratórios.
Na segunda fase, a empresa se divide em áreas. Um gestor comercial, com cinco a dez consultores. Uma área de operações, com duas ou três pessoas, separando faturas e rateio de um lado e cobrança do outro. Atendimento, com uma ou duas pessoas. Financeiro e repasses aos produtores. E alguém dedicado a captar usinas, porque o crescimento passa a depender de energia nova todo mês. A plataforma acompanha: cada consultor segue vendo só a carteira dele, os alertas financeiros vão para o consultor responsável e os de fatura e sistema ficam com a operação.
Na terceira fase, a empresa atua em várias distribuidoras, e a operação se organiza por distribuidora, porque cada uma tem o seu calendário, o seu layout de fatura e o seu procedimento de rateio. Surge a gestão do portfólio de usinas e de investidores, uma área de qualidade e auditoria — conferindo amostras de faturas e cobranças — e um plano de expansão para novas regiões.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permite escalar não são as pessoas, são os processos. O SOP escrito e treinado. Checklists para as tarefas críticas: revisão de fatura, rateio, fechamento. Metas por área, ligadas aos doze indicadores. Rituais curtos: quinze minutos por dia, trinta por semana, o fechamento mensal. E uma dica valiosa: use o próprio laboratório deste curso para treinar cada novo colaborador antes de ele mexer na operação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Resumindo: comece enxuto, crie áreas quando a base passar de algumas centenas, organize por distribuidora quando expandir, e invista em processos antes de pessoas. Desenhe os seus organogramas no exercício. Na próxima aula, a tecnologia e a marca da sua empresa na plataforma.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Abra Configurações, Identidade Visual. Preencha o nome da plataforma com o nome da sua empresa. Escolha as cores: primária, secundária, de destaque, a cor de fundo do menu e a cor do texto e dos ícones. Envie o logotipo da plataforma, um logotipo específico para o boleto em PDF — normalmente uma versão horizontal, que funciona bem impressa — e o favicon, o ícone da aba do navegador. A tela mostra uma prévia do menu antes de salvar. Salve e recarregue: o menu, o login, os e-mails e os PDFs de proposta e de boleto passam a usar a sua marca. Gere uma proposta para ver.
Agora, a equipe. Em Usuários, Consultores Cadastrados, crie um consultor. A senha precisa seguir a política da plataforma: pelo menos oito caracteres, com letras e números. Esse consultor vai ver só a própria carteira. Os administradores, em Usuários, Administradores, são para quem opera faturas, cobranças e configurações. Dê o perfil de administrador só a quem precisa.
Em Whatsapp, Templates de Mensagens, ficam os modelos das mensagens que os consultores enviam: lembrete de cobrança, envio de boleto, convite. Edite com o tom da sua empresa. Os campos entre chaves duplas, como o nome do cliente, o valor e o vencimento, são preenchidos automaticamente. Lembre: a plataforma prepara a mensagem, mas o envio é sempre um clique humano.
Por fim, as integrações, que na empresa real são configuradas uma vez, com cuidado. Em Financeiro, Bancos, fica a conta do Mercado Pago: a chave pública, o token de acesso e a chave secreta dos avisos de pagamento. Sem essa chave secreta, a plataforma recusa os avisos, por segurança. As credenciais ficam criptografadas e nunca aparecem para outros usuários. Em Integrações, ficam as caixas de e-mail que recebem as faturas e o histórico de importação. No laboratório, não use credenciais reais: o guia de configuração completo do Mercado Pago está nos materiais, para quando você montar a empresa de verdade.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São nove blocos. Um: a proposta de valor, em uma frase para o cliente — economia sem investimento — e uma para o produtor — renda com a usina cheia e zero trabalho. Dois: o mercado, ou seja, a distribuidora, a região e o público-alvo. Três: o modelo — leve, pesado ou híbrido — e a estrutura jurídica. Quatro: o unit economics, com o valor do crédito, o desconto, a taxa de administração, o repasse e a margem por quilowatt-hora, para 2026, 2027 e 2028. Cinco: as metas de doze e de trinta e seis meses, em usinas, megawatts-hora por mês e clientes. Seis: o ponto de equilíbrio e o capital necessário para chegar lá. Sete: a equipe e os parceiros. Oito: os indicadores-chave com as metas. E nove: os três ou quatro riscos principais, com a mitigação. Cada bloco já existe nos seus entregáveis: o trabalho agora é resumir.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Veja o exemplo da Solaris, a empresa fictícia do módulo zero. Modelo híbrido: a integradora constrói usinas para investidores e as gere. Um consórcio para empresas e uma associação para residências. Meta: de uma para quatro usinas em trinta e seis meses. Ponto de equilíbrio no mês dezoito, com o capital de giro calculado na planilha. Equipe da fase um. Indicadores com metas. E os três riscos principais: regulação, inadimplência e ritmo de captação de usinas. Repare como cada número tem origem num laboratório ou numa planilha do 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Resumindo: nove blocos, números com origem, uma página. Esse plano é o entregável do módulo e a espinha do projeto final. No próximo e último módulo, você vai apresentar a sua empresa funcionando.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A23B"/>
          </a:solidFill>
          <a:ln/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66928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
</a:t>
            </a:r>
            <a:pPr indent="0" marL="0">
              <a:buNone/>
            </a:pPr>
            <a:r>
              <a:rPr lang="en-US" sz="13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19202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M11  ·  ETAPA 4 · GESTÃO E ESTRATÉGIA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do negócio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40080" y="3657600"/>
            <a:ext cx="6583680" cy="274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Estrutura jurídica e societária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Tributos na geração distribuída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Riscos e como mitigá-los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Escalando: time, papéis e processos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tecnologia e marca — identidade visual e integrações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O plano de negócio em uma página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589520" y="3657600"/>
            <a:ext cx="3977640" cy="2743200"/>
          </a:xfrm>
          <a:prstGeom prst="roundRect">
            <a:avLst>
              <a:gd name="adj" fmla="val 3333"/>
            </a:avLst>
          </a:prstGeom>
          <a:solidFill>
            <a:srgbClr val="11396F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0" y="3749040"/>
            <a:ext cx="3611880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final do módulo
</a:t>
            </a:r>
            <a:endParaRPr lang="en-US" sz="1300" dirty="0"/>
          </a:p>
          <a:p>
            <a:pPr marL="342900" indent="-342900">
              <a:buSzPct val="100000"/>
              <a:buChar char="✔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Desenhar a estrutura societária e contratual da empresa (gestora + entidade + parceiros).</a:t>
            </a:r>
            <a:endParaRPr lang="en-US" sz="1300" dirty="0"/>
          </a:p>
          <a:p>
            <a:pPr marL="342900" indent="-342900">
              <a:buSzPct val="100000"/>
              <a:buChar char="✔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Conhecer os tributos que incidem na operação e o que perguntar ao contador.</a:t>
            </a:r>
            <a:endParaRPr lang="en-US" sz="1300" dirty="0"/>
          </a:p>
          <a:p>
            <a:pPr marL="342900" indent="-342900">
              <a:buSzPct val="100000"/>
              <a:buChar char="✔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Mapear riscos com matriz de probabilidade × impacto e planos de mitigação.</a:t>
            </a:r>
            <a:endParaRPr lang="en-US" sz="1300" dirty="0"/>
          </a:p>
          <a:p>
            <a:pPr marL="342900" indent="-342900">
              <a:buSzPct val="100000"/>
              <a:buChar char="✔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Planejar a equipe e os processos por fase de crescimento.</a:t>
            </a:r>
            <a:endParaRPr lang="en-US" sz="1300" dirty="0"/>
          </a:p>
          <a:p>
            <a:pPr marL="342900" indent="-342900">
              <a:buSzPct val="100000"/>
              <a:buChar char="✔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Configurar a identidade visual, as integrações e os usuários da plataforma.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</a:t>
            </a:r>
            <a:endParaRPr lang="en-US" sz="1400" dirty="0"/>
          </a:p>
        </p:txBody>
      </p:sp>
      <p:pic>
        <p:nvPicPr>
          <p:cNvPr id="5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6692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440" y="822960"/>
            <a:ext cx="7132320" cy="146304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jurídica e societária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4663440" y="237744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Organizar as empresas, entidades e contratos da operação e saber o que levar ao advogado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663440" y="3383280"/>
            <a:ext cx="713232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desenho típico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separar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Contratos que precisam existir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quem já tem empresa solar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M11 · Aula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1148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530352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jurídica e societária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11480" y="1325880"/>
            <a:ext cx="555498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1480" y="1325880"/>
            <a:ext cx="5554980" cy="10972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1554480"/>
            <a:ext cx="500634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desenho típico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85800" y="2286000"/>
            <a:ext cx="5006340" cy="3749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Gestora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Entidades por público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Usinas locadas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 por usina (asset-heavy)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240780" y="1325880"/>
            <a:ext cx="555498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40780" y="1325880"/>
            <a:ext cx="5554980" cy="10972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6515100" y="1554480"/>
            <a:ext cx="500634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separar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515100" y="2286000"/>
            <a:ext cx="5006340" cy="3749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Separar = isolar riscos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facilitar financiamento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governança clara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tributação adequada a cada atividade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M11 · Aula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1148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 · ESTRUTURA JURÍDICA E SOCIETÁRIA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530352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Contratos que precisam existir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48640" y="1325880"/>
            <a:ext cx="1115568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Contrato social da gestora (e acordo de sócios)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Constituição de cada entidade (contrato de consórcio / estatuto)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Contrato de gestão entidade ↔ gestora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Locação da usina produtor ↔ entidade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Adesão/participação do cliente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O&amp;M, seguro, meio de pagamento, plataforma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Política de privacidade e termos de uso do portal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M11 · Aula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1148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 · ESTRUTURA JURÍDICA E SOCIETÁRIA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530352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quem já tem empresa solar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11480" y="1325880"/>
            <a:ext cx="3642360" cy="4892040"/>
          </a:xfrm>
          <a:prstGeom prst="roundRect">
            <a:avLst>
              <a:gd name="adj" fmla="val 2008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436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88720" y="1435608"/>
            <a:ext cx="2727960" cy="4672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Integradora + gestora: empresas separadas ou CNAEs distintos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282440" y="1325880"/>
            <a:ext cx="3642360" cy="4892040"/>
          </a:xfrm>
          <a:prstGeom prst="roundRect">
            <a:avLst>
              <a:gd name="adj" fmla="val 2008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465320" y="150876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44653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59680" y="1435608"/>
            <a:ext cx="2727960" cy="4672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contratos de EPC e O&amp;M com preço de mercado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153400" y="1325880"/>
            <a:ext cx="3642360" cy="4892040"/>
          </a:xfrm>
          <a:prstGeom prst="roundRect">
            <a:avLst>
              <a:gd name="adj" fmla="val 2008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33628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833628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930640" y="1435608"/>
            <a:ext cx="2727960" cy="4672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atenção a conflito de interesse com o investidor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M11 · Aula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1148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 · RESUMO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530352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 desta aula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11480" y="1325880"/>
            <a:ext cx="36423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436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88720" y="1435608"/>
            <a:ext cx="272796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Gestora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282440" y="1325880"/>
            <a:ext cx="36423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465320" y="150876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44653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59680" y="1435608"/>
            <a:ext cx="272796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entidades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153400" y="1325880"/>
            <a:ext cx="36423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33628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833628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930640" y="1435608"/>
            <a:ext cx="272796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usinas (SPE)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411480" y="3886200"/>
            <a:ext cx="36423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94360" y="406908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23" name="Text 20"/>
          <p:cNvSpPr/>
          <p:nvPr/>
        </p:nvSpPr>
        <p:spPr>
          <a:xfrm>
            <a:off x="59436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188720" y="3995928"/>
            <a:ext cx="272796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inventário de contratos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4282440" y="3886200"/>
            <a:ext cx="36423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465320" y="406908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27" name="Text 24"/>
          <p:cNvSpPr/>
          <p:nvPr/>
        </p:nvSpPr>
        <p:spPr>
          <a:xfrm>
            <a:off x="446532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059680" y="3995928"/>
            <a:ext cx="272796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advogado especializado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</a:t>
            </a:r>
            <a:endParaRPr lang="en-US" sz="1400" dirty="0"/>
          </a:p>
        </p:txBody>
      </p:sp>
      <p:pic>
        <p:nvPicPr>
          <p:cNvPr id="5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6692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440" y="822960"/>
            <a:ext cx="7132320" cy="146304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Tributos na geração distribuída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4663440" y="237744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Conhecer os tributos da operação (energia compensada, gestora, entidade) e a transição da reforma tributária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663440" y="3383280"/>
            <a:ext cx="713232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 1: a energia compensada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 2: a gestora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 3: a entidade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reforma tributária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M11 · Aula 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1148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530352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Tributos na geração distribuída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11480" y="1325880"/>
            <a:ext cx="3611880" cy="49377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1480" y="1325880"/>
            <a:ext cx="3611880" cy="10972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15544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 1: a energia compensada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85800" y="2286000"/>
            <a:ext cx="3063240" cy="3749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PIS/COFINS: alíquota zero sobre a energia compensada (Lei 13.169/2015)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ICMS: isenção sobre a energia compensada pelo Convênio ICMS 16/2015, conforme adesão e condições de cada estado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Parcela não compensada (ex.: Fio B, mínimo): tributada normalmente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97680" y="1325880"/>
            <a:ext cx="3611880" cy="49377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297680" y="1325880"/>
            <a:ext cx="3611880" cy="10972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0" y="15544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 2: a gestora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572000" y="2286000"/>
            <a:ext cx="3063240" cy="3749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Simples Nacional: guia única; atenção ao anexo e ao fator R para serviços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Lucro Presumido: IRPJ/CSLL sobre base presumida de serviços + PIS/COFINS cumulativos + ISS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Lucro Real: para margens baixas/estruturas maiores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 municipal sobre a taxa de gestão (alíquota do município)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183880" y="1325880"/>
            <a:ext cx="3611880" cy="49377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183880" y="1325880"/>
            <a:ext cx="3611880" cy="10972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8458200" y="15544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 3: a entidade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458200" y="2286000"/>
            <a:ext cx="3063240" cy="3749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Consórcio: tributação nas consorciadas, conforme contrato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Cooperativa: ato cooperativo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Associação: regras de entidade sem fins lucrativos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Locação ao produtor: rendimento tributado do produtor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M11 · Aula 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1148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 · TRIBUTOS NA GERAÇÃO DISTRIBUÍDA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530352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reforma tributária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11480" y="1325880"/>
            <a:ext cx="55778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436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88720" y="1435608"/>
            <a:ext cx="466344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2026: fase de teste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217920" y="1325880"/>
            <a:ext cx="55778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00800" y="150876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995160" y="1435608"/>
            <a:ext cx="466344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2027: CBS substitui PIS/COFINS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411480" y="3886200"/>
            <a:ext cx="55778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94360" y="406908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59436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188720" y="3995928"/>
            <a:ext cx="466344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2029–2032: transição do ICMS/ISS para o IBS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6217920" y="3886200"/>
            <a:ext cx="55778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400800" y="406908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23" name="Text 20"/>
          <p:cNvSpPr/>
          <p:nvPr/>
        </p:nvSpPr>
        <p:spPr>
          <a:xfrm>
            <a:off x="640080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995160" y="3995928"/>
            <a:ext cx="466344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2033: sistema novo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M11 · Aula 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1148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 · RESUMO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530352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 desta aula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11480" y="1325880"/>
            <a:ext cx="36423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436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88720" y="1435608"/>
            <a:ext cx="272796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Energia compensada (PIS/COFINS, ICMS por UF)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282440" y="1325880"/>
            <a:ext cx="36423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465320" y="150876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44653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59680" y="1435608"/>
            <a:ext cx="272796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gestora (regime + ISS)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153400" y="1325880"/>
            <a:ext cx="36423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33628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833628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930640" y="1435608"/>
            <a:ext cx="272796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entidade e produtor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411480" y="3886200"/>
            <a:ext cx="36423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94360" y="406908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23" name="Text 20"/>
          <p:cNvSpPr/>
          <p:nvPr/>
        </p:nvSpPr>
        <p:spPr>
          <a:xfrm>
            <a:off x="59436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188720" y="3995928"/>
            <a:ext cx="272796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reforma 2026–2033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4282440" y="3886200"/>
            <a:ext cx="36423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465320" y="406908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27" name="Text 24"/>
          <p:cNvSpPr/>
          <p:nvPr/>
        </p:nvSpPr>
        <p:spPr>
          <a:xfrm>
            <a:off x="446532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059680" y="3995928"/>
            <a:ext cx="272796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contador especializado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</a:t>
            </a:r>
            <a:endParaRPr lang="en-US" sz="1400" dirty="0"/>
          </a:p>
        </p:txBody>
      </p:sp>
      <p:pic>
        <p:nvPicPr>
          <p:cNvPr id="5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6692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440" y="822960"/>
            <a:ext cx="7132320" cy="146304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Riscos e como mitigá-los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4663440" y="237744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Montar a matriz de riscos da empresa com mitigação e responsável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663440" y="3383280"/>
            <a:ext cx="713232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matriz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dez riscos principais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periódica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M11 · Aula 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1148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 · RISCOS E COMO MITIGÁ-LOS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530352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matriz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11480" y="1325880"/>
            <a:ext cx="3642360" cy="4892040"/>
          </a:xfrm>
          <a:prstGeom prst="roundRect">
            <a:avLst>
              <a:gd name="adj" fmla="val 2008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436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88720" y="1435608"/>
            <a:ext cx="2727960" cy="4672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Probabilidade × impacto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282440" y="1325880"/>
            <a:ext cx="3642360" cy="4892040"/>
          </a:xfrm>
          <a:prstGeom prst="roundRect">
            <a:avLst>
              <a:gd name="adj" fmla="val 2008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465320" y="150876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44653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59680" y="1435608"/>
            <a:ext cx="2727960" cy="4672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alto/alto: agir já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153400" y="1325880"/>
            <a:ext cx="3642360" cy="4892040"/>
          </a:xfrm>
          <a:prstGeom prst="roundRect">
            <a:avLst>
              <a:gd name="adj" fmla="val 2008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33628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833628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930640" y="1435608"/>
            <a:ext cx="2727960" cy="4672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risco com dono e plano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M11 · Aula 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1148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 · RISCOS E COMO MITIGÁ-LOS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530352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dez riscos principais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48640" y="1325880"/>
            <a:ext cx="1115568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Regulatório (Fio B 2029, novas regras) → cenários, cláusulas de reequilíbrio, acompanhamento semestral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Abertura do mercado livre na baixa tensão → relacionamento, economia comprovada, contratos flexíveis, avaliar atuar também como comercializadora no futuro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Geração abaixo do esperado / usina parada → due diligence, O&amp;M com prazo, seguro, monitoramento, mais de uma usina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Oversell e concentração → travas da plataforma, ocupação ≤ 98%, limite por cliente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Inadimplência → régua, Pix padrão, comissão após 1ª paga, análise na entrada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Churn → explicação das duas contas, relatório de economia, suporte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Distribuidora (rateio atrasado, erros) → dia fixo, protocolos, conferência esperado × faturado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Dependência de um produtor ou usina → portfólio de usinas, contratos com prazo e transição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Jurídico/consumidor → contratos revisados, linguagem correta, LGPD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Caixa (capital de giro até o ponto de equilíbrio) → plano financeiro, estrutura fixa enxuta, metas comerciais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M11 · Aula 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1148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 · RISCOS E COMO MITIGÁ-LOS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530352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periódica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11480" y="1325880"/>
            <a:ext cx="3642360" cy="4892040"/>
          </a:xfrm>
          <a:prstGeom prst="roundRect">
            <a:avLst>
              <a:gd name="adj" fmla="val 2008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436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88720" y="1435608"/>
            <a:ext cx="2727960" cy="4672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 a matriz a cada trimestre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282440" y="1325880"/>
            <a:ext cx="3642360" cy="4892040"/>
          </a:xfrm>
          <a:prstGeom prst="roundRect">
            <a:avLst>
              <a:gd name="adj" fmla="val 2008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465320" y="150876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44653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59680" y="1435608"/>
            <a:ext cx="2727960" cy="4672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incidentes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153400" y="1325880"/>
            <a:ext cx="3642360" cy="4892040"/>
          </a:xfrm>
          <a:prstGeom prst="roundRect">
            <a:avLst>
              <a:gd name="adj" fmla="val 2008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33628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833628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930640" y="1435608"/>
            <a:ext cx="2727960" cy="4672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atualizar mitigação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M11 · Aula 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1148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 · RESUMO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530352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 desta aula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11480" y="1325880"/>
            <a:ext cx="55778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436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88720" y="1435608"/>
            <a:ext cx="466344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riscos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217920" y="1325880"/>
            <a:ext cx="55778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00800" y="150876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995160" y="1435608"/>
            <a:ext cx="466344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probabilidade × impacto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411480" y="3886200"/>
            <a:ext cx="55778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94360" y="406908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59436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188720" y="3995928"/>
            <a:ext cx="466344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dono e plano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6217920" y="3886200"/>
            <a:ext cx="55778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400800" y="406908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23" name="Text 20"/>
          <p:cNvSpPr/>
          <p:nvPr/>
        </p:nvSpPr>
        <p:spPr>
          <a:xfrm>
            <a:off x="640080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995160" y="3995928"/>
            <a:ext cx="466344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trimestral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</a:t>
            </a:r>
            <a:endParaRPr lang="en-US" sz="1400" dirty="0"/>
          </a:p>
        </p:txBody>
      </p:sp>
      <p:pic>
        <p:nvPicPr>
          <p:cNvPr id="5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6692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440" y="822960"/>
            <a:ext cx="7132320" cy="146304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Escalando: time, papéis e processos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4663440" y="237744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Planejar a equipe e os processos para cada fase de crescimento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663440" y="3383280"/>
            <a:ext cx="713232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1: até ~300 clientes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2: ~300 a 1.500 clientes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3: acima de 1.500 clientes e várias distribuidoras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Processos que escalam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M11 · Aula 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1148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530352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Escalando: time, papéis e processos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11480" y="1325880"/>
            <a:ext cx="3611880" cy="49377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1480" y="1325880"/>
            <a:ext cx="3611880" cy="10972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15544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1: até ~300 clientes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85800" y="2286000"/>
            <a:ext cx="3063240" cy="3749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Dono (gestão, usinas, produtores)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operador (faturas, cobranças, rateio, suporte)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consultores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parceiros: contador, advogado, O&amp;M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297680" y="1325880"/>
            <a:ext cx="3611880" cy="49377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297680" y="1325880"/>
            <a:ext cx="3611880" cy="10972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0" y="15544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2: ~300 a 1.500 clientes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572000" y="2286000"/>
            <a:ext cx="3063240" cy="3749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Gestor comercial + 5–10 consultores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Operações: 2–3 (faturas/rateio, cobrança)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Atendimento: 1–2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Financeiro/repasses: 1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Captação de usinas: 1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183880" y="1325880"/>
            <a:ext cx="3611880" cy="49377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183880" y="1325880"/>
            <a:ext cx="3611880" cy="10972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8458200" y="15544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3: acima de 1.500 clientes e várias distribuidoras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458200" y="2286000"/>
            <a:ext cx="3063240" cy="3749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Operação por distribuidora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de portfólio de usinas e investidores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 e auditoria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expansão para novas áreas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M11 · Aula 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1148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 · ESCALANDO: TIME, PAPÉIS E PROCESSOS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530352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Processos que escalam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11480" y="1325880"/>
            <a:ext cx="36423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436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88720" y="1435608"/>
            <a:ext cx="272796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 escrito e treinado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282440" y="1325880"/>
            <a:ext cx="36423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465320" y="150876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44653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59680" y="1435608"/>
            <a:ext cx="272796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checklists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153400" y="1325880"/>
            <a:ext cx="36423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33628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833628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930640" y="1435608"/>
            <a:ext cx="272796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 por área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411480" y="3886200"/>
            <a:ext cx="36423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94360" y="406908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23" name="Text 20"/>
          <p:cNvSpPr/>
          <p:nvPr/>
        </p:nvSpPr>
        <p:spPr>
          <a:xfrm>
            <a:off x="59436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188720" y="3995928"/>
            <a:ext cx="272796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rituais (diário 15 min, semanal 30 min, mensal fechamento)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4282440" y="3886200"/>
            <a:ext cx="36423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465320" y="406908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27" name="Text 24"/>
          <p:cNvSpPr/>
          <p:nvPr/>
        </p:nvSpPr>
        <p:spPr>
          <a:xfrm>
            <a:off x="446532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059680" y="3995928"/>
            <a:ext cx="272796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de novos colaboradores com o laboratório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M11 · Aula 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1148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 · RESUMO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530352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 desta aula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11480" y="1325880"/>
            <a:ext cx="55778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436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88720" y="1435608"/>
            <a:ext cx="466344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1: enxuta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217920" y="1325880"/>
            <a:ext cx="55778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00800" y="150876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995160" y="1435608"/>
            <a:ext cx="466344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2: áreas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411480" y="3886200"/>
            <a:ext cx="55778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94360" y="406908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59436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188720" y="3995928"/>
            <a:ext cx="466344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3: por distribuidora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6217920" y="3886200"/>
            <a:ext cx="55778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400800" y="406908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23" name="Text 20"/>
          <p:cNvSpPr/>
          <p:nvPr/>
        </p:nvSpPr>
        <p:spPr>
          <a:xfrm>
            <a:off x="640080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995160" y="3995928"/>
            <a:ext cx="466344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processos &gt; pessoas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Prática na plataforma</a:t>
            </a:r>
            <a:endParaRPr lang="en-US" sz="1400" dirty="0"/>
          </a:p>
        </p:txBody>
      </p:sp>
      <p:pic>
        <p:nvPicPr>
          <p:cNvPr id="5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6692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440" y="822960"/>
            <a:ext cx="7132320" cy="146304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tecnologia e marca — identidade visual e integrações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4663440" y="237744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a identidade visual da empresa, cadastrar consultores, editar modelos de WhatsApp e conhecer as integrações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663440" y="3383280"/>
            <a:ext cx="713232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a passo na plataforma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M11 · Aula 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1148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5 · TECNOLOGIA E MARCA — IDENTIDADE VISUAL E INTEGRAÇÕES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530352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a passo na plataforma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20624" y="1289304"/>
            <a:ext cx="7114032" cy="4033647"/>
          </a:xfrm>
          <a:prstGeom prst="roundRect">
            <a:avLst>
              <a:gd name="adj" fmla="val 1360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10" name="Image 1" descr="/www/wwwroot/rexar/gdsolar/docs/curso/slides/telas/identidad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7040880" cy="396049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" y="5332095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Identidade visual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7818120" y="1325880"/>
            <a:ext cx="397764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Identidade Visual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Configurações → Identidade Visual: nome · cores · logos · favicon · prévia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equipe na plataforma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Usuários: consultores (carteira própria) e administradores (operação)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de WhatsApp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 com {{variáveis}} preenchidas automaticamente · envio sempre por clique humano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</a:t>
            </a:r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Integrações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Contas de pagamento (Mercado Pago) · caixas de e-mail de faturas · credenciais criptografadas · webhook exige a chave secreta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M11 · Aula 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1148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5 · NA PLATAFORMA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530352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de mensagem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1380744" y="1225296"/>
            <a:ext cx="9400032" cy="5319522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10" name="Image 1" descr="/www/wwwroot/rexar/gdsolar/docs/curso/slides/telas/template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261872"/>
            <a:ext cx="9326880" cy="524637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</a:t>
            </a:r>
            <a:endParaRPr lang="en-US" sz="1400" dirty="0"/>
          </a:p>
        </p:txBody>
      </p:sp>
      <p:pic>
        <p:nvPicPr>
          <p:cNvPr id="5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6692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440" y="822960"/>
            <a:ext cx="7132320" cy="146304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plano de negócio em uma página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4663440" y="237744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Consolidar tudo o que foi construído num plano de negócio de uma página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663440" y="3383280"/>
            <a:ext cx="713232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nove blocos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preenchido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M11 · Aula 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1148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6 · O PLANO DE NEGÓCIO EM UMA PÁGINA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530352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nove blocos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48640" y="1325880"/>
            <a:ext cx="1115568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Proposta de valor (para cliente e produtor)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Mercado: distribuidora, região, público-alvo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Modelo: asset-light / heavy / híbrido · estrutura jurídica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Unit economics: crédito, desconto, taxa, repasse, margem/kWh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Metas 12 e 36 meses: usinas, MWh/mês, clientes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Ponto de equilíbrio e capital necessário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Equipe e parceiros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Indicadores-chave e metas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Riscos principais e mitigação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M11 · Aula 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1148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6 · O PLANO DE NEGÓCIO EM UMA PÁGINA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530352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preenchido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11480" y="1325880"/>
            <a:ext cx="36423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436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88720" y="1435608"/>
            <a:ext cx="272796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Solaris Assinaturas: híbrido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282440" y="1325880"/>
            <a:ext cx="36423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465320" y="150876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44653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59680" y="1435608"/>
            <a:ext cx="272796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consórcio (empresas) + associação (residências)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153400" y="1325880"/>
            <a:ext cx="36423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33628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833628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930640" y="1435608"/>
            <a:ext cx="272796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→ 4 usinas em 36 meses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411480" y="3886200"/>
            <a:ext cx="36423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94360" y="406908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23" name="Text 20"/>
          <p:cNvSpPr/>
          <p:nvPr/>
        </p:nvSpPr>
        <p:spPr>
          <a:xfrm>
            <a:off x="59436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188720" y="3995928"/>
            <a:ext cx="272796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de equilíbrio no mês 18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4282440" y="3886200"/>
            <a:ext cx="36423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465320" y="406908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27" name="Text 24"/>
          <p:cNvSpPr/>
          <p:nvPr/>
        </p:nvSpPr>
        <p:spPr>
          <a:xfrm>
            <a:off x="446532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059680" y="3995928"/>
            <a:ext cx="272796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de giro R$ X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M11 · Aula 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1148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6 · RESUMO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530352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 desta aula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11480" y="1325880"/>
            <a:ext cx="55778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436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88720" y="1435608"/>
            <a:ext cx="466344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blocos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217920" y="1325880"/>
            <a:ext cx="55778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00800" y="150876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995160" y="1435608"/>
            <a:ext cx="466344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números com origem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411480" y="3886200"/>
            <a:ext cx="55778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94360" y="406908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59436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188720" y="3995928"/>
            <a:ext cx="466344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página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6217920" y="3886200"/>
            <a:ext cx="55778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400800" y="406908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23" name="Text 20"/>
          <p:cNvSpPr/>
          <p:nvPr/>
        </p:nvSpPr>
        <p:spPr>
          <a:xfrm>
            <a:off x="640080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995160" y="3995928"/>
            <a:ext cx="466344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Próximo: projeto final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M11 · Fechamento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1148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FECHAMENTO DO MÓDULO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530352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Pratique e entregue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411480" y="13258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11480" y="1783080"/>
            <a:ext cx="5577840" cy="4480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Liste 8 perguntas para levar ao contador (regime da gestora, ISS, tributação da entidade, ICMS na sua UF, reforma tributária…).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Classifique 10 riscos na matriz e escolha os 3 que você mitiga primeiro.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Desenhe o organograma da empresa com 300 e com 1.500 clientes.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309360" y="1325880"/>
            <a:ext cx="5486400" cy="4937760"/>
          </a:xfrm>
          <a:prstGeom prst="roundRect">
            <a:avLst>
              <a:gd name="adj" fmla="val 1852"/>
            </a:avLst>
          </a:prstGeom>
          <a:solidFill>
            <a:srgbClr val="1B3A6B"/>
          </a:solidFill>
          <a:ln/>
        </p:spPr>
      </p:sp>
      <p:sp>
        <p:nvSpPr>
          <p:cNvPr id="12" name="Text 9"/>
          <p:cNvSpPr/>
          <p:nvPr/>
        </p:nvSpPr>
        <p:spPr>
          <a:xfrm>
            <a:off x="6629400" y="1554480"/>
            <a:ext cx="4846320" cy="4480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ENTREGÁVEL DO MÓDULO
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de negócio em uma página + matriz de riscos (10 riscos com probabilidade, impacto e mitigação) + identidade visual da sua empresa aplicada no laboratório.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GD Solar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M11 — Gestão do negócio</dc:title>
  <dc:subject>PptxGenJS Presentation</dc:subject>
  <dc:creator>PptxGenJS</dc:creator>
  <cp:lastModifiedBy>PptxGenJS</cp:lastModifiedBy>
  <cp:revision>1</cp:revision>
  <dcterms:created xsi:type="dcterms:W3CDTF">2026-10-30T11:18:51Z</dcterms:created>
  <dcterms:modified xsi:type="dcterms:W3CDTF">2026-10-30T11:18:51Z</dcterms:modified>
</cp:coreProperties>
</file>