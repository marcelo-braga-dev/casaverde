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desenho típico tem a gestora, as entidades por público e as usinas. No modelo pesado, cada usina pode ficar numa empresa própria.
Separar isola riscos e facilita financiamento.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inventário dos contratos da tela, com cláusulas de reequilíbrio coerentes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já tem integradora, contrate obra e manutenção a preço de mercado. O investidor vai perguntar.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federais e estaduais específicas, que mudam o valor do crédito e a economia do cliente. Confira a regra do seu estado numa fatura real.
A gestora recebe por serviço. O regime tributário muda a margem, e o imposto real entra na calculadora.
A forma da entidade e o aluguel do produtor têm tratamentos próprios.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reforma tributária muda o cenário até 2033. Inclua-a nos cenários e nas cláusulas dos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Classifique cada risco por probabilidade e impacto, e dê a cada um um dono e um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dez riscos da tela são os que toda empresa de assinatura deve mapear. Atenção ao último: muitas empresas boas morrem por falta de caixa antes do ponto de equilíbrio.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a matriz a cada trimestre e registre os incidentes.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primeira fase, a estrutura é mínima e o dono conhece cada processo por dentro.
Na segunda, a empresa se divide em áreas, com alguém dedicado a captar usinas.
Na terceira, a operação se organiza por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escala são processos: procedimento escrito, checklists, metas e rituais curtos. Use o laboratório do curso para treinar cada pessoa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Identidade Visual: nome, cores, logotipos e favicon. Telas, PDFs, boletos e e-mails passam a usar a sua marca.
Em Usuários, crie um consultor, que vê só a própria carteira. Administrador só para quem opera.
Em Whatsapp, Templates de Mensagens, edite os modelos no tom da sua empresa. O envio é sempre com um clique.
Em Financeiro, Bancos, fica a conta do Mercado Pago, com credenciais criptografadas. Em Integrações, as caixas de e-mail das faturas.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nove blocos, e cada um já existe nos seus entregáveis. O trabalho agora é resumir.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exemplo da Solaris, repare que cada número tem origem num laboratório ou numa planilha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negócio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Estrutura jurídica e societária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Tributos na geração distribuída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Riscos e como mitigá-los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Escalando: time, papéis e processos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Tecnologia e marca — identidade visual e integrações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 plano de negócio em uma página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 a estrutura societária e contratual da empresa (gestora + entidade + parceiros).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que incidem na operação e o que perguntar ao contador.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riscos com matriz de probabilidade × impacto e planos de mitigação.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por fase de crescimento.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identidade visual, as integrações e os usuários da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empresas, entidades e contratos da operação e saber o que levar ao advogado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por público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locadas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 por usina (asset-heavy)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 tem a gestora, as entidades por público e as usinas. No modelo pesado, cada usina pode ficar numa empresa própria.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= isolar riscos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financiamento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clara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tributação adequada a cada atividade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isola riscos e facilita financiamento.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social da gestora (e acordo de sócios)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Constituição de cada entidade (contrato de consórcio / estatuto)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gestão entidade ↔ gestora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Locação da usina produtor ↔ entidade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Adesão/participação do cliente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O&amp;M, seguro, meio de pagamento, plataforma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Política de privacidade e termos de uso do portal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Faça o inventário dos contratos da tela, com cláusulas de reequilíbrio coerentes entre 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Integradora + gestora: empresas separadas ou CNAEs distintos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EPC e O&amp;M com preço de mercado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conflito de interesse com o investidor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já tem integradora, contrate obra e manutenção a preço de mercado. O investidor vai perguntar.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(SPE)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inventário de contratos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advogado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da operação (energia compensada, gestora, entidade) e a transição da reforma tributária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PIS/COFINS: alíquota zero sobre a energia compensada (Lei 13.169/2015)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ICMS: isenção sobre a energia compensada pelo Convênio ICMS 16/2015, conforme adesão e condições de cada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não compensada (ex.: Fio B, mínimo): tributada normalmente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federais e estaduais específicas, que mudam o valor do crédito e a economia do cliente. Confira a regra do seu estado numa fatura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Nacional: guia única; atenção ao anexo e ao fator R para serviços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Presumido: IRPJ/CSLL sobre base presumida de serviços + PIS/COFINS cumulativos + ISS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Real: para margens baixas/estruturas maiores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municipal sobre a taxa de gestão (alíquota do município)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gestora recebe por serviço. O regime tributário muda a margem, e o imposto real entra na calculadora.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Consórcio: tributação nas consorciadas, conforme contrato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Cooperativa: ato cooperativo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Associação: regras de entidade sem fins lucrativos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ao produtor: rendimento tributado do produtor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da entidade e o aluguel do produtor têm tratamentos próprios.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TRIBUTOS NA GERAÇÃO DISTRIBUÍDA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fase de teste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2027: CBS substitui PIS/COFINS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2029–2032: transição do ICMS/ISS para o IBS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2033: sistema novo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 muda o cenário até 2033. Inclua-a nos cenários e nas cláusulas dos contratos.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(PIS/COFINS, ICMS por UF)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(regime + ISS)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e produtor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2026–2033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como mitigá-los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matriz de riscos da empresa com mitigação e responsável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alto/alto: agir já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risco com 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Classifique cada risco por probabilidade e impacto, e dê a cada um um dono e um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Regulatório (Fio B 2029, novas regras) → cenários, cláusulas de reequilíbrio, acompanhamento semestral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Abertura do mercado livre na baixa tensão → relacionamento, economia comprovada, contratos flexíveis, avaliar atuar também como comercializadora no futuro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Geração abaixo do esperado / usina parada → due diligence, O&amp;M com prazo, seguro, monitoramento, mais de uma usina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Oversell e concentração → travas da plataforma, ocupação ≤ 98%, limite por cliente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Inadimplência → régua, Pix padrão, comissão após 1ª paga, análise na entrada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Churn → explicação das duas contas, relatório de economia, suporte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Distribuidora (rateio atrasado, erros) → dia fixo, protocolos, conferência esperado × faturado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Dependência de um produtor ou usina → portfólio de usinas, contratos com prazo e transição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Jurídico/consumidor → contratos revisados, linguagem correta, LGPD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Caixa (capital de giro até o ponto de equilíbrio) → plano financeiro, estrutura fixa enxuta, metas comerciais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da tela são os que toda empresa de assinatura deve mapear. Atenção ao último: muitas empresas boas morrem por falta de caixa antes do ponto de equilíbrio.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a matriz a cada trimestre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incidentes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mitigação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a matriz a cada trimestre e registre os incidentes.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riscos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trimestral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para cada fase de crescimento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(gestão, usinas, produtores)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operador (faturas, cobranças, rateio, suporte)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parceiros: contador, advogado, O&amp;M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primeira fase, a estrutura é mínima e o dono conhece cada processo por dentro.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 + 5–10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Operações: 2–3 (faturas/rateio, cobrança)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Atendimento: 1–2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Financeiro/repasses: 1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de usinas: 1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segunda, a empresa se divide em áreas, com alguém dedicado a captar usinas.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por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portfólio de usinas e investidores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auditoria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para novas áreas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terceira, a operação se organiza por distribuidora.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ESCALANDO: TIME, PAPÉIS E PROCESSOS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escrito e treinado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por área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(diário 15 min, semanal 30 min, mensal fechamento)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novos colaboradores com o laboratório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escala são processos: procedimento escrito, checklists, metas e rituais curtos. Use o laboratório do curso para treinar cada pessoa nova.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enxuta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áreas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por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&gt; pessoas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e marca — identidade visual e integrações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identidade visual da empresa, cadastrar consultores, editar modelos de WhatsApp e conhecer as integrações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TECNOLOGIA E MARCA — IDENTIDADE VISUAL E INTEGRAÇÕES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identidad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Identidade Visual: nome, cores, logotipos e favicon. Telas, PDFs, boletos e e-mails passam a usar a sua marca.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equipe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Usuários, crie um consultor, que vê só a própria carteira. Administrador só para quem opera.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WhatsApp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Whatsapp, Templates de Mensagens, edite os modelos no tom da sua empresa. O envio é sempre com um clique.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Bancos, fica a conta do Mercado Pago, com credenciais criptografadas. Em Integrações, as caixas de e-mail das faturas.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mensagem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templa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tudo o que foi construído num plano de negócio de uma página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Proposta de valor (para cliente e produtor)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Mercado: distribuidora, região, público-alvo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Modelo: asset-light / heavy / híbrido · estrutura jurídica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crédito, desconto, taxa, repasse, margem/kWh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Metas 12 e 36 meses: usinas, MWh/mês, clientes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Ponto de equilíbrio e capital necessário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Equipe e parceiros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Indicadores-chave e metas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Riscos principais e mitigação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nove blocos, e cada um já existe nos seus entregáveis. O trabalho agora é resumir.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Solaris Assinaturas: híbrido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(empresas) + associação (residências)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4 usinas em 36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no mês 18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giro R$ X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exemplo da Solaris, repare que cada número tem origem num laboratório ou numa planilha do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blocos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com origem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Próximo: projeto final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estrutura típica, quem contrata a gestora?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sobre a energia compensada em GD: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incidem normalmente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 aplica a nada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isenção de ICMS da energia compensada: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igual em todo o país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do estado e das condições do Convênio ICMS 16/2015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só para indústria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risco de alto impacto e média probabilidade deve: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plano de mitigação e dono definido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ignorado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resolvido só se acontecer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para o cliente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nome, cores e logotipos aparecem em telas, PDFs, boletos e e-mails a partir 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→ Identidade Visual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código-fonte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usuário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 deve ter, no mínimo: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modelo, mercado, unit economics, metas, equipe, investimento e riscos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logotipo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as metas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preço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depende do estado e das condições do Convênio ICMS 16/2015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ter plano de mitigação e dono definido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Configurações → Identidade Visual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modelo, mercado, unit economics, metas, equipe, investimento e riscos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8 perguntas para levar ao contador (regime da gestora, ISS, tributação da entidade, ICMS na sua UF, reforma tributária…).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Classifique 10 riscos na matriz e escolha os 3 que você mitiga primeiro.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Desenhe o organograma da empresa com 300 e com 1.500 clientes.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+ matriz de riscos (10 riscos com probabilidade, impacto e mitigação) + identidade visual da sua empresa aplicada no laboratório.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M11 — Gestão do negócio</dc:title>
  <dc:subject>PptxGenJS Presentation</dc:subject>
  <dc:creator>PptxGenJS</dc:creator>
  <cp:lastModifiedBy>PptxGenJS</cp:lastModifiedBy>
  <cp:revision>1</cp:revision>
  <dcterms:created xsi:type="dcterms:W3CDTF">2026-10-30T13:46:39Z</dcterms:created>
  <dcterms:modified xsi:type="dcterms:W3CDTF">2026-10-30T13:46:39Z</dcterms:modified>
</cp:coreProperties>
</file>