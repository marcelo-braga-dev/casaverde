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desenho típico tem a gestora, as entidades por público e as usinas. No modelo pesado, cada usina pode ficar numa empresa própria.
Separar isola riscos e facilita financiamento.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Faça o inventário dos contratos da tela, com cláusulas de reequilíbrio coerentes entre 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você já tem integradora, contrate obra e manutenção a preço de mercado. O investidor vai perguntar.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Sobre a energia compensada há regras federais e estaduais específicas, que mudam o valor do crédito e a economia do cliente. Confira a regra do seu estado numa fatura real.
A gestora recebe por serviço. O regime tributário muda a margem, e o imposto real entra na calculadora.
A forma da entidade e o aluguel do produtor têm tratamentos próprios.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reforma tributária muda o cenário até 2033. Inclua-a nos cenários e nas cláusulas dos contratos.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Classifique cada risco por probabilidade e impacto, e dê a cada um um dono e um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dez riscos da tela são os que toda empresa de assinatura deve mapear. Atenção ao último: muitas empresas boas morrem por falta de caixa antes do ponto de equilíbrio.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Revise a matriz a cada trimestre e registre os incidentes.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primeira fase, a estrutura é mínima e o dono conhece cada processo por dentro.
Na segunda, a empresa se divide em áreas, com alguém dedicado a captar usinas.
Na terceira, a operação se organiza por distribuidora.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escala são processos: procedimento escrito, checklists, metas e rituais curtos. Use o laboratório do curso para treinar cada pessoa nova.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Configurações, Identidade Visual: nome, cores, logotipos e favicon. Telas, PDFs, boletos e e-mails passam a usar a sua marca.
Em Usuários, crie um consultor, que vê só a própria carteira. Administrador só para quem opera.
Em Whatsapp, Templates de Mensagens, edite os modelos no tom da sua empresa. O envio é sempre com um clique.
Em Financeiro, Bancos, fica a conta do Mercado Pago, com credenciais criptografadas. Em Integrações, as caixas de e-mail das faturas.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nove blocos, e cada um já existe nos seus entregáveis. O trabalho agora é resumir.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exemplo da Solaris, repare que cada número tem origem num laboratório ou numa planilha do curso.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 ·  ETAPA 4 · GESTÃO E ESTRATÉGIA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do negócio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Estrutura jurídica e societária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Tributos na geração distribuída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Riscos e como mitigá-los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Escalando: time, papéis e processos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tecnologia e marca — identidade visual e integrações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 plano de negócio em uma página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Desenhar a estrutura societária e contratual da empresa (gestora + entidade + parceiros).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os tributos que incidem na operação e o que perguntar ao contador.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riscos com matriz de probabilidade × impacto e planos de mitigação.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Planejar a equipe e os processos por fase de crescimento.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Configurar a identidade visual, as integrações e os usuários da plataforma.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jurídica e societária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Organizar as empresas, entidades e contratos da operação e saber o que levar ao advogado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desenho típico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separar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que precisam existir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quem já tem empresa solar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 jurídica e societária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desenho típico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Entidades por público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locadas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 por usina (asset-heavy)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desenho típico tem a gestora, as entidades por público e as usinas. No modelo pesado, cada usina pode ficar numa empresa própria.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separar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6505956" y="2286000"/>
            <a:ext cx="4860036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= isolar riscos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facilitar financiamento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clara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tributação adequada a cada atividade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505956" y="4663440"/>
            <a:ext cx="4860036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6505956" y="4754880"/>
            <a:ext cx="486003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Separar isola riscos e facilita financiamento.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ESTRUTURA JURÍDICA E SOCIETÁRIA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que precisam existir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Contrato social da gestora (e acordo de sócios)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Constituição de cada entidade (contrato de consórcio / estatuto)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Contrato de gestão entidade ↔ gestora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Locação da usina produtor ↔ entidade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Adesão/participação do cliente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O&amp;M, seguro, meio de pagamento, plataforma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Política de privacidade e termos de uso do portal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Faça o inventário dos contratos da tela, com cláusulas de reequilíbrio coerentes entre si.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ESTRUTURA JURÍDICA E SOCIETÁRIA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quem já tem empresa solar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Integradora + gestora: empresas separadas ou CNAEs distintos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contratos de EPC e O&amp;M com preço de mercado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a conflito de interesse com o investidor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você já tem integradora, contrate obra e manutenção a preço de mercado. O investidor vai perguntar.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usinas (SPE)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inventário de contratos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advogado especializado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Tributos na geração distribuída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Conhecer os tributos da operação (energia compensada, gestora, entidade) e a transição da reforma tributária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1: a energia compensada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2: a gestora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3: a entidade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reforma tributária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Tributos na geração distribuída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1: a energia compensada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PIS/COFINS: alíquota zero sobre a energia compensada (Lei 13.169/2015)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ICMS: isenção sobre a energia compensada pelo Convênio ICMS 16/2015, conforme adesão e condições de cada estado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Parcela não compensada (ex.: Fio B, mínimo): tributada normalmente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a energia compensada há regras federais e estaduais específicas, que mudam o valor do crédito e a economia do cliente. Confira a regra do seu estado numa fatura real.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2: a gestora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 Nacional: guia única; atenção ao anexo e ao fator R para serviços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Lucro Presumido: IRPJ/CSLL sobre base presumida de serviços + PIS/COFINS cumulativos + ISS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Lucro Real: para margens baixas/estruturas maiores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 municipal sobre a taxa de gestão (alíquota do município)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gestora recebe por serviço. O regime tributário muda a margem, e o imposto real entra na calculadora.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3: a entidade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Consórcio: tributação nas consorciadas, conforme contrato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Cooperativa: ato cooperativo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Associação: regras de entidade sem fins lucrativos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Locação ao produtor: rendimento tributado do produtor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forma da entidade e o aluguel do produtor têm tratamentos próprios.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TRIBUTOS NA GERAÇÃO DISTRIBUÍDA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reforma tributária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2026: fase de teste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2027: CBS substitui PIS/COFINS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2029–2032: transição do ICMS/ISS para o IBS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429000"/>
            <a:ext cx="5431536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538728"/>
            <a:ext cx="4517136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2033: sistema novo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7" name="Text 24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reforma tributária muda o cenário até 2033. Inclua-a nos cenários e nas cláusulas dos contratos.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compensada (PIS/COFINS, ICMS por UF)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 (regime + ISS)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entidade e produtor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reforma 2026–2033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contador especializado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e como mitigá-los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a matriz de riscos da empresa com mitigação e responsável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dez riscos principais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periódica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RISCOS E COMO MITIGÁ-LOS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Probabilidade × impacto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alto/alto: agir já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risco com dono e plano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Classifique cada risco por probabilidade e impacto, e dê a cada um um dono e um plano.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RISCOS E COMO MITIGÁ-LOS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dez riscos principais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Regulatório (Fio B 2029, novas regras) → cenários, cláusulas de reequilíbrio, acompanhamento semestral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Abertura do mercado livre na baixa tensão → relacionamento, economia comprovada, contratos flexíveis, avaliar atuar também como comercializadora no futuro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Geração abaixo do esperado / usina parada → due diligence, O&amp;M com prazo, seguro, monitoramento, mais de uma usina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Oversell e concentração → travas da plataforma, ocupação ≤ 98%, limite por cliente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Inadimplência → régua, Pix padrão, comissão após 1ª paga, análise na entrada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Churn → explicação das duas contas, relatório de economia, suporte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Distribuidora (rateio atrasado, erros) → dia fixo, protocolos, conferência esperado × faturado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Dependência de um produtor ou usina → portfólio de usinas, contratos com prazo e transição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Jurídico/consumidor → contratos revisados, linguagem correta, LGPD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Caixa (capital de giro até o ponto de equilíbrio) → plano financeiro, estrutura fixa enxuta, metas comerciais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dez riscos da tela são os que toda empresa de assinatura deve mapear. Atenção ao último: muitas empresas boas morrem por falta de caixa antes do ponto de equilíbrio.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RISCOS E COMO MITIGÁ-LOS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periódica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Revisar a matriz a cada trimestre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incidentes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39776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3758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atualizar mitigação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 a matriz a cada trimestre e registre os incidentes.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riscos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probabilidade × impacto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dono e plano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trimestral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Escalando: time, papéis e processos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Planejar a equipe e os processos para cada fase de crescimento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1: até ~300 clientes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2: ~300 a 1.500 clientes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3: acima de 1.500 clientes e várias distribuidoras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que escalam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Escalando: time, papéis e processos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1: até ~300 clientes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Dono (gestão, usinas, produtores)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operador (faturas, cobranças, rateio, suporte)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consultores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parceiros: contador, advogado, O&amp;M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22960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14" name="Text 11"/>
          <p:cNvSpPr/>
          <p:nvPr/>
        </p:nvSpPr>
        <p:spPr>
          <a:xfrm>
            <a:off x="822960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primeira fase, a estrutura é mínima e o dono conhece cada processo por dentro.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7" name="Text 14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2: ~300 a 1.500 clientes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11624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comercial + 5–10 consultores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Operações: 2–3 (faturas/rateio, cobrança)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Atendimento: 1–2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Financeiro/repasses: 1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Captação de usinas: 1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4611624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0" name="Text 17"/>
          <p:cNvSpPr/>
          <p:nvPr/>
        </p:nvSpPr>
        <p:spPr>
          <a:xfrm>
            <a:off x="4611624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segunda, a empresa se divide em áreas, com alguém dedicado a captar usinas.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23" name="Text 20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3: acima de 1.500 clientes e várias distribuidoras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8400288" y="2286000"/>
            <a:ext cx="2965704" cy="2286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Operação por distribuidora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portfólio de usinas e investidores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qualidade e auditoria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expansão para novas áreas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8400288" y="4663440"/>
            <a:ext cx="2965704" cy="18288"/>
          </a:xfrm>
          <a:prstGeom prst="rect">
            <a:avLst/>
          </a:prstGeom>
          <a:solidFill>
            <a:srgbClr val="D8E0EC"/>
          </a:solidFill>
          <a:ln/>
        </p:spPr>
      </p:sp>
      <p:sp>
        <p:nvSpPr>
          <p:cNvPr id="26" name="Text 23"/>
          <p:cNvSpPr/>
          <p:nvPr/>
        </p:nvSpPr>
        <p:spPr>
          <a:xfrm>
            <a:off x="8400288" y="4754880"/>
            <a:ext cx="2965704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terceira, a operação se organiza por distribuidora.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ESCALANDO: TIME, PAPÉIS E PROCESSOS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que escalam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SOP escrito e treinado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metas por área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rituais (diário 15 min, semanal 30 min, mensal fechamento)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de novos colaboradores com o laboratório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escala são processos: procedimento escrito, checklists, metas e rituais curtos. Use o laboratório do curso para treinar cada pessoa nova.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1: enxuta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2: áreas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 3: por distribuidora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&gt; pessoas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 e marca — identidade visual e integrações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Aplicar a identidade visual da empresa, cadastrar consultores, editar modelos de WhatsApp e conhecer as integrações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TECNOLOGIA E MARCA — IDENTIDADE VISUAL E INTEGRAÇÕES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identidad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visual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Identidade Visual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Configurações, Identidade Visual: nome, cores, logotipos e favicon. Telas, PDFs, boletos e e-mails passam a usar a sua marca.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equipe na plataforma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Usuários, crie um consultor, que vê só a própria carteira. Administrador só para quem opera.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de WhatsApp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Whatsapp, Templates de Mensagens, edite os modelos no tom da sua empresa. O envio é sempre com um clique.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Financeiro, Bancos, fica a conta do Mercado Pago, com credenciais criptografadas. Em Integrações, as caixas de e-mail das faturas.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NA PLATAFORMA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de mensagem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380744" y="1225296"/>
            <a:ext cx="9400032" cy="5319522"/>
          </a:xfrm>
          <a:prstGeom prst="roundRect">
            <a:avLst>
              <a:gd name="adj" fmla="val 1031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templat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1261872"/>
            <a:ext cx="9326880" cy="524637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Etapa 4 · Gestão e estratégia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de negócio em uma página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Consolidar tudo o que foi construído num plano de negócio de uma página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nove blocos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preenchido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O PLANO DE NEGÓCIO EM UMA PÁGINA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nove blocos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Proposta de valor (para cliente e produtor)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Mercado: distribuidora, região, público-alvo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Modelo: asset-light / heavy / híbrido · estrutura jurídica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Unit economics: crédito, desconto, taxa, repasse, margem/kWh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Metas 12 e 36 meses: usinas, MWh/mês, clientes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263640" y="1325880"/>
            <a:ext cx="5486400" cy="39776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Ponto de equilíbrio e capital necessário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Equipe e parceiros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Indicadores-chave e metas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Riscos principais e mitigação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nove blocos, e cada um já existe nos seus entregáveis. O trabalho agora é resumir.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O PLANO DE NEGÓCIO EM UMA PÁGINA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preenchido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Solaris Assinaturas: híbrido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 (empresas) + associação (residências)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→ 4 usinas em 36 meses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36118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equilíbrio no mês 18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429000"/>
            <a:ext cx="3544824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36118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3611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538728"/>
            <a:ext cx="2630424" cy="16550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de giro R$ X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5413248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EF3FA"/>
          </a:solidFill>
          <a:ln w="6350">
            <a:solidFill>
              <a:srgbClr val="D8E0E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548640" y="5413248"/>
            <a:ext cx="91440" cy="868680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777240" y="5458968"/>
            <a:ext cx="107442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exemplo da Solaris, repare que cada número tem origem num laboratório ou numa planilha do curso.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blocos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números com origem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página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Próximo: projeto final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1–2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estrutura típica, quem contrata a gestora?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ANEEL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banco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2" name="Text 19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PIS/COFINS sobre a energia compensada em GD: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incidem normalmente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dobram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se aplica a nada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3–4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isenção de ICMS da energia compensada: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igual em todo o país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 do estado e das condições do Convênio ICMS 16/2015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existe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 só para indústria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risco de alto impacto e média probabilidade deve: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 plano de mitigação e dono definido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 ignorado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 resolvido só se acontecer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 para o cliente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QUESTÕES 5–6 DE 6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1325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234440" y="12801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plataforma, nome, cores e logotipos aparecem em telas, PDFs, boletos e e-mails a partir de: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48640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Configurações → Identidade Visual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3378708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15868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515868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código-fonte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6208776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45936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345936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usuário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9038844" y="20574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176004" y="2148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176004" y="25146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distribuidora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548640" y="3840480"/>
            <a:ext cx="502920" cy="50292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5" name="Text 22"/>
          <p:cNvSpPr/>
          <p:nvPr/>
        </p:nvSpPr>
        <p:spPr>
          <a:xfrm>
            <a:off x="548640" y="3840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9476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de negócio em uma página deve ter, no mínimo: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85800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685800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modelo, mercado, unit economics, metas, equipe, investimento e riscos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378708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515868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3515868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 logotipo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208776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345936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6345936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as metas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9038844" y="4572000"/>
            <a:ext cx="260146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9176004" y="4663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400" dirty="0"/>
          </a:p>
        </p:txBody>
      </p:sp>
      <p:sp>
        <p:nvSpPr>
          <p:cNvPr id="38" name="Text 35"/>
          <p:cNvSpPr/>
          <p:nvPr/>
        </p:nvSpPr>
        <p:spPr>
          <a:xfrm>
            <a:off x="9176004" y="5029200"/>
            <a:ext cx="232714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o preço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Teste rápido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CONFIRA SUAS RESPOSTAS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Gabarito do teste rápido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-) 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depende do estado e das condições do Convênio ICMS 16/2015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1325880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ter plano de mitigação e dono definido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4504944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7" name="Text 24"/>
          <p:cNvSpPr/>
          <p:nvPr/>
        </p:nvSpPr>
        <p:spPr>
          <a:xfrm>
            <a:off x="4504944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099304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Configurações → Identidade Visual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78368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31" name="Text 28"/>
          <p:cNvSpPr/>
          <p:nvPr/>
        </p:nvSpPr>
        <p:spPr>
          <a:xfrm>
            <a:off x="8278368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8872728" y="3995928"/>
            <a:ext cx="2630424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modelo, mercado, unit economics, metas, equipe, investimento e riscos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M11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Liste 8 perguntas para levar ao contador (regime da gestora, ISS, tributação da entidade, ICMS na sua UF, reforma tributária…).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Classifique 10 riscos na matriz e escolha os 3 que você mitiga primeiro.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Desenhe o organograma da empresa com 300 e com 1.500 clientes.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negócio em uma página + matriz de riscos (10 riscos com probabilidade, impacto e mitigação) + identidade visual da sua empresa aplicada no laboratório.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M11 — Gestão do negócio</dc:title>
  <dc:subject>PptxGenJS Presentation</dc:subject>
  <dc:creator>PptxGenJS</dc:creator>
  <cp:lastModifiedBy>PptxGenJS</cp:lastModifiedBy>
  <cp:revision>1</cp:revision>
  <dcterms:created xsi:type="dcterms:W3CDTF">2026-10-30T12:33:06Z</dcterms:created>
  <dcterms:modified xsi:type="dcterms:W3CDTF">2026-10-30T12:33:06Z</dcterms:modified>
</cp:coreProperties>
</file>