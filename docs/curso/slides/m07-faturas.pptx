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Uma fatura com geração distribuída tem os mesmos blocos de uma fatura comum, mais um. Identificação: titular, unidade consumidora, classe, endereço. Leitura e consumo: as leituras do medidor e o consumo do mês. Itens faturados: as linhas com quantidade, tarifa e valor. Tributos. O histórico de consumo. E o bloco novo: as informações da geração distribuída, onde a distribuidora informa os créditos recebidos, os créditos utilizados e o saldo acumulado. Cada distribuidora organiza e nomeia isso do seu jeito, mas os conceitos são sempre os mesmos.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Olhe os itens faturados da padaria. Primeiro aparecem as linhas de consumo: dois mil e quinhentos quilowatts-hora, com a parcela de energia, a TE, e a parcela de uso da rede, a TUSD, com valores positivos — é o que ela pagaria sem geração distribuída. Logo abaixo, aparecem as linhas de energia injetada, ou compensada: dois mil e quatrocentos quilowatts-hora, também separados em TE e TUSD, e às vezes a bandeira, com valores negativos. São os créditos abatendo o consumo. No layout da nossa distribuidora de referência, essas linhas começam com "Energia Inj. OUC MPT", que quer dizer energia injetada em outra unidade consumidora, no mesmo posto tarifário — ou seja, créditos vindos de uma usina em outro endereço. Em outras distribuidoras, você vai ver nomes como "energia compensada" ou "injeção SCEE", do sistema de compensação de energia elétrica. Repare num detalhe importante: o valor negativo da TUSD compensada é menor do que o valor positivo da TUSD consumida, por quilowatt-hora. A diferença é justamente a parcela do Fio B que não é compensada para usinas GD dois — aquela transição que você estudou.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todas essas linhas, um número é o mais importante para você: o valor total da energia compensada, que a plataforma chama de consumo injetado. É a soma, em reais, das linhas de compensação — TE, TUSD e bandeira. No exemplo, dois mil, cento e dezenove reais. Esse é o valor que o cliente deixou de pagar à distribuidora graças aos créditos. A sua cobrança parte dele: aplica a margem de desconto do cliente, vinte por cento, e chega a mil, seiscentos e noventa e cinco reais e vinte centavos. Por isso a plataforma cobra sobre o consumo injetado, e não sobre o valor total da fatura: o valor total inclui coisas que não têm nada a ver com a sua operação, como a iluminação pública, multas da distribuidora e o consumo que ficou descoberto.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fim, o bloco de informações da geração distribuída. Ele mostra quantos créditos a unidade recebeu no mês, quantos foram utilizados, o saldo anterior, o saldo atual e, em muitas distribuidoras, os créditos que vão expirar nos próximos meses. Esse bloco é o seu termômetro. Saldo crescendo mês a mês significa que a cota do cliente está alta demais. Créditos recebidos abaixo do esperado significam que algo aconteceu no rateio ou na geração. Créditos a expirar exigem ação imediata, como reduzir a cota ou, se o contrato permitir, redistribuir.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Resumindo: na fatura com compensação, o consumo aparece positivo e a energia compensada aparece negativa, separada em TE, TUSD e bandeira. A soma da compensação em reais, o consumo injetado, é a base da sua cobrança. E o bloco de informações da GD é o seu termômetro de créditos e saldo. Na próxima aula, o que fazer quando esses números não batem com o esperado.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esperado é simples: o percentual do cliente no rateio vezes a energia injetada pela usina no ciclo. Se a padaria tem quatro por cento e a usina injetou cinquenta e oito mil quilowatts-hora, ela deveria receber dois mil, trezentos e vinte. Uma diferença pequena pode vir dos ciclos de leitura, que não coincidem entre a usina e cada cliente. Uma diferença grande exige investigação.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Situação um: a fatura veio sem nenhum crédito. As causas mais comuns são a lista de rateio ainda não aplicada pela distribuidora, a unidade consumidora fora da lista ou um problema de titularidade — por exemplo, a conta mudou de nome. Ação: confira o protocolo do rateio e cobre a distribuidora; se o erro for dela, peça o refaturamento. Situação dois: créditos menores que o esperado. Verifique se a usina gerou menos naquele ciclo e se o percentual da lista foi digitado corretamente. Situação três: créditos maiores que o consumo, com o saldo acumulando. A cota está alta para o consumo atual do cliente: revise. Situação quatro: leitura estimada. Às vezes a distribuidora não faz a leitura e fatura pela média; no mês seguinte vem o acerto. Anote e acompanhe, porque o consumo e os créditos do mês podem parecer estranhos. Situação cinco: créditos indo para a unidade errada — geralmente erro na lista. Corrija e peça o refaturamento das faturas afetadas. E situação seis: créditos prestes a expirar no saldo do cliente. Reduza a cota ou, se o contrato permitir, redistribua. Lembre do princípio da cobrança da plataforma: você cobra sobre a energia compensada na fatura do mês. Créditos que ficaram parados no saldo não entram na cobrança até serem usados. Isso é justo com o cliente, mas significa que sobra de crédito é receita adiada — ou perdida, se expirar.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o problema é da distribuidora, registre tudo: nas observações da revisão da fatura, na plataforma, anote o que foi encontrado e o número do protocolo aberto. Acompanhe o prazo de resposta. Se não resolver, existem a ouvidoria da distribuidora e, em último caso, a ANEEL. Ter o histórico registrado faz diferença nessa hora.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Resumindo: calcule o esperado, compare com a fatura, identifique qual das seis situações aconteceu e aja, registrando tudo. Na próxima aula, como fazer as faturas chegarem sozinhas à plataforma.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ideia é simples. Quase toda distribuidora permite cadastrar um e-mail para receber a fatura digital. Em vez do e-mail do cliente, você cadastra um endereço da sua empresa, dedicado àquele cliente. A plataforma tem um conjunto de caixas de e-mail e lê essas caixas de hora em hora. Quando chega uma fatura, ela baixa o PDF, desbloqueia se tiver senha, extrai os dados, identifica o cliente e a unidade consumidora e coloca a fatura na fila de revisão. Ter uma caixa por cliente evita confusão: cada fatura que chega numa caixa já se sabe de quem é. As caixas podem ser criadas pela própria tela de integrações, se a hospedagem de e-mail estiver integrada.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o upload manual continua sendo útil: para o cliente recém-chegado, cuja fatura digital ainda não foi redirecionada; para uma segunda via; para distribuidoras sem envio por e-mail; e para casos em que a leitura automática não reconhece o layout. Nesses casos, você sobe o PDF e preenche ou corrige os dados na revisão. É o que você vai fazer no laboratório, já que no ambiente de aula a importação por e-mail está desligada.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ficha do cliente, na aba Integração, você associa a caixa de e-mail que recebe as faturas dele. Muitas distribuidoras enviam o PDF protegido por senha, normalmente com parte do CPF ou do CNPJ do titular; cadastre essa senha no campo de senha para desbloquear o PDF — ela fica guardada de forma criptografada. O filtro de remetente é opcional e serve para aceitar só e-mails vindos do endereço da distribuidora, ignorando propaganda e outros e-mails. Depois, com o cliente, faça o cadastro do e-mail de fatura digital no site ou aplicativo da distribuidora. Combine isso já no onboarding: é um dos documentos do contrato.
Em Integrações, Histórico de Importação, você vê cada execução da rotina: quantos e-mails foram lidos, quantas faturas entraram, quantas deram erro e por quê. Também dá para disparar uma importação na hora, sem esperar a próxima rodada. Quando algo falha de forma que compromete o faturamento — uma caixa de e-mail inacessível, uma senha de PDF errada, um PDF ilegível —, a plataforma cria um alerta operacional, que aparece no sino do cabeçalho. E o alerta se resolve sozinho quando a importação volta a funcionar. Você não precisa ficar olhando o histórico: os alertas avisam.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Resumindo: uma caixa de e-mail por cliente, a senha do PDF cadastrada, a rotina lendo de hora em hora, os alertas avisando quando algo falha e o upload manual para as exceções. Na próxima aula, o que conferir na revisão da fatura.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fatura tem dois status. O da extração diz se a leitura automática do PDF deu certo: pendente, sucesso ou erro. O da revisão diz em que ponto está o trabalho humano: pendente de revisão, revisada, corrigida — quando você alterou algum dado —, aprovada ou rejeitada. Só a fatura aprovada gera cobrança. A rejeitada é descartada, por exemplo, quando é uma duplicata.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 um: confira se a fatura é do cliente e da unidade consumidora certos — o nome do titular e o número da instalação no resumo técnico devem bater com o cadastro. Passo dois: referência, ou seja, o mês e o ano, e o vencimento. Passo três: o consumo e o valor total estão coerentes com o histórico do cliente? Um consumo três vezes maior que a média pode ser um erro de leitura ou uma mudança real — que vale uma ligação para o cliente. Passo quatro: compare a energia compensada com o esperado, a conta da aula 2. Passo cinco: o consumo injetado em reais, que é a base da cobrança, e a margem de desconto, que vem da regra ativa do cliente. A tela mostra, de forma transparente, como chegou nesses números, com as linhas da fatura usadas no cálculo; se uma linha ficou de fora ou entrou errada, você enxerga ali. E o valor da fatura ao cliente, que é o que será cobrado. Passo seis: a usina vinculada é a correta, e não há pendências abertas.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plataforma ajuda com pendências automáticas, que aparecem na própria fatura. As de erro impedem uma aprovação segura: o leitor automático falhou; a fatura não está ligada a nenhuma unidade consumidora; o valor total é inválido; ou já existe outra fatura para a mesma unidade e referência. As de aviso pedem atenção: o cliente não tem regra de desconto ativa, o consumo está ausente, ou a usina informada é diferente do vínculo ativo da unidade. Cada pendência é resolvida corrigindo a causa e marcando como resolvida, e você vai fazer isso no laboratório da aula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Algumas boas práticas. Revise as faturas em lote, num horário fixo, todos os dias ou a cada dois dias, para que nada envelheça na fila — a plataforma alerta quando uma fatura passa de três dias em revisão. Nunca aprove com pendência de erro aberta. Sempre que corrigir um dado manualmente, justifique nas observações da revisão. E, para faturas acima de um valor que você definir, use dupla checagem: uma pessoa revisa, outra aprova.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Resumindo: seis passos de revisão, pendências de erro resolvidas antes de aprovar e correções sempre justificadas. Agora, para o laboratório.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Abra Financeiro e depois Faturas de Concessionárias, e crie uma nova fatura. Selecione o cliente — vamos começar pela padaria —, a unidade consumidora e anexe o PDF da pasta do curso. Salve. Em segundos, a plataforma lê o PDF. A tela da fatura abre com o status da extração e o status da revisão, que começa como pendente de revisão.
Agora, o roteiro. Passo um: titular e número da instalação batem com a padaria. Passo dois: referência e vencimento conferem com o PDF. Passo três: consumo e valor total coerentes com o histórico — dois mil e quinhentos quilowatts-hora, dentro da média. Repare no indicador de completude dos dados, que mostra quantos campos foram analisados e se algum ficou inválido. Passo quatro: abra a seção de energia injetada e consumo injetado. Ela mostra exatamente quais linhas da fatura foram somadas: as de energia injetada em TE, TUSD e bandeira, com quantidades e valores. Compare a energia compensada com o esperado: quatro por cento da geração da usina no ciclo. Se bater, siga.
Passo cinco: o consumo injetado total, em reais, a margem de desconto, que veio da regra ativa da padaria, e o valor da fatura ao cliente — o que a sua empresa vai cobrar. A tela explica como chegou em cada número. Confira com a sua conta: consumo injetado vezes um menos vinte por cento. Passo seis: a usina vinculada é a sua usina, e a lista de pendências está vazia, com a mensagem de que nenhuma pendência foi encontrada.
Escreva uma observação curta na revisão, por exemplo "conferido, compensação igual ao esperado", e aprove a fatura. O status muda para aprovada, e a plataforma registra quem revisou e quando. Essa trilha é importante: se, daqui a seis meses, o cliente questionar uma cobrança, você sabe quem conferiu a fatura e o que foi visto. A partir daqui, a fatura está pronta para virar cobrança — o que acontece automaticamente na rotina de hora em hora ou com um clique, como você vai ver no próximo módulo.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Agora faça o mesmo para as faturas dos outros clientes. Use a lista de Faturas de Concessionárias com os filtros: por status, para ver só as pendentes de revisão, e por nome do cliente. Na operação real, é assim que se trabalha: uma fila, revisada em lote, todos os dias.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Primeira pendência: a fatura não está vinculada a nenhuma unidade consumidora. A clínica abriu uma filial, a fatura dela chegou, mas a UC da filial não estava cadastrada. Resolva na origem: na ficha da clínica, cadastre a nova unidade consumidora com o número da instalação que aparece na fatura. Volte à fatura, abra a correção manual dos dados, selecione a UC e salve. Marque a pendência como resolvida. E lembre: se essa UC vai receber créditos, ela precisa de vínculo com a usina e de entrar na lista de rateio.
Segunda: fatura duplicada. Aconteceu porque a mesma fatura chegou por e-mail e também foi enviada pelo cliente no WhatsApp. Compare com a fatura existente — mesma unidade, mesma referência, mesmos valores. Se for igual, rejeite a duplicata, com uma observação. Se for uma refaturação da distribuidora, com valores diferentes, a análise é outra: descubra qual é a válida antes de decidir, e, se a cobrança da original já tiver sido gerada, ajuste a cobrança, como você vai ver no módulo 8.
Terceira: valor ou consumo inválido. Isso acontece quando o PDF tem um layout que o leitor automático não reconhece por completo, por exemplo de outra distribuidora, ou uma segunda via com formato diferente. Abra o PDF e use a correção manual: preencha o valor total, o consumo, a energia injetada e o consumo injetado, em quilowatts-hora e em reais, copiando da fatura. Repare que a plataforma não deixa salvar a revisão sem um valor total válido — uma trava que evita cobranças erradas. Salve: o status da revisão fica como corrigida, e a correção fica registrada. Justifique nas observações.
Quarta: o cliente não tem regra de desconto ativa. Sem ela, a fatura não sabe que margem aplicar. Vá à ficha do cliente, na parte de desconto, e crie uma regra ativa com o percentual do contrato. Volte à fatura e confira que a margem de desconto apareceu. Resolva a pendência.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terminar, abra os Alertas Operacionais e filtre pelo módulo de faturas. É aqui que aparecem os problemas de importação, como senha de PDF errada ou fatura ilegível, e as faturas paradas em revisão há mais de três dias. Agora aprove as faturas que você corrigiu. O entregável do módulo é o primeiro ciclo de faturas: todas as faturas do mês um aprovadas e pelo menos três pendências resolvidas, com justificativa. No próximo módulo, essas faturas viram dinheiro: cobrança, Pix e boleto.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jp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jp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jp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F7A23B"/>
          </a:solidFill>
          <a:ln/>
        </p:spPr>
      </p:sp>
      <p:pic>
        <p:nvPicPr>
          <p:cNvPr id="3" name="Image 0" descr="/www/wwwroot/rexar/gdsolar/docs/curso/slides/assets/logo-gdsolar.png">    </p:cNvPr>
          <p:cNvPicPr>
            <a:picLocks noChangeAspect="1"/>
          </p:cNvPicPr>
          <p:nvPr/>
        </p:nvPicPr>
        <p:blipFill>
          <a:blip r:embed="rId1"/>
          <a:stretch>
            <a:fillRect/>
          </a:stretch>
        </p:blipFill>
        <p:spPr>
          <a:xfrm>
            <a:off x="640080" y="594360"/>
            <a:ext cx="822960" cy="822960"/>
          </a:xfrm>
          <a:prstGeom prst="rect">
            <a:avLst/>
          </a:prstGeom>
        </p:spPr>
      </p:pic>
      <p:sp>
        <p:nvSpPr>
          <p:cNvPr id="4" name="Text 1"/>
          <p:cNvSpPr/>
          <p:nvPr/>
        </p:nvSpPr>
        <p:spPr>
          <a:xfrm>
            <a:off x="1600200" y="566928"/>
            <a:ext cx="7315200" cy="8686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GD Solar
</a:t>
            </a:r>
            <a:pPr indent="0" marL="0">
              <a:buNone/>
            </a:pPr>
            <a:r>
              <a:rPr lang="en-US" sz="1300" dirty="0">
                <a:solidFill>
                  <a:srgbClr val="C7D2E3"/>
                </a:solidFill>
                <a:latin typeface="Arial" pitchFamily="34" charset="0"/>
                <a:ea typeface="Arial" pitchFamily="34" charset="-122"/>
                <a:cs typeface="Arial" pitchFamily="34" charset="-120"/>
              </a:rPr>
              <a:t>Formação em Energia por Assinatura</a:t>
            </a:r>
            <a:endParaRPr lang="en-US" sz="1800" dirty="0"/>
          </a:p>
        </p:txBody>
      </p:sp>
      <p:sp>
        <p:nvSpPr>
          <p:cNvPr id="5" name="Text 2"/>
          <p:cNvSpPr/>
          <p:nvPr/>
        </p:nvSpPr>
        <p:spPr>
          <a:xfrm>
            <a:off x="640080" y="1920240"/>
            <a:ext cx="10972800" cy="411480"/>
          </a:xfrm>
          <a:prstGeom prst="rect">
            <a:avLst/>
          </a:prstGeom>
          <a:noFill/>
          <a:ln/>
        </p:spPr>
        <p:txBody>
          <a:bodyPr wrap="square" rtlCol="0" anchor="ctr"/>
          <a:lstStyle/>
          <a:p>
            <a:pPr indent="0" marL="0">
              <a:buNone/>
            </a:pPr>
            <a:r>
              <a:rPr lang="en-US" sz="1400" b="1" spc="100" kern="0" dirty="0">
                <a:solidFill>
                  <a:srgbClr val="F7A23B"/>
                </a:solidFill>
                <a:latin typeface="Arial" pitchFamily="34" charset="0"/>
                <a:ea typeface="Arial" pitchFamily="34" charset="-122"/>
                <a:cs typeface="Arial" pitchFamily="34" charset="-120"/>
              </a:rPr>
              <a:t>M7  ·  ETAPA 3 · OPERAÇÃO PONTA A PONTA</a:t>
            </a:r>
            <a:endParaRPr lang="en-US" sz="1400" dirty="0"/>
          </a:p>
        </p:txBody>
      </p:sp>
      <p:sp>
        <p:nvSpPr>
          <p:cNvPr id="6" name="Text 3"/>
          <p:cNvSpPr/>
          <p:nvPr/>
        </p:nvSpPr>
        <p:spPr>
          <a:xfrm>
            <a:off x="640080" y="2331720"/>
            <a:ext cx="10972800" cy="1188720"/>
          </a:xfrm>
          <a:prstGeom prst="rect">
            <a:avLst/>
          </a:prstGeom>
          <a:noFill/>
          <a:ln/>
        </p:spPr>
        <p:txBody>
          <a:bodyPr wrap="square" rtlCol="0" anchor="t">
            <a:normAutofit/>
          </a:bodyPr>
          <a:lstStyle/>
          <a:p>
            <a:pPr indent="0" marL="0">
              <a:buNone/>
            </a:pPr>
            <a:r>
              <a:rPr lang="en-US" sz="4000" b="1" dirty="0">
                <a:solidFill>
                  <a:srgbClr val="FFFFFF"/>
                </a:solidFill>
                <a:latin typeface="Arial" pitchFamily="34" charset="0"/>
                <a:ea typeface="Arial" pitchFamily="34" charset="-122"/>
                <a:cs typeface="Arial" pitchFamily="34" charset="-120"/>
              </a:rPr>
              <a:t>Faturas e compensação</a:t>
            </a:r>
            <a:endParaRPr lang="en-US" sz="4000" dirty="0"/>
          </a:p>
        </p:txBody>
      </p:sp>
      <p:sp>
        <p:nvSpPr>
          <p:cNvPr id="7" name="Text 4"/>
          <p:cNvSpPr/>
          <p:nvPr/>
        </p:nvSpPr>
        <p:spPr>
          <a:xfrm>
            <a:off x="640080" y="3657600"/>
            <a:ext cx="6583680" cy="2743200"/>
          </a:xfrm>
          <a:prstGeom prst="rect">
            <a:avLst/>
          </a:prstGeom>
          <a:noFill/>
          <a:ln/>
        </p:spPr>
        <p:txBody>
          <a:bodyPr wrap="square" rtlCol="0" anchor="t">
            <a:normAutofit/>
          </a:bodyPr>
          <a:lstStyle/>
          <a:p>
            <a:pPr indent="0" marL="0">
              <a:spcAft>
                <a:spcPts val="400"/>
              </a:spcAft>
              <a:buNone/>
            </a:pPr>
            <a:r>
              <a:rPr lang="en-US" sz="1400" dirty="0">
                <a:solidFill>
                  <a:srgbClr val="C7D2E3"/>
                </a:solidFill>
                <a:latin typeface="Arial" pitchFamily="34" charset="0"/>
                <a:ea typeface="Arial" pitchFamily="34" charset="-122"/>
                <a:cs typeface="Arial" pitchFamily="34" charset="-120"/>
              </a:rPr>
              <a:t>1. Anatomia da fatura com compensação</a:t>
            </a:r>
            <a:endParaRPr lang="en-US" sz="1400" dirty="0"/>
          </a:p>
          <a:p>
            <a:pPr indent="0" marL="0">
              <a:spcAft>
                <a:spcPts val="400"/>
              </a:spcAft>
              <a:buNone/>
            </a:pPr>
            <a:r>
              <a:rPr lang="en-US" sz="1400" dirty="0">
                <a:solidFill>
                  <a:srgbClr val="C7D2E3"/>
                </a:solidFill>
                <a:latin typeface="Arial" pitchFamily="34" charset="0"/>
                <a:ea typeface="Arial" pitchFamily="34" charset="-122"/>
                <a:cs typeface="Arial" pitchFamily="34" charset="-120"/>
              </a:rPr>
              <a:t>2. Créditos, saldo e quando a conta não fecha</a:t>
            </a:r>
            <a:endParaRPr lang="en-US" sz="1400" dirty="0"/>
          </a:p>
          <a:p>
            <a:pPr indent="0" marL="0">
              <a:spcAft>
                <a:spcPts val="400"/>
              </a:spcAft>
              <a:buNone/>
            </a:pPr>
            <a:r>
              <a:rPr lang="en-US" sz="1400" dirty="0">
                <a:solidFill>
                  <a:srgbClr val="C7D2E3"/>
                </a:solidFill>
                <a:latin typeface="Arial" pitchFamily="34" charset="0"/>
                <a:ea typeface="Arial" pitchFamily="34" charset="-122"/>
                <a:cs typeface="Arial" pitchFamily="34" charset="-120"/>
              </a:rPr>
              <a:t>3. Importação automática por e-mail</a:t>
            </a:r>
            <a:endParaRPr lang="en-US" sz="1400" dirty="0"/>
          </a:p>
          <a:p>
            <a:pPr indent="0" marL="0">
              <a:spcAft>
                <a:spcPts val="400"/>
              </a:spcAft>
              <a:buNone/>
            </a:pPr>
            <a:r>
              <a:rPr lang="en-US" sz="1400" dirty="0">
                <a:solidFill>
                  <a:srgbClr val="C7D2E3"/>
                </a:solidFill>
                <a:latin typeface="Arial" pitchFamily="34" charset="0"/>
                <a:ea typeface="Arial" pitchFamily="34" charset="-122"/>
                <a:cs typeface="Arial" pitchFamily="34" charset="-120"/>
              </a:rPr>
              <a:t>4. Revisão de fatura: o que conferir</a:t>
            </a:r>
            <a:endParaRPr lang="en-US" sz="1400" dirty="0"/>
          </a:p>
          <a:p>
            <a:pPr indent="0" marL="0">
              <a:spcAft>
                <a:spcPts val="400"/>
              </a:spcAft>
              <a:buNone/>
            </a:pPr>
            <a:r>
              <a:rPr lang="en-US" sz="1400" dirty="0">
                <a:solidFill>
                  <a:srgbClr val="C7D2E3"/>
                </a:solidFill>
                <a:latin typeface="Arial" pitchFamily="34" charset="0"/>
                <a:ea typeface="Arial" pitchFamily="34" charset="-122"/>
                <a:cs typeface="Arial" pitchFamily="34" charset="-120"/>
              </a:rPr>
              <a:t>5. upload, revisão e aprovação de faturas</a:t>
            </a:r>
            <a:endParaRPr lang="en-US" sz="1400" dirty="0"/>
          </a:p>
          <a:p>
            <a:pPr indent="0" marL="0">
              <a:spcAft>
                <a:spcPts val="400"/>
              </a:spcAft>
              <a:buNone/>
            </a:pPr>
            <a:r>
              <a:rPr lang="en-US" sz="1400" dirty="0">
                <a:solidFill>
                  <a:srgbClr val="C7D2E3"/>
                </a:solidFill>
                <a:latin typeface="Arial" pitchFamily="34" charset="0"/>
                <a:ea typeface="Arial" pitchFamily="34" charset="-122"/>
                <a:cs typeface="Arial" pitchFamily="34" charset="-120"/>
              </a:rPr>
              <a:t>6. resolvendo pendências de fatura</a:t>
            </a:r>
            <a:endParaRPr lang="en-US" sz="1400" dirty="0"/>
          </a:p>
        </p:txBody>
      </p:sp>
      <p:sp>
        <p:nvSpPr>
          <p:cNvPr id="8" name="Shape 5"/>
          <p:cNvSpPr/>
          <p:nvPr/>
        </p:nvSpPr>
        <p:spPr>
          <a:xfrm>
            <a:off x="7589520" y="3657600"/>
            <a:ext cx="3977640" cy="2743200"/>
          </a:xfrm>
          <a:prstGeom prst="roundRect">
            <a:avLst>
              <a:gd name="adj" fmla="val 3333"/>
            </a:avLst>
          </a:prstGeom>
          <a:solidFill>
            <a:srgbClr val="11396F"/>
          </a:solidFill>
          <a:ln/>
        </p:spPr>
      </p:sp>
      <p:sp>
        <p:nvSpPr>
          <p:cNvPr id="9" name="Text 6"/>
          <p:cNvSpPr/>
          <p:nvPr/>
        </p:nvSpPr>
        <p:spPr>
          <a:xfrm>
            <a:off x="7772400" y="3749040"/>
            <a:ext cx="3611880" cy="2560320"/>
          </a:xfrm>
          <a:prstGeom prst="rect">
            <a:avLst/>
          </a:prstGeom>
          <a:noFill/>
          <a:ln/>
        </p:spPr>
        <p:txBody>
          <a:bodyPr wrap="square" rtlCol="0" anchor="t">
            <a:normAutofit/>
          </a:bodyPr>
          <a:lstStyle/>
          <a:p>
            <a:pPr indent="0" marL="0">
              <a:buNone/>
            </a:pPr>
            <a:r>
              <a:rPr lang="en-US" sz="1300" b="1" dirty="0">
                <a:solidFill>
                  <a:srgbClr val="F7A23B"/>
                </a:solidFill>
                <a:latin typeface="Arial" pitchFamily="34" charset="0"/>
                <a:ea typeface="Arial" pitchFamily="34" charset="-122"/>
                <a:cs typeface="Arial" pitchFamily="34" charset="-120"/>
              </a:rPr>
              <a:t>Ao final do módulo
</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Ler as linhas de compensação de uma fatura (energia injetada/compensada, bandeira, saldo de créditos).</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Diagnosticar quando os créditos não batem com o rateio esperado.</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Configurar a importação automática por e-mail (caixa por cliente, senha do PDF, filtro de remetente).</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Revisar uma fatura com critério: dados extraídos, pendências, margem de desconto, usina vinculada.</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Importar, revisar, corrigir e aprovar faturas na plataforma, resolvendo pendências.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01</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1</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M7 · Etapa 3 · Operação ponta a ponta</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Aula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Anatomia da fatura com compensação</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Identificar e interpretar as linhas de compensação na fatura da distribuidora</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Os blocos da fatura</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As linhas de compensação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Consumo injetado: o número que importa</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O bloco de informações da GD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M7 · Aula 1</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1 · ANATOMIA DA FATURA COM COMPENSAÇÃO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Os blocos da fatura</a:t>
            </a:r>
            <a:endParaRPr lang="en-US" sz="2600" dirty="0"/>
          </a:p>
        </p:txBody>
      </p:sp>
      <p:sp>
        <p:nvSpPr>
          <p:cNvPr id="9" name="Shape 6"/>
          <p:cNvSpPr/>
          <p:nvPr/>
        </p:nvSpPr>
        <p:spPr>
          <a:xfrm>
            <a:off x="548640" y="132588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Identificação</a:t>
            </a:r>
            <a:endParaRPr lang="en-US" sz="1800" dirty="0"/>
          </a:p>
        </p:txBody>
      </p:sp>
      <p:sp>
        <p:nvSpPr>
          <p:cNvPr id="13" name="Shape 10"/>
          <p:cNvSpPr/>
          <p:nvPr/>
        </p:nvSpPr>
        <p:spPr>
          <a:xfrm>
            <a:off x="4322064" y="132588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504944" y="1508760"/>
            <a:ext cx="457200" cy="457200"/>
          </a:xfrm>
          <a:prstGeom prst="ellipse">
            <a:avLst/>
          </a:prstGeom>
          <a:solidFill>
            <a:srgbClr val="F7A23B"/>
          </a:solidFill>
          <a:ln/>
        </p:spPr>
      </p:sp>
      <p:sp>
        <p:nvSpPr>
          <p:cNvPr id="15" name="Text 12"/>
          <p:cNvSpPr/>
          <p:nvPr/>
        </p:nvSpPr>
        <p:spPr>
          <a:xfrm>
            <a:off x="4504944"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99304" y="143560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Leitura e consumo</a:t>
            </a:r>
            <a:endParaRPr lang="en-US" sz="1800" dirty="0"/>
          </a:p>
        </p:txBody>
      </p:sp>
      <p:sp>
        <p:nvSpPr>
          <p:cNvPr id="17" name="Shape 14"/>
          <p:cNvSpPr/>
          <p:nvPr/>
        </p:nvSpPr>
        <p:spPr>
          <a:xfrm>
            <a:off x="8095488" y="132588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278368" y="1508760"/>
            <a:ext cx="457200" cy="457200"/>
          </a:xfrm>
          <a:prstGeom prst="ellipse">
            <a:avLst/>
          </a:prstGeom>
          <a:solidFill>
            <a:srgbClr val="1B3A6B"/>
          </a:solidFill>
          <a:ln/>
        </p:spPr>
      </p:sp>
      <p:sp>
        <p:nvSpPr>
          <p:cNvPr id="19" name="Text 16"/>
          <p:cNvSpPr/>
          <p:nvPr/>
        </p:nvSpPr>
        <p:spPr>
          <a:xfrm>
            <a:off x="8278368"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872728" y="143560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Itens faturados</a:t>
            </a:r>
            <a:endParaRPr lang="en-US" sz="1800" dirty="0"/>
          </a:p>
        </p:txBody>
      </p:sp>
      <p:sp>
        <p:nvSpPr>
          <p:cNvPr id="21" name="Shape 18"/>
          <p:cNvSpPr/>
          <p:nvPr/>
        </p:nvSpPr>
        <p:spPr>
          <a:xfrm>
            <a:off x="548640" y="388620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731520" y="4069080"/>
            <a:ext cx="457200" cy="457200"/>
          </a:xfrm>
          <a:prstGeom prst="ellipse">
            <a:avLst/>
          </a:prstGeom>
          <a:solidFill>
            <a:srgbClr val="F7A23B"/>
          </a:solidFill>
          <a:ln/>
        </p:spPr>
      </p:sp>
      <p:sp>
        <p:nvSpPr>
          <p:cNvPr id="23" name="Text 20"/>
          <p:cNvSpPr/>
          <p:nvPr/>
        </p:nvSpPr>
        <p:spPr>
          <a:xfrm>
            <a:off x="73152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1325880" y="399592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Tributos</a:t>
            </a:r>
            <a:endParaRPr lang="en-US" sz="1800" dirty="0"/>
          </a:p>
        </p:txBody>
      </p:sp>
      <p:sp>
        <p:nvSpPr>
          <p:cNvPr id="25" name="Shape 22"/>
          <p:cNvSpPr/>
          <p:nvPr/>
        </p:nvSpPr>
        <p:spPr>
          <a:xfrm>
            <a:off x="4322064" y="388620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6" name="Shape 23"/>
          <p:cNvSpPr/>
          <p:nvPr/>
        </p:nvSpPr>
        <p:spPr>
          <a:xfrm>
            <a:off x="4504944" y="4069080"/>
            <a:ext cx="457200" cy="457200"/>
          </a:xfrm>
          <a:prstGeom prst="ellipse">
            <a:avLst/>
          </a:prstGeom>
          <a:solidFill>
            <a:srgbClr val="1B3A6B"/>
          </a:solidFill>
          <a:ln/>
        </p:spPr>
      </p:sp>
      <p:sp>
        <p:nvSpPr>
          <p:cNvPr id="27" name="Text 24"/>
          <p:cNvSpPr/>
          <p:nvPr/>
        </p:nvSpPr>
        <p:spPr>
          <a:xfrm>
            <a:off x="4504944"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5"/>
          <p:cNvSpPr/>
          <p:nvPr/>
        </p:nvSpPr>
        <p:spPr>
          <a:xfrm>
            <a:off x="5099304" y="399592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Informações da GD</a:t>
            </a:r>
            <a:endParaRPr lang="en-US" sz="1800" dirty="0"/>
          </a:p>
        </p:txBody>
      </p:sp>
      <p:sp>
        <p:nvSpPr>
          <p:cNvPr id="29" name="Shape 26"/>
          <p:cNvSpPr/>
          <p:nvPr/>
        </p:nvSpPr>
        <p:spPr>
          <a:xfrm>
            <a:off x="8095488" y="388620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30" name="Shape 27"/>
          <p:cNvSpPr/>
          <p:nvPr/>
        </p:nvSpPr>
        <p:spPr>
          <a:xfrm>
            <a:off x="8278368" y="4069080"/>
            <a:ext cx="457200" cy="457200"/>
          </a:xfrm>
          <a:prstGeom prst="ellipse">
            <a:avLst/>
          </a:prstGeom>
          <a:solidFill>
            <a:srgbClr val="F7A23B"/>
          </a:solidFill>
          <a:ln/>
        </p:spPr>
      </p:sp>
      <p:sp>
        <p:nvSpPr>
          <p:cNvPr id="31" name="Text 28"/>
          <p:cNvSpPr/>
          <p:nvPr/>
        </p:nvSpPr>
        <p:spPr>
          <a:xfrm>
            <a:off x="8278368"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2" name="Text 29"/>
          <p:cNvSpPr/>
          <p:nvPr/>
        </p:nvSpPr>
        <p:spPr>
          <a:xfrm>
            <a:off x="8872728" y="399592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Histórico</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M7 · Aula 1</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1 · ANATOMIA DA FATURA COM COMPENSAÇÃO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As linhas de compensação</a:t>
            </a:r>
            <a:endParaRPr lang="en-US" sz="2600" dirty="0"/>
          </a:p>
        </p:txBody>
      </p:sp>
      <p:sp>
        <p:nvSpPr>
          <p:cNvPr id="9" name="Shape 6"/>
          <p:cNvSpPr/>
          <p:nvPr/>
        </p:nvSpPr>
        <p:spPr>
          <a:xfrm>
            <a:off x="548640" y="1325880"/>
            <a:ext cx="11091672" cy="4892040"/>
          </a:xfrm>
          <a:prstGeom prst="roundRect">
            <a:avLst>
              <a:gd name="adj" fmla="val 1495"/>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10177272"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Consumo (positivo) − Energia injetada/compensada (negativo) = o que sobra para pagar</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M7 · Aula 1</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1 · ANATOMIA DA FATURA COM COMPENSAÇÃO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Consumo injetado: o número que importa</a:t>
            </a:r>
            <a:endParaRPr lang="en-US" sz="2600" dirty="0"/>
          </a:p>
        </p:txBody>
      </p:sp>
      <p:sp>
        <p:nvSpPr>
          <p:cNvPr id="9" name="Shape 6"/>
          <p:cNvSpPr/>
          <p:nvPr/>
        </p:nvSpPr>
        <p:spPr>
          <a:xfrm>
            <a:off x="548640" y="1325880"/>
            <a:ext cx="11091672" cy="4937760"/>
          </a:xfrm>
          <a:prstGeom prst="roundRect">
            <a:avLst>
              <a:gd name="adj" fmla="val 1852"/>
            </a:avLst>
          </a:prstGeom>
          <a:solidFill>
            <a:srgbClr val="0B1F3A"/>
          </a:solidFill>
          <a:ln/>
        </p:spPr>
      </p:sp>
      <p:sp>
        <p:nvSpPr>
          <p:cNvPr id="10" name="Text 7"/>
          <p:cNvSpPr/>
          <p:nvPr/>
        </p:nvSpPr>
        <p:spPr>
          <a:xfrm>
            <a:off x="914400" y="1554480"/>
            <a:ext cx="10360152" cy="4480560"/>
          </a:xfrm>
          <a:prstGeom prst="rect">
            <a:avLst/>
          </a:prstGeom>
          <a:noFill/>
          <a:ln/>
        </p:spPr>
        <p:txBody>
          <a:bodyPr wrap="square" rtlCol="0" anchor="ctr">
            <a:normAutofit/>
          </a:bodyPr>
          <a:lstStyle/>
          <a:p>
            <a:pPr indent="0" marL="0">
              <a:spcAft>
                <a:spcPts val="1000"/>
              </a:spcAft>
              <a:buNone/>
            </a:pPr>
            <a:r>
              <a:rPr lang="en-US" sz="2400" b="1" dirty="0">
                <a:solidFill>
                  <a:srgbClr val="FFFFFF"/>
                </a:solidFill>
                <a:latin typeface="Consolas" pitchFamily="34" charset="0"/>
                <a:ea typeface="Consolas" pitchFamily="34" charset="-122"/>
                <a:cs typeface="Consolas" pitchFamily="34" charset="-120"/>
              </a:rPr>
              <a:t>Consumo injetado (R$) = soma das linhas compensadas (TE + TUSD + bandeira)</a:t>
            </a:r>
            <a:endParaRPr lang="en-US" sz="2400" dirty="0"/>
          </a:p>
          <a:p>
            <a:pPr indent="0" marL="0">
              <a:spcAft>
                <a:spcPts val="1000"/>
              </a:spcAft>
              <a:buNone/>
            </a:pPr>
            <a:r>
              <a:rPr lang="en-US" sz="2400" b="1" dirty="0">
                <a:solidFill>
                  <a:srgbClr val="F7A23B"/>
                </a:solidFill>
                <a:latin typeface="Consolas" pitchFamily="34" charset="0"/>
                <a:ea typeface="Consolas" pitchFamily="34" charset="-122"/>
                <a:cs typeface="Consolas" pitchFamily="34" charset="-120"/>
              </a:rPr>
              <a:t>Ex.: R$ 2.119,00 → cobrança ao cliente = 2.119,00 × (1 − 20%) = R$ 1.695,20</a:t>
            </a:r>
            <a:endParaRPr lang="en-US" sz="24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M7 · Aula 1</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1 · ANATOMIA DA FATURA COM COMPENSAÇÃO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O bloco de informações da GD</a:t>
            </a:r>
            <a:endParaRPr lang="en-US" sz="2600" dirty="0"/>
          </a:p>
        </p:txBody>
      </p:sp>
      <p:sp>
        <p:nvSpPr>
          <p:cNvPr id="9" name="Shape 6"/>
          <p:cNvSpPr/>
          <p:nvPr/>
        </p:nvSpPr>
        <p:spPr>
          <a:xfrm>
            <a:off x="548640" y="132588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Recebidos</a:t>
            </a:r>
            <a:endParaRPr lang="en-US" sz="1800" dirty="0"/>
          </a:p>
        </p:txBody>
      </p:sp>
      <p:sp>
        <p:nvSpPr>
          <p:cNvPr id="13" name="Shape 10"/>
          <p:cNvSpPr/>
          <p:nvPr/>
        </p:nvSpPr>
        <p:spPr>
          <a:xfrm>
            <a:off x="6208776" y="132588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6391656" y="1508760"/>
            <a:ext cx="457200" cy="457200"/>
          </a:xfrm>
          <a:prstGeom prst="ellipse">
            <a:avLst/>
          </a:prstGeom>
          <a:solidFill>
            <a:srgbClr val="F7A23B"/>
          </a:solidFill>
          <a:ln/>
        </p:spPr>
      </p:sp>
      <p:sp>
        <p:nvSpPr>
          <p:cNvPr id="15" name="Text 12"/>
          <p:cNvSpPr/>
          <p:nvPr/>
        </p:nvSpPr>
        <p:spPr>
          <a:xfrm>
            <a:off x="6391656"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6986016" y="143560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utilizados</a:t>
            </a:r>
            <a:endParaRPr lang="en-US" sz="1800" dirty="0"/>
          </a:p>
        </p:txBody>
      </p:sp>
      <p:sp>
        <p:nvSpPr>
          <p:cNvPr id="17" name="Shape 14"/>
          <p:cNvSpPr/>
          <p:nvPr/>
        </p:nvSpPr>
        <p:spPr>
          <a:xfrm>
            <a:off x="548640" y="388620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731520" y="4069080"/>
            <a:ext cx="457200" cy="457200"/>
          </a:xfrm>
          <a:prstGeom prst="ellipse">
            <a:avLst/>
          </a:prstGeom>
          <a:solidFill>
            <a:srgbClr val="1B3A6B"/>
          </a:solidFill>
          <a:ln/>
        </p:spPr>
      </p:sp>
      <p:sp>
        <p:nvSpPr>
          <p:cNvPr id="19" name="Text 16"/>
          <p:cNvSpPr/>
          <p:nvPr/>
        </p:nvSpPr>
        <p:spPr>
          <a:xfrm>
            <a:off x="73152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1325880" y="399592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saldo</a:t>
            </a:r>
            <a:endParaRPr lang="en-US" sz="1800" dirty="0"/>
          </a:p>
        </p:txBody>
      </p:sp>
      <p:sp>
        <p:nvSpPr>
          <p:cNvPr id="21" name="Shape 18"/>
          <p:cNvSpPr/>
          <p:nvPr/>
        </p:nvSpPr>
        <p:spPr>
          <a:xfrm>
            <a:off x="6208776" y="388620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6391656" y="4069080"/>
            <a:ext cx="457200" cy="457200"/>
          </a:xfrm>
          <a:prstGeom prst="ellipse">
            <a:avLst/>
          </a:prstGeom>
          <a:solidFill>
            <a:srgbClr val="F7A23B"/>
          </a:solidFill>
          <a:ln/>
        </p:spPr>
      </p:sp>
      <p:sp>
        <p:nvSpPr>
          <p:cNvPr id="23" name="Text 20"/>
          <p:cNvSpPr/>
          <p:nvPr/>
        </p:nvSpPr>
        <p:spPr>
          <a:xfrm>
            <a:off x="6391656"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6986016" y="399592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a expirar</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3FA"/>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M7 · Aula 1</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1 · RESUMO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Para levar desta aula</a:t>
            </a:r>
            <a:endParaRPr lang="en-US" sz="2600" dirty="0"/>
          </a:p>
        </p:txBody>
      </p:sp>
      <p:sp>
        <p:nvSpPr>
          <p:cNvPr id="9" name="Shape 6"/>
          <p:cNvSpPr/>
          <p:nvPr/>
        </p:nvSpPr>
        <p:spPr>
          <a:xfrm>
            <a:off x="548640" y="132588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Consumo (+)</a:t>
            </a:r>
            <a:endParaRPr lang="en-US" sz="1800" dirty="0"/>
          </a:p>
        </p:txBody>
      </p:sp>
      <p:sp>
        <p:nvSpPr>
          <p:cNvPr id="13" name="Shape 10"/>
          <p:cNvSpPr/>
          <p:nvPr/>
        </p:nvSpPr>
        <p:spPr>
          <a:xfrm>
            <a:off x="6208776" y="132588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6391656" y="1508760"/>
            <a:ext cx="457200" cy="457200"/>
          </a:xfrm>
          <a:prstGeom prst="ellipse">
            <a:avLst/>
          </a:prstGeom>
          <a:solidFill>
            <a:srgbClr val="F7A23B"/>
          </a:solidFill>
          <a:ln/>
        </p:spPr>
      </p:sp>
      <p:sp>
        <p:nvSpPr>
          <p:cNvPr id="15" name="Text 12"/>
          <p:cNvSpPr/>
          <p:nvPr/>
        </p:nvSpPr>
        <p:spPr>
          <a:xfrm>
            <a:off x="6391656"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6986016" y="143560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compensação (−)</a:t>
            </a:r>
            <a:endParaRPr lang="en-US" sz="1800" dirty="0"/>
          </a:p>
        </p:txBody>
      </p:sp>
      <p:sp>
        <p:nvSpPr>
          <p:cNvPr id="17" name="Shape 14"/>
          <p:cNvSpPr/>
          <p:nvPr/>
        </p:nvSpPr>
        <p:spPr>
          <a:xfrm>
            <a:off x="548640" y="388620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731520" y="4069080"/>
            <a:ext cx="457200" cy="457200"/>
          </a:xfrm>
          <a:prstGeom prst="ellipse">
            <a:avLst/>
          </a:prstGeom>
          <a:solidFill>
            <a:srgbClr val="1B3A6B"/>
          </a:solidFill>
          <a:ln/>
        </p:spPr>
      </p:sp>
      <p:sp>
        <p:nvSpPr>
          <p:cNvPr id="19" name="Text 16"/>
          <p:cNvSpPr/>
          <p:nvPr/>
        </p:nvSpPr>
        <p:spPr>
          <a:xfrm>
            <a:off x="73152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1325880" y="399592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consumo injetado = base da cobrança</a:t>
            </a:r>
            <a:endParaRPr lang="en-US" sz="1800" dirty="0"/>
          </a:p>
        </p:txBody>
      </p:sp>
      <p:sp>
        <p:nvSpPr>
          <p:cNvPr id="21" name="Shape 18"/>
          <p:cNvSpPr/>
          <p:nvPr/>
        </p:nvSpPr>
        <p:spPr>
          <a:xfrm>
            <a:off x="6208776" y="388620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6391656" y="4069080"/>
            <a:ext cx="457200" cy="457200"/>
          </a:xfrm>
          <a:prstGeom prst="ellipse">
            <a:avLst/>
          </a:prstGeom>
          <a:solidFill>
            <a:srgbClr val="F7A23B"/>
          </a:solidFill>
          <a:ln/>
        </p:spPr>
      </p:sp>
      <p:sp>
        <p:nvSpPr>
          <p:cNvPr id="23" name="Text 20"/>
          <p:cNvSpPr/>
          <p:nvPr/>
        </p:nvSpPr>
        <p:spPr>
          <a:xfrm>
            <a:off x="6391656"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6986016" y="399592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bloco da GD = termômetro</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02</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2</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M7 · Etapa 3 · Operação ponta a ponta</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Aula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Créditos, saldo e quando a conta não fecha</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Diagnosticar divergências entre créditos esperados e faturados e agir em cada caso</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A conta do esperado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Seis situações e o que fazer</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Como registrar e cobrar a distribuidora</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M7 · Aula 2</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2 · CRÉDITOS, SALDO E QUANDO A CONTA NÃO FECHA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A conta do esperado</a:t>
            </a:r>
            <a:endParaRPr lang="en-US" sz="2600" dirty="0"/>
          </a:p>
        </p:txBody>
      </p:sp>
      <p:sp>
        <p:nvSpPr>
          <p:cNvPr id="9" name="Shape 6"/>
          <p:cNvSpPr/>
          <p:nvPr/>
        </p:nvSpPr>
        <p:spPr>
          <a:xfrm>
            <a:off x="548640" y="1325880"/>
            <a:ext cx="11091672" cy="4937760"/>
          </a:xfrm>
          <a:prstGeom prst="roundRect">
            <a:avLst>
              <a:gd name="adj" fmla="val 1852"/>
            </a:avLst>
          </a:prstGeom>
          <a:solidFill>
            <a:srgbClr val="0B1F3A"/>
          </a:solidFill>
          <a:ln/>
        </p:spPr>
      </p:sp>
      <p:sp>
        <p:nvSpPr>
          <p:cNvPr id="10" name="Text 7"/>
          <p:cNvSpPr/>
          <p:nvPr/>
        </p:nvSpPr>
        <p:spPr>
          <a:xfrm>
            <a:off x="914400" y="1554480"/>
            <a:ext cx="10360152" cy="4480560"/>
          </a:xfrm>
          <a:prstGeom prst="rect">
            <a:avLst/>
          </a:prstGeom>
          <a:noFill/>
          <a:ln/>
        </p:spPr>
        <p:txBody>
          <a:bodyPr wrap="square" rtlCol="0" anchor="ctr">
            <a:normAutofit/>
          </a:bodyPr>
          <a:lstStyle/>
          <a:p>
            <a:pPr indent="0" marL="0">
              <a:spcAft>
                <a:spcPts val="1000"/>
              </a:spcAft>
              <a:buNone/>
            </a:pPr>
            <a:r>
              <a:rPr lang="en-US" sz="2400" b="1" dirty="0">
                <a:solidFill>
                  <a:srgbClr val="FFFFFF"/>
                </a:solidFill>
                <a:latin typeface="Consolas" pitchFamily="34" charset="0"/>
                <a:ea typeface="Consolas" pitchFamily="34" charset="-122"/>
                <a:cs typeface="Consolas" pitchFamily="34" charset="-120"/>
              </a:rPr>
              <a:t>Créditos esperados = % do rateio × energia injetada da usina no ciclo</a:t>
            </a:r>
            <a:endParaRPr lang="en-US" sz="2400" dirty="0"/>
          </a:p>
          <a:p>
            <a:pPr indent="0" marL="0">
              <a:spcAft>
                <a:spcPts val="1000"/>
              </a:spcAft>
              <a:buNone/>
            </a:pPr>
            <a:r>
              <a:rPr lang="en-US" sz="2400" b="1" dirty="0">
                <a:solidFill>
                  <a:srgbClr val="F7A23B"/>
                </a:solidFill>
                <a:latin typeface="Consolas" pitchFamily="34" charset="0"/>
                <a:ea typeface="Consolas" pitchFamily="34" charset="-122"/>
                <a:cs typeface="Consolas" pitchFamily="34" charset="-120"/>
              </a:rPr>
              <a:t>Ex.: 4% × 58.000 = 2.320 kWh</a:t>
            </a:r>
            <a:endParaRPr lang="en-US" sz="24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M7 · Aula 2</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2 · CRÉDITOS, SALDO E QUANDO A CONTA NÃO FECHA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Seis situações e o que fazer</a:t>
            </a:r>
            <a:endParaRPr lang="en-US" sz="2600" dirty="0"/>
          </a:p>
        </p:txBody>
      </p:sp>
      <p:sp>
        <p:nvSpPr>
          <p:cNvPr id="9" name="Text 6"/>
          <p:cNvSpPr/>
          <p:nvPr/>
        </p:nvSpPr>
        <p:spPr>
          <a:xfrm>
            <a:off x="548640" y="1325880"/>
            <a:ext cx="11155680" cy="4937760"/>
          </a:xfrm>
          <a:prstGeom prst="rect">
            <a:avLst/>
          </a:prstGeom>
          <a:noFill/>
          <a:ln/>
        </p:spPr>
        <p:txBody>
          <a:bodyPr wrap="square" rtlCol="0" anchor="t">
            <a:normAutofit/>
          </a:bodyPr>
          <a:lstStyle/>
          <a:p>
            <a:pPr indent="0" marL="0">
              <a:spcAft>
                <a:spcPts val="600"/>
              </a:spcAft>
              <a:buNone/>
            </a:pPr>
            <a:r>
              <a:rPr lang="en-US" sz="1300" dirty="0">
                <a:solidFill>
                  <a:srgbClr val="1F2937"/>
                </a:solidFill>
                <a:latin typeface="Arial" pitchFamily="34" charset="0"/>
                <a:ea typeface="Arial" pitchFamily="34" charset="-122"/>
                <a:cs typeface="Arial" pitchFamily="34" charset="-120"/>
              </a:rPr>
              <a:t>1. Nenhum crédito → rateio não aplicado / UC fora da lista / titularidade → conferir protocolo, cobrar a distribuidora</a:t>
            </a:r>
            <a:endParaRPr lang="en-US" sz="1300" dirty="0"/>
          </a:p>
          <a:p>
            <a:pPr indent="0" marL="0">
              <a:spcAft>
                <a:spcPts val="600"/>
              </a:spcAft>
              <a:buNone/>
            </a:pPr>
            <a:r>
              <a:rPr lang="en-US" sz="1300" dirty="0">
                <a:solidFill>
                  <a:srgbClr val="1F2937"/>
                </a:solidFill>
                <a:latin typeface="Arial" pitchFamily="34" charset="0"/>
                <a:ea typeface="Arial" pitchFamily="34" charset="-122"/>
                <a:cs typeface="Arial" pitchFamily="34" charset="-120"/>
              </a:rPr>
              <a:t>2. Créditos menores → geração baixa / % digitado errado → conferir geração e lista</a:t>
            </a:r>
            <a:endParaRPr lang="en-US" sz="1300" dirty="0"/>
          </a:p>
          <a:p>
            <a:pPr indent="0" marL="0">
              <a:spcAft>
                <a:spcPts val="600"/>
              </a:spcAft>
              <a:buNone/>
            </a:pPr>
            <a:r>
              <a:rPr lang="en-US" sz="1300" dirty="0">
                <a:solidFill>
                  <a:srgbClr val="1F2937"/>
                </a:solidFill>
                <a:latin typeface="Arial" pitchFamily="34" charset="0"/>
                <a:ea typeface="Arial" pitchFamily="34" charset="-122"/>
                <a:cs typeface="Arial" pitchFamily="34" charset="-120"/>
              </a:rPr>
              <a:t>3. Créditos maiores que o consumo → saldo acumulando → revisar cota</a:t>
            </a:r>
            <a:endParaRPr lang="en-US" sz="1300" dirty="0"/>
          </a:p>
          <a:p>
            <a:pPr indent="0" marL="0">
              <a:spcAft>
                <a:spcPts val="600"/>
              </a:spcAft>
              <a:buNone/>
            </a:pPr>
            <a:r>
              <a:rPr lang="en-US" sz="1300" dirty="0">
                <a:solidFill>
                  <a:srgbClr val="1F2937"/>
                </a:solidFill>
                <a:latin typeface="Arial" pitchFamily="34" charset="0"/>
                <a:ea typeface="Arial" pitchFamily="34" charset="-122"/>
                <a:cs typeface="Arial" pitchFamily="34" charset="-120"/>
              </a:rPr>
              <a:t>4. Leitura estimada pela média → acerto no mês seguinte → anotar e acompanhar</a:t>
            </a:r>
            <a:endParaRPr lang="en-US" sz="1300" dirty="0"/>
          </a:p>
          <a:p>
            <a:pPr indent="0" marL="0">
              <a:spcAft>
                <a:spcPts val="600"/>
              </a:spcAft>
              <a:buNone/>
            </a:pPr>
            <a:r>
              <a:rPr lang="en-US" sz="1300" dirty="0">
                <a:solidFill>
                  <a:srgbClr val="1F2937"/>
                </a:solidFill>
                <a:latin typeface="Arial" pitchFamily="34" charset="0"/>
                <a:ea typeface="Arial" pitchFamily="34" charset="-122"/>
                <a:cs typeface="Arial" pitchFamily="34" charset="-120"/>
              </a:rPr>
              <a:t>5. Créditos para a UC errada → erro na lista → corrigir e pedir refaturamento</a:t>
            </a:r>
            <a:endParaRPr lang="en-US" sz="1300" dirty="0"/>
          </a:p>
          <a:p>
            <a:pPr indent="0" marL="0">
              <a:spcAft>
                <a:spcPts val="600"/>
              </a:spcAft>
              <a:buNone/>
            </a:pPr>
            <a:r>
              <a:rPr lang="en-US" sz="1300" dirty="0">
                <a:solidFill>
                  <a:srgbClr val="1F2937"/>
                </a:solidFill>
                <a:latin typeface="Arial" pitchFamily="34" charset="0"/>
                <a:ea typeface="Arial" pitchFamily="34" charset="-122"/>
                <a:cs typeface="Arial" pitchFamily="34" charset="-120"/>
              </a:rPr>
              <a:t>6. Créditos a expirar → cota alta ou cliente consumindo menos → reduzir cota/redistribuir</a:t>
            </a:r>
            <a:endParaRPr lang="en-US" sz="13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M7 · Aula 2</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2 · CRÉDITOS, SALDO E QUANDO A CONTA NÃO FECHA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Como registrar e cobrar a distribuidora</a:t>
            </a:r>
            <a:endParaRPr lang="en-US" sz="2600" dirty="0"/>
          </a:p>
        </p:txBody>
      </p:sp>
      <p:sp>
        <p:nvSpPr>
          <p:cNvPr id="9" name="Shape 6"/>
          <p:cNvSpPr/>
          <p:nvPr/>
        </p:nvSpPr>
        <p:spPr>
          <a:xfrm>
            <a:off x="548640" y="132588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Registrar na revisão da fatura (observações)</a:t>
            </a:r>
            <a:endParaRPr lang="en-US" sz="1800" dirty="0"/>
          </a:p>
        </p:txBody>
      </p:sp>
      <p:sp>
        <p:nvSpPr>
          <p:cNvPr id="13" name="Shape 10"/>
          <p:cNvSpPr/>
          <p:nvPr/>
        </p:nvSpPr>
        <p:spPr>
          <a:xfrm>
            <a:off x="6208776" y="132588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6391656" y="1508760"/>
            <a:ext cx="457200" cy="457200"/>
          </a:xfrm>
          <a:prstGeom prst="ellipse">
            <a:avLst/>
          </a:prstGeom>
          <a:solidFill>
            <a:srgbClr val="F7A23B"/>
          </a:solidFill>
          <a:ln/>
        </p:spPr>
      </p:sp>
      <p:sp>
        <p:nvSpPr>
          <p:cNvPr id="15" name="Text 12"/>
          <p:cNvSpPr/>
          <p:nvPr/>
        </p:nvSpPr>
        <p:spPr>
          <a:xfrm>
            <a:off x="6391656"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6986016" y="143560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protocolo na distribuidora</a:t>
            </a:r>
            <a:endParaRPr lang="en-US" sz="1800" dirty="0"/>
          </a:p>
        </p:txBody>
      </p:sp>
      <p:sp>
        <p:nvSpPr>
          <p:cNvPr id="17" name="Shape 14"/>
          <p:cNvSpPr/>
          <p:nvPr/>
        </p:nvSpPr>
        <p:spPr>
          <a:xfrm>
            <a:off x="548640" y="388620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731520" y="4069080"/>
            <a:ext cx="457200" cy="457200"/>
          </a:xfrm>
          <a:prstGeom prst="ellipse">
            <a:avLst/>
          </a:prstGeom>
          <a:solidFill>
            <a:srgbClr val="1B3A6B"/>
          </a:solidFill>
          <a:ln/>
        </p:spPr>
      </p:sp>
      <p:sp>
        <p:nvSpPr>
          <p:cNvPr id="19" name="Text 16"/>
          <p:cNvSpPr/>
          <p:nvPr/>
        </p:nvSpPr>
        <p:spPr>
          <a:xfrm>
            <a:off x="73152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1325880" y="399592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prazo de resposta</a:t>
            </a:r>
            <a:endParaRPr lang="en-US" sz="1800" dirty="0"/>
          </a:p>
        </p:txBody>
      </p:sp>
      <p:sp>
        <p:nvSpPr>
          <p:cNvPr id="21" name="Shape 18"/>
          <p:cNvSpPr/>
          <p:nvPr/>
        </p:nvSpPr>
        <p:spPr>
          <a:xfrm>
            <a:off x="6208776" y="388620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6391656" y="4069080"/>
            <a:ext cx="457200" cy="457200"/>
          </a:xfrm>
          <a:prstGeom prst="ellipse">
            <a:avLst/>
          </a:prstGeom>
          <a:solidFill>
            <a:srgbClr val="F7A23B"/>
          </a:solidFill>
          <a:ln/>
        </p:spPr>
      </p:sp>
      <p:sp>
        <p:nvSpPr>
          <p:cNvPr id="23" name="Text 20"/>
          <p:cNvSpPr/>
          <p:nvPr/>
        </p:nvSpPr>
        <p:spPr>
          <a:xfrm>
            <a:off x="6391656"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6986016" y="399592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ouvidoria/ANEEL se necessário</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3FA"/>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M7 · Aula 2</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2 · RESUMO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Para levar desta aula</a:t>
            </a:r>
            <a:endParaRPr lang="en-US" sz="2600" dirty="0"/>
          </a:p>
        </p:txBody>
      </p:sp>
      <p:sp>
        <p:nvSpPr>
          <p:cNvPr id="9" name="Shape 6"/>
          <p:cNvSpPr/>
          <p:nvPr/>
        </p:nvSpPr>
        <p:spPr>
          <a:xfrm>
            <a:off x="548640"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Esperado = % × injetada</a:t>
            </a:r>
            <a:endParaRPr lang="en-US" sz="1800" dirty="0"/>
          </a:p>
        </p:txBody>
      </p:sp>
      <p:sp>
        <p:nvSpPr>
          <p:cNvPr id="13" name="Shape 10"/>
          <p:cNvSpPr/>
          <p:nvPr/>
        </p:nvSpPr>
        <p:spPr>
          <a:xfrm>
            <a:off x="4322064"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504944" y="1508760"/>
            <a:ext cx="457200" cy="457200"/>
          </a:xfrm>
          <a:prstGeom prst="ellipse">
            <a:avLst/>
          </a:prstGeom>
          <a:solidFill>
            <a:srgbClr val="F7A23B"/>
          </a:solidFill>
          <a:ln/>
        </p:spPr>
      </p:sp>
      <p:sp>
        <p:nvSpPr>
          <p:cNvPr id="15" name="Text 12"/>
          <p:cNvSpPr/>
          <p:nvPr/>
        </p:nvSpPr>
        <p:spPr>
          <a:xfrm>
            <a:off x="4504944"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99304"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6 situações</a:t>
            </a:r>
            <a:endParaRPr lang="en-US" sz="1800" dirty="0"/>
          </a:p>
        </p:txBody>
      </p:sp>
      <p:sp>
        <p:nvSpPr>
          <p:cNvPr id="17" name="Shape 14"/>
          <p:cNvSpPr/>
          <p:nvPr/>
        </p:nvSpPr>
        <p:spPr>
          <a:xfrm>
            <a:off x="8095488"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278368" y="1508760"/>
            <a:ext cx="457200" cy="457200"/>
          </a:xfrm>
          <a:prstGeom prst="ellipse">
            <a:avLst/>
          </a:prstGeom>
          <a:solidFill>
            <a:srgbClr val="1B3A6B"/>
          </a:solidFill>
          <a:ln/>
        </p:spPr>
      </p:sp>
      <p:sp>
        <p:nvSpPr>
          <p:cNvPr id="19" name="Text 16"/>
          <p:cNvSpPr/>
          <p:nvPr/>
        </p:nvSpPr>
        <p:spPr>
          <a:xfrm>
            <a:off x="8278368"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872728"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registre e protocole</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03</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3</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M7 · Etapa 3 · Operação ponta a ponta</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Aula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Importação automática por e-mail</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Entender e configurar a importação automática de faturas por e-mail (IMAP)</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A ideia: uma caixa de e-mail por cliente</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O upload manual continua existindo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Passo a passo na plataforma</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M7 · Aula 3</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3 · IMPORTAÇÃO AUTOMÁTICA POR E-MAIL</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A ideia: uma caixa de e-mail por cliente</a:t>
            </a:r>
            <a:endParaRPr lang="en-US" sz="2600" dirty="0"/>
          </a:p>
        </p:txBody>
      </p:sp>
      <p:sp>
        <p:nvSpPr>
          <p:cNvPr id="9" name="Shape 6"/>
          <p:cNvSpPr/>
          <p:nvPr/>
        </p:nvSpPr>
        <p:spPr>
          <a:xfrm>
            <a:off x="548640" y="2651760"/>
            <a:ext cx="2852928" cy="1463040"/>
          </a:xfrm>
          <a:prstGeom prst="chevron">
            <a:avLst/>
          </a:prstGeom>
          <a:solidFill>
            <a:srgbClr val="1B3A6B"/>
          </a:solidFill>
          <a:ln w="25400">
            <a:solidFill>
              <a:srgbClr val="FFFFFF"/>
            </a:solidFill>
            <a:prstDash val="solid"/>
          </a:ln>
        </p:spPr>
      </p:sp>
      <p:sp>
        <p:nvSpPr>
          <p:cNvPr id="10" name="Text 7"/>
          <p:cNvSpPr/>
          <p:nvPr/>
        </p:nvSpPr>
        <p:spPr>
          <a:xfrm>
            <a:off x="868680" y="2651760"/>
            <a:ext cx="2331720" cy="1463040"/>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Distribuidora</a:t>
            </a:r>
            <a:endParaRPr lang="en-US" sz="1500" dirty="0"/>
          </a:p>
        </p:txBody>
      </p:sp>
      <p:sp>
        <p:nvSpPr>
          <p:cNvPr id="11" name="Shape 8"/>
          <p:cNvSpPr/>
          <p:nvPr/>
        </p:nvSpPr>
        <p:spPr>
          <a:xfrm>
            <a:off x="3291840" y="2651760"/>
            <a:ext cx="2852928" cy="1463040"/>
          </a:xfrm>
          <a:prstGeom prst="chevron">
            <a:avLst/>
          </a:prstGeom>
          <a:solidFill>
            <a:srgbClr val="11396F"/>
          </a:solidFill>
          <a:ln w="25400">
            <a:solidFill>
              <a:srgbClr val="FFFFFF"/>
            </a:solidFill>
            <a:prstDash val="solid"/>
          </a:ln>
        </p:spPr>
      </p:sp>
      <p:sp>
        <p:nvSpPr>
          <p:cNvPr id="12" name="Text 9"/>
          <p:cNvSpPr/>
          <p:nvPr/>
        </p:nvSpPr>
        <p:spPr>
          <a:xfrm>
            <a:off x="3611880" y="2651760"/>
            <a:ext cx="2331720" cy="1463040"/>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e-mail da sua empresa (1 por cliente)</a:t>
            </a:r>
            <a:endParaRPr lang="en-US" sz="1500" dirty="0"/>
          </a:p>
        </p:txBody>
      </p:sp>
      <p:sp>
        <p:nvSpPr>
          <p:cNvPr id="13" name="Shape 10"/>
          <p:cNvSpPr/>
          <p:nvPr/>
        </p:nvSpPr>
        <p:spPr>
          <a:xfrm>
            <a:off x="6035040" y="2651760"/>
            <a:ext cx="2852928" cy="1463040"/>
          </a:xfrm>
          <a:prstGeom prst="chevron">
            <a:avLst/>
          </a:prstGeom>
          <a:solidFill>
            <a:srgbClr val="1B3A6B"/>
          </a:solidFill>
          <a:ln w="25400">
            <a:solidFill>
              <a:srgbClr val="FFFFFF"/>
            </a:solidFill>
            <a:prstDash val="solid"/>
          </a:ln>
        </p:spPr>
      </p:sp>
      <p:sp>
        <p:nvSpPr>
          <p:cNvPr id="14" name="Text 11"/>
          <p:cNvSpPr/>
          <p:nvPr/>
        </p:nvSpPr>
        <p:spPr>
          <a:xfrm>
            <a:off x="6355080" y="2651760"/>
            <a:ext cx="2331720" cy="1463040"/>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plataforma lê de hora em hora</a:t>
            </a:r>
            <a:endParaRPr lang="en-US" sz="1500" dirty="0"/>
          </a:p>
        </p:txBody>
      </p:sp>
      <p:sp>
        <p:nvSpPr>
          <p:cNvPr id="15" name="Shape 12"/>
          <p:cNvSpPr/>
          <p:nvPr/>
        </p:nvSpPr>
        <p:spPr>
          <a:xfrm>
            <a:off x="8778240" y="2651760"/>
            <a:ext cx="2852928" cy="1463040"/>
          </a:xfrm>
          <a:prstGeom prst="chevron">
            <a:avLst/>
          </a:prstGeom>
          <a:solidFill>
            <a:srgbClr val="11396F"/>
          </a:solidFill>
          <a:ln w="25400">
            <a:solidFill>
              <a:srgbClr val="FFFFFF"/>
            </a:solidFill>
            <a:prstDash val="solid"/>
          </a:ln>
        </p:spPr>
      </p:sp>
      <p:sp>
        <p:nvSpPr>
          <p:cNvPr id="16" name="Text 13"/>
          <p:cNvSpPr/>
          <p:nvPr/>
        </p:nvSpPr>
        <p:spPr>
          <a:xfrm>
            <a:off x="9098280" y="2651760"/>
            <a:ext cx="2331720" cy="1463040"/>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revisão</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M7 · Aula 3</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3 · IMPORTAÇÃO AUTOMÁTICA POR E-MAIL</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O upload manual continua existindo</a:t>
            </a:r>
            <a:endParaRPr lang="en-US" sz="2600" dirty="0"/>
          </a:p>
        </p:txBody>
      </p:sp>
      <p:sp>
        <p:nvSpPr>
          <p:cNvPr id="9" name="Shape 6"/>
          <p:cNvSpPr/>
          <p:nvPr/>
        </p:nvSpPr>
        <p:spPr>
          <a:xfrm>
            <a:off x="548640" y="132588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Upload manual: fatura de cliente novo</a:t>
            </a:r>
            <a:endParaRPr lang="en-US" sz="1800" dirty="0"/>
          </a:p>
        </p:txBody>
      </p:sp>
      <p:sp>
        <p:nvSpPr>
          <p:cNvPr id="13" name="Shape 10"/>
          <p:cNvSpPr/>
          <p:nvPr/>
        </p:nvSpPr>
        <p:spPr>
          <a:xfrm>
            <a:off x="6208776" y="132588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6391656" y="1508760"/>
            <a:ext cx="457200" cy="457200"/>
          </a:xfrm>
          <a:prstGeom prst="ellipse">
            <a:avLst/>
          </a:prstGeom>
          <a:solidFill>
            <a:srgbClr val="F7A23B"/>
          </a:solidFill>
          <a:ln/>
        </p:spPr>
      </p:sp>
      <p:sp>
        <p:nvSpPr>
          <p:cNvPr id="15" name="Text 12"/>
          <p:cNvSpPr/>
          <p:nvPr/>
        </p:nvSpPr>
        <p:spPr>
          <a:xfrm>
            <a:off x="6391656"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6986016" y="143560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segunda via</a:t>
            </a:r>
            <a:endParaRPr lang="en-US" sz="1800" dirty="0"/>
          </a:p>
        </p:txBody>
      </p:sp>
      <p:sp>
        <p:nvSpPr>
          <p:cNvPr id="17" name="Shape 14"/>
          <p:cNvSpPr/>
          <p:nvPr/>
        </p:nvSpPr>
        <p:spPr>
          <a:xfrm>
            <a:off x="548640" y="388620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731520" y="4069080"/>
            <a:ext cx="457200" cy="457200"/>
          </a:xfrm>
          <a:prstGeom prst="ellipse">
            <a:avLst/>
          </a:prstGeom>
          <a:solidFill>
            <a:srgbClr val="1B3A6B"/>
          </a:solidFill>
          <a:ln/>
        </p:spPr>
      </p:sp>
      <p:sp>
        <p:nvSpPr>
          <p:cNvPr id="19" name="Text 16"/>
          <p:cNvSpPr/>
          <p:nvPr/>
        </p:nvSpPr>
        <p:spPr>
          <a:xfrm>
            <a:off x="73152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1325880" y="399592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distribuidora sem e-mail</a:t>
            </a:r>
            <a:endParaRPr lang="en-US" sz="1800" dirty="0"/>
          </a:p>
        </p:txBody>
      </p:sp>
      <p:sp>
        <p:nvSpPr>
          <p:cNvPr id="21" name="Shape 18"/>
          <p:cNvSpPr/>
          <p:nvPr/>
        </p:nvSpPr>
        <p:spPr>
          <a:xfrm>
            <a:off x="6208776" y="388620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6391656" y="4069080"/>
            <a:ext cx="457200" cy="457200"/>
          </a:xfrm>
          <a:prstGeom prst="ellipse">
            <a:avLst/>
          </a:prstGeom>
          <a:solidFill>
            <a:srgbClr val="F7A23B"/>
          </a:solidFill>
          <a:ln/>
        </p:spPr>
      </p:sp>
      <p:sp>
        <p:nvSpPr>
          <p:cNvPr id="23" name="Text 20"/>
          <p:cNvSpPr/>
          <p:nvPr/>
        </p:nvSpPr>
        <p:spPr>
          <a:xfrm>
            <a:off x="6391656"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6986016" y="399592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layout não reconhecido</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M7 · Aula 3</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3 · IMPORTAÇÃO AUTOMÁTICA POR E-MAIL</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Passo a passo na plataforma</a:t>
            </a:r>
            <a:endParaRPr lang="en-US" sz="2600" dirty="0"/>
          </a:p>
        </p:txBody>
      </p:sp>
      <p:sp>
        <p:nvSpPr>
          <p:cNvPr id="9" name="Shape 6"/>
          <p:cNvSpPr/>
          <p:nvPr/>
        </p:nvSpPr>
        <p:spPr>
          <a:xfrm>
            <a:off x="548640" y="1325880"/>
            <a:ext cx="5431536" cy="4937760"/>
          </a:xfrm>
          <a:prstGeom prst="roundRect">
            <a:avLst>
              <a:gd name="adj" fmla="val 1481"/>
            </a:avLst>
          </a:prstGeom>
          <a:solidFill>
            <a:srgbClr val="FFFFFF"/>
          </a:solidFill>
          <a:ln w="9525">
            <a:solidFill>
              <a:srgbClr val="D8E0EC"/>
            </a:solidFill>
            <a:prstDash val="solid"/>
          </a:ln>
        </p:spPr>
      </p:sp>
      <p:sp>
        <p:nvSpPr>
          <p:cNvPr id="10" name="Shape 7"/>
          <p:cNvSpPr/>
          <p:nvPr/>
        </p:nvSpPr>
        <p:spPr>
          <a:xfrm>
            <a:off x="731520" y="1508760"/>
            <a:ext cx="822960" cy="384048"/>
          </a:xfrm>
          <a:prstGeom prst="roundRect">
            <a:avLst>
              <a:gd name="adj" fmla="val 47619"/>
            </a:avLst>
          </a:prstGeom>
          <a:solidFill>
            <a:srgbClr val="F7A23B"/>
          </a:solidFill>
          <a:ln/>
        </p:spPr>
      </p:sp>
      <p:sp>
        <p:nvSpPr>
          <p:cNvPr id="11" name="Text 8"/>
          <p:cNvSpPr/>
          <p:nvPr/>
        </p:nvSpPr>
        <p:spPr>
          <a:xfrm>
            <a:off x="731520" y="1508760"/>
            <a:ext cx="8229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PASSO 1</a:t>
            </a:r>
            <a:endParaRPr lang="en-US" sz="1000" dirty="0"/>
          </a:p>
        </p:txBody>
      </p:sp>
      <p:sp>
        <p:nvSpPr>
          <p:cNvPr id="12" name="Text 9"/>
          <p:cNvSpPr/>
          <p:nvPr/>
        </p:nvSpPr>
        <p:spPr>
          <a:xfrm>
            <a:off x="1645920" y="1463040"/>
            <a:ext cx="4197096" cy="502920"/>
          </a:xfrm>
          <a:prstGeom prst="rect">
            <a:avLst/>
          </a:prstGeom>
          <a:noFill/>
          <a:ln/>
        </p:spPr>
        <p:txBody>
          <a:bodyPr wrap="square" rtlCol="0" anchor="ctr">
            <a:normAutofit/>
          </a:bodyPr>
          <a:lstStyle/>
          <a:p>
            <a:pPr indent="0" marL="0">
              <a:buNone/>
            </a:pPr>
            <a:r>
              <a:rPr lang="en-US" sz="1400" b="1" dirty="0">
                <a:solidFill>
                  <a:srgbClr val="1B3A6B"/>
                </a:solidFill>
                <a:latin typeface="Arial" pitchFamily="34" charset="0"/>
                <a:ea typeface="Arial" pitchFamily="34" charset="-122"/>
                <a:cs typeface="Arial" pitchFamily="34" charset="-120"/>
              </a:rPr>
              <a:t>Configurando o cliente</a:t>
            </a:r>
            <a:endParaRPr lang="en-US" sz="1400" dirty="0"/>
          </a:p>
        </p:txBody>
      </p:sp>
      <p:sp>
        <p:nvSpPr>
          <p:cNvPr id="13" name="Text 10"/>
          <p:cNvSpPr/>
          <p:nvPr/>
        </p:nvSpPr>
        <p:spPr>
          <a:xfrm>
            <a:off x="777240" y="2057400"/>
            <a:ext cx="4974336" cy="4069080"/>
          </a:xfrm>
          <a:prstGeom prst="rect">
            <a:avLst/>
          </a:prstGeom>
          <a:noFill/>
          <a:ln/>
        </p:spPr>
        <p:txBody>
          <a:bodyPr wrap="square" rtlCol="0" anchor="t">
            <a:normAutofit/>
          </a:bodyPr>
          <a:lstStyle/>
          <a:p>
            <a:pPr indent="0" marL="0">
              <a:buNone/>
            </a:pPr>
            <a:r>
              <a:rPr lang="en-US" sz="1500" dirty="0">
                <a:solidFill>
                  <a:srgbClr val="1F2937"/>
                </a:solidFill>
                <a:latin typeface="Arial" pitchFamily="34" charset="0"/>
                <a:ea typeface="Arial" pitchFamily="34" charset="-122"/>
                <a:cs typeface="Arial" pitchFamily="34" charset="-120"/>
              </a:rPr>
              <a:t>Aba Integração: e-mail de recebimento</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senha do PDF</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filtro de remetente</a:t>
            </a:r>
            <a:endParaRPr lang="en-US" sz="1500" dirty="0"/>
          </a:p>
        </p:txBody>
      </p:sp>
      <p:sp>
        <p:nvSpPr>
          <p:cNvPr id="14" name="Shape 11"/>
          <p:cNvSpPr/>
          <p:nvPr/>
        </p:nvSpPr>
        <p:spPr>
          <a:xfrm>
            <a:off x="6208776" y="1325880"/>
            <a:ext cx="5431536" cy="4937760"/>
          </a:xfrm>
          <a:prstGeom prst="roundRect">
            <a:avLst>
              <a:gd name="adj" fmla="val 1481"/>
            </a:avLst>
          </a:prstGeom>
          <a:solidFill>
            <a:srgbClr val="FFFFFF"/>
          </a:solidFill>
          <a:ln w="9525">
            <a:solidFill>
              <a:srgbClr val="D8E0EC"/>
            </a:solidFill>
            <a:prstDash val="solid"/>
          </a:ln>
        </p:spPr>
      </p:sp>
      <p:sp>
        <p:nvSpPr>
          <p:cNvPr id="15" name="Shape 12"/>
          <p:cNvSpPr/>
          <p:nvPr/>
        </p:nvSpPr>
        <p:spPr>
          <a:xfrm>
            <a:off x="6391656" y="1508760"/>
            <a:ext cx="822960" cy="384048"/>
          </a:xfrm>
          <a:prstGeom prst="roundRect">
            <a:avLst>
              <a:gd name="adj" fmla="val 47619"/>
            </a:avLst>
          </a:prstGeom>
          <a:solidFill>
            <a:srgbClr val="F7A23B"/>
          </a:solidFill>
          <a:ln/>
        </p:spPr>
      </p:sp>
      <p:sp>
        <p:nvSpPr>
          <p:cNvPr id="16" name="Text 13"/>
          <p:cNvSpPr/>
          <p:nvPr/>
        </p:nvSpPr>
        <p:spPr>
          <a:xfrm>
            <a:off x="6391656" y="1508760"/>
            <a:ext cx="8229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PASSO 2</a:t>
            </a:r>
            <a:endParaRPr lang="en-US" sz="1000" dirty="0"/>
          </a:p>
        </p:txBody>
      </p:sp>
      <p:sp>
        <p:nvSpPr>
          <p:cNvPr id="17" name="Text 14"/>
          <p:cNvSpPr/>
          <p:nvPr/>
        </p:nvSpPr>
        <p:spPr>
          <a:xfrm>
            <a:off x="7306056" y="1463040"/>
            <a:ext cx="4197096" cy="502920"/>
          </a:xfrm>
          <a:prstGeom prst="rect">
            <a:avLst/>
          </a:prstGeom>
          <a:noFill/>
          <a:ln/>
        </p:spPr>
        <p:txBody>
          <a:bodyPr wrap="square" rtlCol="0" anchor="ctr">
            <a:normAutofit/>
          </a:bodyPr>
          <a:lstStyle/>
          <a:p>
            <a:pPr indent="0" marL="0">
              <a:buNone/>
            </a:pPr>
            <a:r>
              <a:rPr lang="en-US" sz="1400" b="1" dirty="0">
                <a:solidFill>
                  <a:srgbClr val="1B3A6B"/>
                </a:solidFill>
                <a:latin typeface="Arial" pitchFamily="34" charset="0"/>
                <a:ea typeface="Arial" pitchFamily="34" charset="-122"/>
                <a:cs typeface="Arial" pitchFamily="34" charset="-120"/>
              </a:rPr>
              <a:t>Acompanhando a importação</a:t>
            </a:r>
            <a:endParaRPr lang="en-US" sz="1400" dirty="0"/>
          </a:p>
        </p:txBody>
      </p:sp>
      <p:sp>
        <p:nvSpPr>
          <p:cNvPr id="18" name="Text 15"/>
          <p:cNvSpPr/>
          <p:nvPr/>
        </p:nvSpPr>
        <p:spPr>
          <a:xfrm>
            <a:off x="6437376" y="2057400"/>
            <a:ext cx="4974336" cy="4069080"/>
          </a:xfrm>
          <a:prstGeom prst="rect">
            <a:avLst/>
          </a:prstGeom>
          <a:noFill/>
          <a:ln/>
        </p:spPr>
        <p:txBody>
          <a:bodyPr wrap="square" rtlCol="0" anchor="t">
            <a:normAutofit/>
          </a:bodyPr>
          <a:lstStyle/>
          <a:p>
            <a:pPr indent="0" marL="0">
              <a:buNone/>
            </a:pPr>
            <a:r>
              <a:rPr lang="en-US" sz="1500" dirty="0">
                <a:solidFill>
                  <a:srgbClr val="1F2937"/>
                </a:solidFill>
                <a:latin typeface="Arial" pitchFamily="34" charset="0"/>
                <a:ea typeface="Arial" pitchFamily="34" charset="-122"/>
                <a:cs typeface="Arial" pitchFamily="34" charset="-120"/>
              </a:rPr>
              <a:t>Histórico de Importação: cada execução, cada e-mail, cada erro</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F3FA"/>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M7 · Aula 3</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3 · RESUMO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Para levar desta aula</a:t>
            </a:r>
            <a:endParaRPr lang="en-US" sz="2600" dirty="0"/>
          </a:p>
        </p:txBody>
      </p:sp>
      <p:sp>
        <p:nvSpPr>
          <p:cNvPr id="9" name="Shape 6"/>
          <p:cNvSpPr/>
          <p:nvPr/>
        </p:nvSpPr>
        <p:spPr>
          <a:xfrm>
            <a:off x="548640" y="132588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1 caixa por cliente</a:t>
            </a:r>
            <a:endParaRPr lang="en-US" sz="1800" dirty="0"/>
          </a:p>
        </p:txBody>
      </p:sp>
      <p:sp>
        <p:nvSpPr>
          <p:cNvPr id="13" name="Shape 10"/>
          <p:cNvSpPr/>
          <p:nvPr/>
        </p:nvSpPr>
        <p:spPr>
          <a:xfrm>
            <a:off x="4322064" y="132588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504944" y="1508760"/>
            <a:ext cx="457200" cy="457200"/>
          </a:xfrm>
          <a:prstGeom prst="ellipse">
            <a:avLst/>
          </a:prstGeom>
          <a:solidFill>
            <a:srgbClr val="F7A23B"/>
          </a:solidFill>
          <a:ln/>
        </p:spPr>
      </p:sp>
      <p:sp>
        <p:nvSpPr>
          <p:cNvPr id="15" name="Text 12"/>
          <p:cNvSpPr/>
          <p:nvPr/>
        </p:nvSpPr>
        <p:spPr>
          <a:xfrm>
            <a:off x="4504944"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99304" y="143560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senha do PDF cadastrada</a:t>
            </a:r>
            <a:endParaRPr lang="en-US" sz="1800" dirty="0"/>
          </a:p>
        </p:txBody>
      </p:sp>
      <p:sp>
        <p:nvSpPr>
          <p:cNvPr id="17" name="Shape 14"/>
          <p:cNvSpPr/>
          <p:nvPr/>
        </p:nvSpPr>
        <p:spPr>
          <a:xfrm>
            <a:off x="8095488" y="132588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278368" y="1508760"/>
            <a:ext cx="457200" cy="457200"/>
          </a:xfrm>
          <a:prstGeom prst="ellipse">
            <a:avLst/>
          </a:prstGeom>
          <a:solidFill>
            <a:srgbClr val="1B3A6B"/>
          </a:solidFill>
          <a:ln/>
        </p:spPr>
      </p:sp>
      <p:sp>
        <p:nvSpPr>
          <p:cNvPr id="19" name="Text 16"/>
          <p:cNvSpPr/>
          <p:nvPr/>
        </p:nvSpPr>
        <p:spPr>
          <a:xfrm>
            <a:off x="8278368"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872728" y="143560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rotina de hora em hora</a:t>
            </a:r>
            <a:endParaRPr lang="en-US" sz="1800" dirty="0"/>
          </a:p>
        </p:txBody>
      </p:sp>
      <p:sp>
        <p:nvSpPr>
          <p:cNvPr id="21" name="Shape 18"/>
          <p:cNvSpPr/>
          <p:nvPr/>
        </p:nvSpPr>
        <p:spPr>
          <a:xfrm>
            <a:off x="548640" y="388620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731520" y="4069080"/>
            <a:ext cx="457200" cy="457200"/>
          </a:xfrm>
          <a:prstGeom prst="ellipse">
            <a:avLst/>
          </a:prstGeom>
          <a:solidFill>
            <a:srgbClr val="F7A23B"/>
          </a:solidFill>
          <a:ln/>
        </p:spPr>
      </p:sp>
      <p:sp>
        <p:nvSpPr>
          <p:cNvPr id="23" name="Text 20"/>
          <p:cNvSpPr/>
          <p:nvPr/>
        </p:nvSpPr>
        <p:spPr>
          <a:xfrm>
            <a:off x="73152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1325880" y="399592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alertas avisam falhas</a:t>
            </a:r>
            <a:endParaRPr lang="en-US" sz="1800" dirty="0"/>
          </a:p>
        </p:txBody>
      </p:sp>
      <p:sp>
        <p:nvSpPr>
          <p:cNvPr id="25" name="Shape 22"/>
          <p:cNvSpPr/>
          <p:nvPr/>
        </p:nvSpPr>
        <p:spPr>
          <a:xfrm>
            <a:off x="4322064" y="388620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6" name="Shape 23"/>
          <p:cNvSpPr/>
          <p:nvPr/>
        </p:nvSpPr>
        <p:spPr>
          <a:xfrm>
            <a:off x="4504944" y="4069080"/>
            <a:ext cx="457200" cy="457200"/>
          </a:xfrm>
          <a:prstGeom prst="ellipse">
            <a:avLst/>
          </a:prstGeom>
          <a:solidFill>
            <a:srgbClr val="1B3A6B"/>
          </a:solidFill>
          <a:ln/>
        </p:spPr>
      </p:sp>
      <p:sp>
        <p:nvSpPr>
          <p:cNvPr id="27" name="Text 24"/>
          <p:cNvSpPr/>
          <p:nvPr/>
        </p:nvSpPr>
        <p:spPr>
          <a:xfrm>
            <a:off x="4504944"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5"/>
          <p:cNvSpPr/>
          <p:nvPr/>
        </p:nvSpPr>
        <p:spPr>
          <a:xfrm>
            <a:off x="5099304" y="399592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upload para exceções</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04</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4</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M7 · Etapa 3 · Operação ponta a ponta</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Aula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Revisão de fatura: o que conferir</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Aplicar um roteiro de revisão antes de aprovar uma fatura</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O ciclo de status</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O roteiro de revisão em seis passos</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As pendências automáticas</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Boas práticas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M7 · Aula 4</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4 · REVISÃO DE FATURA: O QUE CONFERIR</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O ciclo de status</a:t>
            </a:r>
            <a:endParaRPr lang="en-US" sz="2600" dirty="0"/>
          </a:p>
        </p:txBody>
      </p:sp>
      <p:sp>
        <p:nvSpPr>
          <p:cNvPr id="9" name="Text 6"/>
          <p:cNvSpPr/>
          <p:nvPr/>
        </p:nvSpPr>
        <p:spPr>
          <a:xfrm>
            <a:off x="548640" y="1325880"/>
            <a:ext cx="5486400" cy="4937760"/>
          </a:xfrm>
          <a:prstGeom prst="rect">
            <a:avLst/>
          </a:prstGeom>
          <a:noFill/>
          <a:ln/>
        </p:spPr>
        <p:txBody>
          <a:bodyPr wrap="square" rtlCol="0" anchor="t">
            <a:normAutofit/>
          </a:bodyPr>
          <a:lstStyle/>
          <a:p>
            <a:pPr marL="342900" indent="-342900">
              <a:spcAft>
                <a:spcPts val="600"/>
              </a:spcAft>
              <a:buSzPct val="100000"/>
              <a:buChar char="●"/>
            </a:pPr>
            <a:r>
              <a:rPr lang="en-US" sz="1800" dirty="0">
                <a:solidFill>
                  <a:srgbClr val="1F2937"/>
                </a:solidFill>
                <a:latin typeface="Arial" pitchFamily="34" charset="0"/>
                <a:ea typeface="Arial" pitchFamily="34" charset="-122"/>
                <a:cs typeface="Arial" pitchFamily="34" charset="-120"/>
              </a:rPr>
              <a:t>Extração: pendente</a:t>
            </a:r>
            <a:endParaRPr lang="en-US" sz="1800" dirty="0"/>
          </a:p>
          <a:p>
            <a:pPr marL="342900" indent="-342900">
              <a:spcAft>
                <a:spcPts val="600"/>
              </a:spcAft>
              <a:buSzPct val="100000"/>
              <a:buChar char="●"/>
            </a:pPr>
            <a:r>
              <a:rPr lang="en-US" sz="1800" dirty="0">
                <a:solidFill>
                  <a:srgbClr val="1F2937"/>
                </a:solidFill>
                <a:latin typeface="Arial" pitchFamily="34" charset="0"/>
                <a:ea typeface="Arial" pitchFamily="34" charset="-122"/>
                <a:cs typeface="Arial" pitchFamily="34" charset="-120"/>
              </a:rPr>
              <a:t>sucesso</a:t>
            </a:r>
            <a:endParaRPr lang="en-US" sz="1800" dirty="0"/>
          </a:p>
          <a:p>
            <a:pPr marL="342900" indent="-342900">
              <a:spcAft>
                <a:spcPts val="600"/>
              </a:spcAft>
              <a:buSzPct val="100000"/>
              <a:buChar char="●"/>
            </a:pPr>
            <a:r>
              <a:rPr lang="en-US" sz="1800" dirty="0">
                <a:solidFill>
                  <a:srgbClr val="1F2937"/>
                </a:solidFill>
                <a:latin typeface="Arial" pitchFamily="34" charset="0"/>
                <a:ea typeface="Arial" pitchFamily="34" charset="-122"/>
                <a:cs typeface="Arial" pitchFamily="34" charset="-120"/>
              </a:rPr>
              <a:t>erro</a:t>
            </a:r>
            <a:endParaRPr lang="en-US" sz="1800" dirty="0"/>
          </a:p>
          <a:p>
            <a:pPr marL="342900" indent="-342900">
              <a:spcAft>
                <a:spcPts val="600"/>
              </a:spcAft>
              <a:buSzPct val="100000"/>
              <a:buChar char="●"/>
            </a:pPr>
            <a:r>
              <a:rPr lang="en-US" sz="1800" dirty="0">
                <a:solidFill>
                  <a:srgbClr val="1F2937"/>
                </a:solidFill>
                <a:latin typeface="Arial" pitchFamily="34" charset="0"/>
                <a:ea typeface="Arial" pitchFamily="34" charset="-122"/>
                <a:cs typeface="Arial" pitchFamily="34" charset="-120"/>
              </a:rPr>
              <a:t>Revisão: pendente de revisão</a:t>
            </a:r>
            <a:endParaRPr lang="en-US" sz="1800" dirty="0"/>
          </a:p>
        </p:txBody>
      </p:sp>
      <p:sp>
        <p:nvSpPr>
          <p:cNvPr id="10" name="Text 7"/>
          <p:cNvSpPr/>
          <p:nvPr/>
        </p:nvSpPr>
        <p:spPr>
          <a:xfrm>
            <a:off x="6263640" y="1325880"/>
            <a:ext cx="5486400" cy="4937760"/>
          </a:xfrm>
          <a:prstGeom prst="rect">
            <a:avLst/>
          </a:prstGeom>
          <a:noFill/>
          <a:ln/>
        </p:spPr>
        <p:txBody>
          <a:bodyPr wrap="square" rtlCol="0" anchor="t">
            <a:normAutofit/>
          </a:bodyPr>
          <a:lstStyle/>
          <a:p>
            <a:pPr marL="342900" indent="-342900">
              <a:spcAft>
                <a:spcPts val="600"/>
              </a:spcAft>
              <a:buSzPct val="100000"/>
              <a:buChar char="●"/>
            </a:pPr>
            <a:r>
              <a:rPr lang="en-US" sz="1800" dirty="0">
                <a:solidFill>
                  <a:srgbClr val="1F2937"/>
                </a:solidFill>
                <a:latin typeface="Arial" pitchFamily="34" charset="0"/>
                <a:ea typeface="Arial" pitchFamily="34" charset="-122"/>
                <a:cs typeface="Arial" pitchFamily="34" charset="-120"/>
              </a:rPr>
              <a:t>revisada</a:t>
            </a:r>
            <a:endParaRPr lang="en-US" sz="1800" dirty="0"/>
          </a:p>
          <a:p>
            <a:pPr marL="342900" indent="-342900">
              <a:spcAft>
                <a:spcPts val="600"/>
              </a:spcAft>
              <a:buSzPct val="100000"/>
              <a:buChar char="●"/>
            </a:pPr>
            <a:r>
              <a:rPr lang="en-US" sz="1800" dirty="0">
                <a:solidFill>
                  <a:srgbClr val="1F2937"/>
                </a:solidFill>
                <a:latin typeface="Arial" pitchFamily="34" charset="0"/>
                <a:ea typeface="Arial" pitchFamily="34" charset="-122"/>
                <a:cs typeface="Arial" pitchFamily="34" charset="-120"/>
              </a:rPr>
              <a:t>corrigida</a:t>
            </a:r>
            <a:endParaRPr lang="en-US" sz="1800" dirty="0"/>
          </a:p>
          <a:p>
            <a:pPr marL="342900" indent="-342900">
              <a:spcAft>
                <a:spcPts val="600"/>
              </a:spcAft>
              <a:buSzPct val="100000"/>
              <a:buChar char="●"/>
            </a:pPr>
            <a:r>
              <a:rPr lang="en-US" sz="1800" dirty="0">
                <a:solidFill>
                  <a:srgbClr val="1F2937"/>
                </a:solidFill>
                <a:latin typeface="Arial" pitchFamily="34" charset="0"/>
                <a:ea typeface="Arial" pitchFamily="34" charset="-122"/>
                <a:cs typeface="Arial" pitchFamily="34" charset="-120"/>
              </a:rPr>
              <a:t>aprovada</a:t>
            </a:r>
            <a:endParaRPr lang="en-US" sz="1800" dirty="0"/>
          </a:p>
          <a:p>
            <a:pPr marL="342900" indent="-342900">
              <a:spcAft>
                <a:spcPts val="600"/>
              </a:spcAft>
              <a:buSzPct val="100000"/>
              <a:buChar char="●"/>
            </a:pPr>
            <a:r>
              <a:rPr lang="en-US" sz="1800" dirty="0">
                <a:solidFill>
                  <a:srgbClr val="1F2937"/>
                </a:solidFill>
                <a:latin typeface="Arial" pitchFamily="34" charset="0"/>
                <a:ea typeface="Arial" pitchFamily="34" charset="-122"/>
                <a:cs typeface="Arial" pitchFamily="34" charset="-120"/>
              </a:rPr>
              <a:t>rejeitada</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M7 · Aula 4</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4 · REVISÃO DE FATURA: O QUE CONFERIR</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O roteiro de revisão em seis passos</a:t>
            </a:r>
            <a:endParaRPr lang="en-US" sz="2600" dirty="0"/>
          </a:p>
        </p:txBody>
      </p:sp>
      <p:sp>
        <p:nvSpPr>
          <p:cNvPr id="9" name="Shape 6"/>
          <p:cNvSpPr/>
          <p:nvPr/>
        </p:nvSpPr>
        <p:spPr>
          <a:xfrm>
            <a:off x="548640" y="132588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Cliente e UC corretos (titular, número da instalação)</a:t>
            </a:r>
            <a:endParaRPr lang="en-US" sz="1800" dirty="0"/>
          </a:p>
        </p:txBody>
      </p:sp>
      <p:sp>
        <p:nvSpPr>
          <p:cNvPr id="13" name="Shape 10"/>
          <p:cNvSpPr/>
          <p:nvPr/>
        </p:nvSpPr>
        <p:spPr>
          <a:xfrm>
            <a:off x="4322064" y="132588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504944" y="1508760"/>
            <a:ext cx="457200" cy="457200"/>
          </a:xfrm>
          <a:prstGeom prst="ellipse">
            <a:avLst/>
          </a:prstGeom>
          <a:solidFill>
            <a:srgbClr val="F7A23B"/>
          </a:solidFill>
          <a:ln/>
        </p:spPr>
      </p:sp>
      <p:sp>
        <p:nvSpPr>
          <p:cNvPr id="15" name="Text 12"/>
          <p:cNvSpPr/>
          <p:nvPr/>
        </p:nvSpPr>
        <p:spPr>
          <a:xfrm>
            <a:off x="4504944"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99304" y="143560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Referência e vencimento</a:t>
            </a:r>
            <a:endParaRPr lang="en-US" sz="1800" dirty="0"/>
          </a:p>
        </p:txBody>
      </p:sp>
      <p:sp>
        <p:nvSpPr>
          <p:cNvPr id="17" name="Shape 14"/>
          <p:cNvSpPr/>
          <p:nvPr/>
        </p:nvSpPr>
        <p:spPr>
          <a:xfrm>
            <a:off x="8095488" y="132588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278368" y="1508760"/>
            <a:ext cx="457200" cy="457200"/>
          </a:xfrm>
          <a:prstGeom prst="ellipse">
            <a:avLst/>
          </a:prstGeom>
          <a:solidFill>
            <a:srgbClr val="1B3A6B"/>
          </a:solidFill>
          <a:ln/>
        </p:spPr>
      </p:sp>
      <p:sp>
        <p:nvSpPr>
          <p:cNvPr id="19" name="Text 16"/>
          <p:cNvSpPr/>
          <p:nvPr/>
        </p:nvSpPr>
        <p:spPr>
          <a:xfrm>
            <a:off x="8278368"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872728" y="143560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Consumo e valor total coerentes com o histórico</a:t>
            </a:r>
            <a:endParaRPr lang="en-US" sz="1800" dirty="0"/>
          </a:p>
        </p:txBody>
      </p:sp>
      <p:sp>
        <p:nvSpPr>
          <p:cNvPr id="21" name="Shape 18"/>
          <p:cNvSpPr/>
          <p:nvPr/>
        </p:nvSpPr>
        <p:spPr>
          <a:xfrm>
            <a:off x="548640" y="388620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731520" y="4069080"/>
            <a:ext cx="457200" cy="457200"/>
          </a:xfrm>
          <a:prstGeom prst="ellipse">
            <a:avLst/>
          </a:prstGeom>
          <a:solidFill>
            <a:srgbClr val="F7A23B"/>
          </a:solidFill>
          <a:ln/>
        </p:spPr>
      </p:sp>
      <p:sp>
        <p:nvSpPr>
          <p:cNvPr id="23" name="Text 20"/>
          <p:cNvSpPr/>
          <p:nvPr/>
        </p:nvSpPr>
        <p:spPr>
          <a:xfrm>
            <a:off x="73152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1325880" y="399592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Energia injetada/compensada: kWh esperado × faturado</a:t>
            </a:r>
            <a:endParaRPr lang="en-US" sz="1800" dirty="0"/>
          </a:p>
        </p:txBody>
      </p:sp>
      <p:sp>
        <p:nvSpPr>
          <p:cNvPr id="25" name="Shape 22"/>
          <p:cNvSpPr/>
          <p:nvPr/>
        </p:nvSpPr>
        <p:spPr>
          <a:xfrm>
            <a:off x="4322064" y="388620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6" name="Shape 23"/>
          <p:cNvSpPr/>
          <p:nvPr/>
        </p:nvSpPr>
        <p:spPr>
          <a:xfrm>
            <a:off x="4504944" y="4069080"/>
            <a:ext cx="457200" cy="457200"/>
          </a:xfrm>
          <a:prstGeom prst="ellipse">
            <a:avLst/>
          </a:prstGeom>
          <a:solidFill>
            <a:srgbClr val="1B3A6B"/>
          </a:solidFill>
          <a:ln/>
        </p:spPr>
      </p:sp>
      <p:sp>
        <p:nvSpPr>
          <p:cNvPr id="27" name="Text 24"/>
          <p:cNvSpPr/>
          <p:nvPr/>
        </p:nvSpPr>
        <p:spPr>
          <a:xfrm>
            <a:off x="4504944"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5"/>
          <p:cNvSpPr/>
          <p:nvPr/>
        </p:nvSpPr>
        <p:spPr>
          <a:xfrm>
            <a:off x="5099304" y="399592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Consumo injetado (R$) e margem de desconto</a:t>
            </a:r>
            <a:endParaRPr lang="en-US" sz="1800" dirty="0"/>
          </a:p>
        </p:txBody>
      </p:sp>
      <p:sp>
        <p:nvSpPr>
          <p:cNvPr id="29" name="Shape 26"/>
          <p:cNvSpPr/>
          <p:nvPr/>
        </p:nvSpPr>
        <p:spPr>
          <a:xfrm>
            <a:off x="8095488" y="388620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30" name="Shape 27"/>
          <p:cNvSpPr/>
          <p:nvPr/>
        </p:nvSpPr>
        <p:spPr>
          <a:xfrm>
            <a:off x="8278368" y="4069080"/>
            <a:ext cx="457200" cy="457200"/>
          </a:xfrm>
          <a:prstGeom prst="ellipse">
            <a:avLst/>
          </a:prstGeom>
          <a:solidFill>
            <a:srgbClr val="F7A23B"/>
          </a:solidFill>
          <a:ln/>
        </p:spPr>
      </p:sp>
      <p:sp>
        <p:nvSpPr>
          <p:cNvPr id="31" name="Text 28"/>
          <p:cNvSpPr/>
          <p:nvPr/>
        </p:nvSpPr>
        <p:spPr>
          <a:xfrm>
            <a:off x="8278368"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2" name="Text 29"/>
          <p:cNvSpPr/>
          <p:nvPr/>
        </p:nvSpPr>
        <p:spPr>
          <a:xfrm>
            <a:off x="8872728" y="399592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Usina vinculada e pendências zeradas</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M7 · Aula 4</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4 · REVISÃO DE FATURA: O QUE CONFERIR</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As pendências automáticas</a:t>
            </a:r>
            <a:endParaRPr lang="en-US" sz="2600" dirty="0"/>
          </a:p>
        </p:txBody>
      </p:sp>
      <p:sp>
        <p:nvSpPr>
          <p:cNvPr id="9" name="Text 6"/>
          <p:cNvSpPr/>
          <p:nvPr/>
        </p:nvSpPr>
        <p:spPr>
          <a:xfrm>
            <a:off x="548640" y="1325880"/>
            <a:ext cx="5486400" cy="4937760"/>
          </a:xfrm>
          <a:prstGeom prst="rect">
            <a:avLst/>
          </a:prstGeom>
          <a:noFill/>
          <a:ln/>
        </p:spPr>
        <p:txBody>
          <a:bodyPr wrap="square" rtlCol="0" anchor="t">
            <a:normAutofit/>
          </a:bodyPr>
          <a:lstStyle/>
          <a:p>
            <a:pPr marL="342900" indent="-342900">
              <a:spcAft>
                <a:spcPts val="600"/>
              </a:spcAft>
              <a:buSzPct val="100000"/>
              <a:buChar char="●"/>
            </a:pPr>
            <a:r>
              <a:rPr lang="en-US" sz="1800" dirty="0">
                <a:solidFill>
                  <a:srgbClr val="1F2937"/>
                </a:solidFill>
                <a:latin typeface="Arial" pitchFamily="34" charset="0"/>
                <a:ea typeface="Arial" pitchFamily="34" charset="-122"/>
                <a:cs typeface="Arial" pitchFamily="34" charset="-120"/>
              </a:rPr>
              <a:t>Erro do leitor automático (erro)</a:t>
            </a:r>
            <a:endParaRPr lang="en-US" sz="1800" dirty="0"/>
          </a:p>
          <a:p>
            <a:pPr marL="342900" indent="-342900">
              <a:spcAft>
                <a:spcPts val="600"/>
              </a:spcAft>
              <a:buSzPct val="100000"/>
              <a:buChar char="●"/>
            </a:pPr>
            <a:r>
              <a:rPr lang="en-US" sz="1800" dirty="0">
                <a:solidFill>
                  <a:srgbClr val="1F2937"/>
                </a:solidFill>
                <a:latin typeface="Arial" pitchFamily="34" charset="0"/>
                <a:ea typeface="Arial" pitchFamily="34" charset="-122"/>
                <a:cs typeface="Arial" pitchFamily="34" charset="-120"/>
              </a:rPr>
              <a:t>Fatura sem UC vinculada (erro)</a:t>
            </a:r>
            <a:endParaRPr lang="en-US" sz="1800" dirty="0"/>
          </a:p>
          <a:p>
            <a:pPr marL="342900" indent="-342900">
              <a:spcAft>
                <a:spcPts val="600"/>
              </a:spcAft>
              <a:buSzPct val="100000"/>
              <a:buChar char="●"/>
            </a:pPr>
            <a:r>
              <a:rPr lang="en-US" sz="1800" dirty="0">
                <a:solidFill>
                  <a:srgbClr val="1F2937"/>
                </a:solidFill>
                <a:latin typeface="Arial" pitchFamily="34" charset="0"/>
                <a:ea typeface="Arial" pitchFamily="34" charset="-122"/>
                <a:cs typeface="Arial" pitchFamily="34" charset="-120"/>
              </a:rPr>
              <a:t>Cliente sem regra de desconto ativa (aviso)</a:t>
            </a:r>
            <a:endParaRPr lang="en-US" sz="1800" dirty="0"/>
          </a:p>
          <a:p>
            <a:pPr marL="342900" indent="-342900">
              <a:spcAft>
                <a:spcPts val="600"/>
              </a:spcAft>
              <a:buSzPct val="100000"/>
              <a:buChar char="●"/>
            </a:pPr>
            <a:r>
              <a:rPr lang="en-US" sz="1800" dirty="0">
                <a:solidFill>
                  <a:srgbClr val="1F2937"/>
                </a:solidFill>
                <a:latin typeface="Arial" pitchFamily="34" charset="0"/>
                <a:ea typeface="Arial" pitchFamily="34" charset="-122"/>
                <a:cs typeface="Arial" pitchFamily="34" charset="-120"/>
              </a:rPr>
              <a:t>Valor total inválido (erro)</a:t>
            </a:r>
            <a:endParaRPr lang="en-US" sz="1800" dirty="0"/>
          </a:p>
        </p:txBody>
      </p:sp>
      <p:sp>
        <p:nvSpPr>
          <p:cNvPr id="10" name="Text 7"/>
          <p:cNvSpPr/>
          <p:nvPr/>
        </p:nvSpPr>
        <p:spPr>
          <a:xfrm>
            <a:off x="6263640" y="1325880"/>
            <a:ext cx="5486400" cy="4937760"/>
          </a:xfrm>
          <a:prstGeom prst="rect">
            <a:avLst/>
          </a:prstGeom>
          <a:noFill/>
          <a:ln/>
        </p:spPr>
        <p:txBody>
          <a:bodyPr wrap="square" rtlCol="0" anchor="t">
            <a:normAutofit/>
          </a:bodyPr>
          <a:lstStyle/>
          <a:p>
            <a:pPr marL="342900" indent="-342900">
              <a:spcAft>
                <a:spcPts val="600"/>
              </a:spcAft>
              <a:buSzPct val="100000"/>
              <a:buChar char="●"/>
            </a:pPr>
            <a:r>
              <a:rPr lang="en-US" sz="1800" dirty="0">
                <a:solidFill>
                  <a:srgbClr val="1F2937"/>
                </a:solidFill>
                <a:latin typeface="Arial" pitchFamily="34" charset="0"/>
                <a:ea typeface="Arial" pitchFamily="34" charset="-122"/>
                <a:cs typeface="Arial" pitchFamily="34" charset="-120"/>
              </a:rPr>
              <a:t>Consumo ausente ou inválido (aviso)</a:t>
            </a:r>
            <a:endParaRPr lang="en-US" sz="1800" dirty="0"/>
          </a:p>
          <a:p>
            <a:pPr marL="342900" indent="-342900">
              <a:spcAft>
                <a:spcPts val="600"/>
              </a:spcAft>
              <a:buSzPct val="100000"/>
              <a:buChar char="●"/>
            </a:pPr>
            <a:r>
              <a:rPr lang="en-US" sz="1800" dirty="0">
                <a:solidFill>
                  <a:srgbClr val="1F2937"/>
                </a:solidFill>
                <a:latin typeface="Arial" pitchFamily="34" charset="0"/>
                <a:ea typeface="Arial" pitchFamily="34" charset="-122"/>
                <a:cs typeface="Arial" pitchFamily="34" charset="-120"/>
              </a:rPr>
              <a:t>Fatura duplicada para a UC e referência (erro)</a:t>
            </a:r>
            <a:endParaRPr lang="en-US" sz="1800" dirty="0"/>
          </a:p>
          <a:p>
            <a:pPr marL="342900" indent="-342900">
              <a:spcAft>
                <a:spcPts val="600"/>
              </a:spcAft>
              <a:buSzPct val="100000"/>
              <a:buChar char="●"/>
            </a:pPr>
            <a:r>
              <a:rPr lang="en-US" sz="1800" dirty="0">
                <a:solidFill>
                  <a:srgbClr val="1F2937"/>
                </a:solidFill>
                <a:latin typeface="Arial" pitchFamily="34" charset="0"/>
                <a:ea typeface="Arial" pitchFamily="34" charset="-122"/>
                <a:cs typeface="Arial" pitchFamily="34" charset="-120"/>
              </a:rPr>
              <a:t>Usina da fatura ≠ vínculo ativo da UC (aviso)</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M7 · Aula 4</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4 · REVISÃO DE FATURA: O QUE CONFERIR</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Boas práticas</a:t>
            </a:r>
            <a:endParaRPr lang="en-US" sz="2600" dirty="0"/>
          </a:p>
        </p:txBody>
      </p:sp>
      <p:sp>
        <p:nvSpPr>
          <p:cNvPr id="9" name="Shape 6"/>
          <p:cNvSpPr/>
          <p:nvPr/>
        </p:nvSpPr>
        <p:spPr>
          <a:xfrm>
            <a:off x="548640" y="132588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Revisar em lote, no mesmo dia</a:t>
            </a:r>
            <a:endParaRPr lang="en-US" sz="1800" dirty="0"/>
          </a:p>
        </p:txBody>
      </p:sp>
      <p:sp>
        <p:nvSpPr>
          <p:cNvPr id="13" name="Shape 10"/>
          <p:cNvSpPr/>
          <p:nvPr/>
        </p:nvSpPr>
        <p:spPr>
          <a:xfrm>
            <a:off x="6208776" y="132588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6391656" y="1508760"/>
            <a:ext cx="457200" cy="457200"/>
          </a:xfrm>
          <a:prstGeom prst="ellipse">
            <a:avLst/>
          </a:prstGeom>
          <a:solidFill>
            <a:srgbClr val="F7A23B"/>
          </a:solidFill>
          <a:ln/>
        </p:spPr>
      </p:sp>
      <p:sp>
        <p:nvSpPr>
          <p:cNvPr id="15" name="Text 12"/>
          <p:cNvSpPr/>
          <p:nvPr/>
        </p:nvSpPr>
        <p:spPr>
          <a:xfrm>
            <a:off x="6391656"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6986016" y="143560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nunca aprovar com pendência de erro</a:t>
            </a:r>
            <a:endParaRPr lang="en-US" sz="1800" dirty="0"/>
          </a:p>
        </p:txBody>
      </p:sp>
      <p:sp>
        <p:nvSpPr>
          <p:cNvPr id="17" name="Shape 14"/>
          <p:cNvSpPr/>
          <p:nvPr/>
        </p:nvSpPr>
        <p:spPr>
          <a:xfrm>
            <a:off x="548640" y="388620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731520" y="4069080"/>
            <a:ext cx="457200" cy="457200"/>
          </a:xfrm>
          <a:prstGeom prst="ellipse">
            <a:avLst/>
          </a:prstGeom>
          <a:solidFill>
            <a:srgbClr val="1B3A6B"/>
          </a:solidFill>
          <a:ln/>
        </p:spPr>
      </p:sp>
      <p:sp>
        <p:nvSpPr>
          <p:cNvPr id="19" name="Text 16"/>
          <p:cNvSpPr/>
          <p:nvPr/>
        </p:nvSpPr>
        <p:spPr>
          <a:xfrm>
            <a:off x="73152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1325880" y="399592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justificar correções nas observações</a:t>
            </a:r>
            <a:endParaRPr lang="en-US" sz="1800" dirty="0"/>
          </a:p>
        </p:txBody>
      </p:sp>
      <p:sp>
        <p:nvSpPr>
          <p:cNvPr id="21" name="Shape 18"/>
          <p:cNvSpPr/>
          <p:nvPr/>
        </p:nvSpPr>
        <p:spPr>
          <a:xfrm>
            <a:off x="6208776" y="388620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6391656" y="4069080"/>
            <a:ext cx="457200" cy="457200"/>
          </a:xfrm>
          <a:prstGeom prst="ellipse">
            <a:avLst/>
          </a:prstGeom>
          <a:solidFill>
            <a:srgbClr val="F7A23B"/>
          </a:solidFill>
          <a:ln/>
        </p:spPr>
      </p:sp>
      <p:sp>
        <p:nvSpPr>
          <p:cNvPr id="23" name="Text 20"/>
          <p:cNvSpPr/>
          <p:nvPr/>
        </p:nvSpPr>
        <p:spPr>
          <a:xfrm>
            <a:off x="6391656"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6986016" y="399592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dupla checagem acima de um valor</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EF3FA"/>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M7 · Aula 4</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4 · RESUMO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Para levar desta aula</a:t>
            </a:r>
            <a:endParaRPr lang="en-US" sz="2600" dirty="0"/>
          </a:p>
        </p:txBody>
      </p:sp>
      <p:sp>
        <p:nvSpPr>
          <p:cNvPr id="9" name="Shape 6"/>
          <p:cNvSpPr/>
          <p:nvPr/>
        </p:nvSpPr>
        <p:spPr>
          <a:xfrm>
            <a:off x="548640"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6 passos</a:t>
            </a:r>
            <a:endParaRPr lang="en-US" sz="1800" dirty="0"/>
          </a:p>
        </p:txBody>
      </p:sp>
      <p:sp>
        <p:nvSpPr>
          <p:cNvPr id="13" name="Shape 10"/>
          <p:cNvSpPr/>
          <p:nvPr/>
        </p:nvSpPr>
        <p:spPr>
          <a:xfrm>
            <a:off x="4322064"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504944" y="1508760"/>
            <a:ext cx="457200" cy="457200"/>
          </a:xfrm>
          <a:prstGeom prst="ellipse">
            <a:avLst/>
          </a:prstGeom>
          <a:solidFill>
            <a:srgbClr val="F7A23B"/>
          </a:solidFill>
          <a:ln/>
        </p:spPr>
      </p:sp>
      <p:sp>
        <p:nvSpPr>
          <p:cNvPr id="15" name="Text 12"/>
          <p:cNvSpPr/>
          <p:nvPr/>
        </p:nvSpPr>
        <p:spPr>
          <a:xfrm>
            <a:off x="4504944"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99304"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pendências de erro bloqueiam</a:t>
            </a:r>
            <a:endParaRPr lang="en-US" sz="1800" dirty="0"/>
          </a:p>
        </p:txBody>
      </p:sp>
      <p:sp>
        <p:nvSpPr>
          <p:cNvPr id="17" name="Shape 14"/>
          <p:cNvSpPr/>
          <p:nvPr/>
        </p:nvSpPr>
        <p:spPr>
          <a:xfrm>
            <a:off x="8095488"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278368" y="1508760"/>
            <a:ext cx="457200" cy="457200"/>
          </a:xfrm>
          <a:prstGeom prst="ellipse">
            <a:avLst/>
          </a:prstGeom>
          <a:solidFill>
            <a:srgbClr val="1B3A6B"/>
          </a:solidFill>
          <a:ln/>
        </p:spPr>
      </p:sp>
      <p:sp>
        <p:nvSpPr>
          <p:cNvPr id="19" name="Text 16"/>
          <p:cNvSpPr/>
          <p:nvPr/>
        </p:nvSpPr>
        <p:spPr>
          <a:xfrm>
            <a:off x="8278368"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872728"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correções justificadas</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05</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5</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M7 · Etapa 3 · Operação ponta a ponta</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Prática na plataforma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upload, revisão e aprovação de faturas</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Subir o PDF de uma fatura, conferir a extração, revisar e aprovar</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Passo a passo na plataforma</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M7 · Aula 5</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5 · UPLOAD, REVISÃO E APROVAÇÃO DE FATURAS</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Passo a passo (1/2)</a:t>
            </a:r>
            <a:endParaRPr lang="en-US" sz="2600" dirty="0"/>
          </a:p>
        </p:txBody>
      </p:sp>
      <p:sp>
        <p:nvSpPr>
          <p:cNvPr id="9" name="Shape 6"/>
          <p:cNvSpPr/>
          <p:nvPr/>
        </p:nvSpPr>
        <p:spPr>
          <a:xfrm>
            <a:off x="420624" y="1289304"/>
            <a:ext cx="7114032" cy="4033647"/>
          </a:xfrm>
          <a:prstGeom prst="roundRect">
            <a:avLst>
              <a:gd name="adj" fmla="val 1360"/>
            </a:avLst>
          </a:prstGeom>
          <a:solidFill>
            <a:srgbClr val="FFFFFF"/>
          </a:solidFill>
          <a:ln w="12700">
            <a:solidFill>
              <a:srgbClr val="D8E0EC"/>
            </a:solidFill>
            <a:prstDash val="solid"/>
          </a:ln>
          <a:effectLst>
            <a:outerShdw sx="100000" sy="100000" kx="0" ky="0" algn="bl" rotWithShape="0" blurRad="76200" dist="25400" dir="5400000">
              <a:srgbClr val="000000">
                <a:alpha val="15000"/>
              </a:srgbClr>
            </a:outerShdw>
          </a:effectLst>
        </p:spPr>
      </p:sp>
      <p:pic>
        <p:nvPicPr>
          <p:cNvPr id="10" name="Image 1" descr="/www/wwwroot/rexar/gdsolar/docs/curso/slides/telas/faturas.jpg">    </p:cNvPr>
          <p:cNvPicPr>
            <a:picLocks noChangeAspect="1"/>
          </p:cNvPicPr>
          <p:nvPr/>
        </p:nvPicPr>
        <p:blipFill>
          <a:blip r:embed="rId2"/>
          <a:stretch>
            <a:fillRect/>
          </a:stretch>
        </p:blipFill>
        <p:spPr>
          <a:xfrm>
            <a:off x="457200" y="1325880"/>
            <a:ext cx="7040880" cy="3960495"/>
          </a:xfrm>
          <a:prstGeom prst="rect">
            <a:avLst/>
          </a:prstGeom>
        </p:spPr>
      </p:pic>
      <p:sp>
        <p:nvSpPr>
          <p:cNvPr id="11" name="Text 7"/>
          <p:cNvSpPr/>
          <p:nvPr/>
        </p:nvSpPr>
        <p:spPr>
          <a:xfrm>
            <a:off x="457200" y="5332095"/>
            <a:ext cx="7040880" cy="320040"/>
          </a:xfrm>
          <a:prstGeom prst="rect">
            <a:avLst/>
          </a:prstGeom>
          <a:noFill/>
          <a:ln/>
        </p:spPr>
        <p:txBody>
          <a:bodyPr wrap="square" rtlCol="0" anchor="ctr"/>
          <a:lstStyle/>
          <a:p>
            <a:pPr algn="ctr" indent="0" marL="0">
              <a:buNone/>
            </a:pPr>
            <a:r>
              <a:rPr lang="en-US" sz="1100" i="1" dirty="0">
                <a:solidFill>
                  <a:srgbClr val="64748B"/>
                </a:solidFill>
                <a:latin typeface="Arial" pitchFamily="34" charset="0"/>
                <a:ea typeface="Arial" pitchFamily="34" charset="-122"/>
                <a:cs typeface="Arial" pitchFamily="34" charset="-120"/>
              </a:rPr>
              <a:t>Faturas de concessionárias</a:t>
            </a:r>
            <a:endParaRPr lang="en-US" sz="1100" dirty="0"/>
          </a:p>
        </p:txBody>
      </p:sp>
      <p:sp>
        <p:nvSpPr>
          <p:cNvPr id="12" name="Text 8"/>
          <p:cNvSpPr/>
          <p:nvPr/>
        </p:nvSpPr>
        <p:spPr>
          <a:xfrm>
            <a:off x="7818120" y="1325880"/>
            <a:ext cx="3977640" cy="4937760"/>
          </a:xfrm>
          <a:prstGeom prst="rect">
            <a:avLst/>
          </a:prstGeom>
          <a:noFill/>
          <a:ln/>
        </p:spPr>
        <p:txBody>
          <a:bodyPr wrap="square" rtlCol="0" anchor="t">
            <a:normAutofit/>
          </a:bodyPr>
          <a:lstStyle/>
          <a:p>
            <a:pPr indent="0" marL="0">
              <a:buNone/>
            </a:pPr>
            <a:r>
              <a:rPr lang="en-US" sz="1500" b="1" dirty="0">
                <a:solidFill>
                  <a:srgbClr val="F7A23B"/>
                </a:solidFill>
                <a:latin typeface="Arial" pitchFamily="34" charset="0"/>
                <a:ea typeface="Arial" pitchFamily="34" charset="-122"/>
                <a:cs typeface="Arial" pitchFamily="34" charset="-120"/>
              </a:rPr>
              <a:t>1  </a:t>
            </a:r>
            <a:pPr indent="0" marL="0">
              <a:buNone/>
            </a:pPr>
            <a:r>
              <a:rPr lang="en-US" sz="1400" b="1" dirty="0">
                <a:solidFill>
                  <a:srgbClr val="1B3A6B"/>
                </a:solidFill>
                <a:latin typeface="Arial" pitchFamily="34" charset="0"/>
                <a:ea typeface="Arial" pitchFamily="34" charset="-122"/>
                <a:cs typeface="Arial" pitchFamily="34" charset="-120"/>
              </a:rPr>
              <a:t>Subindo o PDF</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Faturas de Concessionárias → Nova → cliente · UC · PDF</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2  </a:t>
            </a:r>
            <a:pPr indent="0" marL="0">
              <a:buNone/>
            </a:pPr>
            <a:r>
              <a:rPr lang="en-US" sz="1400" b="1" dirty="0">
                <a:solidFill>
                  <a:srgbClr val="1B3A6B"/>
                </a:solidFill>
                <a:latin typeface="Arial" pitchFamily="34" charset="0"/>
                <a:ea typeface="Arial" pitchFamily="34" charset="-122"/>
                <a:cs typeface="Arial" pitchFamily="34" charset="-120"/>
              </a:rPr>
              <a:t>Conferindo a extração</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Passos 1 a 4: cliente/UC · referência/vencimento · consumo/total · compensação</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3  </a:t>
            </a:r>
            <a:pPr indent="0" marL="0">
              <a:buNone/>
            </a:pPr>
            <a:r>
              <a:rPr lang="en-US" sz="1400" b="1" dirty="0">
                <a:solidFill>
                  <a:srgbClr val="1B3A6B"/>
                </a:solidFill>
                <a:latin typeface="Arial" pitchFamily="34" charset="0"/>
                <a:ea typeface="Arial" pitchFamily="34" charset="-122"/>
                <a:cs typeface="Arial" pitchFamily="34" charset="-120"/>
              </a:rPr>
              <a:t>A base da cobrança</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Passo 5: consumo injetado × (1 − margem) = valor ao cliente · Passo 6: usina e pendências</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4  </a:t>
            </a:r>
            <a:pPr indent="0" marL="0">
              <a:buNone/>
            </a:pPr>
            <a:r>
              <a:rPr lang="en-US" sz="1400" b="1" dirty="0">
                <a:solidFill>
                  <a:srgbClr val="1B3A6B"/>
                </a:solidFill>
                <a:latin typeface="Arial" pitchFamily="34" charset="0"/>
                <a:ea typeface="Arial" pitchFamily="34" charset="-122"/>
                <a:cs typeface="Arial" pitchFamily="34" charset="-120"/>
              </a:rPr>
              <a:t>Revisando e aprovando</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Observações → revisada → aprovar · fica registrado quem revisou e quando</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M7 · Aula 5</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5 · UPLOAD, REVISÃO E APROVAÇÃO DE FATURAS</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Passo a passo (2/2)</a:t>
            </a:r>
            <a:endParaRPr lang="en-US" sz="2600" dirty="0"/>
          </a:p>
        </p:txBody>
      </p:sp>
      <p:sp>
        <p:nvSpPr>
          <p:cNvPr id="9" name="Shape 6"/>
          <p:cNvSpPr/>
          <p:nvPr/>
        </p:nvSpPr>
        <p:spPr>
          <a:xfrm>
            <a:off x="420624" y="1289304"/>
            <a:ext cx="7114032" cy="4033647"/>
          </a:xfrm>
          <a:prstGeom prst="roundRect">
            <a:avLst>
              <a:gd name="adj" fmla="val 1360"/>
            </a:avLst>
          </a:prstGeom>
          <a:solidFill>
            <a:srgbClr val="FFFFFF"/>
          </a:solidFill>
          <a:ln w="12700">
            <a:solidFill>
              <a:srgbClr val="D8E0EC"/>
            </a:solidFill>
            <a:prstDash val="solid"/>
          </a:ln>
          <a:effectLst>
            <a:outerShdw sx="100000" sy="100000" kx="0" ky="0" algn="bl" rotWithShape="0" blurRad="76200" dist="25400" dir="5400000">
              <a:srgbClr val="000000">
                <a:alpha val="15000"/>
              </a:srgbClr>
            </a:outerShdw>
          </a:effectLst>
        </p:spPr>
      </p:sp>
      <p:pic>
        <p:nvPicPr>
          <p:cNvPr id="10" name="Image 1" descr="/www/wwwroot/rexar/gdsolar/docs/curso/slides/telas/fatura.jpg">    </p:cNvPr>
          <p:cNvPicPr>
            <a:picLocks noChangeAspect="1"/>
          </p:cNvPicPr>
          <p:nvPr/>
        </p:nvPicPr>
        <p:blipFill>
          <a:blip r:embed="rId2"/>
          <a:stretch>
            <a:fillRect/>
          </a:stretch>
        </p:blipFill>
        <p:spPr>
          <a:xfrm>
            <a:off x="457200" y="1325880"/>
            <a:ext cx="7040880" cy="3960495"/>
          </a:xfrm>
          <a:prstGeom prst="rect">
            <a:avLst/>
          </a:prstGeom>
        </p:spPr>
      </p:pic>
      <p:sp>
        <p:nvSpPr>
          <p:cNvPr id="11" name="Text 7"/>
          <p:cNvSpPr/>
          <p:nvPr/>
        </p:nvSpPr>
        <p:spPr>
          <a:xfrm>
            <a:off x="457200" y="5332095"/>
            <a:ext cx="7040880" cy="320040"/>
          </a:xfrm>
          <a:prstGeom prst="rect">
            <a:avLst/>
          </a:prstGeom>
          <a:noFill/>
          <a:ln/>
        </p:spPr>
        <p:txBody>
          <a:bodyPr wrap="square" rtlCol="0" anchor="ctr"/>
          <a:lstStyle/>
          <a:p>
            <a:pPr algn="ctr" indent="0" marL="0">
              <a:buNone/>
            </a:pPr>
            <a:r>
              <a:rPr lang="en-US" sz="1100" i="1" dirty="0">
                <a:solidFill>
                  <a:srgbClr val="64748B"/>
                </a:solidFill>
                <a:latin typeface="Arial" pitchFamily="34" charset="0"/>
                <a:ea typeface="Arial" pitchFamily="34" charset="-122"/>
                <a:cs typeface="Arial" pitchFamily="34" charset="-120"/>
              </a:rPr>
              <a:t>Fatura de concessionária</a:t>
            </a:r>
            <a:endParaRPr lang="en-US" sz="1100" dirty="0"/>
          </a:p>
        </p:txBody>
      </p:sp>
      <p:sp>
        <p:nvSpPr>
          <p:cNvPr id="12" name="Text 8"/>
          <p:cNvSpPr/>
          <p:nvPr/>
        </p:nvSpPr>
        <p:spPr>
          <a:xfrm>
            <a:off x="7818120" y="1325880"/>
            <a:ext cx="3977640" cy="4937760"/>
          </a:xfrm>
          <a:prstGeom prst="rect">
            <a:avLst/>
          </a:prstGeom>
          <a:noFill/>
          <a:ln/>
        </p:spPr>
        <p:txBody>
          <a:bodyPr wrap="square" rtlCol="0" anchor="t">
            <a:normAutofit/>
          </a:bodyPr>
          <a:lstStyle/>
          <a:p>
            <a:pPr indent="0" marL="0">
              <a:buNone/>
            </a:pPr>
            <a:r>
              <a:rPr lang="en-US" sz="1500" b="1" dirty="0">
                <a:solidFill>
                  <a:srgbClr val="F7A23B"/>
                </a:solidFill>
                <a:latin typeface="Arial" pitchFamily="34" charset="0"/>
                <a:ea typeface="Arial" pitchFamily="34" charset="-122"/>
                <a:cs typeface="Arial" pitchFamily="34" charset="-120"/>
              </a:rPr>
              <a:t>5  </a:t>
            </a:r>
            <a:pPr indent="0" marL="0">
              <a:buNone/>
            </a:pPr>
            <a:r>
              <a:rPr lang="en-US" sz="1400" b="1" dirty="0">
                <a:solidFill>
                  <a:srgbClr val="1B3A6B"/>
                </a:solidFill>
                <a:latin typeface="Arial" pitchFamily="34" charset="0"/>
                <a:ea typeface="Arial" pitchFamily="34" charset="-122"/>
                <a:cs typeface="Arial" pitchFamily="34" charset="-120"/>
              </a:rPr>
              <a:t>Em lote</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Filtre por status e por cliente · revise em lote</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06</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6</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M7 · Etapa 3 · Operação ponta a ponta</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Prática na plataforma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resolvendo pendências de fatura</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Resolver as pendências mais comuns: UC ausente, duplicidade, valor/consumo inválido, cliente sem desconto</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Passo a passo na plataforma</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M7 · Aula 6</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6 · RESOLVENDO PENDÊNCIAS DE FATURA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Passo a passo (1/2)</a:t>
            </a:r>
            <a:endParaRPr lang="en-US" sz="2600" dirty="0"/>
          </a:p>
        </p:txBody>
      </p:sp>
      <p:sp>
        <p:nvSpPr>
          <p:cNvPr id="9" name="Shape 6"/>
          <p:cNvSpPr/>
          <p:nvPr/>
        </p:nvSpPr>
        <p:spPr>
          <a:xfrm>
            <a:off x="420624" y="1289304"/>
            <a:ext cx="7114032" cy="4033647"/>
          </a:xfrm>
          <a:prstGeom prst="roundRect">
            <a:avLst>
              <a:gd name="adj" fmla="val 1360"/>
            </a:avLst>
          </a:prstGeom>
          <a:solidFill>
            <a:srgbClr val="FFFFFF"/>
          </a:solidFill>
          <a:ln w="12700">
            <a:solidFill>
              <a:srgbClr val="D8E0EC"/>
            </a:solidFill>
            <a:prstDash val="solid"/>
          </a:ln>
          <a:effectLst>
            <a:outerShdw sx="100000" sy="100000" kx="0" ky="0" algn="bl" rotWithShape="0" blurRad="76200" dist="25400" dir="5400000">
              <a:srgbClr val="000000">
                <a:alpha val="15000"/>
              </a:srgbClr>
            </a:outerShdw>
          </a:effectLst>
        </p:spPr>
      </p:sp>
      <p:pic>
        <p:nvPicPr>
          <p:cNvPr id="10" name="Image 1" descr="/www/wwwroot/rexar/gdsolar/docs/curso/slides/telas/fatura.jpg">    </p:cNvPr>
          <p:cNvPicPr>
            <a:picLocks noChangeAspect="1"/>
          </p:cNvPicPr>
          <p:nvPr/>
        </p:nvPicPr>
        <p:blipFill>
          <a:blip r:embed="rId2"/>
          <a:stretch>
            <a:fillRect/>
          </a:stretch>
        </p:blipFill>
        <p:spPr>
          <a:xfrm>
            <a:off x="457200" y="1325880"/>
            <a:ext cx="7040880" cy="3960495"/>
          </a:xfrm>
          <a:prstGeom prst="rect">
            <a:avLst/>
          </a:prstGeom>
        </p:spPr>
      </p:pic>
      <p:sp>
        <p:nvSpPr>
          <p:cNvPr id="11" name="Text 7"/>
          <p:cNvSpPr/>
          <p:nvPr/>
        </p:nvSpPr>
        <p:spPr>
          <a:xfrm>
            <a:off x="457200" y="5332095"/>
            <a:ext cx="7040880" cy="320040"/>
          </a:xfrm>
          <a:prstGeom prst="rect">
            <a:avLst/>
          </a:prstGeom>
          <a:noFill/>
          <a:ln/>
        </p:spPr>
        <p:txBody>
          <a:bodyPr wrap="square" rtlCol="0" anchor="ctr"/>
          <a:lstStyle/>
          <a:p>
            <a:pPr algn="ctr" indent="0" marL="0">
              <a:buNone/>
            </a:pPr>
            <a:r>
              <a:rPr lang="en-US" sz="1100" i="1" dirty="0">
                <a:solidFill>
                  <a:srgbClr val="64748B"/>
                </a:solidFill>
                <a:latin typeface="Arial" pitchFamily="34" charset="0"/>
                <a:ea typeface="Arial" pitchFamily="34" charset="-122"/>
                <a:cs typeface="Arial" pitchFamily="34" charset="-120"/>
              </a:rPr>
              <a:t>Fatura de concessionária</a:t>
            </a:r>
            <a:endParaRPr lang="en-US" sz="1100" dirty="0"/>
          </a:p>
        </p:txBody>
      </p:sp>
      <p:sp>
        <p:nvSpPr>
          <p:cNvPr id="12" name="Text 8"/>
          <p:cNvSpPr/>
          <p:nvPr/>
        </p:nvSpPr>
        <p:spPr>
          <a:xfrm>
            <a:off x="7818120" y="1325880"/>
            <a:ext cx="3977640" cy="4937760"/>
          </a:xfrm>
          <a:prstGeom prst="rect">
            <a:avLst/>
          </a:prstGeom>
          <a:noFill/>
          <a:ln/>
        </p:spPr>
        <p:txBody>
          <a:bodyPr wrap="square" rtlCol="0" anchor="t">
            <a:normAutofit/>
          </a:bodyPr>
          <a:lstStyle/>
          <a:p>
            <a:pPr indent="0" marL="0">
              <a:buNone/>
            </a:pPr>
            <a:r>
              <a:rPr lang="en-US" sz="1500" b="1" dirty="0">
                <a:solidFill>
                  <a:srgbClr val="F7A23B"/>
                </a:solidFill>
                <a:latin typeface="Arial" pitchFamily="34" charset="0"/>
                <a:ea typeface="Arial" pitchFamily="34" charset="-122"/>
                <a:cs typeface="Arial" pitchFamily="34" charset="-120"/>
              </a:rPr>
              <a:t>1  </a:t>
            </a:r>
            <a:pPr indent="0" marL="0">
              <a:buNone/>
            </a:pPr>
            <a:r>
              <a:rPr lang="en-US" sz="1400" b="1" dirty="0">
                <a:solidFill>
                  <a:srgbClr val="1B3A6B"/>
                </a:solidFill>
                <a:latin typeface="Arial" pitchFamily="34" charset="0"/>
                <a:ea typeface="Arial" pitchFamily="34" charset="-122"/>
                <a:cs typeface="Arial" pitchFamily="34" charset="-120"/>
              </a:rPr>
              <a:t>Pendência: fatura sem UC vinculada</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Sem UC → cadastrar a UC (código + concessionária) → vincular na correção → resolver</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2  </a:t>
            </a:r>
            <a:pPr indent="0" marL="0">
              <a:buNone/>
            </a:pPr>
            <a:r>
              <a:rPr lang="en-US" sz="1400" b="1" dirty="0">
                <a:solidFill>
                  <a:srgbClr val="1B3A6B"/>
                </a:solidFill>
                <a:latin typeface="Arial" pitchFamily="34" charset="0"/>
                <a:ea typeface="Arial" pitchFamily="34" charset="-122"/>
                <a:cs typeface="Arial" pitchFamily="34" charset="-120"/>
              </a:rPr>
              <a:t>Pendência: fatura duplicada</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Duplicada → comparar → rejeitar (com observação)</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3  </a:t>
            </a:r>
            <a:pPr indent="0" marL="0">
              <a:buNone/>
            </a:pPr>
            <a:r>
              <a:rPr lang="en-US" sz="1400" b="1" dirty="0">
                <a:solidFill>
                  <a:srgbClr val="1B3A6B"/>
                </a:solidFill>
                <a:latin typeface="Arial" pitchFamily="34" charset="0"/>
                <a:ea typeface="Arial" pitchFamily="34" charset="-122"/>
                <a:cs typeface="Arial" pitchFamily="34" charset="-120"/>
              </a:rPr>
              <a:t>Pendência: valor ou consumo inválido</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Leitura incompleta → correção manual a partir do PDF → status 'corrigida' · valor vazio é bloqueado</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4  </a:t>
            </a:r>
            <a:pPr indent="0" marL="0">
              <a:buNone/>
            </a:pPr>
            <a:r>
              <a:rPr lang="en-US" sz="1400" b="1" dirty="0">
                <a:solidFill>
                  <a:srgbClr val="1B3A6B"/>
                </a:solidFill>
                <a:latin typeface="Arial" pitchFamily="34" charset="0"/>
                <a:ea typeface="Arial" pitchFamily="34" charset="-122"/>
                <a:cs typeface="Arial" pitchFamily="34" charset="-120"/>
              </a:rPr>
              <a:t>Pendência: cliente sem regra de desconto</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Sem desconto ativo → criar a regra na ficha do cliente → conferir a margem na fatura</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M7 · Aula 6</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6 · RESOLVENDO PENDÊNCIAS DE FATURA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Passo a passo (2/2)</a:t>
            </a:r>
            <a:endParaRPr lang="en-US" sz="2600" dirty="0"/>
          </a:p>
        </p:txBody>
      </p:sp>
      <p:sp>
        <p:nvSpPr>
          <p:cNvPr id="9" name="Shape 6"/>
          <p:cNvSpPr/>
          <p:nvPr/>
        </p:nvSpPr>
        <p:spPr>
          <a:xfrm>
            <a:off x="548640" y="1325880"/>
            <a:ext cx="11091672" cy="4937760"/>
          </a:xfrm>
          <a:prstGeom prst="roundRect">
            <a:avLst>
              <a:gd name="adj" fmla="val 1481"/>
            </a:avLst>
          </a:prstGeom>
          <a:solidFill>
            <a:srgbClr val="FFFFFF"/>
          </a:solidFill>
          <a:ln w="9525">
            <a:solidFill>
              <a:srgbClr val="D8E0EC"/>
            </a:solidFill>
            <a:prstDash val="solid"/>
          </a:ln>
        </p:spPr>
      </p:sp>
      <p:sp>
        <p:nvSpPr>
          <p:cNvPr id="10" name="Shape 7"/>
          <p:cNvSpPr/>
          <p:nvPr/>
        </p:nvSpPr>
        <p:spPr>
          <a:xfrm>
            <a:off x="731520" y="1508760"/>
            <a:ext cx="822960" cy="384048"/>
          </a:xfrm>
          <a:prstGeom prst="roundRect">
            <a:avLst>
              <a:gd name="adj" fmla="val 47619"/>
            </a:avLst>
          </a:prstGeom>
          <a:solidFill>
            <a:srgbClr val="F7A23B"/>
          </a:solidFill>
          <a:ln/>
        </p:spPr>
      </p:sp>
      <p:sp>
        <p:nvSpPr>
          <p:cNvPr id="11" name="Text 8"/>
          <p:cNvSpPr/>
          <p:nvPr/>
        </p:nvSpPr>
        <p:spPr>
          <a:xfrm>
            <a:off x="731520" y="1508760"/>
            <a:ext cx="8229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PASSO 5</a:t>
            </a:r>
            <a:endParaRPr lang="en-US" sz="1000" dirty="0"/>
          </a:p>
        </p:txBody>
      </p:sp>
      <p:sp>
        <p:nvSpPr>
          <p:cNvPr id="12" name="Text 9"/>
          <p:cNvSpPr/>
          <p:nvPr/>
        </p:nvSpPr>
        <p:spPr>
          <a:xfrm>
            <a:off x="1645920" y="1463040"/>
            <a:ext cx="9857232" cy="502920"/>
          </a:xfrm>
          <a:prstGeom prst="rect">
            <a:avLst/>
          </a:prstGeom>
          <a:noFill/>
          <a:ln/>
        </p:spPr>
        <p:txBody>
          <a:bodyPr wrap="square" rtlCol="0" anchor="ctr">
            <a:normAutofit/>
          </a:bodyPr>
          <a:lstStyle/>
          <a:p>
            <a:pPr indent="0" marL="0">
              <a:buNone/>
            </a:pPr>
            <a:r>
              <a:rPr lang="en-US" sz="1400" b="1" dirty="0">
                <a:solidFill>
                  <a:srgbClr val="1B3A6B"/>
                </a:solidFill>
                <a:latin typeface="Arial" pitchFamily="34" charset="0"/>
                <a:ea typeface="Arial" pitchFamily="34" charset="-122"/>
                <a:cs typeface="Arial" pitchFamily="34" charset="-120"/>
              </a:rPr>
              <a:t>Alertas e encerramento</a:t>
            </a:r>
            <a:endParaRPr lang="en-US" sz="1400" dirty="0"/>
          </a:p>
        </p:txBody>
      </p:sp>
      <p:sp>
        <p:nvSpPr>
          <p:cNvPr id="13" name="Text 10"/>
          <p:cNvSpPr/>
          <p:nvPr/>
        </p:nvSpPr>
        <p:spPr>
          <a:xfrm>
            <a:off x="777240" y="2057400"/>
            <a:ext cx="10634472" cy="4069080"/>
          </a:xfrm>
          <a:prstGeom prst="rect">
            <a:avLst/>
          </a:prstGeom>
          <a:noFill/>
          <a:ln/>
        </p:spPr>
        <p:txBody>
          <a:bodyPr wrap="square" rtlCol="0" anchor="t">
            <a:normAutofit/>
          </a:bodyPr>
          <a:lstStyle/>
          <a:p>
            <a:pPr indent="0" marL="0">
              <a:buNone/>
            </a:pPr>
            <a:r>
              <a:rPr lang="en-US" sz="1500" dirty="0">
                <a:solidFill>
                  <a:srgbClr val="1F2937"/>
                </a:solidFill>
                <a:latin typeface="Arial" pitchFamily="34" charset="0"/>
                <a:ea typeface="Arial" pitchFamily="34" charset="-122"/>
                <a:cs typeface="Arial" pitchFamily="34" charset="-120"/>
              </a:rPr>
              <a:t>Entregável do M7: mês 1 aprovado</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3+ pendências resolvidas com justificativa</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M7 · Fechamento</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FECHAMENTO DO MÓDULO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Pratique e entregue</a:t>
            </a:r>
            <a:endParaRPr lang="en-US" sz="2600" dirty="0"/>
          </a:p>
        </p:txBody>
      </p:sp>
      <p:sp>
        <p:nvSpPr>
          <p:cNvPr id="9" name="Text 6"/>
          <p:cNvSpPr/>
          <p:nvPr/>
        </p:nvSpPr>
        <p:spPr>
          <a:xfrm>
            <a:off x="548640" y="1325880"/>
            <a:ext cx="5394960" cy="411480"/>
          </a:xfrm>
          <a:prstGeom prst="rect">
            <a:avLst/>
          </a:prstGeom>
          <a:noFill/>
          <a:ln/>
        </p:spPr>
        <p:txBody>
          <a:bodyPr wrap="square" rtlCol="0" anchor="ctr"/>
          <a:lstStyle/>
          <a:p>
            <a:pPr indent="0" marL="0">
              <a:buNone/>
            </a:pPr>
            <a:r>
              <a:rPr lang="en-US" sz="1600" b="1" dirty="0">
                <a:solidFill>
                  <a:srgbClr val="1B3A6B"/>
                </a:solidFill>
                <a:latin typeface="Arial" pitchFamily="34" charset="0"/>
                <a:ea typeface="Arial" pitchFamily="34" charset="-122"/>
                <a:cs typeface="Arial" pitchFamily="34" charset="-120"/>
              </a:rPr>
              <a:t>Exercícios</a:t>
            </a:r>
            <a:endParaRPr lang="en-US" sz="1600" dirty="0"/>
          </a:p>
        </p:txBody>
      </p:sp>
      <p:sp>
        <p:nvSpPr>
          <p:cNvPr id="10" name="Text 7"/>
          <p:cNvSpPr/>
          <p:nvPr/>
        </p:nvSpPr>
        <p:spPr>
          <a:xfrm>
            <a:off x="548640" y="1783080"/>
            <a:ext cx="5394960" cy="4480560"/>
          </a:xfrm>
          <a:prstGeom prst="rect">
            <a:avLst/>
          </a:prstGeom>
          <a:noFill/>
          <a:ln/>
        </p:spPr>
        <p:txBody>
          <a:bodyPr wrap="square" rtlCol="0" anchor="t">
            <a:normAutofit/>
          </a:bodyPr>
          <a:lstStyle/>
          <a:p>
            <a:pPr indent="0" marL="0">
              <a:spcAft>
                <a:spcPts val="800"/>
              </a:spcAft>
              <a:buNone/>
            </a:pPr>
            <a:r>
              <a:rPr lang="en-US" sz="1600" dirty="0">
                <a:solidFill>
                  <a:srgbClr val="1F2937"/>
                </a:solidFill>
                <a:latin typeface="Arial" pitchFamily="34" charset="0"/>
                <a:ea typeface="Arial" pitchFamily="34" charset="-122"/>
                <a:cs typeface="Arial" pitchFamily="34" charset="-120"/>
              </a:rPr>
              <a:t>1. A fatura mostra 2.400 kWh de energia compensada e o rateio previa 4% de uma usina que gerou 58.000 kWh. Bate?</a:t>
            </a:r>
            <a:endParaRPr lang="en-US" sz="1600" dirty="0"/>
          </a:p>
          <a:p>
            <a:pPr indent="0" marL="0">
              <a:spcAft>
                <a:spcPts val="800"/>
              </a:spcAft>
              <a:buNone/>
            </a:pPr>
            <a:r>
              <a:rPr lang="en-US" sz="1600" dirty="0">
                <a:solidFill>
                  <a:srgbClr val="1F2937"/>
                </a:solidFill>
                <a:latin typeface="Arial" pitchFamily="34" charset="0"/>
                <a:ea typeface="Arial" pitchFamily="34" charset="-122"/>
                <a:cs typeface="Arial" pitchFamily="34" charset="-120"/>
              </a:rPr>
              <a:t>2. A fatura veio sem nenhuma linha de energia injetada. Liste três causas possíveis.</a:t>
            </a:r>
            <a:endParaRPr lang="en-US" sz="1600" dirty="0"/>
          </a:p>
          <a:p>
            <a:pPr indent="0" marL="0">
              <a:spcAft>
                <a:spcPts val="800"/>
              </a:spcAft>
              <a:buNone/>
            </a:pPr>
            <a:r>
              <a:rPr lang="en-US" sz="1600" dirty="0">
                <a:solidFill>
                  <a:srgbClr val="1F2937"/>
                </a:solidFill>
                <a:latin typeface="Arial" pitchFamily="34" charset="0"/>
                <a:ea typeface="Arial" pitchFamily="34" charset="-122"/>
                <a:cs typeface="Arial" pitchFamily="34" charset="-120"/>
              </a:rPr>
              <a:t>3. Valor do consumo injetado R$ 2.119,00 e margem de desconto 20%: valor ao cliente?</a:t>
            </a:r>
            <a:endParaRPr lang="en-US" sz="1600" dirty="0"/>
          </a:p>
        </p:txBody>
      </p:sp>
      <p:sp>
        <p:nvSpPr>
          <p:cNvPr id="11" name="Shape 8"/>
          <p:cNvSpPr/>
          <p:nvPr/>
        </p:nvSpPr>
        <p:spPr>
          <a:xfrm>
            <a:off x="6172200" y="1325880"/>
            <a:ext cx="5468112" cy="4937760"/>
          </a:xfrm>
          <a:prstGeom prst="roundRect">
            <a:avLst>
              <a:gd name="adj" fmla="val 1852"/>
            </a:avLst>
          </a:prstGeom>
          <a:solidFill>
            <a:srgbClr val="1B3A6B"/>
          </a:solidFill>
          <a:ln/>
        </p:spPr>
      </p:sp>
      <p:sp>
        <p:nvSpPr>
          <p:cNvPr id="12" name="Text 9"/>
          <p:cNvSpPr/>
          <p:nvPr/>
        </p:nvSpPr>
        <p:spPr>
          <a:xfrm>
            <a:off x="6492240" y="1554480"/>
            <a:ext cx="4828032" cy="4480560"/>
          </a:xfrm>
          <a:prstGeom prst="rect">
            <a:avLst/>
          </a:prstGeom>
          <a:noFill/>
          <a:ln/>
        </p:spPr>
        <p:txBody>
          <a:bodyPr wrap="square" rtlCol="0" anchor="t">
            <a:normAutofit/>
          </a:bodyPr>
          <a:lstStyle/>
          <a:p>
            <a:pPr indent="0" marL="0">
              <a:buNone/>
            </a:pPr>
            <a:r>
              <a:rPr lang="en-US" sz="1300" b="1" spc="100" kern="0" dirty="0">
                <a:solidFill>
                  <a:srgbClr val="F7A23B"/>
                </a:solidFill>
                <a:latin typeface="Arial" pitchFamily="34" charset="0"/>
                <a:ea typeface="Arial" pitchFamily="34" charset="-122"/>
                <a:cs typeface="Arial" pitchFamily="34" charset="-120"/>
              </a:rPr>
              <a:t>ENTREGÁVEL DO MÓDULO
</a:t>
            </a:r>
            <a:pPr indent="0" marL="0">
              <a:buNone/>
            </a:pPr>
            <a:r>
              <a:rPr lang="en-US" sz="1600" dirty="0">
                <a:solidFill>
                  <a:srgbClr val="FFFFFF"/>
                </a:solidFill>
                <a:latin typeface="Arial" pitchFamily="34" charset="0"/>
                <a:ea typeface="Arial" pitchFamily="34" charset="-122"/>
                <a:cs typeface="Arial" pitchFamily="34" charset="-120"/>
              </a:rPr>
              <a:t>Primeiro ciclo de faturas: faturas de 1 mês dos 15 clientes importadas (PDFs fictícios do curso), revisadas e aprovadas; registro de pelo menos 3 pendências resolvidas (UC ausente, fatura duplicada, dado corrigido manualmente), com a justificativa nas observações da revisão.</a:t>
            </a:r>
            <a:endParaRPr lang="en-US" sz="13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30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GD Solar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M7 — Faturas e compensação</dc:title>
  <dc:subject>PptxGenJS Presentation</dc:subject>
  <dc:creator>PptxGenJS</dc:creator>
  <cp:lastModifiedBy>PptxGenJS</cp:lastModifiedBy>
  <cp:revision>1</cp:revision>
  <dcterms:created xsi:type="dcterms:W3CDTF">2026-10-30T11:40:28Z</dcterms:created>
  <dcterms:modified xsi:type="dcterms:W3CDTF">2026-10-30T11:40:28Z</dcterms:modified>
</cp:coreProperties>
</file>