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Consumo/mês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Consumo/mês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Residência pequena</c:v>
                  </c:pt>
                  <c:pt idx="1">
                    <c:v>Residência com ar-condicionado</c:v>
                  </c:pt>
                  <c:pt idx="2">
                    <c:v>Padaria</c:v>
                  </c:pt>
                  <c:pt idx="3">
                    <c:v>Clínica</c:v>
                  </c:pt>
                  <c:pt idx="4">
                    <c:v>Supermercado de bairro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</c:v>
                </c:pt>
                <c:pt idx="1">
                  <c:v>400</c:v>
                </c:pt>
                <c:pt idx="2">
                  <c:v>2000</c:v>
                </c:pt>
                <c:pt idx="3">
                  <c:v>3000</c:v>
                </c:pt>
                <c:pt idx="4">
                  <c:v>10000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Custo de disponibilidade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 de disponibilidade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Monofásica</c:v>
                  </c:pt>
                  <c:pt idx="1">
                    <c:v>Bifásica</c:v>
                  </c:pt>
                  <c:pt idx="2">
                    <c:v>Trifásica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100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Potência é quanto o equipamento consome a cada instante, como a largura de uma torneira. Sozinha, ela não diz quanto você paga.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Energia é potência vezes tempo, a água que encheu o balde. É ela que o medidor conta e que a distribuidora cobra. Veja a conta do chuveiro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consumos na tabela mostram algo importante para o negócio: um único comércio pode valer o mesmo que dez ou vinte residências.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 de luz é, basicamente, o consumo vezes a tarifa, mais impostos. E cada quilowatt-hora abatido por crédito vale dinheiro para o seu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fim, o kWp, quilowatt-pico, é o tamanho da usina. Na próxima aula, você vai ver como transformá-lo em geração mensal.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painéis geram corrente contínua, o inversor a converte para o padrão da rede e o medidor bidirecional registra a energia injetada. É esse medidor que gera os créditos.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prática: geração mensal é a potência vezes a produtividade da região. Quinhentos kWp vezes cento e vinte dão sessenta mil quilowatts-hora por mês, a nossa usina de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geração é uma média: varia com as estações e cai com sujeira, sombra ou falhas. Por isso, distribua a energia pela média anual e acompanhe a geração todo mês.
Os painéis também perdem um pouco de eficiência por ano. Em contratos longos, considere isso.
Mais do que onde a usina está, importa que ela esteja na área da distribuidora dos seus clientes, legalmente conectada e gerando o que promete.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Tradicionalmente, a energia vem de grandes usinas longe das cidades.
Ela viaja por linhas de transmissão de alta tensão, no Sistema Interligado Nacional. Transmitir custa caro, e esse custo é o Fio A da sua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Perto da cidade, a rede da distribuidora leva a energia até o medidor do cliente. Essa rede é remunerada pelo Fio B, o personagem principal deste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geração distribuída, a energia é gerada perto do consumo e entra na rede local. O que chega ao cliente não são elétrons, são créditos. Por isso, usina e clientes precisam estar na mesma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ANEEL regula e fiscaliza. A distribuidora é o seu parceiro operacional do dia a dia: conexão da usina, rateio dos créditos e faturas.
No mercado regulado, onde estão residências e pequenos comércios, o consumidor compra da distribuidora pela tarifa da ANEEL.
No mercado livre, o consumidor escolhe o fornecedor. Hoje ele atende principalmente consumidores maiores, mas a abertura para a baixa tensão está em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a assinatura? O cliente continua na distribuidora e recebe créditos de geração distribuída. A sua empresa não vende energia: organiza a participação. Essa distinção é jurídica e importa muito.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B, de baixa tensão, paga só energia em quilowatt-hora, exatamente o que os créditos abatem. Por isso é o público principal. O grupo A paga também demanda, o que complica 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do grupo B, o subgrupo B3, de comércio e serviços, costuma ter as melhores contas e decisão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cliente do grupo B paga um mínimo, o custo de disponibilidade. Como esse mínimo é pago de qualquer forma, a cota de créditos deve deixá-lo descoberto.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Tudo isso aparece na conta de luz: classe, subgrupo e tipo de ligação.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tarifa tem duas partes: a TE, que paga a energia, e a TUSD, que paga o uso das redes.
Dentro da TUSD está o Fio B, que remunera a rede da distribuidora. No exemplo da tela, ele é um quarto da tarifa.
Para projetos novos, a lei fez uma parte do Fio B deixar de ser compensada, crescendo até 2028. Em 2026, sessenta por cento do Fio B continua sendo pago. No exemplo, o crédito cai de oitenta para sessenta e oito centavos. Esse número é a base de toda a conta do negócio.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 oficial: tarifas homologadas pela ANEEL para cada distribuidora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bandeiras sinalizam o custo de gerar energia e acrescentam valor por quilowatt-hora. São um bom argumento comercial, mas prometa só o que a fatura mostra.
Os tributos são calculados por dentro: fazem parte da própria base de cálculo.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 a tarifa com impostos é a tarifa dividida por um menos as alíquotas. No exemplo, oitenta centavos viram cerca de um real e quatro.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 a energia compensada há regras específicas, que variam por estado. Vamos tratá-las no módulo de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Cliente Consumidor, Clientes, abra a Padaria e a fatura mais recente. Atalho: Financeiro, Faturas de Concessionárias.
Abra o PDF original e localize titular, instalação, classe, ligação, consumo, tributos, bandeira e total.
Compare com o Resumo Técnico extraído automaticamente: os campos devem bater. Veja o status da extração.
Localize a seção Energia Injetada e Consumo Injetado: são os créditos da geração distribuída, base da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 ·  ETAPA 1 · FUNDAMENTOS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Fundamentos: energia, solar e setor elétrico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Energia e potência: o kW, o kWh e o que você paga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Como funciona a geração solar fotovoltaica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Como a energia chega à tomada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ANEEL, distribuidora e os mercados regulado e livre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Grupos A e B, classes e ligações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 tarifa por dentro: TE, TUSD, Fio A, Fio B e encargos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Bandeiras, tributos e a conta de luz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lendo uma fatura de concessionária na plataforma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potência (kW) de energia (kWh) e calcular consumo mensal.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como uma usina fotovoltaica gera energia e estimar a geração mensal a partir da potência (kWp).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Descrever o caminho da energia (geração → transmissão → distribuição) e os papéis de ANEEL, distribuidora, ONS e CCEE.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grupos A e B, classes de consumo e tipos de ligação.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Decompor a tarifa em TE e TUSD (Fio A, Fio B, encargos, perdas) e entender bandeiras e tributos.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e potência: o kW, o kWh e o que você paga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potência e energia, calcular consumo e entender por que o kWh é a "moeda" do negócio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Potência: a "força" do equipamento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Energia: potência vezes tempo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consome uma casa e um comércio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kWh vira dinheiro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kWp: a potência da usina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Potência: a "força" do equipamento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 = quanto o equipamento puxa por instante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(watt)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 = 1.000 W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 é quanto o equipamento consome a cada instante, como a largura de uma torneira. Sozinha, ela não diz quanto você paga.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Energia: potência vezes tempo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Energia (kWh) = Potência (kW) × Tempo (h)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Chuveiro: 5,5 kW × 0,25 h × 30 dias = 41,25 kWh/mês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é potência vezes tempo, a água que encheu o balde. É ela que o medidor conta e que a distribuidora cobra. Veja a conta do chuveiro na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consome uma casa e um comércio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508760"/>
          <a:ext cx="5193792" cy="914400"/>
        </p:xfrm>
        <a:graphic>
          <a:graphicData uri="http://schemas.openxmlformats.org/drawingml/2006/table">
            <a:tbl>
              <a:tblPr/>
              <a:tblGrid>
                <a:gridCol w="2596896"/>
                <a:gridCol w="25968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(exemplo)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Consumo/mês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 pequena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150–200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 com ar-condicionado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400–800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Padaria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2.000–4.000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Clínica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3.000–6.000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Supermercado de bairro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10.000–25.000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consumos na tabela mostram algo importante para o negócio: um único comércio pode valer o mesmo que dez ou vinte residências.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kWh vira dinheiro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 ≈ consumo (kWh) × tarifa (R$/kWh) + impostos e taxas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450 kWh × R$ 1,00 = R$ 450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de luz é, basicamente, o consumo vezes a tarifa, mais impostos. E cada quilowatt-hora abatido por crédito vale dinheiro para o seu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ENERGIA E POTÊNCIA: O KW, O KWH E O QUE VOCÊ PAGA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kWp: a potência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 = quilowatt-pico: potência máxima dos painéis em condições ideais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fim, o kWp, quilowatt-pico, é o tamanho da usina. Na próxima aula, você vai ver como transformá-lo em geração mensal.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 = potência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= energia (o que se paga)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kWp = tamanho da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 a geração solar fotovoltaica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os componentes de uma usina, estimar a geração mensal e conhecer os fatores que a afetam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componentes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uma usina gera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 varia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usina envelhece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no solo, no telhado e o que o produtor precisa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FUNCIONA A GERAÇÃO SOLAR FOTOVOLTAICA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componentes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(CC)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Inversor (CA)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Medidor bidirecional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da distribuidora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painéis geram corrente contínua, o inversor a converte para o padrão da rede e o medidor bidirecional registra a energia injetada. É esse medidor que gera os créditos.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FUNCIONA A GERAÇÃO SOLAR FOTOVOLTAICA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uma usina gera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Geração mensal ≈ Potência (kWp) × Produtividade (kWh/kWp/mês)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500 kWp × 120 = 60.000 kWh/mês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prática: geração mensal é a potência vezes a produtividade da região. Quinhentos kWp vezes cento e vinte dão sessenta mil quilowatts-hora por mês, a nossa usina de referência.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 a geração solar fotovoltaica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 varia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Sazonalidade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Sujeira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Sombra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geração é uma média: varia com as estações e cai com sujeira, sombra ou falhas. Por isso, distribua a energia pela média anual e acompanhe a geração todo mês.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usina envelhece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painéis também perdem um pouco de eficiência por ano. Em contratos longos, considere isso.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Degradação típica: ~0,5% a 0,8% ao ano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no solo, no telhado e o que o produtor precisa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Solo: maior escala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Telhado: aproveita estrutura existente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Ambos: precisam de conexão à rede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onde a usina está, importa que ela esteja na área da distribuidora dos seus clientes, legalmente conectada e gerando o que promete.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≈ kWp × produtividade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 por mês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 pouco por ano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estar na área da distribuidora dos clientes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energia chega à tomada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geração, transmissão e distribuição, o SIN e onde a geração distribuída se encaixa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centralizada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Transmissão e o SIN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entra a geração distribuída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energia chega à tomada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centralizada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023360"/>
            <a:ext cx="486003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Tradicionalmente, a energia vem de grandes usinas longe das cidades.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4860036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centralizada: grandes usinas, longe do consumo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Transmissão e o SIN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Transmissão: alta tensão, longas distâncias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= Sistema Interligado Nacional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viaja por linhas de transmissão de alta tensão, no Sistema Interligado Nacional. Transmitir custa caro, e esse custo é o Fio A da sua conta.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COMO A ENERGIA CHEGA À TOMADA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Distribuição: subestação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da cidade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medidor do cliente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Perto da cidade, a rede da distribuidora leva a energia até o medidor do cliente. Essa rede é remunerada pelo Fio B, o personagem principal deste curso.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COMO A ENERGIA CHEGA À TOMADA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entra a geração distribuída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distribuída: gerar perto de quem consome, ligado à rede de distribuição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geração distribuída, a energia é gerada perto do consumo e entra na rede local. O que chega ao cliente não são elétrons, são créditos. Por isso, usina e clientes precisam estar na mesma distribuidora.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→ Transmissão (Fio A) → Distribuição (Fio B) → Cliente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GD: gera perto, entra na rede local, vira crédito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ANEEL, distribuidora e os mercados regulado e livre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as instituições do setor e diferenciar mercado regulado (ACR), mercado livre (ACL) e geração distribuída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instituições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regulado (ACR)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 (ACL)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 a assinatura de energia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ANEEL, distribuidora e os mercados regulado e livre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instituições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MME — política energética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ANEEL — regula e fiscaliza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ONS — opera o sistema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CCEE — contabiliza o mercado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Distribuidoras — atendem o consumidor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ANEEL regula e fiscaliza. A distribuidora é o seu parceiro operacional do dia a dia: conexão da usina, rateio dos créditos e faturas.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regulado (ACR)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mercado regulado, onde estão residências e pequenos comércios, o consumidor compra da distribuidora pela tarifa da ANEEL.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ACR: o consumidor compra da distribuidora, pela tarifa da ANEEL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 (ACL)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ACL: o consumidor escolhe o fornecedor e negocia preço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hoje: em geral, grupo A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mercado livre, o consumidor escolhe o fornecedor. Hoje ele atende principalmente consumidores maiores, mas a abertura para a baixa tensão está em discussão.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ANEEL, DISTRIBUIDORA E OS MERCADOS REGULADO E LIVRE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fica a assinatura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de energia ≠ venda de energia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geração distribuída: o cliente continua na distribuidora e recebe créditos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assinatura? O cliente continua na distribuidora e recebe créditos de geração distribuída. A sua empresa não vende energia: organiza a participação. Essa distinção é jurídica e importa muito.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 regula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 atende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ACR: tarifa regulada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ACL: preço negociado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Assinatura: GD dentro do ACR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A e B, classes e ligações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um cliente (grupo, subgrupo, classe, ligação) e saber o que isso muda para a assinatura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 e grupo 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Subgrupos e classes do grupo 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ligação e custo de disponibilidade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descobrir a classificação na conta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 e grupo B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A: média/alta tensão (≥ 2,3 kV) · paga demanda (kW) + energia (kWh) · indústrias, grandes comércios, hospitais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B: baixa tensão (&lt; 2,3 kV) · paga só energia (kWh) · residências, comércios, pequenas empresas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 B, de baixa tensão, paga só energia em quilowatt-hora, exatamente o que os créditos abatem. Por isso é o público principal. O grupo A paga também demanda, o que complica a proposta.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Subgrupos e classes do grupo B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Subgrupo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Residencial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Demais classes: comercial, serviços, industrial em baixa tensão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 pública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grupo B, o subgrupo B3, de comércio e serviços, costuma ter as melhores contas e decisão rápida.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ligação e custo de disponibilidade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508760"/>
          <a:ext cx="5193792" cy="914400"/>
        </p:xfrm>
        <a:graphic>
          <a:graphicData uri="http://schemas.openxmlformats.org/drawingml/2006/table">
            <a:tbl>
              <a:tblPr/>
              <a:tblGrid>
                <a:gridCol w="2596896"/>
                <a:gridCol w="25968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de disponibilidade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Monofásica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Bifásica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Trifásica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kWh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cliente do grupo B paga um mínimo, o custo de disponibilidade. Como esse mínimo é pago de qualquer forma, a cota de créditos deve deixá-lo descoberto.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GRUPOS A E B, CLASSES E LIGAÇÕES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descobrir a classificação na conta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conta: classe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subgrupo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fornecimento (mono/bi/trifásico)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isso aparece na conta de luz: classe, subgrupo e tipo de ligação.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 = público principal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 = comércio e serviços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disponibilidade: 30/50/100 kWh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por dentro: TE, TUSD, Fio A, Fio B e encargos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Decompor a tarifa do grupo B e identificar o Fio B, base da regra de transição da GD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grandes partes: TE e TUSD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Abrindo a TUSD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o Fio B é o personagem principal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por dentro: TE, TUSD, Fio A, Fio B e encargos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grandes partes: TE e TUSD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(sem impostos) = TE + TUSD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Ex. ilustrativo: R$ 0,35 + R$ 0,45 = R$ 0,80/kWh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tem duas partes: a TE, que paga a energia, e a TUSD, que paga o uso das redes.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Abrindo a TUSD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da TUSD está o Fio B, que remunera a rede da distribuidora. No exemplo da tela, ele é um quarto da tarifa.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611624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TUSD (ex.: R$ 0,45) = Fio A R$ 0,05 + Fio B R$ 0,20 + Encargos R$ 0,12 + Perdas R$ 0,08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o Fio B é o personagem principal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2023: crédito abatia (quase) tudo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Novos projetos: parte do Fio B volta a ser paga, subindo até 2028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5" name="Text 22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projetos novos, a lei fez uma parte do Fio B deixar de ser compensada, crescendo até 2028. Em 2026, sessenta por cento do Fio B continua sendo pago. No exemplo, o crédito cai de oitenta para sessenta e oito centavos. Esse número é a base de toda a conta do negócio.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A TARIFA POR DENTRO: TE, TUSD, FIO A, FIO B E ENCARGOS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encontrar os valores oficiais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oficial: tarifas homologadas pela ANEEL para cada distribuidora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= TE + TUSD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TUSD = Fio A + Fio B + encargos + perdas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Fio B = rede da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Novos projetos de GD: parte do Fio B continua sendo paga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Bandeiras, tributos e a conta de luz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bandeiras tarifárias, ICMS, PIS/COFINS e contribuição de iluminação, e calcular a tarifa com impostos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 tarifárias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tributos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a tarifa com impostos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na geração distribuída?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Bandeiras, tributos e a conta de luz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Bandeiras tarifárias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sem acréscimo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Amarela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Vermelha 1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Vermelha 2: acréscimo por kWh consumido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bandeiras sinalizam o custo de gerar energia e acrescentam valor por quilowatt-hora. São um bom argumento comercial, mas prometa só o que a fatura mostra.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tributos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ICMS — estadual · alíquota do estado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PIS/COFINS — federais · variam mês a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CIP/COSIP — municipal · iluminação pública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tributos são calculados por dentro: fazem parte da própria base de cálculo.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BANDEIRAS, TRIBUTOS E A CONTA DE LUZ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a tarifa com impostos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Tarifa com impostos = Tarifa sem impostos ÷ (1 − (ICMS + PIS + COFINS))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R$ 0,80 ÷ (1 − (0,18 + 0,05)) = R$ 0,80 ÷ 0,77 ≈ R$ 1,04/kWh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isso a tarifa com impostos é a tarifa dividida por um menos as alíquotas. No exemplo, oitenta centavos viram cerca de um real e quatro.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BANDEIRAS, TRIBUTOS E A CONTA DE LUZ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na geração distribuída?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sobre a energia compensada: regras específicas — estudaremos no M11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a energia compensada há regras específicas, que variam por estado. Vamos tratá-las no módulo de gestão.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7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= kWh × tarifa com impostos + bandeira + iluminação pública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uma fatura de concessionária na plataforma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Localizar na plataforma uma fatura da distribuidora, abrir o PDF e reconhecer os dados extraídos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8 · LABORATÓRIO: LENDO UMA FATURA DE CONCESSIONÁRIA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 — fatura da Residência: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e vencimento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(kWh) e tipo de ligação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90906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919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919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401878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disponibilidade (kWh)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90906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919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919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401878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total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909060"/>
            <a:ext cx="3544824" cy="235458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919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919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4018788"/>
            <a:ext cx="2630424" cy="21351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com impostos aproximada (valor ÷ kWh)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Aula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8 · LENDO UMA FATURA DE CONCESSIONÁRIA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de concessionária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Encontrando a fatura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Cliente Consumidor, Clientes, abra a Padaria e a fatura mais recente. Atalho: Financeiro, Faturas de Concessionárias.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PDF original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o PDF original e localize titular, instalação, classe, ligação, consumo, tributos, bandeira e total.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resumo técnico extraído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com o Resumo Técnico extraído automaticamente: os campos devem bater. Veja o status da extração.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contato com energia injetada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Localize a seção Energia Injetada e Consumo Injetado: são os créditos da geração distribuída, base da cobrança.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mede: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corrente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equipamento de 2 kW ligado por 3 horas consome: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kWh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kWh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kWh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 kWh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inversor numa usina solar serve para: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energia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converter corrente contínua em alternada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o consumo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aumentar a geração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regula o setor elétrico brasileiro?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ANEEL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CCEE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de baixa tensão (residências, pequenos comércios) pertencem ao: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livre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C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remunera: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transmissão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de distribuição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impostos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7–8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bandeira vermelha indica: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maior de geração no período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pagamento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solar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ICMS na conta de luz é um tributo: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estadual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ANEEL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energia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6 kWh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converter corrente contínua em alternada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ANEEL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2156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Grupo B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a rede de distribuição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492252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731520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325880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custo maior de geração no período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4322064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04944" y="492252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9" name="Text 36"/>
          <p:cNvSpPr/>
          <p:nvPr/>
        </p:nvSpPr>
        <p:spPr>
          <a:xfrm>
            <a:off x="4504944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5099304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estadual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 ar-condicionado de 1.200 W ligado 8 h por dia, 30 dias: quantos kWh por mês?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Uma usina de 300 kWp numa região com produtividade de 125 kWh/kWp/mês gera quanto por mês?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Um cliente trifásico consome 380 kWh/mês. Qual o custo de disponibilidade em kWh?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de uma conta de luz real: pegue a sua conta de luz (ou de um cliente potencial, com autorização) e preencha o modelo "Raio-X da fatura": grupo, classe, ligação, consumo dos últimos 12 meses (média), tarifa com e sem impostos, valor da bandeira, tributos. Esconda dados pessoais antes de postar.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— Fundamentos: energia, solar e setor elétrico</dc:title>
  <dc:subject>PptxGenJS Presentation</dc:subject>
  <dc:creator>PptxGenJS</dc:creator>
  <cp:lastModifiedBy>PptxGenJS</cp:lastModifiedBy>
  <cp:revision>1</cp:revision>
  <dcterms:created xsi:type="dcterms:W3CDTF">2026-10-30T13:18:26Z</dcterms:created>
  <dcterms:modified xsi:type="dcterms:W3CDTF">2026-10-30T13:18:26Z</dcterms:modified>
</cp:coreProperties>
</file>