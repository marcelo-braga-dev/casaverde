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4748B"/>
                </a:solidFill>
                <a:latin typeface="Arial"/>
              </a:defRPr>
            </a:pPr>
            <a:r>
              <a:rPr sz="1200" b="0" i="0" u="none" strike="noStrike">
                <a:solidFill>
                  <a:srgbClr val="64748B"/>
                </a:solidFill>
                <a:latin typeface="Arial"/>
              </a:rPr>
              <a:t>Consumo/mês</a:t>
            </a:r>
          </a:p>
        </c:rich>
      </c:tx>
      <c:layout/>
      <c:overlay val="0"/>
    </c:title>
    <c:autoTitleDeleted val="0"/>
    <c:plotArea>
      <c:layout/>
      <c:barChart>
        <c:barDir val="col"/>
        <c:grouping val="clustered"/>
        <c:varyColors val="0"/>
        <c:ser>
          <c:idx val="0"/>
          <c:order val="0"/>
          <c:tx>
            <c:strRef>
              <c:f>Sheet1!$B$1</c:f>
              <c:strCache>
                <c:ptCount val="1"/>
                <c:pt idx="0">
                  <c:v>Consumo/mês</c:v>
                </c:pt>
              </c:strCache>
            </c:strRef>
          </c:tx>
          <c:spPr>
            <a:solidFill>
              <a:srgbClr val="1B3A6B"/>
            </a:solidFill>
            <a:effectLst/>
          </c:spPr>
          <c:invertIfNegative val="0"/>
          <c:dLbls>
            <c:numFmt formatCode="#,##0.##" sourceLinked="0"/>
            <c:txPr>
              <a:bodyPr/>
              <a:lstStyle/>
              <a:p>
                <a:pPr>
                  <a:defRPr b="1" i="0" strike="noStrike" sz="1100" u="none">
                    <a:solidFill>
                      <a:srgbClr val="1B3A6B"/>
                    </a:solidFill>
                    <a:latin typeface="Arial"/>
                  </a:defRPr>
                </a:pPr>
              </a:p>
            </c:txPr>
            <c:showLegendKey val="0"/>
            <c:showVal val="1"/>
            <c:showCatName val="0"/>
            <c:showSerName val="0"/>
            <c:showPercent val="0"/>
            <c:showBubbleSize val="0"/>
            <c:showLeaderLines val="0"/>
          </c:dLbls>
          <c:cat>
            <c:multiLvlStrRef>
              <c:f>Sheet1!$A$2:$A$6</c:f>
              <c:multiLvlStrCache>
                <c:ptCount val="5"/>
                <c:lvl>
                  <c:pt idx="0">
                    <c:v>Residência pequena</c:v>
                  </c:pt>
                  <c:pt idx="1">
                    <c:v>Residência com ar-condicionado</c:v>
                  </c:pt>
                  <c:pt idx="2">
                    <c:v>Padaria</c:v>
                  </c:pt>
                  <c:pt idx="3">
                    <c:v>Clínica</c:v>
                  </c:pt>
                  <c:pt idx="4">
                    <c:v>Supermercado de bairro</c:v>
                  </c:pt>
                </c:lvl>
              </c:multiLvlStrCache>
            </c:multiLvlStrRef>
          </c:cat>
          <c:val>
            <c:numRef>
              <c:f>Sheet1!$B$2:$B$6</c:f>
              <c:numCache>
                <c:formatCode>General</c:formatCode>
                <c:ptCount val="5"/>
                <c:pt idx="0">
                  <c:v>150</c:v>
                </c:pt>
                <c:pt idx="1">
                  <c:v>400</c:v>
                </c:pt>
                <c:pt idx="2">
                  <c:v>2000</c:v>
                </c:pt>
                <c:pt idx="3">
                  <c:v>3000</c:v>
                </c:pt>
                <c:pt idx="4">
                  <c:v>10000</c:v>
                </c:pt>
              </c:numCache>
            </c:numRef>
          </c:val>
        </c:ser>
        <c:dLbls>
          <c:numFmt formatCode="#,##0.##" sourceLinked="0"/>
          <c:txPr>
            <a:bodyPr/>
            <a:lstStyle/>
            <a:p>
              <a:pPr>
                <a:defRPr b="1" i="0" strike="noStrike" sz="1100" u="none">
                  <a:solidFill>
                    <a:srgbClr val="1B3A6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4748B"/>
                </a:solidFill>
                <a:latin typeface="Arial"/>
              </a:defRPr>
            </a:pPr>
            <a:r>
              <a:rPr sz="1200" b="0" i="0" u="none" strike="noStrike">
                <a:solidFill>
                  <a:srgbClr val="64748B"/>
                </a:solidFill>
                <a:latin typeface="Arial"/>
              </a:rPr>
              <a:t>Custo de disponibilidade</a:t>
            </a:r>
          </a:p>
        </c:rich>
      </c:tx>
      <c:layout/>
      <c:overlay val="0"/>
    </c:title>
    <c:autoTitleDeleted val="0"/>
    <c:plotArea>
      <c:layout/>
      <c:barChart>
        <c:barDir val="col"/>
        <c:grouping val="clustered"/>
        <c:varyColors val="0"/>
        <c:ser>
          <c:idx val="0"/>
          <c:order val="0"/>
          <c:tx>
            <c:strRef>
              <c:f>Sheet1!$B$1</c:f>
              <c:strCache>
                <c:ptCount val="1"/>
                <c:pt idx="0">
                  <c:v>Custo de disponibilidade</c:v>
                </c:pt>
              </c:strCache>
            </c:strRef>
          </c:tx>
          <c:spPr>
            <a:solidFill>
              <a:srgbClr val="1B3A6B"/>
            </a:solidFill>
            <a:effectLst/>
          </c:spPr>
          <c:invertIfNegative val="0"/>
          <c:dLbls>
            <c:numFmt formatCode="#,##0.##" sourceLinked="0"/>
            <c:txPr>
              <a:bodyPr/>
              <a:lstStyle/>
              <a:p>
                <a:pPr>
                  <a:defRPr b="1" i="0" strike="noStrike" sz="1100" u="none">
                    <a:solidFill>
                      <a:srgbClr val="1B3A6B"/>
                    </a:solidFill>
                    <a:latin typeface="Arial"/>
                  </a:defRPr>
                </a:pPr>
              </a:p>
            </c:txPr>
            <c:showLegendKey val="0"/>
            <c:showVal val="1"/>
            <c:showCatName val="0"/>
            <c:showSerName val="0"/>
            <c:showPercent val="0"/>
            <c:showBubbleSize val="0"/>
            <c:showLeaderLines val="0"/>
          </c:dLbls>
          <c:cat>
            <c:multiLvlStrRef>
              <c:f>Sheet1!$A$2:$A$4</c:f>
              <c:multiLvlStrCache>
                <c:ptCount val="3"/>
                <c:lvl>
                  <c:pt idx="0">
                    <c:v>Monofásica</c:v>
                  </c:pt>
                  <c:pt idx="1">
                    <c:v>Bifásica</c:v>
                  </c:pt>
                  <c:pt idx="2">
                    <c:v>Trifásica</c:v>
                  </c:pt>
                </c:lvl>
              </c:multiLvlStrCache>
            </c:multiLvlStrRef>
          </c:cat>
          <c:val>
            <c:numRef>
              <c:f>Sheet1!$B$2:$B$4</c:f>
              <c:numCache>
                <c:formatCode>General</c:formatCode>
                <c:ptCount val="3"/>
                <c:pt idx="0">
                  <c:v>30</c:v>
                </c:pt>
                <c:pt idx="1">
                  <c:v>50</c:v>
                </c:pt>
                <c:pt idx="2">
                  <c:v>100</c:v>
                </c:pt>
              </c:numCache>
            </c:numRef>
          </c:val>
        </c:ser>
        <c:dLbls>
          <c:numFmt formatCode="#,##0.##" sourceLinked="0"/>
          <c:txPr>
            <a:bodyPr/>
            <a:lstStyle/>
            <a:p>
              <a:pPr>
                <a:defRPr b="1" i="0" strike="noStrike" sz="1100" u="none">
                  <a:solidFill>
                    <a:srgbClr val="1B3A6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Primeiro, potência. Potência é a quantidade de energia que um equipamento usa a cada instante, enquanto está ligado. A unidade é o watt, W. Mil watts formam um quilowatt, o kW. Uma lâmpada de LED tem uns dez watts. Um ventilador, uns cem. Um chuveiro elétrico tem cinco mil e quinhentos watts, ou cinco vírgula cinco quilowatts. Pense na potência como a largura de uma torneira: quanto maior, mais água passa por segundo. Mas repare: a potência sozinha não diz quanto você vai pagar. Um chuveiro de cinco vírgula cinco quilowatts desligado não consome nada. O que importa para a conta é por quanto tempo ele fica ligado.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energia. Energia é a potência multiplicada pelo tempo em que o equipamento fica ligado. Se o chuveiro de cinco vírgula cinco quilowatts fica ligado quinze minutos por dia — um quarto de hora —, ele consome cinco vírgula cinco vezes zero vírgula vinte e cinco, que dá um vírgula trinta e sete quilowatt-hora por dia. Em trinta dias, são cerca de quarenta e um quilowatts-hora. Voltando à torneira: a potência é a largura da torneira, a energia é quanta água encheu o balde. E é o balde que você paga. O medidor de energia da casa do seu cliente é exatamente isso: um contador de quilowatts-hora. A cada mês, a distribuidora lê quanto ele marcou e cobra por isso.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você ter referência, veja alguns números aproximados. Uma residência pequena consome algo entre cento e cinquenta e duzentos quilowatts-hora por mês. Uma casa com ar-condicionado pode chegar a quatrocentos, seiscentos, oitocentos. Uma padaria, com fornos e refrigeração, consome de dois a quatro mil. Uma clínica, de três a seis mil. Um supermercado de bairro passa de dez mil. Esses números são exemplos, e cada cliente é um caso, mas eles já mostram uma coisa importante para o seu negócio: um único comércio pode valer o mesmo que dez ou vinte residências. Isso vai pesar muito na sua estratégia comercial, no módulo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como o quilowatt-hora vira dinheiro? A distribuidora multiplica o consumo pelo preço do quilowatt-hora, a tarifa, e acrescenta impostos e algumas taxas. De forma simplificada: se a residência consumiu quatrocentos e cinquenta quilowatts-hora e o quilowatt-hora custa, com tudo incluído, por volta de um real, a conta fica em torno de quatrocentos e cinquenta reais. Guarde esse raciocínio, porque o seu negócio inteiro é sobre ele. A energia que a usina gera vira créditos em quilowatt-hora. Esses créditos abatem os quilowatts-hora que o cliente pagaria para a distribuidora. E cada quilowatt-hora abatido vale dinheiro. Nas próximas aulas, a gente vai abrir essa tarifa por dentro, porque nem tudo o que está nela é abatido pelos créditos. Esse detalhe é o famoso Fio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última unidade, que você vai ver muito: o kWp, quilowatt-pico. É a potência dos painéis solares medida em condições ideais de laboratório. Quando alguém diz "uma usina de quinhentos kWp", está dizendo o tamanho da usina — a largura da torneira. Mas o que interessa para o negócio é quanto ela gera por mês, em quilowatt-hora. Como passar de um para o outro é o assunto da próxima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kW é potência, o tamanho da torneira. kWh é energia, a água no balde — é o que se paga e o que a usina entrega. E kWp é o tamanho da usina solar. Faça o exercício do módulo calculando o consumo de um ar-condicionado, e nos vemos na próxima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usina fotovoltaica tem quatro peças principais. Primeiro, os painéis, ou módulos. Eles são feitos de células de silício que, quando recebem a luz do sol, geram eletricidade. Essa eletricidade sai em corrente contínua, a mesma de uma pilha. Só que a rede elétrica e os aparelhos da casa usam corrente alternada. Por isso existe a segunda peça: o inversor, que converte a corrente contínua em alternada, no padrão da rede. Em usinas maiores, ainda existe um transformador, que eleva a tensão para a da rede local. A terceira peça é a estrutura: os suportes que seguram os painéis no solo ou no telhado, na inclinação certa. E a quarta é o medidor bidirecional, instalado pela distribuidora. Ele mede a energia nos dois sentidos: a que a usina injeta na rede e a que eventualmente consome da rede, por exemplo à noite. É esse medidor que gera os créditos de energia. Sem ele, não existe compensação.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a conta mais importante desta aula: quanto uma usina gera por mês. A regra prática é multiplicar a potência da usina, em kWp, por um número chamado produtividade, que diz quantos quilowatts-hora cada kWp gera por mês naquela região. No Brasil, esse número costuma ficar entre cerca de cem e cento e quarenta quilowatts-hora por kWp por mês, dependendo da região, da instalação e da época do ano. É um país privilegiado em sol. Então, uma usina de quinhentos kWp, numa região com produtividade de cento e vinte, gera aproximadamente quinhentos vezes cento e vinte: sessenta mil quilowatts-hora por mês. Essa é exatamente a nossa usina de referência no laboratório, a Sol Nascente I. E sessenta mil quilowatts-hora por mês atendem quantos clientes? Se o cliente médio da sua carteira consome quinhentos, são cento e vinte clientes. Se você atender padarias de três mil, são vinte. Percebe como a conta da usina já começa a desenhar o seu negócio?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Atenção: esse número é uma média. A geração muda ao longo do ano. Nos meses de dias mais longos e mais sol, a usina gera mais; nos meses de inverno ou de muita chuva, gera menos. A diferença entre o melhor e o pior mês pode ser grande, dependendo da região. Além disso, a geração cai se os painéis estão sujos, se surge uma sombra — uma árvore que cresceu, uma construção nova —, ou se um inversor para de funcionar. Para a sua empresa, isso tem duas consequências práticas. A primeira: você distribui a energia da usina com base na média anual, não no melhor mês. A segunda: você precisa acompanhar a geração todo mês. Se uma usina para por uma semana e ninguém percebe, seus clientes recebem menos créditos, pagam mais para a distribuidora e quem leva a culpa é a sua empresa. No módulo 9, vamos ver como a plataforma ajuda a acompanhar isso.
Outro ponto: os painéis perdem um pouco de eficiência a cada ano. É a degradação. Os fabricantes costumam garantir algo como oitenta por cento da potência original depois de vinte e cinco anos, o que dá uma perda pequena, de meio a menos de um por cento ao ano. Parece pouco, mas, se você assina um contrato de dez anos com um cliente prometendo uma quantidade fixa de energia, precisa considerar que no décimo ano a usina vai gerar um pouco menos do que no primeiro.
As usinas que abastecem empresas de assinatura costumam ser instaladas no solo, em terrenos rurais, porque permitem escala: centenas de quilowatts ou alguns megawatts num lugar só. Uma usina de um megawatt ocupa, aproximadamente, de um hectare e meio a dois hectares, dependendo do projeto. Mas também existem usinas em telhados de galpões, de indústrias e de armazéns. Para o seu negócio, o mais importante não é onde a usina está, e sim três coisas: que ela esteja na área da mesma distribuidora dos seus clientes, que esteja legalmente conectada à rede, com o parecer de acesso aprovado pela distribuidora, e que gere o que promete. No módulo 4, você vai aprender a fazer a due diligence de uma usina, ou seja, a checagem completa antes de fechar negócio com o produtor.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a usina transforma luz em eletricidade, o inversor a deixa no padrão da rede e o medidor bidirecional registra o que é injetado. A geração mensal é aproximadamente a potência em kWp vezes a produtividade da região. Ela varia ao longo do ano, cai com problemas de operação e degrada um pouco a cada ano. Na próxima aula, vamos acompanhar o caminho dessa energia até a tomada do seu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Tradicionalmente, a energia do Brasil é produzida em grandes usinas: hidrelétricas, que ainda são a maior fonte do país, usinas eólicas, térmicas e, cada vez mais, grandes parques solares. Essas usinas costumam ficar longe das cidades — onde está o rio, onde venta, onde há espaço. Esse modelo se chama geração centralizada: poucas usinas grandes, produzindo para milhões de consumidores distantes.
Para levar essa energia até as cidades, existem as linhas de transmissão: aquelas torres grandes, com cabos em altíssima tensão, que atravessam estados. Quase todo o Brasil está ligado numa grande rede, o Sistema Interligado Nacional, o SIN. Graças a ele, a energia de uma hidrelétrica no Norte pode abastecer uma cidade no Sudeste. Quem coordena essa rede, decidindo quais usinas geram e quanto, é o ONS, o Operador Nacional do Sistema Elétrico. Guarde uma ideia: transmitir energia por longas distâncias custa caro e tem perdas. Parte do que o seu cliente paga na conta é para remunerar essa transmissão. É o que vamos chamar de Fio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a energia chega perto da cidade, ela passa por uma subestação, que reduz a tensão. A partir daí, entra a rede de distribuição: os postes, os cabos das ruas, os transformadores que você vê nos postes, até o medidor do seu cliente. Essa rede pertence à distribuidora, a empresa que tem a concessão para atender aquela região. A distribuidora constrói, mantém, faz a leitura do medidor e emite a conta. Cada região do Brasil tem a sua distribuidora, e o cliente não escolhe de qual comprar: ele é atendido pela distribuidora da área onde está. Parte da conta remunera essa rede de distribuição. É o famoso Fio B, que vai ser o personagem principal quando falarmos de regulação.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a geração distribuída. Em vez de gerar longe e transmitir por centenas de quilômetros, a geração distribuída produz energia perto de onde ela é consumida, conectada diretamente à rede de distribuição. Pode ser um sistema no telhado de uma casa, de uma empresa ou uma usina de alguns megawatts num sítio próximo da cidade. A energia gerada entra na rede local e é consumida ali perto. Isso reduz perdas e diminui a necessidade de transmissão. Repare num detalhe importante: a energia da usina não vai "por um fio só" até a casa do seu cliente. Ela entra na rede da distribuidora e se mistura com toda a energia da rede. O que se transfere para o seu cliente não são os elétrons, são créditos de energia, registrados pela distribuidora. Por isso, usina e clientes precisam estar na área da mesma distribuidora: é ela que faz essa contabilidade.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Recapitulando: a energia é gerada, transmitida em alta tensão pelo Sistema Interligado e distribuída pela rede da distribuidora até o medidor. Cada etapa tem um custo que aparece, de algum jeito, na conta de luz. A geração distribuída gera perto do consumo e conecta na rede local, e o que chega ao cliente são créditos. Na próxima aula, vamos conhecer quem manda nesse sistema: a ANEEL, as distribuidoras e os dois mercados de energia do Brasil.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topo está o Ministério de Minas e Energia, o MME, que define a política energética do país. Abaixo, a principal para o seu negócio: a ANEEL, Agência Nacional de Energia Elétrica. A ANEEL regula e fiscaliza o setor: define as tarifas de cada distribuidora, escreve as resoluções que detalham como as leis são aplicadas e fiscaliza o cumprimento. As regras da geração distribuída que você vai estudar estão em leis e em resoluções da ANEEL. Depois vem o ONS, que você conheceu na aula anterior, operando o sistema interligado. A CCEE, Câmara de Comercialização de Energia Elétrica, faz a contabilidade do mercado de energia: registra contratos e liquida as diferenças entre o que foi contratado e o que foi consumido. E, na ponta, as distribuidoras: empresas concessionárias, cada uma responsável por uma área. É com a distribuidora que a sua empresa vai conversar no dia a dia: pedido de conexão da usina, cadastro dos clientes que recebem créditos, faturas.
Existem dois ambientes para comprar energia no Brasil. O primeiro é o Ambiente de Contratação Regulada, o ACR, ou mercado cativo. É onde estão praticamente todas as residências e pequenos comércios. Nele, o consumidor não escolhe o fornecedor: compra da distribuidora da sua região, pela tarifa aprovada pela ANEEL. A tarifa é reajustada uma vez por ano e revista periodicamente. É nesse mercado que está o seu cliente de assinatura.
O segundo é o Ambiente de Contratação Livre, o mercado livre. Nele, o consumidor escolhe de quem comprar energia e negocia preço, prazo e condições, por meio de geradores ou comercializadoras. Hoje, o mercado livre é acessível principalmente a consumidores conectados em média e alta tensão, como indústrias e grandes comércios. Existe um movimento de abertura gradual para a baixa tensão, que é acompanhado de perto pelo setor e que pode mudar o cenário nos próximos anos; vamos falar disso no módulo de riscos. Por ora, guarde: residências e pequenos comércios, em regra, ainda estão no mercado regulado.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 assinatura de energia, onde fica? Aqui está um ponto que confunde muita gente, inclusive empreendedores que já estão no mercado. A sua empresa não vende energia no mercado livre. O seu cliente continua sendo cliente da distribuidora, no mercado regulado, recebendo a conta normalmente. O que muda é que ele passa a participar da geração distribuída: uma usina injeta energia na rede, essa energia vira créditos, e os créditos são abatidos na conta dele. A sua empresa organiza essa participação e é remunerada por isso. Esse cuidado com as palavras é importante: no Brasil, a geração distribuída não é um ambiente de venda de energia, e os modelos de negócio precisam respeitar isso. No módulo 3, você vai ver exatamente quais estruturas são usadas — consórcio, cooperativa, associação, locação de usina — e por quê.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a ANEEL regula, a distribuidora atende e fatura, e existem dois mercados — o regulado, onde está o seu cliente, e o livre, para consumidores maiores. A assinatura de energia é geração distribuída: o cliente segue na distribuidora e recebe créditos. Na próxima aula, vamos entender como a distribuidora classifica os clientes, o que muda bastante a conta.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primeira divisão é por tensão. O grupo A reúne quem recebe energia em média ou alta tensão, a partir de dois vírgula três mil volts. São indústrias, grandes comércios, hospitais, shoppings. Esses clientes geralmente têm a própria subestação e pagam de um jeito diferente: pagam a demanda, que é a potência que reservam da rede, em quilowatts, mais a energia consumida, em quilowatts-hora. É a chamada tarifa binômia. O grupo B é a baixa tensão: residências, comércios, escritórios, pequenas empresas, propriedades rurais. Eles pagam só a energia consumida, em quilowatt-hora — a tarifa monômia. Para a assinatura de energia, o grupo B é o público principal. Por quê? Porque, no grupo B, praticamente toda a conta é energia em quilowatt-hora, e é exatamente isso que os créditos abatem. No grupo A, os créditos abatem a energia, mas a demanda continua sendo paga, o que reduz o percentual de economia na conta total e deixa a proposta mais complexa.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Dentro do grupo B, existem subgrupos. O B1 é residencial. O B2 é rural. O B3 reúne as demais classes: comércio, serviços, pequenas indústrias ligadas em baixa tensão — é onde estão a padaria, a clínica, o restaurante, a academia. E o B4 é a iluminação pública. As tarifas podem ser diferentes entre os subgrupos, e algumas classes têm benefícios, como a tarifa social para famílias de baixa renda. Para o seu negócio, o subgrupo B3 é especialmente interessante: comércios e serviços consomem bastante, têm contas altas e um responsável que decide rápido. O B1, residencial, tem volume enorme de clientes, mas cada um consome menos. A sua estratégia vai combinar os dois, como veremos no módulo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último critério é o tipo de ligação: monofásica, bifásica ou trifásica, conforme o número de fases que chegam ao medidor. Residências pequenas costumam ser monofásicas ou bifásicas; comércios com equipamentos maiores costumam ser trifásicos. E por que isso importa? Por causa do custo de disponibilidade. No grupo B, todo cliente paga um valor mínimo para ter a rede disponível, mesmo que consuma pouco. Esse mínimo equivale a trinta quilowatts-hora para ligações monofásicas, cinquenta para bifásicas e cem para trifásicas. Isso tem uma consequência direta na assinatura: como o cliente vai pagar esse mínimo de qualquer forma, não faz sentido dar a ele créditos para cobrir cem por cento do consumo. A cota ideal deixa esse mínimo descoberto. Vamos detalhar essa conta no módulo 2, mas já anote: um cliente trifásico que consome mil quilowatts-hora precisa, na prática, de créditos para cerca de novecentos.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essas informações estão na conta de luz do cliente. Procure os campos de classe ou subgrupo e o tipo de fornecimento ou ligação. Cada distribuidora organiza a conta de um jeito, mas os dados estão lá. No laboratório desta etapa, você vai ler uma fatura completa na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o grupo B, de baixa tensão, é o público principal da assinatura; dentro dele, o B3, de comércio e serviços, costuma ter as melhores contas; e o tipo de ligação define o custo de disponibilidade, que a cota do cliente deve deixar descoberto. Na próxima aula, vamos abrir a tarifa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tarifa de energia, sem impostos, tem duas grandes partes. A primeira é a TE, Tarifa de Energia. Ela paga a energia propriamente dita — a geração que a distribuidora compra das usinas para atender os clientes — e alguns encargos ligados a ela. A segunda é a TUSD, Tarifa de Uso do Sistema de Distribuição. Ela paga o uso das redes: a transmissão, a distribuição, as perdas de energia no caminho e vários encargos setoriais. Os valores mudam de distribuidora para distribuidora e a cada ano, então vou usar um exemplo ilustrativo, com números redondos: uma tarifa de oitenta centavos por quilowatt-hora, sem impostos, sendo trinta e cinco centavos de TE e quarenta e cinco de TUSD. Repare que a TUSD, o uso da rede, pode ser uma parte bem grande da tarifa.
Agora vamos abrir a TUSD. Ela tem quatro blocos. O Fio A, que remunera a transmissão — aquelas linhas de alta tensão que trazem energia de longe. O Fio B, que remunera a rede de distribuição da própria distribuidora: os postes, cabos, transformadores, a operação e a manutenção dessa rede, e o lucro regulado da distribuidora. Os encargos setoriais, que financiam políticas públicas do setor, como subsídios e programas, por exemplo a CDE, a Conta de Desenvolvimento Energético. E as perdas, que cobrem a energia que se perde no caminho, tanto por razões técnicas quanto por furtos e fraudes. No nosso exemplo ilustrativo, o Fio B vale vinte centavos, ou seja, vinte e cinco por cento da tarifa sem impostos. Em muitas distribuidoras, o Fio B fica nessa faixa de um quinto a um terço da tarifa, mas cada distribuidora tem o seu valor, e você sempre deve consultar a tabela oficial.
Agora, a ligação com o seu negócio. Na regra antiga da geração distribuída, cada quilowatt-hora de crédito abatia praticamente a tarifa inteira daquele quilowatt-hora consumido, incluindo o Fio B. O argumento das distribuidoras foi: quem tem geração distribuída continua usando a rede, porque injeta energia de dia e consome à noite, por exemplo, mas deixou de pagar por ela; esse custo acaba sendo dividido com quem não tem geração. A Lei 14.300, de 2022, criou uma transição: para os projetos novos, uma parcela do Fio B passou a não ser compensada pelos créditos, crescendo ano a ano — quinze por cento em 2023, trinta em 2024, quarenta e cinco em 2025, sessenta em 2026, setenta e cinco em 2027 e noventa em 2028. Em 2026, portanto, sessenta por cento do Fio B continua sendo pago pelo cliente mesmo com créditos. No nosso exemplo, sessenta por cento de vinte centavos são doze centavos por quilowatt-hora. Ou seja, cada quilowatt-hora de crédito vale, para o cliente, não mais oitenta centavos, e sim cerca de sessenta e oito. Esse número — o valor real do crédito — é a base de toda a conta do seu negócio. Guarde: vamos detalhar as regras, as exceções e o que acontece a partir de 2029 no módulo 2, e vamos colocar isso na planilha do negócio no módulo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Onde encontrar esses valores de verdade? A ANEEL publica as tarifas homologadas de cada distribuidora, com a TE e a TUSD de cada subgrupo, e documentos com o detalhamento dos componentes, inclusive o Fio B. Toda vez que a distribuidora tem o reajuste anual, esses valores mudam. Uma boa prática da sua empresa é ter uma pessoa responsável por atualizar a tarifa e o valor do crédito na plataforma a cada reajuste da sua distribuidora. Na plataforma do curso, isso é feito no cadastro da distribuidora, no campo de tarifa da geração distribuída, que você vai usar no laboratório do módulo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a tarifa sem impostos é a TE, que paga a energia, mais a TUSD, que paga o uso das redes. Dentro da TUSD está o Fio B, que remunera a rede de distribuição. Para os projetos de geração distribuída posteriores a 2023, uma parte crescente do Fio B não é compensada pelos créditos, e isso reduz o valor de cada crédito para o cliente. Esse é o ponto central da economia da assinatura de energia. Na próxima aula, completamos a conta de luz com as bandeiras tarifárias e os impostos.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bandeiras tarifárias funcionam como um semáforo do custo de gerar energia no país. Quando chove bem e as hidrelétricas estão cheias, a energia é mais barata, e a bandeira é verde: não há acréscimo. Quando é preciso acionar usinas mais caras, como as térmicas, a bandeira muda para amarela ou vermelha, em dois patamares, e a conta ganha um acréscimo para cada quilowatt-hora consumido. Quem define a bandeira de cada mês é a ANEEL. Para o seu negócio, as bandeiras são um argumento comercial: em meses de bandeira vermelha, a conta de luz sobe, e a economia de quem tem geração distribuída se torna mais visível. Mas atenção ao prometer: a economia do seu cliente depende de como os créditos são valorados e de como o seu contrato define o desconto. Não prometa "você não paga bandeira" sem saber exatamente como isso aparece na fatura da sua distribuidora.
Três tributos aparecem na conta. O ICMS é estadual. Cada estado define a alíquota, e desde 2022 a energia elétrica é considerada bem essencial, o que limitou as alíquotas à alíquota geral do estado. O PIS e a COFINS são federais, e o percentual muda um pouco a cada mês, porque é calculado de forma não cumulativa pela distribuidora. E a contribuição de iluminação pública, que tem nomes como CIP ou COSIP, é municipal e costuma ser um valor fixo ou por faixa de consumo. Um detalhe que pega muita gente de surpresa: o ICMS, o PIS e a COFINS são calculados "por dentro". Isso significa que eles fazem parte da própria base de cálculo. Por isso, a tarifa com impostos não é simplesmente a tarifa mais dezoito por cento: é a tarifa dividida por um menos a soma das alíquotas.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fazer a conta com o nosso exemplo. A tarifa sem impostos é de oitenta centavos. Imagine um ICMS de dezoito por cento e PIS mais COFINS somando cerca de cinco por cento — são números ilustrativos. A soma dá vinte e três por cento. A tarifa com impostos é oitenta centavos dividido por um menos zero vírgula vinte e três, ou seja, dividido por zero vírgula setenta e sete. Resultado: cerca de um real e quatro centavos por quilowatt-hora. Repare que os impostos aumentaram a tarifa em quase trinta por cento, e não em vinte e três. É assim que a conta da residência de quatrocentos e cinquenta quilowatts-hora chega perto de quatrocentos e setenta reais, mais a iluminação pública e uma eventual bandeira.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como os tributos funcionam quando há créditos de geração distribuída? Existem regras específicas: em nível federal, há previsão de PIS e COFINS zerados sobre a energia compensada, e no ICMS existe um convênio entre os estados com isenção sobre a energia compensada, com condições e diferenças de estado para estado, especialmente em relação à parte da tarifa que continua sendo paga, como o Fio B. É um tema que muda e que depende do seu estado, por isso vamos tratá-lo com cuidado no módulo 11, com a recomendação de validar sempre com um contador especializado.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a conta final é o consumo vezes a tarifa com impostos, calculados por dentro, mais a bandeira do mês e a contribuição de iluminação pública. Agora você já tem todas as peças para ler uma conta de luz. E é isso que vamos fazer no laboratório da próxima aula, na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faça sozinho. Abra a fatura mais recente do cliente Residência e anote: a referência e o vencimento; o consumo em quilowatt-hora e o tipo de ligação; qual é o custo de disponibilidade em quilowatt-hora para essa ligação; o valor total; e, dividindo o valor pelo consumo, uma estimativa da tarifa com impostos. Compare o resultado com a tarifa que calculamos na aula anterior. Por que eles não são iguais? Dica: lembre da iluminação pública, da bandeira e dos créditos.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como Administrador. No menu, abra Cliente Consumidor, depois Clientes, e procure a Padaria, um dos nossos clientes de exemplo. Na ficha do cliente, vá até as faturas da concessionária. Aqui ficam todas as contas de luz que a distribuidora emitiu para esse cliente e que chegaram à sua empresa, seja automaticamente por e-mail, seja por upload. Clique na fatura do mês mais recente. Outro caminho para chegar às faturas de todos os clientes de uma vez é o menu Financeiro, Faturas de Concessionárias.
Primeiro, abra o PDF da fatura. É a conta original, do jeito que a distribuidora emitiu. Repare nos campos que estudamos: o nome do titular, o número da instalação — que é a identificação da unidade consumidora —, a classe e o subgrupo, o tipo de ligação, o consumo do mês em quilowatt-hora, os itens com tarifa, os tributos, a bandeira e o valor total. Cada distribuidora organiza o layout de um jeito, mas, depois desta aula, você sabe o que procurar em qualquer uma.
Agora volte para a tela da plataforma. Aqui está a mágica que economiza horas de trabalho: o sistema leu o PDF e extraiu os dados automaticamente. Veja o resumo técnico: referência, ou seja, o mês e o ano da conta; vencimento; consumo em quilowatt-hora; valor total da fatura; unidade consumidora e número da instalação; e o nome do titular. Compare cada um desses campos com o PDF. Eles devem bater. Também aparece o status da extração de dados, que diz se o sistema conseguiu ler tudo ou se algum campo ficou faltando ou inválido. Numa operação com centenas de clientes, ler fatura por fatura à mão é inviável. A extração automática é o que permite escalar — mas sempre com uma revisão humana, como você vai aprender no módulo 7.
Repare nesta seção: energia injetada e consumo injetado. São as linhas da fatura que mostram os créditos da geração distribuída que esse cliente recebeu e quanto do consumo dele foi compensado. É daqui que sai o valor que a sua empresa vai cobrar do cliente. Não se preocupe em entender o cálculo agora. Você ainda não viu as regras da compensação, que são o assunto do próximo módulo. Só registre: a fatura da distribuidora é a matéria-prima de toda a cobrança da sua empresa. Se a fatura for lida errado, a cobrança sai 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26-1.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jp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F7A23B"/>
          </a:solidFill>
          <a:ln/>
        </p:spPr>
      </p:sp>
      <p:pic>
        <p:nvPicPr>
          <p:cNvPr id="3" name="Image 0" descr="/www/wwwroot/rexar/gdsolar/docs/curso/slides/assets/logo-gdsolar.png">    </p:cNvPr>
          <p:cNvPicPr>
            <a:picLocks noChangeAspect="1"/>
          </p:cNvPicPr>
          <p:nvPr/>
        </p:nvPicPr>
        <p:blipFill>
          <a:blip r:embed="rId1"/>
          <a:stretch>
            <a:fillRect/>
          </a:stretch>
        </p:blipFill>
        <p:spPr>
          <a:xfrm>
            <a:off x="640080" y="594360"/>
            <a:ext cx="822960" cy="822960"/>
          </a:xfrm>
          <a:prstGeom prst="rect">
            <a:avLst/>
          </a:prstGeom>
        </p:spPr>
      </p:pic>
      <p:sp>
        <p:nvSpPr>
          <p:cNvPr id="4" name="Text 1"/>
          <p:cNvSpPr/>
          <p:nvPr/>
        </p:nvSpPr>
        <p:spPr>
          <a:xfrm>
            <a:off x="1600200" y="566928"/>
            <a:ext cx="7315200" cy="8686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GD Solar
</a:t>
            </a:r>
            <a:pPr indent="0" marL="0">
              <a:buNone/>
            </a:pPr>
            <a:r>
              <a:rPr lang="en-US" sz="1300" dirty="0">
                <a:solidFill>
                  <a:srgbClr val="C7D2E3"/>
                </a:solidFill>
                <a:latin typeface="Arial" pitchFamily="34" charset="0"/>
                <a:ea typeface="Arial" pitchFamily="34" charset="-122"/>
                <a:cs typeface="Arial" pitchFamily="34" charset="-120"/>
              </a:rPr>
              <a:t>Formação em Energia por Assinatura</a:t>
            </a:r>
            <a:endParaRPr lang="en-US" sz="1800" dirty="0"/>
          </a:p>
        </p:txBody>
      </p:sp>
      <p:sp>
        <p:nvSpPr>
          <p:cNvPr id="5" name="Text 2"/>
          <p:cNvSpPr/>
          <p:nvPr/>
        </p:nvSpPr>
        <p:spPr>
          <a:xfrm>
            <a:off x="640080" y="1920240"/>
            <a:ext cx="10972800" cy="411480"/>
          </a:xfrm>
          <a:prstGeom prst="rect">
            <a:avLst/>
          </a:prstGeom>
          <a:noFill/>
          <a:ln/>
        </p:spPr>
        <p:txBody>
          <a:bodyPr wrap="square" rtlCol="0" anchor="ctr"/>
          <a:lstStyle/>
          <a:p>
            <a:pPr indent="0" marL="0">
              <a:buNone/>
            </a:pPr>
            <a:r>
              <a:rPr lang="en-US" sz="1400" b="1" spc="100" kern="0" dirty="0">
                <a:solidFill>
                  <a:srgbClr val="F7A23B"/>
                </a:solidFill>
                <a:latin typeface="Arial" pitchFamily="34" charset="0"/>
                <a:ea typeface="Arial" pitchFamily="34" charset="-122"/>
                <a:cs typeface="Arial" pitchFamily="34" charset="-120"/>
              </a:rPr>
              <a:t>M1  ·  ETAPA 1 · FUNDAMENTOS</a:t>
            </a:r>
            <a:endParaRPr lang="en-US" sz="1400" dirty="0"/>
          </a:p>
        </p:txBody>
      </p:sp>
      <p:sp>
        <p:nvSpPr>
          <p:cNvPr id="6" name="Text 3"/>
          <p:cNvSpPr/>
          <p:nvPr/>
        </p:nvSpPr>
        <p:spPr>
          <a:xfrm>
            <a:off x="640080" y="2331720"/>
            <a:ext cx="10972800" cy="118872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Fundamentos: energia, solar e setor elétrico</a:t>
            </a:r>
            <a:endParaRPr lang="en-US" sz="4000" dirty="0"/>
          </a:p>
        </p:txBody>
      </p:sp>
      <p:sp>
        <p:nvSpPr>
          <p:cNvPr id="7" name="Text 4"/>
          <p:cNvSpPr/>
          <p:nvPr/>
        </p:nvSpPr>
        <p:spPr>
          <a:xfrm>
            <a:off x="640080" y="3657600"/>
            <a:ext cx="6583680" cy="2743200"/>
          </a:xfrm>
          <a:prstGeom prst="rect">
            <a:avLst/>
          </a:prstGeom>
          <a:noFill/>
          <a:ln/>
        </p:spPr>
        <p:txBody>
          <a:bodyPr wrap="square" rtlCol="0" anchor="t">
            <a:normAutofit/>
          </a:bodyPr>
          <a:lstStyle/>
          <a:p>
            <a:pPr indent="0" marL="0">
              <a:spcAft>
                <a:spcPts val="400"/>
              </a:spcAft>
              <a:buNone/>
            </a:pPr>
            <a:r>
              <a:rPr lang="en-US" sz="1200" dirty="0">
                <a:solidFill>
                  <a:srgbClr val="C7D2E3"/>
                </a:solidFill>
                <a:latin typeface="Arial" pitchFamily="34" charset="0"/>
                <a:ea typeface="Arial" pitchFamily="34" charset="-122"/>
                <a:cs typeface="Arial" pitchFamily="34" charset="-120"/>
              </a:rPr>
              <a:t>1. Energia e potência: o kW, o kWh e o que você paga</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2. Como funciona a geração solar fotovoltaica</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3. Como a energia chega à tomada</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4. ANEEL, distribuidora e os mercados regulado e livre</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5. Grupos A e B, classes e ligações</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6. A tarifa por dentro: TE, TUSD, Fio A, Fio B e encargos</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7. Bandeiras, tributos e a conta de luz</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8. lendo uma fatura de concessionária na plataforma</a:t>
            </a:r>
            <a:endParaRPr lang="en-US" sz="1200" dirty="0"/>
          </a:p>
        </p:txBody>
      </p:sp>
      <p:sp>
        <p:nvSpPr>
          <p:cNvPr id="8" name="Shape 5"/>
          <p:cNvSpPr/>
          <p:nvPr/>
        </p:nvSpPr>
        <p:spPr>
          <a:xfrm>
            <a:off x="7589520" y="3657600"/>
            <a:ext cx="3977640" cy="2743200"/>
          </a:xfrm>
          <a:prstGeom prst="roundRect">
            <a:avLst>
              <a:gd name="adj" fmla="val 3333"/>
            </a:avLst>
          </a:prstGeom>
          <a:solidFill>
            <a:srgbClr val="11396F"/>
          </a:solidFill>
          <a:ln/>
        </p:spPr>
      </p:sp>
      <p:sp>
        <p:nvSpPr>
          <p:cNvPr id="9" name="Text 6"/>
          <p:cNvSpPr/>
          <p:nvPr/>
        </p:nvSpPr>
        <p:spPr>
          <a:xfrm>
            <a:off x="7772400" y="3749040"/>
            <a:ext cx="3611880" cy="2560320"/>
          </a:xfrm>
          <a:prstGeom prst="rect">
            <a:avLst/>
          </a:prstGeom>
          <a:noFill/>
          <a:ln/>
        </p:spPr>
        <p:txBody>
          <a:bodyPr wrap="square" rtlCol="0" anchor="t">
            <a:normAutofit/>
          </a:bodyPr>
          <a:lstStyle/>
          <a:p>
            <a:pPr indent="0" marL="0">
              <a:buNone/>
            </a:pPr>
            <a:r>
              <a:rPr lang="en-US" sz="1300" b="1" dirty="0">
                <a:solidFill>
                  <a:srgbClr val="F7A23B"/>
                </a:solidFill>
                <a:latin typeface="Arial" pitchFamily="34" charset="0"/>
                <a:ea typeface="Arial" pitchFamily="34" charset="-122"/>
                <a:cs typeface="Arial" pitchFamily="34" charset="-120"/>
              </a:rPr>
              <a:t>Ao final do módulo
</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Diferenciar potência (kW) de energia (kWh) e calcular consumo mensal.</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Explicar como uma usina fotovoltaica gera energia e estimar a geração mensal a partir da potência (kWp).</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Descrever o caminho da energia (geração → transmissão → distribuição) e os papéis de ANEEL, distribuidora, ONS e CCEE.</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Diferenciar grupos A e B, classes de consumo e tipos de ligação.</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Decompor a tarifa em TE e TUSD (Fio A, Fio B, encargos, perdas) e entender bandeiras e tributos.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01</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1</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M1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Energia e potência: o kW, o kWh e o que você paga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Diferenciar potência e energia, calcular consumo e entender por que o kWh é a "moeda" do negócio</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Potência: a "força" do equipamento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Energia: potência vezes tempo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Quanto consome uma casa e um comércio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kWh vira dinheiro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kWp: a potência da usina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ENERGIA E POTÊNCIA: O KW, O KWH E O QUE VOCÊ PAGA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Potência: a "força" do equipamento</a:t>
            </a:r>
            <a:endParaRPr lang="en-US" sz="2600" dirty="0"/>
          </a:p>
        </p:txBody>
      </p:sp>
      <p:sp>
        <p:nvSpPr>
          <p:cNvPr id="9" name="Shape 6"/>
          <p:cNvSpPr/>
          <p:nvPr/>
        </p:nvSpPr>
        <p:spPr>
          <a:xfrm>
            <a:off x="548640"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Potência = quanto o equipamento puxa por instante</a:t>
            </a:r>
            <a:endParaRPr lang="en-US" sz="1800" dirty="0"/>
          </a:p>
        </p:txBody>
      </p:sp>
      <p:sp>
        <p:nvSpPr>
          <p:cNvPr id="13" name="Shape 10"/>
          <p:cNvSpPr/>
          <p:nvPr/>
        </p:nvSpPr>
        <p:spPr>
          <a:xfrm>
            <a:off x="4322064"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W (watt)</a:t>
            </a:r>
            <a:endParaRPr lang="en-US" sz="1800" dirty="0"/>
          </a:p>
        </p:txBody>
      </p:sp>
      <p:sp>
        <p:nvSpPr>
          <p:cNvPr id="17" name="Shape 14"/>
          <p:cNvSpPr/>
          <p:nvPr/>
        </p:nvSpPr>
        <p:spPr>
          <a:xfrm>
            <a:off x="8095488"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kW = 1.000 W</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ENERGIA E POTÊNCIA: O KW, O KWH E O QUE VOCÊ PAGA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Energia: potência vezes tempo</a:t>
            </a:r>
            <a:endParaRPr lang="en-US" sz="2600" dirty="0"/>
          </a:p>
        </p:txBody>
      </p:sp>
      <p:sp>
        <p:nvSpPr>
          <p:cNvPr id="9" name="Shape 6"/>
          <p:cNvSpPr/>
          <p:nvPr/>
        </p:nvSpPr>
        <p:spPr>
          <a:xfrm>
            <a:off x="548640" y="1325880"/>
            <a:ext cx="11091672" cy="4937760"/>
          </a:xfrm>
          <a:prstGeom prst="roundRect">
            <a:avLst>
              <a:gd name="adj" fmla="val 1852"/>
            </a:avLst>
          </a:prstGeom>
          <a:solidFill>
            <a:srgbClr val="0B1F3A"/>
          </a:solidFill>
          <a:ln/>
        </p:spPr>
      </p:sp>
      <p:sp>
        <p:nvSpPr>
          <p:cNvPr id="10" name="Text 7"/>
          <p:cNvSpPr/>
          <p:nvPr/>
        </p:nvSpPr>
        <p:spPr>
          <a:xfrm>
            <a:off x="914400" y="1554480"/>
            <a:ext cx="10360152" cy="4480560"/>
          </a:xfrm>
          <a:prstGeom prst="rect">
            <a:avLst/>
          </a:prstGeom>
          <a:noFill/>
          <a:ln/>
        </p:spPr>
        <p:txBody>
          <a:bodyPr wrap="square" rtlCol="0" anchor="ctr">
            <a:normAutofit/>
          </a:bodyPr>
          <a:lstStyle/>
          <a:p>
            <a:pPr indent="0" marL="0">
              <a:spcAft>
                <a:spcPts val="1000"/>
              </a:spcAft>
              <a:buNone/>
            </a:pPr>
            <a:r>
              <a:rPr lang="en-US" sz="2400" b="1" dirty="0">
                <a:solidFill>
                  <a:srgbClr val="FFFFFF"/>
                </a:solidFill>
                <a:latin typeface="Consolas" pitchFamily="34" charset="0"/>
                <a:ea typeface="Consolas" pitchFamily="34" charset="-122"/>
                <a:cs typeface="Consolas" pitchFamily="34" charset="-120"/>
              </a:rPr>
              <a:t>Energia (kWh) = Potência (kW) × Tempo (h)</a:t>
            </a:r>
            <a:endParaRPr lang="en-US" sz="2400" dirty="0"/>
          </a:p>
          <a:p>
            <a:pPr indent="0" marL="0">
              <a:spcAft>
                <a:spcPts val="1000"/>
              </a:spcAft>
              <a:buNone/>
            </a:pPr>
            <a:r>
              <a:rPr lang="en-US" sz="2400" b="1" dirty="0">
                <a:solidFill>
                  <a:srgbClr val="F7A23B"/>
                </a:solidFill>
                <a:latin typeface="Consolas" pitchFamily="34" charset="0"/>
                <a:ea typeface="Consolas" pitchFamily="34" charset="-122"/>
                <a:cs typeface="Consolas" pitchFamily="34" charset="-120"/>
              </a:rPr>
              <a:t>Chuveiro: 5,5 kW × 0,25 h × 30 dias = 41,25 kWh/mês</a:t>
            </a:r>
            <a:endParaRPr lang="en-US" sz="24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ENERGIA E POTÊNCIA: O KW, O KWH E O QUE VOCÊ PAGA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Quanto consome uma casa e um comércio</a:t>
            </a:r>
            <a:endParaRPr lang="en-US" sz="2600" dirty="0"/>
          </a:p>
        </p:txBody>
      </p:sp>
      <p:graphicFrame>
        <p:nvGraphicFramePr>
          <p:cNvPr id="9" name="Chart 0" descr=""/>
          <p:cNvGraphicFramePr/>
          <p:nvPr/>
        </p:nvGraphicFramePr>
        <p:xfrm>
          <a:off x="548640" y="1325880"/>
          <a:ext cx="5669280" cy="493776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46520" y="1600200"/>
          <a:ext cx="5193792" cy="914400"/>
        </p:xfrm>
        <a:graphic>
          <a:graphicData uri="http://schemas.openxmlformats.org/drawingml/2006/table">
            <a:tbl>
              <a:tblPr/>
              <a:tblGrid>
                <a:gridCol w="2596896"/>
                <a:gridCol w="2596896"/>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Perfil (exemplo)</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1B3A6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Consumo/mês</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1B3A6B"/>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Residência pequena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150–200 kWh</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Residência com ar-condicionado</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400–800 kWh</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Padaria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2.000–4.000 kWh</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Clínica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3.000–6.000 kWh</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Supermercado de bairro</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10.000–25.000 kWh</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ENERGIA E POTÊNCIA: O KW, O KWH E O QUE VOCÊ PAGA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kWh vira dinheiro</a:t>
            </a:r>
            <a:endParaRPr lang="en-US" sz="2600" dirty="0"/>
          </a:p>
        </p:txBody>
      </p:sp>
      <p:sp>
        <p:nvSpPr>
          <p:cNvPr id="9" name="Shape 6"/>
          <p:cNvSpPr/>
          <p:nvPr/>
        </p:nvSpPr>
        <p:spPr>
          <a:xfrm>
            <a:off x="548640" y="1325880"/>
            <a:ext cx="11091672" cy="4937760"/>
          </a:xfrm>
          <a:prstGeom prst="roundRect">
            <a:avLst>
              <a:gd name="adj" fmla="val 1852"/>
            </a:avLst>
          </a:prstGeom>
          <a:solidFill>
            <a:srgbClr val="0B1F3A"/>
          </a:solidFill>
          <a:ln/>
        </p:spPr>
      </p:sp>
      <p:sp>
        <p:nvSpPr>
          <p:cNvPr id="10" name="Text 7"/>
          <p:cNvSpPr/>
          <p:nvPr/>
        </p:nvSpPr>
        <p:spPr>
          <a:xfrm>
            <a:off x="914400" y="1554480"/>
            <a:ext cx="10360152" cy="4480560"/>
          </a:xfrm>
          <a:prstGeom prst="rect">
            <a:avLst/>
          </a:prstGeom>
          <a:noFill/>
          <a:ln/>
        </p:spPr>
        <p:txBody>
          <a:bodyPr wrap="square" rtlCol="0" anchor="ctr">
            <a:normAutofit/>
          </a:bodyPr>
          <a:lstStyle/>
          <a:p>
            <a:pPr indent="0" marL="0">
              <a:spcAft>
                <a:spcPts val="1000"/>
              </a:spcAft>
              <a:buNone/>
            </a:pPr>
            <a:r>
              <a:rPr lang="en-US" sz="2400" b="1" dirty="0">
                <a:solidFill>
                  <a:srgbClr val="FFFFFF"/>
                </a:solidFill>
                <a:latin typeface="Consolas" pitchFamily="34" charset="0"/>
                <a:ea typeface="Consolas" pitchFamily="34" charset="-122"/>
                <a:cs typeface="Consolas" pitchFamily="34" charset="-120"/>
              </a:rPr>
              <a:t>Conta ≈ consumo (kWh) × tarifa (R$/kWh) + impostos e taxas</a:t>
            </a:r>
            <a:endParaRPr lang="en-US" sz="2400" dirty="0"/>
          </a:p>
          <a:p>
            <a:pPr indent="0" marL="0">
              <a:spcAft>
                <a:spcPts val="1000"/>
              </a:spcAft>
              <a:buNone/>
            </a:pPr>
            <a:r>
              <a:rPr lang="en-US" sz="2400" b="1" dirty="0">
                <a:solidFill>
                  <a:srgbClr val="F7A23B"/>
                </a:solidFill>
                <a:latin typeface="Consolas" pitchFamily="34" charset="0"/>
                <a:ea typeface="Consolas" pitchFamily="34" charset="-122"/>
                <a:cs typeface="Consolas" pitchFamily="34" charset="-120"/>
              </a:rPr>
              <a:t>Ex.: 450 kWh × R$ 1,00 = R$ 450</a:t>
            </a:r>
            <a:endParaRPr lang="en-US" sz="24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ENERGIA E POTÊNCIA: O KW, O KWH E O QUE VOCÊ PAGA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kWp: a potência da usina</a:t>
            </a:r>
            <a:endParaRPr lang="en-US" sz="2600" dirty="0"/>
          </a:p>
        </p:txBody>
      </p:sp>
      <p:sp>
        <p:nvSpPr>
          <p:cNvPr id="9" name="Shape 6"/>
          <p:cNvSpPr/>
          <p:nvPr/>
        </p:nvSpPr>
        <p:spPr>
          <a:xfrm>
            <a:off x="548640" y="1325880"/>
            <a:ext cx="11091672"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10177272"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kWp = quilowatt-pico: potência máxima dos painéis em condições ideais</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kW = potência</a:t>
            </a:r>
            <a:endParaRPr lang="en-US" sz="1800" dirty="0"/>
          </a:p>
        </p:txBody>
      </p:sp>
      <p:sp>
        <p:nvSpPr>
          <p:cNvPr id="13" name="Shape 10"/>
          <p:cNvSpPr/>
          <p:nvPr/>
        </p:nvSpPr>
        <p:spPr>
          <a:xfrm>
            <a:off x="4322064"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kWh = energia (o que se paga)</a:t>
            </a:r>
            <a:endParaRPr lang="en-US" sz="1800" dirty="0"/>
          </a:p>
        </p:txBody>
      </p:sp>
      <p:sp>
        <p:nvSpPr>
          <p:cNvPr id="17" name="Shape 14"/>
          <p:cNvSpPr/>
          <p:nvPr/>
        </p:nvSpPr>
        <p:spPr>
          <a:xfrm>
            <a:off x="8095488"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kWp = tamanho da usina</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02</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2</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M1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Como funciona a geração solar fotovoltaica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Entender os componentes de uma usina, estimar a geração mensal e conhecer os fatores que a afetam</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Os componentes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Quanto uma usina gera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 geração varia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 usina envelhece</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Usina no solo, no telhado e o que o produtor precisa</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COMO FUNCIONA A GERAÇÃO SOLAR FOTOVOLTAICA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Os componentes</a:t>
            </a:r>
            <a:endParaRPr lang="en-US" sz="2600" dirty="0"/>
          </a:p>
        </p:txBody>
      </p:sp>
      <p:sp>
        <p:nvSpPr>
          <p:cNvPr id="9" name="Shape 6"/>
          <p:cNvSpPr/>
          <p:nvPr/>
        </p:nvSpPr>
        <p:spPr>
          <a:xfrm>
            <a:off x="548640" y="2651760"/>
            <a:ext cx="2852928" cy="1463040"/>
          </a:xfrm>
          <a:prstGeom prst="chevron">
            <a:avLst/>
          </a:prstGeom>
          <a:solidFill>
            <a:srgbClr val="1B3A6B"/>
          </a:solidFill>
          <a:ln w="25400">
            <a:solidFill>
              <a:srgbClr val="FFFFFF"/>
            </a:solidFill>
            <a:prstDash val="solid"/>
          </a:ln>
        </p:spPr>
      </p:sp>
      <p:sp>
        <p:nvSpPr>
          <p:cNvPr id="10" name="Text 7"/>
          <p:cNvSpPr/>
          <p:nvPr/>
        </p:nvSpPr>
        <p:spPr>
          <a:xfrm>
            <a:off x="8686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Painel (CC)</a:t>
            </a:r>
            <a:endParaRPr lang="en-US" sz="1500" dirty="0"/>
          </a:p>
        </p:txBody>
      </p:sp>
      <p:sp>
        <p:nvSpPr>
          <p:cNvPr id="11" name="Shape 8"/>
          <p:cNvSpPr/>
          <p:nvPr/>
        </p:nvSpPr>
        <p:spPr>
          <a:xfrm>
            <a:off x="3291840" y="2651760"/>
            <a:ext cx="2852928" cy="1463040"/>
          </a:xfrm>
          <a:prstGeom prst="chevron">
            <a:avLst/>
          </a:prstGeom>
          <a:solidFill>
            <a:srgbClr val="11396F"/>
          </a:solidFill>
          <a:ln w="25400">
            <a:solidFill>
              <a:srgbClr val="FFFFFF"/>
            </a:solidFill>
            <a:prstDash val="solid"/>
          </a:ln>
        </p:spPr>
      </p:sp>
      <p:sp>
        <p:nvSpPr>
          <p:cNvPr id="12" name="Text 9"/>
          <p:cNvSpPr/>
          <p:nvPr/>
        </p:nvSpPr>
        <p:spPr>
          <a:xfrm>
            <a:off x="36118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Inversor (CA)</a:t>
            </a:r>
            <a:endParaRPr lang="en-US" sz="1500" dirty="0"/>
          </a:p>
        </p:txBody>
      </p:sp>
      <p:sp>
        <p:nvSpPr>
          <p:cNvPr id="13" name="Shape 10"/>
          <p:cNvSpPr/>
          <p:nvPr/>
        </p:nvSpPr>
        <p:spPr>
          <a:xfrm>
            <a:off x="6035040" y="2651760"/>
            <a:ext cx="2852928" cy="1463040"/>
          </a:xfrm>
          <a:prstGeom prst="chevron">
            <a:avLst/>
          </a:prstGeom>
          <a:solidFill>
            <a:srgbClr val="1B3A6B"/>
          </a:solidFill>
          <a:ln w="25400">
            <a:solidFill>
              <a:srgbClr val="FFFFFF"/>
            </a:solidFill>
            <a:prstDash val="solid"/>
          </a:ln>
        </p:spPr>
      </p:sp>
      <p:sp>
        <p:nvSpPr>
          <p:cNvPr id="14" name="Text 11"/>
          <p:cNvSpPr/>
          <p:nvPr/>
        </p:nvSpPr>
        <p:spPr>
          <a:xfrm>
            <a:off x="63550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Medidor bidirecional</a:t>
            </a:r>
            <a:endParaRPr lang="en-US" sz="1500" dirty="0"/>
          </a:p>
        </p:txBody>
      </p:sp>
      <p:sp>
        <p:nvSpPr>
          <p:cNvPr id="15" name="Shape 12"/>
          <p:cNvSpPr/>
          <p:nvPr/>
        </p:nvSpPr>
        <p:spPr>
          <a:xfrm>
            <a:off x="8778240" y="2651760"/>
            <a:ext cx="2852928" cy="1463040"/>
          </a:xfrm>
          <a:prstGeom prst="chevron">
            <a:avLst/>
          </a:prstGeom>
          <a:solidFill>
            <a:srgbClr val="11396F"/>
          </a:solidFill>
          <a:ln w="25400">
            <a:solidFill>
              <a:srgbClr val="FFFFFF"/>
            </a:solidFill>
            <a:prstDash val="solid"/>
          </a:ln>
        </p:spPr>
      </p:sp>
      <p:sp>
        <p:nvSpPr>
          <p:cNvPr id="16" name="Text 13"/>
          <p:cNvSpPr/>
          <p:nvPr/>
        </p:nvSpPr>
        <p:spPr>
          <a:xfrm>
            <a:off x="90982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Rede da distribuidora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COMO FUNCIONA A GERAÇÃO SOLAR FOTOVOLTAICA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Quanto uma usina gera</a:t>
            </a:r>
            <a:endParaRPr lang="en-US" sz="2600" dirty="0"/>
          </a:p>
        </p:txBody>
      </p:sp>
      <p:sp>
        <p:nvSpPr>
          <p:cNvPr id="9" name="Shape 6"/>
          <p:cNvSpPr/>
          <p:nvPr/>
        </p:nvSpPr>
        <p:spPr>
          <a:xfrm>
            <a:off x="548640" y="1325880"/>
            <a:ext cx="11091672" cy="4937760"/>
          </a:xfrm>
          <a:prstGeom prst="roundRect">
            <a:avLst>
              <a:gd name="adj" fmla="val 1852"/>
            </a:avLst>
          </a:prstGeom>
          <a:solidFill>
            <a:srgbClr val="0B1F3A"/>
          </a:solidFill>
          <a:ln/>
        </p:spPr>
      </p:sp>
      <p:sp>
        <p:nvSpPr>
          <p:cNvPr id="10" name="Text 7"/>
          <p:cNvSpPr/>
          <p:nvPr/>
        </p:nvSpPr>
        <p:spPr>
          <a:xfrm>
            <a:off x="914400" y="1554480"/>
            <a:ext cx="10360152" cy="4480560"/>
          </a:xfrm>
          <a:prstGeom prst="rect">
            <a:avLst/>
          </a:prstGeom>
          <a:noFill/>
          <a:ln/>
        </p:spPr>
        <p:txBody>
          <a:bodyPr wrap="square" rtlCol="0" anchor="ctr">
            <a:normAutofit/>
          </a:bodyPr>
          <a:lstStyle/>
          <a:p>
            <a:pPr indent="0" marL="0">
              <a:spcAft>
                <a:spcPts val="1000"/>
              </a:spcAft>
              <a:buNone/>
            </a:pPr>
            <a:r>
              <a:rPr lang="en-US" sz="2400" b="1" dirty="0">
                <a:solidFill>
                  <a:srgbClr val="FFFFFF"/>
                </a:solidFill>
                <a:latin typeface="Consolas" pitchFamily="34" charset="0"/>
                <a:ea typeface="Consolas" pitchFamily="34" charset="-122"/>
                <a:cs typeface="Consolas" pitchFamily="34" charset="-120"/>
              </a:rPr>
              <a:t>Geração mensal ≈ Potência (kWp) × Produtividade (kWh/kWp/mês)</a:t>
            </a:r>
            <a:endParaRPr lang="en-US" sz="2400" dirty="0"/>
          </a:p>
          <a:p>
            <a:pPr indent="0" marL="0">
              <a:spcAft>
                <a:spcPts val="1000"/>
              </a:spcAft>
              <a:buNone/>
            </a:pPr>
            <a:r>
              <a:rPr lang="en-US" sz="2400" b="1" dirty="0">
                <a:solidFill>
                  <a:srgbClr val="F7A23B"/>
                </a:solidFill>
                <a:latin typeface="Consolas" pitchFamily="34" charset="0"/>
                <a:ea typeface="Consolas" pitchFamily="34" charset="-122"/>
                <a:cs typeface="Consolas" pitchFamily="34" charset="-120"/>
              </a:rPr>
              <a:t>Ex.: 500 kWp × 120 = 60.000 kWh/mês</a:t>
            </a:r>
            <a:endParaRPr lang="en-US" sz="24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Como funciona a geração solar fotovoltaica</a:t>
            </a:r>
            <a:endParaRPr lang="en-US" sz="2600" dirty="0"/>
          </a:p>
        </p:txBody>
      </p:sp>
      <p:sp>
        <p:nvSpPr>
          <p:cNvPr id="9" name="Shape 6"/>
          <p:cNvSpPr/>
          <p:nvPr/>
        </p:nvSpPr>
        <p:spPr>
          <a:xfrm>
            <a:off x="548640"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3514344" cy="109728"/>
          </a:xfrm>
          <a:prstGeom prst="rect">
            <a:avLst/>
          </a:prstGeom>
          <a:solidFill>
            <a:srgbClr val="1B3A6B"/>
          </a:solidFill>
          <a:ln/>
        </p:spPr>
      </p:sp>
      <p:sp>
        <p:nvSpPr>
          <p:cNvPr id="11" name="Text 8"/>
          <p:cNvSpPr/>
          <p:nvPr/>
        </p:nvSpPr>
        <p:spPr>
          <a:xfrm>
            <a:off x="822960"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A geração varia</a:t>
            </a:r>
            <a:endParaRPr lang="en-US" sz="1600" dirty="0"/>
          </a:p>
        </p:txBody>
      </p:sp>
      <p:sp>
        <p:nvSpPr>
          <p:cNvPr id="12" name="Text 9"/>
          <p:cNvSpPr/>
          <p:nvPr/>
        </p:nvSpPr>
        <p:spPr>
          <a:xfrm>
            <a:off x="822960"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Sazonalidade</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Clima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Sujeira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Sombra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Disponibilidade</a:t>
            </a:r>
            <a:endParaRPr lang="en-US" sz="1700" dirty="0"/>
          </a:p>
        </p:txBody>
      </p:sp>
      <p:sp>
        <p:nvSpPr>
          <p:cNvPr id="13" name="Shape 10"/>
          <p:cNvSpPr/>
          <p:nvPr/>
        </p:nvSpPr>
        <p:spPr>
          <a:xfrm>
            <a:off x="4337304"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337304" y="1325880"/>
            <a:ext cx="3514344" cy="109728"/>
          </a:xfrm>
          <a:prstGeom prst="rect">
            <a:avLst/>
          </a:prstGeom>
          <a:solidFill>
            <a:srgbClr val="F7A23B"/>
          </a:solidFill>
          <a:ln/>
        </p:spPr>
      </p:sp>
      <p:sp>
        <p:nvSpPr>
          <p:cNvPr id="15" name="Text 12"/>
          <p:cNvSpPr/>
          <p:nvPr/>
        </p:nvSpPr>
        <p:spPr>
          <a:xfrm>
            <a:off x="4611624"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A usina envelhece</a:t>
            </a:r>
            <a:endParaRPr lang="en-US" sz="1600" dirty="0"/>
          </a:p>
        </p:txBody>
      </p:sp>
      <p:sp>
        <p:nvSpPr>
          <p:cNvPr id="16" name="Text 13"/>
          <p:cNvSpPr/>
          <p:nvPr/>
        </p:nvSpPr>
        <p:spPr>
          <a:xfrm>
            <a:off x="4611624" y="2286000"/>
            <a:ext cx="2965704" cy="3749040"/>
          </a:xfrm>
          <a:prstGeom prst="rect">
            <a:avLst/>
          </a:prstGeom>
          <a:noFill/>
          <a:ln/>
        </p:spPr>
        <p:txBody>
          <a:bodyPr wrap="square" rtlCol="0" anchor="ctr">
            <a:normAutofit/>
          </a:bodyPr>
          <a:lstStyle/>
          <a:p>
            <a:pPr indent="0" marL="0">
              <a:buNone/>
            </a:pPr>
            <a:r>
              <a:rPr lang="en-US" sz="2200" dirty="0">
                <a:solidFill>
                  <a:srgbClr val="1F2937"/>
                </a:solidFill>
                <a:latin typeface="Arial" pitchFamily="34" charset="0"/>
                <a:ea typeface="Arial" pitchFamily="34" charset="-122"/>
                <a:cs typeface="Arial" pitchFamily="34" charset="-120"/>
              </a:rPr>
              <a:t>Degradação típica: ~0,5% a 0,8% ao ano</a:t>
            </a:r>
            <a:endParaRPr lang="en-US" sz="2200" dirty="0"/>
          </a:p>
        </p:txBody>
      </p:sp>
      <p:sp>
        <p:nvSpPr>
          <p:cNvPr id="17" name="Shape 14"/>
          <p:cNvSpPr/>
          <p:nvPr/>
        </p:nvSpPr>
        <p:spPr>
          <a:xfrm>
            <a:off x="8125968"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125968" y="1325880"/>
            <a:ext cx="3514344" cy="109728"/>
          </a:xfrm>
          <a:prstGeom prst="rect">
            <a:avLst/>
          </a:prstGeom>
          <a:solidFill>
            <a:srgbClr val="1B3A6B"/>
          </a:solidFill>
          <a:ln/>
        </p:spPr>
      </p:sp>
      <p:sp>
        <p:nvSpPr>
          <p:cNvPr id="19" name="Text 16"/>
          <p:cNvSpPr/>
          <p:nvPr/>
        </p:nvSpPr>
        <p:spPr>
          <a:xfrm>
            <a:off x="8400288"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Usina no solo, no telhado e o que o produtor precisa</a:t>
            </a:r>
            <a:endParaRPr lang="en-US" sz="1600" dirty="0"/>
          </a:p>
        </p:txBody>
      </p:sp>
      <p:sp>
        <p:nvSpPr>
          <p:cNvPr id="20" name="Text 17"/>
          <p:cNvSpPr/>
          <p:nvPr/>
        </p:nvSpPr>
        <p:spPr>
          <a:xfrm>
            <a:off x="8400288"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Solo: maior escala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Telhado: aproveita estrutura existente</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Ambos: precisam de conexão à rede</a:t>
            </a:r>
            <a:endParaRPr lang="en-US" sz="17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Geração ≈ kWp × produtividade</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Varia por mês</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Degrada pouco por ano</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Precisa estar na área da distribuidora dos clientes</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03</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3</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M1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Como a energia chega à tomada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Entender geração, transmissão e distribuição, o SIN e onde a geração distribuída se encaixa</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Geração centralizada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Transmissão e o SIN</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Distribuição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Onde entra a geração distribuída</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Como a energia chega à tomada</a:t>
            </a:r>
            <a:endParaRPr lang="en-US" sz="2600" dirty="0"/>
          </a:p>
        </p:txBody>
      </p:sp>
      <p:sp>
        <p:nvSpPr>
          <p:cNvPr id="9" name="Shape 6"/>
          <p:cNvSpPr/>
          <p:nvPr/>
        </p:nvSpPr>
        <p:spPr>
          <a:xfrm>
            <a:off x="548640" y="1325880"/>
            <a:ext cx="5408676"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5408676" cy="109728"/>
          </a:xfrm>
          <a:prstGeom prst="rect">
            <a:avLst/>
          </a:prstGeom>
          <a:solidFill>
            <a:srgbClr val="1B3A6B"/>
          </a:solidFill>
          <a:ln/>
        </p:spPr>
      </p:sp>
      <p:sp>
        <p:nvSpPr>
          <p:cNvPr id="11" name="Text 8"/>
          <p:cNvSpPr/>
          <p:nvPr/>
        </p:nvSpPr>
        <p:spPr>
          <a:xfrm>
            <a:off x="822960" y="1554480"/>
            <a:ext cx="4860036"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Geração centralizada</a:t>
            </a:r>
            <a:endParaRPr lang="en-US" sz="1600" dirty="0"/>
          </a:p>
        </p:txBody>
      </p:sp>
      <p:sp>
        <p:nvSpPr>
          <p:cNvPr id="12" name="Text 9"/>
          <p:cNvSpPr/>
          <p:nvPr/>
        </p:nvSpPr>
        <p:spPr>
          <a:xfrm>
            <a:off x="822960" y="2286000"/>
            <a:ext cx="4860036" cy="3749040"/>
          </a:xfrm>
          <a:prstGeom prst="rect">
            <a:avLst/>
          </a:prstGeom>
          <a:noFill/>
          <a:ln/>
        </p:spPr>
        <p:txBody>
          <a:bodyPr wrap="square" rtlCol="0" anchor="ctr">
            <a:normAutofit/>
          </a:bodyPr>
          <a:lstStyle/>
          <a:p>
            <a:pPr indent="0" marL="0">
              <a:buNone/>
            </a:pPr>
            <a:r>
              <a:rPr lang="en-US" sz="2200" dirty="0">
                <a:solidFill>
                  <a:srgbClr val="1F2937"/>
                </a:solidFill>
                <a:latin typeface="Arial" pitchFamily="34" charset="0"/>
                <a:ea typeface="Arial" pitchFamily="34" charset="-122"/>
                <a:cs typeface="Arial" pitchFamily="34" charset="-120"/>
              </a:rPr>
              <a:t>Geração centralizada: grandes usinas, longe do consumo</a:t>
            </a:r>
            <a:endParaRPr lang="en-US" sz="2200" dirty="0"/>
          </a:p>
        </p:txBody>
      </p:sp>
      <p:sp>
        <p:nvSpPr>
          <p:cNvPr id="13" name="Shape 10"/>
          <p:cNvSpPr/>
          <p:nvPr/>
        </p:nvSpPr>
        <p:spPr>
          <a:xfrm>
            <a:off x="6231636" y="1325880"/>
            <a:ext cx="5408676"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231636" y="1325880"/>
            <a:ext cx="5408676" cy="109728"/>
          </a:xfrm>
          <a:prstGeom prst="rect">
            <a:avLst/>
          </a:prstGeom>
          <a:solidFill>
            <a:srgbClr val="F7A23B"/>
          </a:solidFill>
          <a:ln/>
        </p:spPr>
      </p:sp>
      <p:sp>
        <p:nvSpPr>
          <p:cNvPr id="15" name="Text 12"/>
          <p:cNvSpPr/>
          <p:nvPr/>
        </p:nvSpPr>
        <p:spPr>
          <a:xfrm>
            <a:off x="6505956" y="1554480"/>
            <a:ext cx="4860036"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Transmissão e o SIN</a:t>
            </a:r>
            <a:endParaRPr lang="en-US" sz="1600" dirty="0"/>
          </a:p>
        </p:txBody>
      </p:sp>
      <p:sp>
        <p:nvSpPr>
          <p:cNvPr id="16" name="Text 13"/>
          <p:cNvSpPr/>
          <p:nvPr/>
        </p:nvSpPr>
        <p:spPr>
          <a:xfrm>
            <a:off x="6505956" y="2286000"/>
            <a:ext cx="4860036"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Transmissão: alta tensão, longas distâncias</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SIN = Sistema Interligado Nacional</a:t>
            </a:r>
            <a:endParaRPr lang="en-US" sz="17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COMO A ENERGIA CHEGA À TOMADA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Distribuição</a:t>
            </a:r>
            <a:endParaRPr lang="en-US" sz="2600" dirty="0"/>
          </a:p>
        </p:txBody>
      </p:sp>
      <p:sp>
        <p:nvSpPr>
          <p:cNvPr id="9" name="Shape 6"/>
          <p:cNvSpPr/>
          <p:nvPr/>
        </p:nvSpPr>
        <p:spPr>
          <a:xfrm>
            <a:off x="548640" y="2651760"/>
            <a:ext cx="2852928" cy="1463040"/>
          </a:xfrm>
          <a:prstGeom prst="chevron">
            <a:avLst/>
          </a:prstGeom>
          <a:solidFill>
            <a:srgbClr val="1B3A6B"/>
          </a:solidFill>
          <a:ln w="25400">
            <a:solidFill>
              <a:srgbClr val="FFFFFF"/>
            </a:solidFill>
            <a:prstDash val="solid"/>
          </a:ln>
        </p:spPr>
      </p:sp>
      <p:sp>
        <p:nvSpPr>
          <p:cNvPr id="10" name="Text 7"/>
          <p:cNvSpPr/>
          <p:nvPr/>
        </p:nvSpPr>
        <p:spPr>
          <a:xfrm>
            <a:off x="8686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Distribuição: subestação</a:t>
            </a:r>
            <a:endParaRPr lang="en-US" sz="1500" dirty="0"/>
          </a:p>
        </p:txBody>
      </p:sp>
      <p:sp>
        <p:nvSpPr>
          <p:cNvPr id="11" name="Shape 8"/>
          <p:cNvSpPr/>
          <p:nvPr/>
        </p:nvSpPr>
        <p:spPr>
          <a:xfrm>
            <a:off x="3291840" y="2651760"/>
            <a:ext cx="2852928" cy="1463040"/>
          </a:xfrm>
          <a:prstGeom prst="chevron">
            <a:avLst/>
          </a:prstGeom>
          <a:solidFill>
            <a:srgbClr val="11396F"/>
          </a:solidFill>
          <a:ln w="25400">
            <a:solidFill>
              <a:srgbClr val="FFFFFF"/>
            </a:solidFill>
            <a:prstDash val="solid"/>
          </a:ln>
        </p:spPr>
      </p:sp>
      <p:sp>
        <p:nvSpPr>
          <p:cNvPr id="12" name="Text 9"/>
          <p:cNvSpPr/>
          <p:nvPr/>
        </p:nvSpPr>
        <p:spPr>
          <a:xfrm>
            <a:off x="36118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rede da cidade</a:t>
            </a:r>
            <a:endParaRPr lang="en-US" sz="1500" dirty="0"/>
          </a:p>
        </p:txBody>
      </p:sp>
      <p:sp>
        <p:nvSpPr>
          <p:cNvPr id="13" name="Shape 10"/>
          <p:cNvSpPr/>
          <p:nvPr/>
        </p:nvSpPr>
        <p:spPr>
          <a:xfrm>
            <a:off x="6035040" y="2651760"/>
            <a:ext cx="2852928" cy="1463040"/>
          </a:xfrm>
          <a:prstGeom prst="chevron">
            <a:avLst/>
          </a:prstGeom>
          <a:solidFill>
            <a:srgbClr val="1B3A6B"/>
          </a:solidFill>
          <a:ln w="25400">
            <a:solidFill>
              <a:srgbClr val="FFFFFF"/>
            </a:solidFill>
            <a:prstDash val="solid"/>
          </a:ln>
        </p:spPr>
      </p:sp>
      <p:sp>
        <p:nvSpPr>
          <p:cNvPr id="14" name="Text 11"/>
          <p:cNvSpPr/>
          <p:nvPr/>
        </p:nvSpPr>
        <p:spPr>
          <a:xfrm>
            <a:off x="63550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poste</a:t>
            </a:r>
            <a:endParaRPr lang="en-US" sz="1500" dirty="0"/>
          </a:p>
        </p:txBody>
      </p:sp>
      <p:sp>
        <p:nvSpPr>
          <p:cNvPr id="15" name="Shape 12"/>
          <p:cNvSpPr/>
          <p:nvPr/>
        </p:nvSpPr>
        <p:spPr>
          <a:xfrm>
            <a:off x="8778240" y="2651760"/>
            <a:ext cx="2852928" cy="1463040"/>
          </a:xfrm>
          <a:prstGeom prst="chevron">
            <a:avLst/>
          </a:prstGeom>
          <a:solidFill>
            <a:srgbClr val="11396F"/>
          </a:solidFill>
          <a:ln w="25400">
            <a:solidFill>
              <a:srgbClr val="FFFFFF"/>
            </a:solidFill>
            <a:prstDash val="solid"/>
          </a:ln>
        </p:spPr>
      </p:sp>
      <p:sp>
        <p:nvSpPr>
          <p:cNvPr id="16" name="Text 13"/>
          <p:cNvSpPr/>
          <p:nvPr/>
        </p:nvSpPr>
        <p:spPr>
          <a:xfrm>
            <a:off x="9098280" y="2651760"/>
            <a:ext cx="23317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medidor do cliente</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COMO A ENERGIA CHEGA À TOMADA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Onde entra a geração distribuída</a:t>
            </a:r>
            <a:endParaRPr lang="en-US" sz="2600" dirty="0"/>
          </a:p>
        </p:txBody>
      </p:sp>
      <p:sp>
        <p:nvSpPr>
          <p:cNvPr id="9" name="Shape 6"/>
          <p:cNvSpPr/>
          <p:nvPr/>
        </p:nvSpPr>
        <p:spPr>
          <a:xfrm>
            <a:off x="548640" y="1325880"/>
            <a:ext cx="11091672"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10177272"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Geração distribuída: gerar perto de quem consome, ligado à rede de distribuição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5431536"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Geração → Transmissão (Fio A) → Distribuição (Fio B) → Cliente</a:t>
            </a:r>
            <a:endParaRPr lang="en-US" sz="1800" dirty="0"/>
          </a:p>
        </p:txBody>
      </p:sp>
      <p:sp>
        <p:nvSpPr>
          <p:cNvPr id="13" name="Shape 10"/>
          <p:cNvSpPr/>
          <p:nvPr/>
        </p:nvSpPr>
        <p:spPr>
          <a:xfrm>
            <a:off x="6208776" y="1325880"/>
            <a:ext cx="5431536"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GD: gera perto, entra na rede local, vira crédito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04</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4</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M1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ANEEL, distribuidora e os mercados regulado e livre</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Conhecer as instituições do setor e diferenciar mercado regulado (ACR), mercado livre (ACL) e geração distribuída</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As instituições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Mercado regulado (ACR)</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Mercado livre (ACL)</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Onde fica a assinatura de energia</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ANEEL, distribuidora e os mercados regulado e livre</a:t>
            </a:r>
            <a:endParaRPr lang="en-US" sz="2600" dirty="0"/>
          </a:p>
        </p:txBody>
      </p:sp>
      <p:sp>
        <p:nvSpPr>
          <p:cNvPr id="9" name="Shape 6"/>
          <p:cNvSpPr/>
          <p:nvPr/>
        </p:nvSpPr>
        <p:spPr>
          <a:xfrm>
            <a:off x="548640"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3514344" cy="109728"/>
          </a:xfrm>
          <a:prstGeom prst="rect">
            <a:avLst/>
          </a:prstGeom>
          <a:solidFill>
            <a:srgbClr val="1B3A6B"/>
          </a:solidFill>
          <a:ln/>
        </p:spPr>
      </p:sp>
      <p:sp>
        <p:nvSpPr>
          <p:cNvPr id="11" name="Text 8"/>
          <p:cNvSpPr/>
          <p:nvPr/>
        </p:nvSpPr>
        <p:spPr>
          <a:xfrm>
            <a:off x="822960"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As instituições</a:t>
            </a:r>
            <a:endParaRPr lang="en-US" sz="1600" dirty="0"/>
          </a:p>
        </p:txBody>
      </p:sp>
      <p:sp>
        <p:nvSpPr>
          <p:cNvPr id="12" name="Text 9"/>
          <p:cNvSpPr/>
          <p:nvPr/>
        </p:nvSpPr>
        <p:spPr>
          <a:xfrm>
            <a:off x="822960"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MME — política energética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ANEEL — regula e fiscaliza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ONS — opera o sistema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CCEE — contabiliza o mercado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 Distribuidoras — atendem o consumidor</a:t>
            </a:r>
            <a:endParaRPr lang="en-US" sz="1700" dirty="0"/>
          </a:p>
        </p:txBody>
      </p:sp>
      <p:sp>
        <p:nvSpPr>
          <p:cNvPr id="13" name="Shape 10"/>
          <p:cNvSpPr/>
          <p:nvPr/>
        </p:nvSpPr>
        <p:spPr>
          <a:xfrm>
            <a:off x="4337304"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337304" y="1325880"/>
            <a:ext cx="3514344" cy="109728"/>
          </a:xfrm>
          <a:prstGeom prst="rect">
            <a:avLst/>
          </a:prstGeom>
          <a:solidFill>
            <a:srgbClr val="F7A23B"/>
          </a:solidFill>
          <a:ln/>
        </p:spPr>
      </p:sp>
      <p:sp>
        <p:nvSpPr>
          <p:cNvPr id="15" name="Text 12"/>
          <p:cNvSpPr/>
          <p:nvPr/>
        </p:nvSpPr>
        <p:spPr>
          <a:xfrm>
            <a:off x="4611624"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Mercado regulado (ACR)</a:t>
            </a:r>
            <a:endParaRPr lang="en-US" sz="1600" dirty="0"/>
          </a:p>
        </p:txBody>
      </p:sp>
      <p:sp>
        <p:nvSpPr>
          <p:cNvPr id="16" name="Text 13"/>
          <p:cNvSpPr/>
          <p:nvPr/>
        </p:nvSpPr>
        <p:spPr>
          <a:xfrm>
            <a:off x="4611624" y="2286000"/>
            <a:ext cx="2965704" cy="3749040"/>
          </a:xfrm>
          <a:prstGeom prst="rect">
            <a:avLst/>
          </a:prstGeom>
          <a:noFill/>
          <a:ln/>
        </p:spPr>
        <p:txBody>
          <a:bodyPr wrap="square" rtlCol="0" anchor="ctr">
            <a:normAutofit/>
          </a:bodyPr>
          <a:lstStyle/>
          <a:p>
            <a:pPr indent="0" marL="0">
              <a:buNone/>
            </a:pPr>
            <a:r>
              <a:rPr lang="en-US" sz="2200" dirty="0">
                <a:solidFill>
                  <a:srgbClr val="1F2937"/>
                </a:solidFill>
                <a:latin typeface="Arial" pitchFamily="34" charset="0"/>
                <a:ea typeface="Arial" pitchFamily="34" charset="-122"/>
                <a:cs typeface="Arial" pitchFamily="34" charset="-120"/>
              </a:rPr>
              <a:t>ACR: o consumidor compra da distribuidora, pela tarifa da ANEEL</a:t>
            </a:r>
            <a:endParaRPr lang="en-US" sz="2200" dirty="0"/>
          </a:p>
        </p:txBody>
      </p:sp>
      <p:sp>
        <p:nvSpPr>
          <p:cNvPr id="17" name="Shape 14"/>
          <p:cNvSpPr/>
          <p:nvPr/>
        </p:nvSpPr>
        <p:spPr>
          <a:xfrm>
            <a:off x="8125968"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125968" y="1325880"/>
            <a:ext cx="3514344" cy="109728"/>
          </a:xfrm>
          <a:prstGeom prst="rect">
            <a:avLst/>
          </a:prstGeom>
          <a:solidFill>
            <a:srgbClr val="1B3A6B"/>
          </a:solidFill>
          <a:ln/>
        </p:spPr>
      </p:sp>
      <p:sp>
        <p:nvSpPr>
          <p:cNvPr id="19" name="Text 16"/>
          <p:cNvSpPr/>
          <p:nvPr/>
        </p:nvSpPr>
        <p:spPr>
          <a:xfrm>
            <a:off x="8400288"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Mercado livre (ACL)</a:t>
            </a:r>
            <a:endParaRPr lang="en-US" sz="1600" dirty="0"/>
          </a:p>
        </p:txBody>
      </p:sp>
      <p:sp>
        <p:nvSpPr>
          <p:cNvPr id="20" name="Text 17"/>
          <p:cNvSpPr/>
          <p:nvPr/>
        </p:nvSpPr>
        <p:spPr>
          <a:xfrm>
            <a:off x="8400288"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ACL: o consumidor escolhe o fornecedor e negocia preço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hoje: em geral, grupo A</a:t>
            </a:r>
            <a:endParaRPr lang="en-US" sz="17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ANEEL, DISTRIBUIDORA E OS MERCADOS REGULADO E LIVRE</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Onde fica a assinatura de energia</a:t>
            </a:r>
            <a:endParaRPr lang="en-US" sz="2600" dirty="0"/>
          </a:p>
        </p:txBody>
      </p:sp>
      <p:sp>
        <p:nvSpPr>
          <p:cNvPr id="9" name="Shape 6"/>
          <p:cNvSpPr/>
          <p:nvPr/>
        </p:nvSpPr>
        <p:spPr>
          <a:xfrm>
            <a:off x="548640" y="1325880"/>
            <a:ext cx="5431536"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Assinatura de energia ≠ venda de energia</a:t>
            </a:r>
            <a:endParaRPr lang="en-US" sz="1800" dirty="0"/>
          </a:p>
        </p:txBody>
      </p:sp>
      <p:sp>
        <p:nvSpPr>
          <p:cNvPr id="13" name="Shape 10"/>
          <p:cNvSpPr/>
          <p:nvPr/>
        </p:nvSpPr>
        <p:spPr>
          <a:xfrm>
            <a:off x="6208776" y="1325880"/>
            <a:ext cx="5431536"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É geração distribuída: o cliente continua na distribuidora e recebe créditos</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ANEEL regula</a:t>
            </a:r>
            <a:endParaRPr lang="en-US" sz="1800" dirty="0"/>
          </a:p>
        </p:txBody>
      </p:sp>
      <p:sp>
        <p:nvSpPr>
          <p:cNvPr id="13" name="Shape 10"/>
          <p:cNvSpPr/>
          <p:nvPr/>
        </p:nvSpPr>
        <p:spPr>
          <a:xfrm>
            <a:off x="4322064"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Distribuidora atende</a:t>
            </a:r>
            <a:endParaRPr lang="en-US" sz="1800" dirty="0"/>
          </a:p>
        </p:txBody>
      </p:sp>
      <p:sp>
        <p:nvSpPr>
          <p:cNvPr id="17" name="Shape 14"/>
          <p:cNvSpPr/>
          <p:nvPr/>
        </p:nvSpPr>
        <p:spPr>
          <a:xfrm>
            <a:off x="8095488"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ACR: tarifa regulada</a:t>
            </a:r>
            <a:endParaRPr lang="en-US" sz="1800" dirty="0"/>
          </a:p>
        </p:txBody>
      </p:sp>
      <p:sp>
        <p:nvSpPr>
          <p:cNvPr id="21" name="Shape 18"/>
          <p:cNvSpPr/>
          <p:nvPr/>
        </p:nvSpPr>
        <p:spPr>
          <a:xfrm>
            <a:off x="548640"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4069080"/>
            <a:ext cx="457200" cy="457200"/>
          </a:xfrm>
          <a:prstGeom prst="ellipse">
            <a:avLst/>
          </a:prstGeom>
          <a:solidFill>
            <a:srgbClr val="F7A23B"/>
          </a:solidFill>
          <a:ln/>
        </p:spPr>
      </p:sp>
      <p:sp>
        <p:nvSpPr>
          <p:cNvPr id="23" name="Text 20"/>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ACL: preço negociado</a:t>
            </a:r>
            <a:endParaRPr lang="en-US" sz="1800" dirty="0"/>
          </a:p>
        </p:txBody>
      </p:sp>
      <p:sp>
        <p:nvSpPr>
          <p:cNvPr id="25" name="Shape 22"/>
          <p:cNvSpPr/>
          <p:nvPr/>
        </p:nvSpPr>
        <p:spPr>
          <a:xfrm>
            <a:off x="4322064"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4069080"/>
            <a:ext cx="457200" cy="457200"/>
          </a:xfrm>
          <a:prstGeom prst="ellipse">
            <a:avLst/>
          </a:prstGeom>
          <a:solidFill>
            <a:srgbClr val="1B3A6B"/>
          </a:solidFill>
          <a:ln/>
        </p:spPr>
      </p:sp>
      <p:sp>
        <p:nvSpPr>
          <p:cNvPr id="27" name="Text 24"/>
          <p:cNvSpPr/>
          <p:nvPr/>
        </p:nvSpPr>
        <p:spPr>
          <a:xfrm>
            <a:off x="4504944"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Assinatura: GD dentro do ACR</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05</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5</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M1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Grupos A e B, classes e ligações</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Classificar um cliente (grupo, subgrupo, classe, ligação) e saber o que isso muda para a assinatura</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Grupo A e grupo B</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Subgrupos e classes do grupo B</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Tipo de ligação e custo de disponibilidade</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Como descobrir a classificação na conta</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5</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GRUPOS A E B, CLASSES E LIGAÇÕES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Grupo A e grupo B</a:t>
            </a:r>
            <a:endParaRPr lang="en-US" sz="2600" dirty="0"/>
          </a:p>
        </p:txBody>
      </p:sp>
      <p:sp>
        <p:nvSpPr>
          <p:cNvPr id="9" name="Text 6"/>
          <p:cNvSpPr/>
          <p:nvPr/>
        </p:nvSpPr>
        <p:spPr>
          <a:xfrm>
            <a:off x="548640" y="1325880"/>
            <a:ext cx="11155680" cy="4937760"/>
          </a:xfrm>
          <a:prstGeom prst="rect">
            <a:avLst/>
          </a:prstGeom>
          <a:noFill/>
          <a:ln/>
        </p:spPr>
        <p:txBody>
          <a:bodyPr wrap="square" rtlCol="0" anchor="t">
            <a:normAutofit/>
          </a:bodyPr>
          <a:lstStyle/>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Grupo A: média/alta tensão (≥ 2,3 kV) · paga demanda (kW) + energia (kWh) · indústrias, grandes comércios, hospitais</a:t>
            </a:r>
            <a:endParaRPr lang="en-US" sz="1600" dirty="0"/>
          </a:p>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Grupo B: baixa tensão (&lt; 2,3 kV) · paga só energia (kWh) · residências, comércios, pequenas empresas</a:t>
            </a:r>
            <a:endParaRPr lang="en-US" sz="16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5</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GRUPOS A E B, CLASSES E LIGAÇÕES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Subgrupos e classes do grupo B</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5545836"/>
                <a:gridCol w="5545836"/>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Subgrupo</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1B3A6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Classe</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1B3A6B"/>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B1</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Residencial</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B2</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Rural</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B3</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Demais classes: comercial, serviços, industrial em baixa tensão</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B4</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Iluminação pública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5</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GRUPOS A E B, CLASSES E LIGAÇÕES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Tipo de ligação e custo de disponibilidade</a:t>
            </a:r>
            <a:endParaRPr lang="en-US" sz="2600" dirty="0"/>
          </a:p>
        </p:txBody>
      </p:sp>
      <p:graphicFrame>
        <p:nvGraphicFramePr>
          <p:cNvPr id="9" name="Chart 0" descr=""/>
          <p:cNvGraphicFramePr/>
          <p:nvPr/>
        </p:nvGraphicFramePr>
        <p:xfrm>
          <a:off x="548640" y="1325880"/>
          <a:ext cx="5669280" cy="4937760"/>
        </p:xfrm>
        <a:graphic xmlns:a="http://schemas.openxmlformats.org/drawingml/2006/main">
          <a:graphicData uri="http://schemas.openxmlformats.org/drawingml/2006/chart">
            <c:chart xmlns:c="http://schemas.openxmlformats.org/drawingml/2006/chart" r:id="rId2"/>
          </a:graphicData>
        </a:graphic>
      </p:graphicFrame>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46520" y="1600200"/>
          <a:ext cx="5193792" cy="914400"/>
        </p:xfrm>
        <a:graphic>
          <a:graphicData uri="http://schemas.openxmlformats.org/drawingml/2006/table">
            <a:tbl>
              <a:tblPr/>
              <a:tblGrid>
                <a:gridCol w="2596896"/>
                <a:gridCol w="2596896"/>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Ligação</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1B3A6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Custo de disponibilidade</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1B3A6B"/>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Monofásica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30 kWh</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Bifásica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50 kWh</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Trifásica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100 kWh</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5</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GRUPOS A E B, CLASSES E LIGAÇÕES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Como descobrir a classificação na conta</a:t>
            </a:r>
            <a:endParaRPr lang="en-US" sz="2600" dirty="0"/>
          </a:p>
        </p:txBody>
      </p:sp>
      <p:sp>
        <p:nvSpPr>
          <p:cNvPr id="9" name="Shape 6"/>
          <p:cNvSpPr/>
          <p:nvPr/>
        </p:nvSpPr>
        <p:spPr>
          <a:xfrm>
            <a:off x="548640"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Na conta: classe</a:t>
            </a:r>
            <a:endParaRPr lang="en-US" sz="1800" dirty="0"/>
          </a:p>
        </p:txBody>
      </p:sp>
      <p:sp>
        <p:nvSpPr>
          <p:cNvPr id="13" name="Shape 10"/>
          <p:cNvSpPr/>
          <p:nvPr/>
        </p:nvSpPr>
        <p:spPr>
          <a:xfrm>
            <a:off x="4322064"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subgrupo</a:t>
            </a:r>
            <a:endParaRPr lang="en-US" sz="1800" dirty="0"/>
          </a:p>
        </p:txBody>
      </p:sp>
      <p:sp>
        <p:nvSpPr>
          <p:cNvPr id="17" name="Shape 14"/>
          <p:cNvSpPr/>
          <p:nvPr/>
        </p:nvSpPr>
        <p:spPr>
          <a:xfrm>
            <a:off x="8095488"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tipo de fornecimento (mono/bi/trifásico)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5</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Grupo B = público principal</a:t>
            </a:r>
            <a:endParaRPr lang="en-US" sz="1800" dirty="0"/>
          </a:p>
        </p:txBody>
      </p:sp>
      <p:sp>
        <p:nvSpPr>
          <p:cNvPr id="13" name="Shape 10"/>
          <p:cNvSpPr/>
          <p:nvPr/>
        </p:nvSpPr>
        <p:spPr>
          <a:xfrm>
            <a:off x="4322064"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B3 = comércio e serviços</a:t>
            </a:r>
            <a:endParaRPr lang="en-US" sz="1800" dirty="0"/>
          </a:p>
        </p:txBody>
      </p:sp>
      <p:sp>
        <p:nvSpPr>
          <p:cNvPr id="17" name="Shape 14"/>
          <p:cNvSpPr/>
          <p:nvPr/>
        </p:nvSpPr>
        <p:spPr>
          <a:xfrm>
            <a:off x="8095488"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Custo de disponibilidade: 30/50/100 kWh</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06</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6</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M1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A tarifa por dentro: TE, TUSD, Fio A, Fio B e encargos</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Decompor a tarifa do grupo B e identificar o Fio B, base da regra de transição da GD</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As duas grandes partes: TE e TUSD</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Abrindo a TUSD</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Por que o Fio B é o personagem principal</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6</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6</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 tarifa por dentro: TE, TUSD, Fio A, Fio B e encargos</a:t>
            </a:r>
            <a:endParaRPr lang="en-US" sz="2600" dirty="0"/>
          </a:p>
        </p:txBody>
      </p:sp>
      <p:sp>
        <p:nvSpPr>
          <p:cNvPr id="9" name="Shape 6"/>
          <p:cNvSpPr/>
          <p:nvPr/>
        </p:nvSpPr>
        <p:spPr>
          <a:xfrm>
            <a:off x="548640"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3514344" cy="109728"/>
          </a:xfrm>
          <a:prstGeom prst="rect">
            <a:avLst/>
          </a:prstGeom>
          <a:solidFill>
            <a:srgbClr val="1B3A6B"/>
          </a:solidFill>
          <a:ln/>
        </p:spPr>
      </p:sp>
      <p:sp>
        <p:nvSpPr>
          <p:cNvPr id="11" name="Text 8"/>
          <p:cNvSpPr/>
          <p:nvPr/>
        </p:nvSpPr>
        <p:spPr>
          <a:xfrm>
            <a:off x="822960"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As duas grandes partes: TE e TUSD</a:t>
            </a:r>
            <a:endParaRPr lang="en-US" sz="1600" dirty="0"/>
          </a:p>
        </p:txBody>
      </p:sp>
      <p:sp>
        <p:nvSpPr>
          <p:cNvPr id="12" name="Text 9"/>
          <p:cNvSpPr/>
          <p:nvPr/>
        </p:nvSpPr>
        <p:spPr>
          <a:xfrm>
            <a:off x="822960"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Tarifa (sem impostos) = TE + TUSD</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Ex. ilustrativo: R$ 0,35 + R$ 0,45 = R$ 0,80/kWh</a:t>
            </a:r>
            <a:endParaRPr lang="en-US" sz="1700" dirty="0"/>
          </a:p>
        </p:txBody>
      </p:sp>
      <p:sp>
        <p:nvSpPr>
          <p:cNvPr id="13" name="Shape 10"/>
          <p:cNvSpPr/>
          <p:nvPr/>
        </p:nvSpPr>
        <p:spPr>
          <a:xfrm>
            <a:off x="4337304"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337304" y="1325880"/>
            <a:ext cx="3514344" cy="109728"/>
          </a:xfrm>
          <a:prstGeom prst="rect">
            <a:avLst/>
          </a:prstGeom>
          <a:solidFill>
            <a:srgbClr val="F7A23B"/>
          </a:solidFill>
          <a:ln/>
        </p:spPr>
      </p:sp>
      <p:sp>
        <p:nvSpPr>
          <p:cNvPr id="15" name="Text 12"/>
          <p:cNvSpPr/>
          <p:nvPr/>
        </p:nvSpPr>
        <p:spPr>
          <a:xfrm>
            <a:off x="4611624"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Abrindo a TUSD</a:t>
            </a:r>
            <a:endParaRPr lang="en-US" sz="1600" dirty="0"/>
          </a:p>
        </p:txBody>
      </p:sp>
      <p:sp>
        <p:nvSpPr>
          <p:cNvPr id="16" name="Text 13"/>
          <p:cNvSpPr/>
          <p:nvPr/>
        </p:nvSpPr>
        <p:spPr>
          <a:xfrm>
            <a:off x="4611624" y="2286000"/>
            <a:ext cx="2965704" cy="3749040"/>
          </a:xfrm>
          <a:prstGeom prst="rect">
            <a:avLst/>
          </a:prstGeom>
          <a:noFill/>
          <a:ln/>
        </p:spPr>
        <p:txBody>
          <a:bodyPr wrap="square" rtlCol="0" anchor="ctr">
            <a:normAutofit/>
          </a:bodyPr>
          <a:lstStyle/>
          <a:p>
            <a:pPr indent="0" marL="0">
              <a:buNone/>
            </a:pPr>
            <a:r>
              <a:rPr lang="en-US" sz="2200" dirty="0">
                <a:solidFill>
                  <a:srgbClr val="1F2937"/>
                </a:solidFill>
                <a:latin typeface="Arial" pitchFamily="34" charset="0"/>
                <a:ea typeface="Arial" pitchFamily="34" charset="-122"/>
                <a:cs typeface="Arial" pitchFamily="34" charset="-120"/>
              </a:rPr>
              <a:t>TUSD (ex.: R$ 0,45) = Fio A R$ 0,05 + Fio B R$ 0,20 + Encargos R$ 0,12 + Perdas R$ 0,08</a:t>
            </a:r>
            <a:endParaRPr lang="en-US" sz="2200" dirty="0"/>
          </a:p>
        </p:txBody>
      </p:sp>
      <p:sp>
        <p:nvSpPr>
          <p:cNvPr id="17" name="Shape 14"/>
          <p:cNvSpPr/>
          <p:nvPr/>
        </p:nvSpPr>
        <p:spPr>
          <a:xfrm>
            <a:off x="8125968"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125968" y="1325880"/>
            <a:ext cx="3514344" cy="109728"/>
          </a:xfrm>
          <a:prstGeom prst="rect">
            <a:avLst/>
          </a:prstGeom>
          <a:solidFill>
            <a:srgbClr val="1B3A6B"/>
          </a:solidFill>
          <a:ln/>
        </p:spPr>
      </p:sp>
      <p:sp>
        <p:nvSpPr>
          <p:cNvPr id="19" name="Text 16"/>
          <p:cNvSpPr/>
          <p:nvPr/>
        </p:nvSpPr>
        <p:spPr>
          <a:xfrm>
            <a:off x="8400288"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Por que o Fio B é o personagem principal</a:t>
            </a:r>
            <a:endParaRPr lang="en-US" sz="1600" dirty="0"/>
          </a:p>
        </p:txBody>
      </p:sp>
      <p:sp>
        <p:nvSpPr>
          <p:cNvPr id="20" name="Text 17"/>
          <p:cNvSpPr/>
          <p:nvPr/>
        </p:nvSpPr>
        <p:spPr>
          <a:xfrm>
            <a:off x="8400288" y="2286000"/>
            <a:ext cx="2965704"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Antes de 2023: crédito abatia (quase) tudo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Novos projetos: parte do Fio B volta a ser paga, subindo até 2028</a:t>
            </a:r>
            <a:endParaRPr lang="en-US" sz="17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6</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6 · A TARIFA POR DENTRO: TE, TUSD, FIO A, FIO B E ENCARGOS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na plataforma</a:t>
            </a:r>
            <a:endParaRPr lang="en-US" sz="2600" dirty="0"/>
          </a:p>
        </p:txBody>
      </p:sp>
      <p:sp>
        <p:nvSpPr>
          <p:cNvPr id="9" name="Shape 6"/>
          <p:cNvSpPr/>
          <p:nvPr/>
        </p:nvSpPr>
        <p:spPr>
          <a:xfrm>
            <a:off x="548640" y="1325880"/>
            <a:ext cx="11091672" cy="4937760"/>
          </a:xfrm>
          <a:prstGeom prst="roundRect">
            <a:avLst>
              <a:gd name="adj" fmla="val 1481"/>
            </a:avLst>
          </a:prstGeom>
          <a:solidFill>
            <a:srgbClr val="FFFFFF"/>
          </a:solidFill>
          <a:ln w="9525">
            <a:solidFill>
              <a:srgbClr val="D8E0EC"/>
            </a:solidFill>
            <a:prstDash val="solid"/>
          </a:ln>
        </p:spPr>
      </p:sp>
      <p:sp>
        <p:nvSpPr>
          <p:cNvPr id="10" name="Shape 7"/>
          <p:cNvSpPr/>
          <p:nvPr/>
        </p:nvSpPr>
        <p:spPr>
          <a:xfrm>
            <a:off x="731520" y="1508760"/>
            <a:ext cx="822960" cy="384048"/>
          </a:xfrm>
          <a:prstGeom prst="roundRect">
            <a:avLst>
              <a:gd name="adj" fmla="val 47619"/>
            </a:avLst>
          </a:prstGeom>
          <a:solidFill>
            <a:srgbClr val="F7A23B"/>
          </a:solidFill>
          <a:ln/>
        </p:spPr>
      </p:sp>
      <p:sp>
        <p:nvSpPr>
          <p:cNvPr id="11" name="Text 8"/>
          <p:cNvSpPr/>
          <p:nvPr/>
        </p:nvSpPr>
        <p:spPr>
          <a:xfrm>
            <a:off x="731520" y="1508760"/>
            <a:ext cx="822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PASSO 1</a:t>
            </a:r>
            <a:endParaRPr lang="en-US" sz="1000" dirty="0"/>
          </a:p>
        </p:txBody>
      </p:sp>
      <p:sp>
        <p:nvSpPr>
          <p:cNvPr id="12" name="Text 9"/>
          <p:cNvSpPr/>
          <p:nvPr/>
        </p:nvSpPr>
        <p:spPr>
          <a:xfrm>
            <a:off x="1645920" y="1463040"/>
            <a:ext cx="9857232" cy="502920"/>
          </a:xfrm>
          <a:prstGeom prst="rect">
            <a:avLst/>
          </a:prstGeom>
          <a:noFill/>
          <a:ln/>
        </p:spPr>
        <p:txBody>
          <a:bodyPr wrap="square" rtlCol="0" anchor="ctr">
            <a:normAutofit/>
          </a:bodyPr>
          <a:lstStyle/>
          <a:p>
            <a:pPr indent="0" marL="0">
              <a:buNone/>
            </a:pPr>
            <a:r>
              <a:rPr lang="en-US" sz="1400" b="1" dirty="0">
                <a:solidFill>
                  <a:srgbClr val="1B3A6B"/>
                </a:solidFill>
                <a:latin typeface="Arial" pitchFamily="34" charset="0"/>
                <a:ea typeface="Arial" pitchFamily="34" charset="-122"/>
                <a:cs typeface="Arial" pitchFamily="34" charset="-120"/>
              </a:rPr>
              <a:t>Onde encontrar os valores oficiais</a:t>
            </a:r>
            <a:endParaRPr lang="en-US" sz="1400" dirty="0"/>
          </a:p>
        </p:txBody>
      </p:sp>
      <p:sp>
        <p:nvSpPr>
          <p:cNvPr id="13" name="Text 10"/>
          <p:cNvSpPr/>
          <p:nvPr/>
        </p:nvSpPr>
        <p:spPr>
          <a:xfrm>
            <a:off x="777240" y="2057400"/>
            <a:ext cx="10634472" cy="4069080"/>
          </a:xfrm>
          <a:prstGeom prst="rect">
            <a:avLst/>
          </a:prstGeom>
          <a:noFill/>
          <a:ln/>
        </p:spPr>
        <p:txBody>
          <a:bodyPr wrap="square"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Fonte oficial: tarifas homologadas pela ANEEL para cada distribuidora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6</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6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Tarifa = TE + TUSD</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TUSD = Fio A + Fio B + encargos + perdas</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Fio B = rede da distribuidora</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Novos projetos de GD: parte do Fio B continua sendo paga</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07</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7</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M1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Bandeiras, tributos e a conta de luz</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Entender bandeiras tarifárias, ICMS, PIS/COFINS e contribuição de iluminação, e calcular a tarifa com impostos</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Bandeiras tarifárias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Os tributos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Calculando a tarifa com impostos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E na geração distribuída?</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7</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7</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Bandeiras, tributos e a conta de luz</a:t>
            </a:r>
            <a:endParaRPr lang="en-US" sz="2600" dirty="0"/>
          </a:p>
        </p:txBody>
      </p:sp>
      <p:sp>
        <p:nvSpPr>
          <p:cNvPr id="9" name="Shape 6"/>
          <p:cNvSpPr/>
          <p:nvPr/>
        </p:nvSpPr>
        <p:spPr>
          <a:xfrm>
            <a:off x="548640" y="1325880"/>
            <a:ext cx="5408676"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5408676" cy="109728"/>
          </a:xfrm>
          <a:prstGeom prst="rect">
            <a:avLst/>
          </a:prstGeom>
          <a:solidFill>
            <a:srgbClr val="1B3A6B"/>
          </a:solidFill>
          <a:ln/>
        </p:spPr>
      </p:sp>
      <p:sp>
        <p:nvSpPr>
          <p:cNvPr id="11" name="Text 8"/>
          <p:cNvSpPr/>
          <p:nvPr/>
        </p:nvSpPr>
        <p:spPr>
          <a:xfrm>
            <a:off x="822960" y="1554480"/>
            <a:ext cx="4860036"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Bandeiras tarifárias</a:t>
            </a:r>
            <a:endParaRPr lang="en-US" sz="1600" dirty="0"/>
          </a:p>
        </p:txBody>
      </p:sp>
      <p:sp>
        <p:nvSpPr>
          <p:cNvPr id="12" name="Text 9"/>
          <p:cNvSpPr/>
          <p:nvPr/>
        </p:nvSpPr>
        <p:spPr>
          <a:xfrm>
            <a:off x="822960" y="2286000"/>
            <a:ext cx="4860036"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Verde: sem acréscimo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Amarela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Vermelha 1</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Vermelha 2: acréscimo por kWh consumido</a:t>
            </a:r>
            <a:endParaRPr lang="en-US" sz="1700" dirty="0"/>
          </a:p>
        </p:txBody>
      </p:sp>
      <p:sp>
        <p:nvSpPr>
          <p:cNvPr id="13" name="Shape 10"/>
          <p:cNvSpPr/>
          <p:nvPr/>
        </p:nvSpPr>
        <p:spPr>
          <a:xfrm>
            <a:off x="6231636" y="1325880"/>
            <a:ext cx="5408676"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231636" y="1325880"/>
            <a:ext cx="5408676" cy="109728"/>
          </a:xfrm>
          <a:prstGeom prst="rect">
            <a:avLst/>
          </a:prstGeom>
          <a:solidFill>
            <a:srgbClr val="F7A23B"/>
          </a:solidFill>
          <a:ln/>
        </p:spPr>
      </p:sp>
      <p:sp>
        <p:nvSpPr>
          <p:cNvPr id="15" name="Text 12"/>
          <p:cNvSpPr/>
          <p:nvPr/>
        </p:nvSpPr>
        <p:spPr>
          <a:xfrm>
            <a:off x="6505956" y="1554480"/>
            <a:ext cx="4860036"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Os tributos</a:t>
            </a:r>
            <a:endParaRPr lang="en-US" sz="1600" dirty="0"/>
          </a:p>
        </p:txBody>
      </p:sp>
      <p:sp>
        <p:nvSpPr>
          <p:cNvPr id="16" name="Text 13"/>
          <p:cNvSpPr/>
          <p:nvPr/>
        </p:nvSpPr>
        <p:spPr>
          <a:xfrm>
            <a:off x="6505956" y="2286000"/>
            <a:ext cx="4860036"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ICMS — estadual · alíquota do estado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PIS/COFINS — federais · variam mês a mês</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CIP/COSIP — municipal · iluminação pública</a:t>
            </a:r>
            <a:endParaRPr lang="en-US" sz="17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7</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7 · BANDEIRAS, TRIBUTOS E A CONTA DE LUZ</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Calculando a tarifa com impostos</a:t>
            </a:r>
            <a:endParaRPr lang="en-US" sz="2600" dirty="0"/>
          </a:p>
        </p:txBody>
      </p:sp>
      <p:sp>
        <p:nvSpPr>
          <p:cNvPr id="9" name="Shape 6"/>
          <p:cNvSpPr/>
          <p:nvPr/>
        </p:nvSpPr>
        <p:spPr>
          <a:xfrm>
            <a:off x="548640" y="1325880"/>
            <a:ext cx="11091672" cy="4937760"/>
          </a:xfrm>
          <a:prstGeom prst="roundRect">
            <a:avLst>
              <a:gd name="adj" fmla="val 1852"/>
            </a:avLst>
          </a:prstGeom>
          <a:solidFill>
            <a:srgbClr val="0B1F3A"/>
          </a:solidFill>
          <a:ln/>
        </p:spPr>
      </p:sp>
      <p:sp>
        <p:nvSpPr>
          <p:cNvPr id="10" name="Text 7"/>
          <p:cNvSpPr/>
          <p:nvPr/>
        </p:nvSpPr>
        <p:spPr>
          <a:xfrm>
            <a:off x="914400" y="1554480"/>
            <a:ext cx="10360152" cy="4480560"/>
          </a:xfrm>
          <a:prstGeom prst="rect">
            <a:avLst/>
          </a:prstGeom>
          <a:noFill/>
          <a:ln/>
        </p:spPr>
        <p:txBody>
          <a:bodyPr wrap="square" rtlCol="0" anchor="ctr">
            <a:normAutofit/>
          </a:bodyPr>
          <a:lstStyle/>
          <a:p>
            <a:pPr indent="0" marL="0">
              <a:spcAft>
                <a:spcPts val="1000"/>
              </a:spcAft>
              <a:buNone/>
            </a:pPr>
            <a:r>
              <a:rPr lang="en-US" sz="2400" b="1" dirty="0">
                <a:solidFill>
                  <a:srgbClr val="FFFFFF"/>
                </a:solidFill>
                <a:latin typeface="Consolas" pitchFamily="34" charset="0"/>
                <a:ea typeface="Consolas" pitchFamily="34" charset="-122"/>
                <a:cs typeface="Consolas" pitchFamily="34" charset="-120"/>
              </a:rPr>
              <a:t>Tarifa com impostos = Tarifa sem impostos ÷ (1 − (ICMS + PIS + COFINS))</a:t>
            </a:r>
            <a:endParaRPr lang="en-US" sz="2400" dirty="0"/>
          </a:p>
          <a:p>
            <a:pPr indent="0" marL="0">
              <a:spcAft>
                <a:spcPts val="1000"/>
              </a:spcAft>
              <a:buNone/>
            </a:pPr>
            <a:r>
              <a:rPr lang="en-US" sz="2400" b="1" dirty="0">
                <a:solidFill>
                  <a:srgbClr val="F7A23B"/>
                </a:solidFill>
                <a:latin typeface="Consolas" pitchFamily="34" charset="0"/>
                <a:ea typeface="Consolas" pitchFamily="34" charset="-122"/>
                <a:cs typeface="Consolas" pitchFamily="34" charset="-120"/>
              </a:rPr>
              <a:t>Ex.: R$ 0,80 ÷ (1 − (0,18 + 0,05)) = R$ 0,80 ÷ 0,77 ≈ R$ 1,04/kWh</a:t>
            </a:r>
            <a:endParaRPr lang="en-US" sz="24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7</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7 · BANDEIRAS, TRIBUTOS E A CONTA DE LUZ</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E na geração distribuída?</a:t>
            </a:r>
            <a:endParaRPr lang="en-US" sz="2600" dirty="0"/>
          </a:p>
        </p:txBody>
      </p:sp>
      <p:sp>
        <p:nvSpPr>
          <p:cNvPr id="9" name="Shape 6"/>
          <p:cNvSpPr/>
          <p:nvPr/>
        </p:nvSpPr>
        <p:spPr>
          <a:xfrm>
            <a:off x="548640" y="1325880"/>
            <a:ext cx="11091672"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10177272"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Tributos sobre a energia compensada: regras específicas — estudaremos no M11</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7</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7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11091672"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10177272"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Conta = kWh × tarifa com impostos + bandeira + iluminação pública</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08</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8</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M1 · Etapa 1 · Fundamentos</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Prática na plataforma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lendo uma fatura de concessionária na plataforma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Localizar na plataforma uma fatura da distribuidora, abrir o PDF e reconhecer os dados extraídos</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Exercício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8</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8 · LABORATÓRIO: LENDO UMA FATURA DE CONCESSIONÁRIA NA PLATAFORMA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Exercício</a:t>
            </a:r>
            <a:endParaRPr lang="en-US" sz="2600" dirty="0"/>
          </a:p>
        </p:txBody>
      </p:sp>
      <p:sp>
        <p:nvSpPr>
          <p:cNvPr id="9" name="Shape 6"/>
          <p:cNvSpPr/>
          <p:nvPr/>
        </p:nvSpPr>
        <p:spPr>
          <a:xfrm>
            <a:off x="548640"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Exercício — fatura da Residência:</a:t>
            </a:r>
            <a:endParaRPr lang="en-US" sz="1800" dirty="0"/>
          </a:p>
        </p:txBody>
      </p:sp>
      <p:sp>
        <p:nvSpPr>
          <p:cNvPr id="13" name="Shape 10"/>
          <p:cNvSpPr/>
          <p:nvPr/>
        </p:nvSpPr>
        <p:spPr>
          <a:xfrm>
            <a:off x="4322064"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Referência e vencimento</a:t>
            </a:r>
            <a:endParaRPr lang="en-US" sz="1800" dirty="0"/>
          </a:p>
        </p:txBody>
      </p:sp>
      <p:sp>
        <p:nvSpPr>
          <p:cNvPr id="17" name="Shape 14"/>
          <p:cNvSpPr/>
          <p:nvPr/>
        </p:nvSpPr>
        <p:spPr>
          <a:xfrm>
            <a:off x="8095488"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Consumo (kWh) e tipo de ligação</a:t>
            </a:r>
            <a:endParaRPr lang="en-US" sz="1800" dirty="0"/>
          </a:p>
        </p:txBody>
      </p:sp>
      <p:sp>
        <p:nvSpPr>
          <p:cNvPr id="21" name="Shape 18"/>
          <p:cNvSpPr/>
          <p:nvPr/>
        </p:nvSpPr>
        <p:spPr>
          <a:xfrm>
            <a:off x="548640"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4069080"/>
            <a:ext cx="457200" cy="457200"/>
          </a:xfrm>
          <a:prstGeom prst="ellipse">
            <a:avLst/>
          </a:prstGeom>
          <a:solidFill>
            <a:srgbClr val="F7A23B"/>
          </a:solidFill>
          <a:ln/>
        </p:spPr>
      </p:sp>
      <p:sp>
        <p:nvSpPr>
          <p:cNvPr id="23" name="Text 20"/>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Custo de disponibilidade (kWh)</a:t>
            </a:r>
            <a:endParaRPr lang="en-US" sz="1800" dirty="0"/>
          </a:p>
        </p:txBody>
      </p:sp>
      <p:sp>
        <p:nvSpPr>
          <p:cNvPr id="25" name="Shape 22"/>
          <p:cNvSpPr/>
          <p:nvPr/>
        </p:nvSpPr>
        <p:spPr>
          <a:xfrm>
            <a:off x="4322064"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4069080"/>
            <a:ext cx="457200" cy="457200"/>
          </a:xfrm>
          <a:prstGeom prst="ellipse">
            <a:avLst/>
          </a:prstGeom>
          <a:solidFill>
            <a:srgbClr val="1B3A6B"/>
          </a:solidFill>
          <a:ln/>
        </p:spPr>
      </p:sp>
      <p:sp>
        <p:nvSpPr>
          <p:cNvPr id="27" name="Text 24"/>
          <p:cNvSpPr/>
          <p:nvPr/>
        </p:nvSpPr>
        <p:spPr>
          <a:xfrm>
            <a:off x="4504944"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Valor total</a:t>
            </a:r>
            <a:endParaRPr lang="en-US" sz="1800" dirty="0"/>
          </a:p>
        </p:txBody>
      </p:sp>
      <p:sp>
        <p:nvSpPr>
          <p:cNvPr id="29" name="Shape 26"/>
          <p:cNvSpPr/>
          <p:nvPr/>
        </p:nvSpPr>
        <p:spPr>
          <a:xfrm>
            <a:off x="8095488"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278368" y="4069080"/>
            <a:ext cx="457200" cy="457200"/>
          </a:xfrm>
          <a:prstGeom prst="ellipse">
            <a:avLst/>
          </a:prstGeom>
          <a:solidFill>
            <a:srgbClr val="F7A23B"/>
          </a:solidFill>
          <a:ln/>
        </p:spPr>
      </p:sp>
      <p:sp>
        <p:nvSpPr>
          <p:cNvPr id="31" name="Text 28"/>
          <p:cNvSpPr/>
          <p:nvPr/>
        </p:nvSpPr>
        <p:spPr>
          <a:xfrm>
            <a:off x="8278368"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872728"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Tarifa com impostos aproximada (valor ÷ kWh)</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Aula 8</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8 · LENDO UMA FATURA DE CONCESSIONÁRIA NA PLATAFORMA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na plataforma</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fatura.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Fatura de concessionária</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1  </a:t>
            </a:r>
            <a:pPr indent="0" marL="0">
              <a:buNone/>
            </a:pPr>
            <a:r>
              <a:rPr lang="en-US" sz="1400" b="1" dirty="0">
                <a:solidFill>
                  <a:srgbClr val="1B3A6B"/>
                </a:solidFill>
                <a:latin typeface="Arial" pitchFamily="34" charset="0"/>
                <a:ea typeface="Arial" pitchFamily="34" charset="-122"/>
                <a:cs typeface="Arial" pitchFamily="34" charset="-120"/>
              </a:rPr>
              <a:t>Encontrando a fatura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Cliente Consumidor → Clientes → Padaria → Faturas</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2  </a:t>
            </a:r>
            <a:pPr indent="0" marL="0">
              <a:buNone/>
            </a:pPr>
            <a:r>
              <a:rPr lang="en-US" sz="1400" b="1" dirty="0">
                <a:solidFill>
                  <a:srgbClr val="1B3A6B"/>
                </a:solidFill>
                <a:latin typeface="Arial" pitchFamily="34" charset="0"/>
                <a:ea typeface="Arial" pitchFamily="34" charset="-122"/>
                <a:cs typeface="Arial" pitchFamily="34" charset="-120"/>
              </a:rPr>
              <a:t>O PDF original</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Sempre confira com o PDF original</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3  </a:t>
            </a:r>
            <a:pPr indent="0" marL="0">
              <a:buNone/>
            </a:pPr>
            <a:r>
              <a:rPr lang="en-US" sz="1400" b="1" dirty="0">
                <a:solidFill>
                  <a:srgbClr val="1B3A6B"/>
                </a:solidFill>
                <a:latin typeface="Arial" pitchFamily="34" charset="0"/>
                <a:ea typeface="Arial" pitchFamily="34" charset="-122"/>
                <a:cs typeface="Arial" pitchFamily="34" charset="-120"/>
              </a:rPr>
              <a:t>O resumo técnico extraído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A plataforma lê o PDF e extrai os dados automaticamente</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4  </a:t>
            </a:r>
            <a:pPr indent="0" marL="0">
              <a:buNone/>
            </a:pPr>
            <a:r>
              <a:rPr lang="en-US" sz="1400" b="1" dirty="0">
                <a:solidFill>
                  <a:srgbClr val="1B3A6B"/>
                </a:solidFill>
                <a:latin typeface="Arial" pitchFamily="34" charset="0"/>
                <a:ea typeface="Arial" pitchFamily="34" charset="-122"/>
                <a:cs typeface="Arial" pitchFamily="34" charset="-120"/>
              </a:rPr>
              <a:t>Primeiro contato com energia injetada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Energia injetada / consumo injetado = os créditos da GD na fatura (detalhes no M7)</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M1 · Fechamento</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FECHAMENTO DO MÓDULO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Pratique e entregue</a:t>
            </a:r>
            <a:endParaRPr lang="en-US" sz="2600" dirty="0"/>
          </a:p>
        </p:txBody>
      </p:sp>
      <p:sp>
        <p:nvSpPr>
          <p:cNvPr id="9" name="Text 6"/>
          <p:cNvSpPr/>
          <p:nvPr/>
        </p:nvSpPr>
        <p:spPr>
          <a:xfrm>
            <a:off x="548640" y="1325880"/>
            <a:ext cx="5394960" cy="411480"/>
          </a:xfrm>
          <a:prstGeom prst="rect">
            <a:avLst/>
          </a:prstGeom>
          <a:noFill/>
          <a:ln/>
        </p:spPr>
        <p:txBody>
          <a:bodyPr wrap="square" rtlCol="0" anchor="ctr"/>
          <a:lstStyle/>
          <a:p>
            <a:pPr indent="0" marL="0">
              <a:buNone/>
            </a:pPr>
            <a:r>
              <a:rPr lang="en-US" sz="1600" b="1" dirty="0">
                <a:solidFill>
                  <a:srgbClr val="1B3A6B"/>
                </a:solidFill>
                <a:latin typeface="Arial" pitchFamily="34" charset="0"/>
                <a:ea typeface="Arial" pitchFamily="34" charset="-122"/>
                <a:cs typeface="Arial" pitchFamily="34" charset="-120"/>
              </a:rPr>
              <a:t>Exercícios</a:t>
            </a:r>
            <a:endParaRPr lang="en-US" sz="1600" dirty="0"/>
          </a:p>
        </p:txBody>
      </p:sp>
      <p:sp>
        <p:nvSpPr>
          <p:cNvPr id="10" name="Text 7"/>
          <p:cNvSpPr/>
          <p:nvPr/>
        </p:nvSpPr>
        <p:spPr>
          <a:xfrm>
            <a:off x="548640" y="1783080"/>
            <a:ext cx="5394960" cy="4480560"/>
          </a:xfrm>
          <a:prstGeom prst="rect">
            <a:avLst/>
          </a:prstGeom>
          <a:noFill/>
          <a:ln/>
        </p:spPr>
        <p:txBody>
          <a:bodyPr wrap="square" rtlCol="0" anchor="t">
            <a:normAutofit/>
          </a:bodyPr>
          <a:lstStyle/>
          <a:p>
            <a:pPr indent="0" marL="0">
              <a:spcAft>
                <a:spcPts val="800"/>
              </a:spcAft>
              <a:buNone/>
            </a:pPr>
            <a:r>
              <a:rPr lang="en-US" sz="1600" dirty="0">
                <a:solidFill>
                  <a:srgbClr val="1F2937"/>
                </a:solidFill>
                <a:latin typeface="Arial" pitchFamily="34" charset="0"/>
                <a:ea typeface="Arial" pitchFamily="34" charset="-122"/>
                <a:cs typeface="Arial" pitchFamily="34" charset="-120"/>
              </a:rPr>
              <a:t>1. Um ar-condicionado de 1.200 W ligado 8 h por dia, 30 dias: quantos kWh por mês?</a:t>
            </a:r>
            <a:endParaRPr lang="en-US" sz="1600" dirty="0"/>
          </a:p>
          <a:p>
            <a:pPr indent="0" marL="0">
              <a:spcAft>
                <a:spcPts val="800"/>
              </a:spcAft>
              <a:buNone/>
            </a:pPr>
            <a:r>
              <a:rPr lang="en-US" sz="1600" dirty="0">
                <a:solidFill>
                  <a:srgbClr val="1F2937"/>
                </a:solidFill>
                <a:latin typeface="Arial" pitchFamily="34" charset="0"/>
                <a:ea typeface="Arial" pitchFamily="34" charset="-122"/>
                <a:cs typeface="Arial" pitchFamily="34" charset="-120"/>
              </a:rPr>
              <a:t>2. Uma usina de 300 kWp numa região com produtividade de 125 kWh/kWp/mês gera quanto por mês?</a:t>
            </a:r>
            <a:endParaRPr lang="en-US" sz="1600" dirty="0"/>
          </a:p>
          <a:p>
            <a:pPr indent="0" marL="0">
              <a:spcAft>
                <a:spcPts val="800"/>
              </a:spcAft>
              <a:buNone/>
            </a:pPr>
            <a:r>
              <a:rPr lang="en-US" sz="1600" dirty="0">
                <a:solidFill>
                  <a:srgbClr val="1F2937"/>
                </a:solidFill>
                <a:latin typeface="Arial" pitchFamily="34" charset="0"/>
                <a:ea typeface="Arial" pitchFamily="34" charset="-122"/>
                <a:cs typeface="Arial" pitchFamily="34" charset="-120"/>
              </a:rPr>
              <a:t>3. Um cliente trifásico consome 380 kWh/mês. Qual o custo de disponibilidade em kWh?</a:t>
            </a:r>
            <a:endParaRPr lang="en-US" sz="1600" dirty="0"/>
          </a:p>
        </p:txBody>
      </p:sp>
      <p:sp>
        <p:nvSpPr>
          <p:cNvPr id="11" name="Shape 8"/>
          <p:cNvSpPr/>
          <p:nvPr/>
        </p:nvSpPr>
        <p:spPr>
          <a:xfrm>
            <a:off x="6172200" y="1325880"/>
            <a:ext cx="5468112" cy="4937760"/>
          </a:xfrm>
          <a:prstGeom prst="roundRect">
            <a:avLst>
              <a:gd name="adj" fmla="val 1852"/>
            </a:avLst>
          </a:prstGeom>
          <a:solidFill>
            <a:srgbClr val="1B3A6B"/>
          </a:solidFill>
          <a:ln/>
        </p:spPr>
      </p:sp>
      <p:sp>
        <p:nvSpPr>
          <p:cNvPr id="12" name="Text 9"/>
          <p:cNvSpPr/>
          <p:nvPr/>
        </p:nvSpPr>
        <p:spPr>
          <a:xfrm>
            <a:off x="6492240" y="1554480"/>
            <a:ext cx="4828032" cy="4480560"/>
          </a:xfrm>
          <a:prstGeom prst="rect">
            <a:avLst/>
          </a:prstGeom>
          <a:noFill/>
          <a:ln/>
        </p:spPr>
        <p:txBody>
          <a:bodyPr wrap="square" rtlCol="0" anchor="t">
            <a:normAutofit/>
          </a:bodyPr>
          <a:lstStyle/>
          <a:p>
            <a:pPr indent="0" marL="0">
              <a:buNone/>
            </a:pPr>
            <a:r>
              <a:rPr lang="en-US" sz="1300" b="1" spc="100" kern="0" dirty="0">
                <a:solidFill>
                  <a:srgbClr val="F7A23B"/>
                </a:solidFill>
                <a:latin typeface="Arial" pitchFamily="34" charset="0"/>
                <a:ea typeface="Arial" pitchFamily="34" charset="-122"/>
                <a:cs typeface="Arial" pitchFamily="34" charset="-120"/>
              </a:rPr>
              <a:t>ENTREGÁVEL DO MÓDULO
</a:t>
            </a:r>
            <a:pPr indent="0" marL="0">
              <a:buNone/>
            </a:pPr>
            <a:r>
              <a:rPr lang="en-US" sz="1600" dirty="0">
                <a:solidFill>
                  <a:srgbClr val="FFFFFF"/>
                </a:solidFill>
                <a:latin typeface="Arial" pitchFamily="34" charset="0"/>
                <a:ea typeface="Arial" pitchFamily="34" charset="-122"/>
                <a:cs typeface="Arial" pitchFamily="34" charset="-120"/>
              </a:rPr>
              <a:t>Raio-X de uma conta de luz real: pegue a sua conta de luz (ou de um cliente potencial, com autorização) e preencha o modelo "Raio-X da fatura": grupo, classe, ligação, consumo dos últimos 12 meses (média), tarifa com e sem impostos, valor da bandeira, tributos. Esconda dados pessoais antes de postar.</a:t>
            </a:r>
            <a:endParaRPr lang="en-US" sz="13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41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GD Solar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M1 — Fundamentos: energia, solar e setor elétrico</dc:title>
  <dc:subject>PptxGenJS Presentation</dc:subject>
  <dc:creator>PptxGenJS</dc:creator>
  <cp:lastModifiedBy>PptxGenJS</cp:lastModifiedBy>
  <cp:revision>1</cp:revision>
  <dcterms:created xsi:type="dcterms:W3CDTF">2026-10-30T11:40:27Z</dcterms:created>
  <dcterms:modified xsi:type="dcterms:W3CDTF">2026-10-30T11:40:27Z</dcterms:modified>
</cp:coreProperties>
</file>